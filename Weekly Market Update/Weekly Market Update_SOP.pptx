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handoutMasterIdLst>
    <p:handoutMasterId r:id="rId22"/>
  </p:handoutMasterIdLst>
  <p:sldIdLst>
    <p:sldId id="2147475612" r:id="rId2"/>
    <p:sldId id="16768499" r:id="rId3"/>
    <p:sldId id="16769075" r:id="rId4"/>
    <p:sldId id="2147475613" r:id="rId5"/>
    <p:sldId id="16768500" r:id="rId6"/>
    <p:sldId id="16769072" r:id="rId7"/>
    <p:sldId id="2147475606" r:id="rId8"/>
    <p:sldId id="2147475610" r:id="rId9"/>
    <p:sldId id="2147475614" r:id="rId10"/>
    <p:sldId id="2147475615" r:id="rId11"/>
    <p:sldId id="2147475505" r:id="rId12"/>
    <p:sldId id="2147475611" r:id="rId13"/>
    <p:sldId id="16768764" r:id="rId14"/>
    <p:sldId id="2147475616" r:id="rId15"/>
    <p:sldId id="2147475607" r:id="rId16"/>
    <p:sldId id="16769193" r:id="rId17"/>
    <p:sldId id="16769194" r:id="rId18"/>
    <p:sldId id="16144855" r:id="rId19"/>
    <p:sldId id="16768504" r:id="rId20"/>
  </p:sldIdLst>
  <p:sldSz cx="9906000" cy="6858000" type="A4"/>
  <p:notesSz cx="7104063" cy="10234613"/>
  <p:embeddedFontLst>
    <p:embeddedFont>
      <p:font typeface="KaiTi" panose="02010609060101010101" pitchFamily="49" charset="-122"/>
      <p:regular r:id="rId23"/>
    </p:embeddedFont>
    <p:embeddedFont>
      <p:font typeface="KaiTi" panose="02010609060101010101" pitchFamily="49" charset="-122"/>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0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44854284" name="闲凛" initials="闲" lastIdx="1" clrIdx="1"/>
  <p:cmAuthor id="1" name="CMSHK" initials="CMSH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1E0"/>
    <a:srgbClr val="00B050"/>
    <a:srgbClr val="1A3048"/>
    <a:srgbClr val="C000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08" autoAdjust="0"/>
    <p:restoredTop sz="94231" autoAdjust="0"/>
  </p:normalViewPr>
  <p:slideViewPr>
    <p:cSldViewPr snapToGrid="0" showGuides="1">
      <p:cViewPr>
        <p:scale>
          <a:sx n="129" d="100"/>
          <a:sy n="129" d="100"/>
        </p:scale>
        <p:origin x="768" y="144"/>
      </p:cViewPr>
      <p:guideLst>
        <p:guide orient="horz" pos="2228"/>
        <p:guide pos="305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3508"/>
          </a:xfrm>
          <a:prstGeom prst="rect">
            <a:avLst/>
          </a:prstGeom>
        </p:spPr>
        <p:txBody>
          <a:bodyPr vert="horz" lIns="99075" tIns="49538" rIns="99075" bIns="49538" rtlCol="0"/>
          <a:lstStyle>
            <a:lvl1pPr algn="r">
              <a:defRPr sz="1300"/>
            </a:lvl1pPr>
          </a:lstStyle>
          <a:p>
            <a:fld id="{EFB2FFA1-B0FC-41EA-AE5E-4FCE4743E261}" type="datetimeFigureOut">
              <a:rPr lang="en-US" smtClean="0"/>
              <a:t>5/26/26</a:t>
            </a:fld>
            <a:endParaRPr lang="en-US"/>
          </a:p>
        </p:txBody>
      </p:sp>
      <p:sp>
        <p:nvSpPr>
          <p:cNvPr id="4" name="Footer Placeholder 3"/>
          <p:cNvSpPr>
            <a:spLocks noGrp="1"/>
          </p:cNvSpPr>
          <p:nvPr>
            <p:ph type="ftr" sz="quarter" idx="2"/>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7"/>
            <a:ext cx="3078427" cy="513507"/>
          </a:xfrm>
          <a:prstGeom prst="rect">
            <a:avLst/>
          </a:prstGeom>
        </p:spPr>
        <p:txBody>
          <a:bodyPr vert="horz" lIns="99075" tIns="49538" rIns="99075" bIns="49538" rtlCol="0" anchor="b"/>
          <a:lstStyle>
            <a:lvl1pPr algn="r">
              <a:defRPr sz="1300"/>
            </a:lvl1pPr>
          </a:lstStyle>
          <a:p>
            <a:fld id="{0E4976D6-6285-486A-B29F-D4B23976CAD4}"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7F962A16-8B1E-4711-B827-5D05AF2B0FEB}" type="datetimeFigureOut">
              <a:rPr lang="en-US" smtClean="0"/>
              <a:t>5/26/26</a:t>
            </a:fld>
            <a:endParaRPr lang="en-US" dirty="0"/>
          </a:p>
        </p:txBody>
      </p:sp>
      <p:sp>
        <p:nvSpPr>
          <p:cNvPr id="4" name="Slide Image Placeholder 3"/>
          <p:cNvSpPr>
            <a:spLocks noGrp="1" noRot="1" noChangeAspect="1"/>
          </p:cNvSpPr>
          <p:nvPr>
            <p:ph type="sldImg" idx="2"/>
          </p:nvPr>
        </p:nvSpPr>
        <p:spPr>
          <a:xfrm>
            <a:off x="1057275" y="1279525"/>
            <a:ext cx="4989513"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CCBB2E2A-235A-47A9-909C-E918E877917A}" type="slidenum">
              <a:rPr lang="en-US" smtClean="0"/>
              <a:t>‹#›</a:t>
            </a:fld>
            <a:endParaRPr 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1A34-1607-EA3F-C598-9CFFEC893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582F7-D0DE-B2BF-40C8-C64BB8189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44AFC-7380-AFAD-A141-A547A4A8300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8196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EAEBF-A111-45EA-B4F3-2B206860E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66685-59B6-1177-F970-0BC5F61B6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7B16B-66FC-79FB-799B-E7FD48148F5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1822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600">
              <a:defRPr/>
            </a:pPr>
            <a:endParaRPr lang="en-US"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1821-616F-9C52-C32A-15EC9C492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C3540-1285-A846-1A8E-8127EA4C9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52D4A-0656-1C7B-C892-381AF6B406AC}"/>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1370909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DF10-1A6D-5B1D-F342-F9FE32296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B3276-F0FF-73B8-A983-061450D7B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C6353-49CF-E65E-CE36-99F9BA29D2F3}"/>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2308970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DF10-1A6D-5B1D-F342-F9FE32296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B3276-F0FF-73B8-A983-061450D7B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C6353-49CF-E65E-CE36-99F9BA29D2F3}"/>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2308970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E11D5-66E7-C244-8180-DAB59D2E6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CE67E-F89A-41F5-D730-2880F53A5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D2FDAC-1EA0-12EB-A7E8-70F19A74541C}"/>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2345224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BD324-2DB3-00B7-3698-A1B83DF35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9B08A-BDA1-6AC5-87C6-80113846B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5D9FC-1793-F1C9-68C3-A7FDC6F9757B}"/>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2794869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B9B8D-5D29-E3D0-A931-E14845DF7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78322-4958-70AB-4C95-88D07C2CC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94DE5-B039-B112-4949-6457840FB4C5}"/>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721157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600">
              <a:defRPr/>
            </a:pPr>
            <a:endParaRPr lang="en-US" sz="13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600">
              <a:defRPr/>
            </a:pPr>
            <a:endParaRPr lang="en-US" sz="13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F73C9-940F-D971-F861-539B8616E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5E0F-7DD9-A941-70E2-A1CE5A728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9DDE2-3604-9F1C-AAFA-4CFA0E72E67A}"/>
              </a:ext>
            </a:extLst>
          </p:cNvPr>
          <p:cNvSpPr>
            <a:spLocks noGrp="1"/>
          </p:cNvSpPr>
          <p:nvPr>
            <p:ph type="body" idx="1"/>
          </p:nvPr>
        </p:nvSpPr>
        <p:spPr/>
        <p:txBody>
          <a:bodyPr/>
          <a:lstStyle/>
          <a:p>
            <a:pPr defTabSz="990600">
              <a:defRPr/>
            </a:pPr>
            <a:endParaRPr lang="en-US" sz="1300" dirty="0"/>
          </a:p>
        </p:txBody>
      </p:sp>
    </p:spTree>
    <p:extLst>
      <p:ext uri="{BB962C8B-B14F-4D97-AF65-F5344CB8AC3E}">
        <p14:creationId xmlns:p14="http://schemas.microsoft.com/office/powerpoint/2010/main" val="1667197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551DFA4-C23A-46B0-AF38-6CD64EBE21F8}" type="slidenum">
              <a:rPr kumimoji="0" lang="zh-HK" altLang="en-US" sz="1300" b="0" i="0" u="none" strike="noStrike" kern="1200" cap="none" spc="0" normalizeH="0" baseline="0" noProof="0" smtClean="0">
                <a:ln>
                  <a:noFill/>
                </a:ln>
                <a:solidFill>
                  <a:prstClr val="black"/>
                </a:solidFill>
                <a:effectLst/>
                <a:uLnTx/>
                <a:uFillTx/>
                <a:latin typeface="Calibri" panose="020F0502020204030204"/>
                <a:ea typeface="PMingLiU" panose="02020500000000000000" pitchFamily="18" charset="-120"/>
                <a:cs typeface="+mn-cs"/>
              </a:rPr>
              <a:t>16</a:t>
            </a:fld>
            <a:endParaRPr kumimoji="0" lang="zh-HK" altLang="en-US" sz="13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551DFA4-C23A-46B0-AF38-6CD64EBE21F8}" type="slidenum">
              <a:rPr kumimoji="0" lang="zh-HK" altLang="en-US" sz="1300" b="0" i="0" u="none" strike="noStrike" kern="1200" cap="none" spc="0" normalizeH="0" baseline="0" noProof="0" smtClean="0">
                <a:ln>
                  <a:noFill/>
                </a:ln>
                <a:solidFill>
                  <a:prstClr val="black"/>
                </a:solidFill>
                <a:effectLst/>
                <a:uLnTx/>
                <a:uFillTx/>
                <a:latin typeface="Calibri" panose="020F0502020204030204"/>
                <a:ea typeface="PMingLiU" panose="02020500000000000000" pitchFamily="18" charset="-120"/>
                <a:cs typeface="+mn-cs"/>
              </a:rPr>
              <a:t>17</a:t>
            </a:fld>
            <a:endParaRPr kumimoji="0" lang="zh-HK" altLang="en-US" sz="13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de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E6F1C1-8568-433B-B05E-E21B84158B67}" type="slidenum">
              <a:rPr lang="en-US" smtClean="0"/>
              <a:t>‹#›</a:t>
            </a:fld>
            <a:endParaRPr lang="en-US" dirty="0"/>
          </a:p>
        </p:txBody>
      </p:sp>
      <p:cxnSp>
        <p:nvCxnSpPr>
          <p:cNvPr id="6" name="Straight Connector 5"/>
          <p:cNvCxnSpPr/>
          <p:nvPr userDrawn="1"/>
        </p:nvCxnSpPr>
        <p:spPr>
          <a:xfrm>
            <a:off x="2606478" y="914400"/>
            <a:ext cx="0" cy="548640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3" hasCustomPrompt="1"/>
          </p:nvPr>
        </p:nvSpPr>
        <p:spPr>
          <a:xfrm>
            <a:off x="381000" y="548640"/>
            <a:ext cx="9144000" cy="274320"/>
          </a:xfrm>
        </p:spPr>
        <p:txBody>
          <a:bodyPr lIns="0" tIns="0" rIns="0" bIns="0" anchor="ctr">
            <a:noAutofit/>
          </a:bodyPr>
          <a:lstStyle>
            <a:lvl1pPr marL="0" indent="0" algn="l">
              <a:buNone/>
              <a:defRPr sz="1500" b="1">
                <a:solidFill>
                  <a:schemeClr val="tx1"/>
                </a:solidFill>
              </a:defRPr>
            </a:lvl1pPr>
            <a:lvl2pPr>
              <a:defRPr sz="1800"/>
            </a:lvl2pPr>
            <a:lvl3pPr>
              <a:defRPr sz="1800"/>
            </a:lvl3pPr>
            <a:lvl4pPr>
              <a:defRPr sz="1800"/>
            </a:lvl4pPr>
            <a:lvl5pPr>
              <a:defRPr sz="1800"/>
            </a:lvl5pPr>
          </a:lstStyle>
          <a:p>
            <a:pPr lvl="0"/>
            <a:r>
              <a:rPr lang="en-US" dirty="0"/>
              <a:t>Click to Add Optional Slide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8"/>
          <p:cNvSpPr>
            <a:spLocks noGrp="1"/>
          </p:cNvSpPr>
          <p:nvPr>
            <p:ph type="body" sz="quarter" idx="13" hasCustomPrompt="1"/>
          </p:nvPr>
        </p:nvSpPr>
        <p:spPr>
          <a:xfrm>
            <a:off x="381000" y="548640"/>
            <a:ext cx="9144000" cy="274320"/>
          </a:xfrm>
        </p:spPr>
        <p:txBody>
          <a:bodyPr lIns="0" tIns="0" rIns="0" bIns="0" anchor="ctr">
            <a:noAutofit/>
          </a:bodyPr>
          <a:lstStyle>
            <a:lvl1pPr marL="0" indent="0" algn="l">
              <a:buNone/>
              <a:defRPr sz="1500" b="1">
                <a:solidFill>
                  <a:schemeClr val="tx1"/>
                </a:solidFill>
              </a:defRPr>
            </a:lvl1pPr>
            <a:lvl2pPr>
              <a:defRPr sz="1800"/>
            </a:lvl2pPr>
            <a:lvl3pPr>
              <a:defRPr sz="1800"/>
            </a:lvl3pPr>
            <a:lvl4pPr>
              <a:defRPr sz="1800"/>
            </a:lvl4pPr>
            <a:lvl5pPr>
              <a:defRPr sz="1800"/>
            </a:lvl5pPr>
          </a:lstStyle>
          <a:p>
            <a:pPr lvl="0"/>
            <a:r>
              <a:rPr lang="en-US" dirty="0"/>
              <a:t>Click to Add Optional Slide Subtitle</a:t>
            </a:r>
          </a:p>
        </p:txBody>
      </p:sp>
      <p:sp>
        <p:nvSpPr>
          <p:cNvPr id="8" name="Date Placeholder 7"/>
          <p:cNvSpPr>
            <a:spLocks noGrp="1"/>
          </p:cNvSpPr>
          <p:nvPr>
            <p:ph type="dt" sz="half" idx="14"/>
          </p:nvPr>
        </p:nvSpPr>
        <p:spPr/>
        <p:txBody>
          <a:bodyPr/>
          <a:lstStyle/>
          <a:p>
            <a:endParaRPr lang="en-US" dirty="0"/>
          </a:p>
        </p:txBody>
      </p:sp>
      <p:sp>
        <p:nvSpPr>
          <p:cNvPr id="9" name="Footer Placeholder 8"/>
          <p:cNvSpPr>
            <a:spLocks noGrp="1"/>
          </p:cNvSpPr>
          <p:nvPr>
            <p:ph type="ftr" sz="quarter" idx="15"/>
          </p:nvPr>
        </p:nvSpPr>
        <p:spPr/>
        <p:txBody>
          <a:bodyPr/>
          <a:lstStyle/>
          <a:p>
            <a:endParaRPr lang="en-US" dirty="0"/>
          </a:p>
        </p:txBody>
      </p:sp>
      <p:sp>
        <p:nvSpPr>
          <p:cNvPr id="10" name="Slide Number Placeholder 9"/>
          <p:cNvSpPr>
            <a:spLocks noGrp="1"/>
          </p:cNvSpPr>
          <p:nvPr>
            <p:ph type="sldNum" sz="quarter" idx="16"/>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E6F1C1-8568-433B-B05E-E21B84158B67}"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Page ONLY">
    <p:spTree>
      <p:nvGrpSpPr>
        <p:cNvPr id="1" name=""/>
        <p:cNvGrpSpPr/>
        <p:nvPr/>
      </p:nvGrpSpPr>
      <p:grpSpPr>
        <a:xfrm>
          <a:off x="0" y="0"/>
          <a:ext cx="0" cy="0"/>
          <a:chOff x="0" y="0"/>
          <a:chExt cx="0" cy="0"/>
        </a:xfrm>
      </p:grpSpPr>
      <p:sp>
        <p:nvSpPr>
          <p:cNvPr id="6" name="標題 1"/>
          <p:cNvSpPr>
            <a:spLocks noGrp="1"/>
          </p:cNvSpPr>
          <p:nvPr>
            <p:ph type="title" hasCustomPrompt="1"/>
          </p:nvPr>
        </p:nvSpPr>
        <p:spPr>
          <a:xfrm>
            <a:off x="226431" y="155580"/>
            <a:ext cx="6566262" cy="263523"/>
          </a:xfrm>
        </p:spPr>
        <p:txBody>
          <a:bodyPr/>
          <a:lstStyle>
            <a:lvl1pPr>
              <a:defRPr sz="2000"/>
            </a:lvl1pPr>
          </a:lstStyle>
          <a:p>
            <a:r>
              <a:rPr lang="en-US" altLang="zh-TW" dirty="0"/>
              <a:t>Content</a:t>
            </a:r>
            <a:endParaRPr lang="zh-HK"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Section Divider">
    <p:spTree>
      <p:nvGrpSpPr>
        <p:cNvPr id="1" name=""/>
        <p:cNvGrpSpPr/>
        <p:nvPr/>
      </p:nvGrpSpPr>
      <p:grpSpPr>
        <a:xfrm>
          <a:off x="0" y="0"/>
          <a:ext cx="0" cy="0"/>
          <a:chOff x="0" y="0"/>
          <a:chExt cx="0" cy="0"/>
        </a:xfrm>
      </p:grpSpPr>
      <p:pic>
        <p:nvPicPr>
          <p:cNvPr id="7" name="Picture 5" descr="C:\Users\chiannor\Pictures\51miz-E1069901-34228106.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9982" t="584" r="16182" b="26496"/>
          <a:stretch>
            <a:fillRect/>
          </a:stretch>
        </p:blipFill>
        <p:spPr bwMode="auto">
          <a:xfrm>
            <a:off x="-825" y="-24875"/>
            <a:ext cx="9906000" cy="6925733"/>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5"/>
          <p:cNvSpPr>
            <a:spLocks noGrp="1"/>
          </p:cNvSpPr>
          <p:nvPr userDrawn="1">
            <p:ph type="body" sz="quarter" idx="12"/>
          </p:nvPr>
        </p:nvSpPr>
        <p:spPr>
          <a:xfrm>
            <a:off x="232600" y="3346653"/>
            <a:ext cx="6437086" cy="636971"/>
          </a:xfrm>
          <a:noFill/>
        </p:spPr>
        <p:txBody>
          <a:bodyPr lIns="91440" anchor="ctr" anchorCtr="0">
            <a:noAutofit/>
          </a:bodyPr>
          <a:lstStyle>
            <a:lvl1pPr marL="0" indent="0" algn="l">
              <a:buNone/>
              <a:defRPr sz="3200" b="1">
                <a:ln w="3175">
                  <a:noFill/>
                </a:ln>
                <a:solidFill>
                  <a:srgbClr val="646464"/>
                </a:solidFill>
              </a:defRPr>
            </a:lvl1pPr>
            <a:lvl2pPr marL="342900" indent="0">
              <a:buNone/>
              <a:defRPr sz="2000">
                <a:solidFill>
                  <a:schemeClr val="bg1"/>
                </a:solidFill>
              </a:defRPr>
            </a:lvl2pPr>
            <a:lvl3pPr marL="343535" indent="0">
              <a:buNone/>
              <a:defRPr sz="2000">
                <a:solidFill>
                  <a:schemeClr val="bg1"/>
                </a:solidFill>
              </a:defRPr>
            </a:lvl3pPr>
            <a:lvl4pPr marL="343535" indent="0">
              <a:buNone/>
              <a:defRPr sz="2000">
                <a:solidFill>
                  <a:schemeClr val="bg1"/>
                </a:solidFill>
              </a:defRPr>
            </a:lvl4pPr>
            <a:lvl5pPr marL="685165" indent="0">
              <a:buNone/>
              <a:defRPr sz="2000">
                <a:solidFill>
                  <a:schemeClr val="bg1"/>
                </a:solidFill>
              </a:defRPr>
            </a:lvl5pPr>
          </a:lstStyle>
          <a:p>
            <a:pPr lvl="0"/>
            <a:r>
              <a:rPr lang="en-US" altLang="zh-HK" dirty="0"/>
              <a:t>Click to edit Master text styles</a:t>
            </a:r>
          </a:p>
        </p:txBody>
      </p:sp>
      <p:sp>
        <p:nvSpPr>
          <p:cNvPr id="21" name="Text Placeholder 5"/>
          <p:cNvSpPr>
            <a:spLocks noGrp="1"/>
          </p:cNvSpPr>
          <p:nvPr userDrawn="1">
            <p:ph type="body" sz="quarter" idx="13" hasCustomPrompt="1"/>
          </p:nvPr>
        </p:nvSpPr>
        <p:spPr>
          <a:xfrm>
            <a:off x="232599" y="2331245"/>
            <a:ext cx="2360612" cy="916780"/>
          </a:xfrm>
          <a:noFill/>
          <a:ln w="3175">
            <a:noFill/>
          </a:ln>
          <a:effectLst>
            <a:glow rad="63500">
              <a:schemeClr val="accent1">
                <a:satMod val="175000"/>
                <a:alpha val="40000"/>
              </a:schemeClr>
            </a:glow>
          </a:effectLst>
        </p:spPr>
        <p:txBody>
          <a:bodyPr lIns="91440" anchor="ctr">
            <a:noAutofit/>
          </a:bodyPr>
          <a:lstStyle>
            <a:lvl1pPr marL="0" indent="0" algn="l">
              <a:buNone/>
              <a:defRPr sz="2600" b="1">
                <a:solidFill>
                  <a:schemeClr val="accent1"/>
                </a:solidFill>
              </a:defRPr>
            </a:lvl1pPr>
            <a:lvl2pPr marL="342900" indent="0">
              <a:buNone/>
              <a:defRPr sz="2000">
                <a:solidFill>
                  <a:schemeClr val="bg1"/>
                </a:solidFill>
              </a:defRPr>
            </a:lvl2pPr>
            <a:lvl3pPr marL="343535" indent="0">
              <a:buNone/>
              <a:defRPr sz="2000">
                <a:solidFill>
                  <a:schemeClr val="bg1"/>
                </a:solidFill>
              </a:defRPr>
            </a:lvl3pPr>
            <a:lvl4pPr marL="343535" indent="0">
              <a:buNone/>
              <a:defRPr sz="2000">
                <a:solidFill>
                  <a:schemeClr val="bg1"/>
                </a:solidFill>
              </a:defRPr>
            </a:lvl4pPr>
            <a:lvl5pPr marL="685165" indent="0">
              <a:buNone/>
              <a:defRPr sz="2000">
                <a:solidFill>
                  <a:schemeClr val="bg1"/>
                </a:solidFill>
              </a:defRPr>
            </a:lvl5pPr>
          </a:lstStyle>
          <a:p>
            <a:pPr lvl="0"/>
            <a:r>
              <a:rPr lang="en-US" altLang="zh-HK" dirty="0"/>
              <a:t>[Section Title]</a:t>
            </a:r>
          </a:p>
        </p:txBody>
      </p:sp>
      <p:pic>
        <p:nvPicPr>
          <p:cNvPr id="6" name="Picture 20" descr="C:\Users\chiannor\Pictures\Logo\CMS\Golden logo without background.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6102" y="6281243"/>
            <a:ext cx="2728233" cy="34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Non_KM/1x1_no title">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234988" y="854587"/>
            <a:ext cx="9480482" cy="5519225"/>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dirty="0"/>
          </a:p>
        </p:txBody>
      </p:sp>
      <p:sp>
        <p:nvSpPr>
          <p:cNvPr id="3" name="Title 2"/>
          <p:cNvSpPr>
            <a:spLocks noGrp="1"/>
          </p:cNvSpPr>
          <p:nvPr>
            <p:ph type="title"/>
          </p:nvPr>
        </p:nvSpPr>
        <p:spPr/>
        <p:txBody>
          <a:bodyPr/>
          <a:lstStyle/>
          <a:p>
            <a:r>
              <a:rPr lang="en-US" altLang="zh-HK"/>
              <a:t>Click to edit Master title style</a:t>
            </a:r>
            <a:endParaRPr lang="zh-HK" altLang="en-US"/>
          </a:p>
        </p:txBody>
      </p:sp>
      <p:sp>
        <p:nvSpPr>
          <p:cNvPr id="6" name="Text Placeholder 9"/>
          <p:cNvSpPr>
            <a:spLocks noGrp="1"/>
          </p:cNvSpPr>
          <p:nvPr>
            <p:ph type="body" sz="quarter" idx="15"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dirty="0"/>
              <a:t>[Sub title]</a:t>
            </a:r>
            <a:endParaRPr lang="zh-HK" altLang="en-US" dirty="0"/>
          </a:p>
        </p:txBody>
      </p:sp>
      <p:sp>
        <p:nvSpPr>
          <p:cNvPr id="2" name="Slide Number Placeholder 5"/>
          <p:cNvSpPr>
            <a:spLocks noGrp="1"/>
          </p:cNvSpPr>
          <p:nvPr>
            <p:ph type="sldNum" sz="quarter" idx="12"/>
          </p:nvPr>
        </p:nvSpPr>
        <p:spPr>
          <a:xfrm>
            <a:off x="9159240" y="6583680"/>
            <a:ext cx="365760" cy="182880"/>
          </a:xfrm>
        </p:spPr>
        <p:txBody>
          <a:bodyPr/>
          <a:lstStyle/>
          <a:p>
            <a:fld id="{72E6F1C1-8568-433B-B05E-E21B84158B67}" type="slidenum">
              <a:rPr lang="en-US" smtClean="0"/>
              <a:t>‹#›</a:t>
            </a:fld>
            <a:endParaRPr lang="en-US" dirty="0"/>
          </a:p>
        </p:txBody>
      </p:sp>
    </p:spTree>
    <p:extLst>
      <p:ext uri="{BB962C8B-B14F-4D97-AF65-F5344CB8AC3E}">
        <p14:creationId xmlns:p14="http://schemas.microsoft.com/office/powerpoint/2010/main" val="2474165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Disclaimer page ONLY_Chi">
    <p:spTree>
      <p:nvGrpSpPr>
        <p:cNvPr id="1" name=""/>
        <p:cNvGrpSpPr/>
        <p:nvPr/>
      </p:nvGrpSpPr>
      <p:grpSpPr>
        <a:xfrm>
          <a:off x="0" y="0"/>
          <a:ext cx="0" cy="0"/>
          <a:chOff x="0" y="0"/>
          <a:chExt cx="0" cy="0"/>
        </a:xfrm>
      </p:grpSpPr>
      <p:sp>
        <p:nvSpPr>
          <p:cNvPr id="4" name="Rectangle 3"/>
          <p:cNvSpPr/>
          <p:nvPr/>
        </p:nvSpPr>
        <p:spPr>
          <a:xfrm>
            <a:off x="381000" y="1621956"/>
            <a:ext cx="9144000" cy="2977515"/>
          </a:xfrm>
          <a:prstGeom prst="rect">
            <a:avLst/>
          </a:prstGeom>
        </p:spPr>
        <p:txBody>
          <a:bodyPr wrap="square" lIns="0" tIns="0" rIns="0" bIns="0">
            <a:spAutoFit/>
          </a:bodyPr>
          <a:lstStyle/>
          <a:p>
            <a:pPr defTabSz="914400" fontAlgn="auto">
              <a:spcBef>
                <a:spcPts val="750"/>
              </a:spcBef>
              <a:spcAft>
                <a:spcPts val="0"/>
              </a:spcAft>
            </a:pPr>
            <a:r>
              <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rPr>
              <a:t>本文件由招商证券国际有限公司、其子公司或关联机构（统称“招证国际”）编制，旨在提供一般资讯及作参考之用。</a:t>
            </a:r>
          </a:p>
          <a:p>
            <a:pPr defTabSz="914400" fontAlgn="auto">
              <a:spcBef>
                <a:spcPts val="750"/>
              </a:spcBef>
              <a:spcAft>
                <a:spcPts val="0"/>
              </a:spcAft>
            </a:pPr>
            <a:endPar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endParaRPr>
          </a:p>
          <a:p>
            <a:pPr defTabSz="914400" fontAlgn="auto">
              <a:spcBef>
                <a:spcPts val="750"/>
              </a:spcBef>
              <a:spcAft>
                <a:spcPts val="0"/>
              </a:spcAft>
            </a:pPr>
            <a:r>
              <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rPr>
              <a:t>本文件不是研究报告或销售评论，不构成对任何证券或产品的邀约，亦不构成财务、法律、税务、投资建议、或其他专业意见。对任何因直接或间接使用或依赖本文件或本文件涉及的信息和内容的一切后果或损失，招证国际不承担任何法律责任。就是否使用本文件中信息而作任何行动或任何不作为前，阁下应该寻求适当的建议。</a:t>
            </a:r>
          </a:p>
          <a:p>
            <a:pPr defTabSz="914400" fontAlgn="auto">
              <a:spcBef>
                <a:spcPts val="750"/>
              </a:spcBef>
              <a:spcAft>
                <a:spcPts val="0"/>
              </a:spcAft>
            </a:pPr>
            <a:endPar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endParaRPr>
          </a:p>
          <a:p>
            <a:pPr defTabSz="914400" fontAlgn="auto">
              <a:spcBef>
                <a:spcPts val="750"/>
              </a:spcBef>
              <a:spcAft>
                <a:spcPts val="0"/>
              </a:spcAft>
            </a:pPr>
            <a:r>
              <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rPr>
              <a:t>本文件中所发布的信息、观点以及数据有可能因发布日之后的情势或其他因素的变更而不再准确或失效，但招证国际不承担更新不准确或过时的信息、观点以及数据的义务，在对相关信息进行变更或更新时亦不会另行通知。招证国际就本文件所载信息或观点的公平性、准确性、完整性、合理性、及时性不做任何明示或默示的承诺或保证。</a:t>
            </a:r>
          </a:p>
          <a:p>
            <a:pPr defTabSz="914400" fontAlgn="auto">
              <a:spcBef>
                <a:spcPts val="750"/>
              </a:spcBef>
              <a:spcAft>
                <a:spcPts val="0"/>
              </a:spcAft>
            </a:pPr>
            <a:endPar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endParaRPr>
          </a:p>
          <a:p>
            <a:pPr defTabSz="914400" fontAlgn="auto">
              <a:spcBef>
                <a:spcPts val="750"/>
              </a:spcBef>
              <a:spcAft>
                <a:spcPts val="0"/>
              </a:spcAft>
            </a:pPr>
            <a:r>
              <a:rPr lang="zh-CN" altLang="en-US" sz="1200" dirty="0">
                <a:solidFill>
                  <a:prstClr val="black"/>
                </a:solidFill>
                <a:latin typeface="华文楷体" panose="02010600040101010101" pitchFamily="2" charset="-122"/>
                <a:ea typeface="华文楷体" panose="02010600040101010101" pitchFamily="2" charset="-122"/>
                <a:cs typeface="华文楷体" panose="02010600040101010101" pitchFamily="2" charset="-122"/>
              </a:rPr>
              <a:t>阁下承认本文件包含专有信息，阁下同意对上述信息严格保密。本文件仅供阁下使用，未经招证国际事先同意，本文件不得基于任何目的被全部或部分地复制、传播或发布。招证国际不对任何第三方因使用或传播本文件而提起的任何索赔或诉讼而承担责任。本文件仅在适用法律允许的情况下进行传播。如果任何管辖区的法律法规禁止或限制招证国际将本文件提供给阁下，招证国际并未将本文件提供给阁下。</a:t>
            </a:r>
            <a:r>
              <a:rPr lang="zh-CN" altLang="en-US" sz="1200" dirty="0">
                <a:solidFill>
                  <a:prstClr val="black"/>
                </a:solidFill>
                <a:latin typeface="楷体" panose="02010609060101010101" pitchFamily="49" charset="-122"/>
                <a:ea typeface="楷体" panose="02010609060101010101" pitchFamily="49" charset="-122"/>
                <a:cs typeface="+mn-cs"/>
              </a:rPr>
              <a:t> </a:t>
            </a:r>
          </a:p>
        </p:txBody>
      </p:sp>
      <p:sp>
        <p:nvSpPr>
          <p:cNvPr id="5" name="TextBox 4"/>
          <p:cNvSpPr txBox="1"/>
          <p:nvPr/>
        </p:nvSpPr>
        <p:spPr>
          <a:xfrm>
            <a:off x="381000" y="182880"/>
            <a:ext cx="3152568" cy="274636"/>
          </a:xfrm>
          <a:prstGeom prst="rect">
            <a:avLst/>
          </a:prstGeom>
        </p:spPr>
        <p:txBody>
          <a:bodyPr vert="horz" lIns="0" tIns="0" rIns="0" bIns="0" rtlCol="0" anchor="t" anchorCtr="0">
            <a:noAutofit/>
          </a:bodyPr>
          <a:lstStyle>
            <a:lvl1pPr defTabSz="685800">
              <a:lnSpc>
                <a:spcPct val="90000"/>
              </a:lnSpc>
              <a:spcBef>
                <a:spcPct val="0"/>
              </a:spcBef>
              <a:buNone/>
              <a:defRPr sz="2000" b="1" baseline="0">
                <a:solidFill>
                  <a:schemeClr val="accent1"/>
                </a:solidFill>
                <a:latin typeface="Arial" panose="020B0604020202020204" pitchFamily="34" charset="0"/>
                <a:ea typeface="+mj-ea"/>
                <a:cs typeface="Arial" panose="020B0604020202020204" pitchFamily="34" charset="0"/>
              </a:defRPr>
            </a:lvl1pPr>
          </a:lstStyle>
          <a:p>
            <a:pPr fontAlgn="auto">
              <a:spcAft>
                <a:spcPts val="0"/>
              </a:spcAft>
            </a:pPr>
            <a:r>
              <a:rPr lang="zh-HK" altLang="en-US" dirty="0">
                <a:solidFill>
                  <a:srgbClr val="C00000"/>
                </a:solidFill>
                <a:latin typeface="华文楷体" panose="02010600040101010101" pitchFamily="2" charset="-122"/>
                <a:ea typeface="华文楷体" panose="02010600040101010101" pitchFamily="2" charset="-122"/>
              </a:rPr>
              <a:t>免责声明</a:t>
            </a:r>
          </a:p>
        </p:txBody>
      </p:sp>
    </p:spTree>
    <p:extLst>
      <p:ext uri="{BB962C8B-B14F-4D97-AF65-F5344CB8AC3E}">
        <p14:creationId xmlns:p14="http://schemas.microsoft.com/office/powerpoint/2010/main" val="2954439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82880"/>
            <a:ext cx="7132320" cy="320040"/>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1000" y="914400"/>
            <a:ext cx="9144000" cy="5486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852160" y="6583680"/>
            <a:ext cx="3200400" cy="182880"/>
          </a:xfrm>
          <a:prstGeom prst="rect">
            <a:avLst/>
          </a:prstGeom>
        </p:spPr>
        <p:txBody>
          <a:bodyPr vert="horz" lIns="0" tIns="0" rIns="0" bIns="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80999" y="6583680"/>
            <a:ext cx="4572000" cy="182880"/>
          </a:xfrm>
          <a:prstGeom prst="rect">
            <a:avLst/>
          </a:prstGeom>
        </p:spPr>
        <p:txBody>
          <a:bodyPr vert="horz" lIns="0" tIns="0" rIns="0" bIns="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159240" y="6583680"/>
            <a:ext cx="365760" cy="182880"/>
          </a:xfrm>
          <a:prstGeom prst="rect">
            <a:avLst/>
          </a:prstGeom>
        </p:spPr>
        <p:txBody>
          <a:bodyPr vert="horz" lIns="0" tIns="0" rIns="0" bIns="0" rtlCol="0" anchor="ctr"/>
          <a:lstStyle>
            <a:lvl1pPr algn="r">
              <a:defRPr sz="900">
                <a:solidFill>
                  <a:schemeClr val="tx1">
                    <a:tint val="75000"/>
                  </a:schemeClr>
                </a:solidFill>
              </a:defRPr>
            </a:lvl1pPr>
          </a:lstStyle>
          <a:p>
            <a:fld id="{72E6F1C1-8568-433B-B05E-E21B84158B67}" type="slidenum">
              <a:rPr lang="en-US" smtClean="0"/>
              <a:t>‹#›</a:t>
            </a:fld>
            <a:endParaRPr lang="en-US" dirty="0"/>
          </a:p>
        </p:txBody>
      </p:sp>
      <p:sp>
        <p:nvSpPr>
          <p:cNvPr id="7" name="Rectangle 6"/>
          <p:cNvSpPr/>
          <p:nvPr userDrawn="1"/>
        </p:nvSpPr>
        <p:spPr>
          <a:xfrm>
            <a:off x="0" y="7048500"/>
            <a:ext cx="640080" cy="548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t>R: </a:t>
            </a:r>
            <a:r>
              <a:rPr lang="en-US" sz="1000" b="1" dirty="0"/>
              <a:t>192</a:t>
            </a:r>
          </a:p>
          <a:p>
            <a:pPr algn="l"/>
            <a:r>
              <a:rPr lang="en-US" sz="1000" b="1"/>
              <a:t>G: </a:t>
            </a:r>
            <a:r>
              <a:rPr lang="en-US" sz="1000" b="1" dirty="0"/>
              <a:t>0</a:t>
            </a:r>
          </a:p>
          <a:p>
            <a:pPr algn="l"/>
            <a:r>
              <a:rPr lang="en-US" sz="1000" b="1"/>
              <a:t>B: </a:t>
            </a:r>
            <a:r>
              <a:rPr lang="en-US" sz="1000" b="1" dirty="0"/>
              <a:t>0</a:t>
            </a:r>
          </a:p>
        </p:txBody>
      </p:sp>
      <p:sp>
        <p:nvSpPr>
          <p:cNvPr id="8" name="Rectangle 7"/>
          <p:cNvSpPr/>
          <p:nvPr userDrawn="1"/>
        </p:nvSpPr>
        <p:spPr>
          <a:xfrm>
            <a:off x="787400" y="7048500"/>
            <a:ext cx="64008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solidFill>
                  <a:schemeClr val="tx1"/>
                </a:solidFill>
              </a:rPr>
              <a:t>R: </a:t>
            </a:r>
            <a:r>
              <a:rPr lang="en-US" sz="1000" b="1" dirty="0">
                <a:solidFill>
                  <a:schemeClr val="tx1"/>
                </a:solidFill>
              </a:rPr>
              <a:t>218</a:t>
            </a:r>
          </a:p>
          <a:p>
            <a:pPr algn="l"/>
            <a:r>
              <a:rPr lang="en-US" sz="1000" b="1">
                <a:solidFill>
                  <a:schemeClr val="tx1"/>
                </a:solidFill>
              </a:rPr>
              <a:t>G: </a:t>
            </a:r>
            <a:r>
              <a:rPr lang="en-US" sz="1000" b="1" dirty="0">
                <a:solidFill>
                  <a:schemeClr val="tx1"/>
                </a:solidFill>
              </a:rPr>
              <a:t>184</a:t>
            </a:r>
          </a:p>
          <a:p>
            <a:pPr algn="l"/>
            <a:r>
              <a:rPr lang="en-US" sz="1000" b="1">
                <a:solidFill>
                  <a:schemeClr val="tx1"/>
                </a:solidFill>
              </a:rPr>
              <a:t>B: </a:t>
            </a:r>
            <a:r>
              <a:rPr lang="en-US" sz="1000" b="1" dirty="0">
                <a:solidFill>
                  <a:schemeClr val="tx1"/>
                </a:solidFill>
              </a:rPr>
              <a:t>102</a:t>
            </a:r>
          </a:p>
        </p:txBody>
      </p:sp>
      <p:sp>
        <p:nvSpPr>
          <p:cNvPr id="9" name="Rectangle 8"/>
          <p:cNvSpPr/>
          <p:nvPr userDrawn="1"/>
        </p:nvSpPr>
        <p:spPr>
          <a:xfrm>
            <a:off x="1574800" y="7048500"/>
            <a:ext cx="64008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t>R: </a:t>
            </a:r>
            <a:r>
              <a:rPr lang="en-US" sz="1000" b="1" dirty="0"/>
              <a:t>5</a:t>
            </a:r>
          </a:p>
          <a:p>
            <a:pPr algn="l"/>
            <a:r>
              <a:rPr lang="en-US" sz="1000" b="1"/>
              <a:t>G: </a:t>
            </a:r>
            <a:r>
              <a:rPr lang="en-US" sz="1000" b="1" dirty="0"/>
              <a:t>61</a:t>
            </a:r>
          </a:p>
          <a:p>
            <a:pPr algn="l"/>
            <a:r>
              <a:rPr lang="en-US" sz="1000" b="1"/>
              <a:t>B:</a:t>
            </a:r>
            <a:r>
              <a:rPr lang="en-US" sz="1000" b="1" baseline="0"/>
              <a:t> </a:t>
            </a:r>
            <a:r>
              <a:rPr lang="en-US" sz="1000" b="1" baseline="0" dirty="0"/>
              <a:t>110</a:t>
            </a:r>
            <a:endParaRPr lang="en-US" sz="1000" b="1" dirty="0"/>
          </a:p>
        </p:txBody>
      </p:sp>
      <p:sp>
        <p:nvSpPr>
          <p:cNvPr id="10" name="Rectangle 9"/>
          <p:cNvSpPr/>
          <p:nvPr userDrawn="1"/>
        </p:nvSpPr>
        <p:spPr>
          <a:xfrm>
            <a:off x="2362200" y="7048500"/>
            <a:ext cx="640080" cy="548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t>R: </a:t>
            </a:r>
            <a:r>
              <a:rPr lang="en-US" sz="1000" b="1" dirty="0"/>
              <a:t>121</a:t>
            </a:r>
          </a:p>
          <a:p>
            <a:pPr algn="l"/>
            <a:r>
              <a:rPr lang="en-US" sz="1000" b="1"/>
              <a:t>G: </a:t>
            </a:r>
            <a:r>
              <a:rPr lang="en-US" sz="1000" b="1" dirty="0"/>
              <a:t>158</a:t>
            </a:r>
          </a:p>
          <a:p>
            <a:pPr algn="l"/>
            <a:r>
              <a:rPr lang="en-US" sz="1000" b="1"/>
              <a:t>B: </a:t>
            </a:r>
            <a:r>
              <a:rPr lang="en-US" sz="1000" b="1" dirty="0"/>
              <a:t>196</a:t>
            </a:r>
          </a:p>
        </p:txBody>
      </p:sp>
      <p:sp>
        <p:nvSpPr>
          <p:cNvPr id="11" name="Rectangle 10"/>
          <p:cNvSpPr/>
          <p:nvPr userDrawn="1"/>
        </p:nvSpPr>
        <p:spPr>
          <a:xfrm>
            <a:off x="3149600" y="7048500"/>
            <a:ext cx="640080" cy="548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t>R: </a:t>
            </a:r>
            <a:r>
              <a:rPr lang="en-US" sz="1000" b="1" dirty="0"/>
              <a:t>161</a:t>
            </a:r>
          </a:p>
          <a:p>
            <a:pPr algn="l"/>
            <a:r>
              <a:rPr lang="en-US" sz="1000" b="1"/>
              <a:t>G: </a:t>
            </a:r>
            <a:r>
              <a:rPr lang="en-US" sz="1000" b="1" dirty="0"/>
              <a:t>81</a:t>
            </a:r>
          </a:p>
          <a:p>
            <a:pPr algn="l"/>
            <a:r>
              <a:rPr lang="en-US" sz="1000" b="1"/>
              <a:t>B: </a:t>
            </a:r>
            <a:r>
              <a:rPr lang="en-US" sz="1000" b="1" dirty="0"/>
              <a:t>123</a:t>
            </a:r>
          </a:p>
        </p:txBody>
      </p:sp>
      <p:sp>
        <p:nvSpPr>
          <p:cNvPr id="12" name="Rectangle 11"/>
          <p:cNvSpPr/>
          <p:nvPr userDrawn="1"/>
        </p:nvSpPr>
        <p:spPr>
          <a:xfrm>
            <a:off x="3937000" y="7048500"/>
            <a:ext cx="640080" cy="5486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solidFill>
                  <a:schemeClr val="tx1"/>
                </a:solidFill>
              </a:rPr>
              <a:t>R: </a:t>
            </a:r>
            <a:r>
              <a:rPr lang="en-US" sz="1000" b="1" dirty="0">
                <a:solidFill>
                  <a:schemeClr val="tx1"/>
                </a:solidFill>
              </a:rPr>
              <a:t>165</a:t>
            </a:r>
          </a:p>
          <a:p>
            <a:pPr algn="l"/>
            <a:r>
              <a:rPr lang="en-US" sz="1000" b="1">
                <a:solidFill>
                  <a:schemeClr val="tx1"/>
                </a:solidFill>
              </a:rPr>
              <a:t>G: </a:t>
            </a:r>
            <a:r>
              <a:rPr lang="en-US" sz="1000" b="1" dirty="0">
                <a:solidFill>
                  <a:schemeClr val="tx1"/>
                </a:solidFill>
              </a:rPr>
              <a:t>165</a:t>
            </a:r>
          </a:p>
          <a:p>
            <a:pPr algn="l"/>
            <a:r>
              <a:rPr lang="en-US" sz="1000" b="1">
                <a:solidFill>
                  <a:schemeClr val="tx1"/>
                </a:solidFill>
              </a:rPr>
              <a:t>B: </a:t>
            </a:r>
            <a:r>
              <a:rPr lang="en-US" sz="1000" b="1" dirty="0">
                <a:solidFill>
                  <a:schemeClr val="tx1"/>
                </a:solidFill>
              </a:rPr>
              <a:t>165</a:t>
            </a:r>
          </a:p>
        </p:txBody>
      </p:sp>
      <p:sp>
        <p:nvSpPr>
          <p:cNvPr id="13" name="Rectangle 12"/>
          <p:cNvSpPr/>
          <p:nvPr userDrawn="1"/>
        </p:nvSpPr>
        <p:spPr>
          <a:xfrm>
            <a:off x="4724400" y="7048500"/>
            <a:ext cx="640080" cy="54864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solidFill>
                  <a:schemeClr val="tx1"/>
                </a:solidFill>
              </a:rPr>
              <a:t>R: </a:t>
            </a:r>
            <a:r>
              <a:rPr lang="en-US" sz="1000" b="1" dirty="0">
                <a:solidFill>
                  <a:schemeClr val="tx1"/>
                </a:solidFill>
              </a:rPr>
              <a:t>242</a:t>
            </a:r>
          </a:p>
          <a:p>
            <a:pPr algn="l"/>
            <a:r>
              <a:rPr lang="en-US" sz="1000" b="1">
                <a:solidFill>
                  <a:schemeClr val="tx1"/>
                </a:solidFill>
              </a:rPr>
              <a:t>G: </a:t>
            </a:r>
            <a:r>
              <a:rPr lang="en-US" sz="1000" b="1" dirty="0">
                <a:solidFill>
                  <a:schemeClr val="tx1"/>
                </a:solidFill>
              </a:rPr>
              <a:t>242</a:t>
            </a:r>
          </a:p>
          <a:p>
            <a:pPr algn="l"/>
            <a:r>
              <a:rPr lang="en-US" sz="1000" b="1">
                <a:solidFill>
                  <a:schemeClr val="tx1"/>
                </a:solidFill>
              </a:rPr>
              <a:t>B: </a:t>
            </a:r>
            <a:r>
              <a:rPr lang="en-US" sz="1000" b="1" dirty="0">
                <a:solidFill>
                  <a:schemeClr val="tx1"/>
                </a:solidFill>
              </a:rPr>
              <a:t>242</a:t>
            </a:r>
          </a:p>
        </p:txBody>
      </p:sp>
      <p:sp>
        <p:nvSpPr>
          <p:cNvPr id="14" name="Rectangle 13"/>
          <p:cNvSpPr/>
          <p:nvPr userDrawn="1"/>
        </p:nvSpPr>
        <p:spPr>
          <a:xfrm>
            <a:off x="5511800" y="7048500"/>
            <a:ext cx="640080" cy="5486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1000" b="1">
                <a:solidFill>
                  <a:schemeClr val="bg1"/>
                </a:solidFill>
              </a:rPr>
              <a:t>R: </a:t>
            </a:r>
            <a:r>
              <a:rPr lang="en-US" sz="1000" b="1" dirty="0">
                <a:solidFill>
                  <a:schemeClr val="bg1"/>
                </a:solidFill>
              </a:rPr>
              <a:t>64</a:t>
            </a:r>
          </a:p>
          <a:p>
            <a:pPr algn="l"/>
            <a:r>
              <a:rPr lang="en-US" sz="1000" b="1">
                <a:solidFill>
                  <a:schemeClr val="bg1"/>
                </a:solidFill>
              </a:rPr>
              <a:t>G: </a:t>
            </a:r>
            <a:r>
              <a:rPr lang="en-US" sz="1000" b="1" dirty="0">
                <a:solidFill>
                  <a:schemeClr val="bg1"/>
                </a:solidFill>
              </a:rPr>
              <a:t>64</a:t>
            </a:r>
          </a:p>
          <a:p>
            <a:pPr algn="l"/>
            <a:r>
              <a:rPr lang="en-US" sz="1000" b="1">
                <a:solidFill>
                  <a:schemeClr val="bg1"/>
                </a:solidFill>
              </a:rPr>
              <a:t>B: </a:t>
            </a:r>
            <a:r>
              <a:rPr lang="en-US" sz="1000" b="1" dirty="0">
                <a:solidFill>
                  <a:schemeClr val="bg1"/>
                </a:solidFill>
              </a:rPr>
              <a:t>64</a:t>
            </a:r>
          </a:p>
        </p:txBody>
      </p:sp>
      <p:pic>
        <p:nvPicPr>
          <p:cNvPr id="16" name="Picture 2" descr="C:\Users\chiannor\Pictures\Logo\CMS\Golden logo without background.jpg"/>
          <p:cNvPicPr>
            <a:picLocks noChangeAspect="1" noChangeArrowheads="1"/>
          </p:cNvPicPr>
          <p:nvPr userDrawn="1"/>
        </p:nvPicPr>
        <p:blipFill>
          <a:blip r:embed="rId18" cstate="print">
            <a:extLst>
              <a:ext uri="{28A0092B-C50C-407E-A947-70E740481C1C}">
                <a14:useLocalDpi xmlns:a14="http://schemas.microsoft.com/office/drawing/2010/main" val="0"/>
              </a:ext>
            </a:extLst>
          </a:blip>
          <a:stretch>
            <a:fillRect/>
          </a:stretch>
        </p:blipFill>
        <p:spPr bwMode="auto">
          <a:xfrm>
            <a:off x="7662859" y="182880"/>
            <a:ext cx="1862141" cy="23276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wallstreetcn.com/live/global" TargetMode="Externa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www.aastocks.com/tc/stocks/market/ipo/upcomingipo/company-summary"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hyperlink" Target="http://www.aastocks.com/tc/stocks/market/ipo/upcomingipo/company-summary" TargetMode="External"/><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www.aastocks.com/tc/stocks/market/ipo/upcomingipo/company-summary"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www.aastocks.com/tc/stocks/market/ipo/upcomingipo/company-summary" TargetMode="External"/><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9.xml"/><Relationship Id="rId7"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tags" Target="../tags/tag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http://www.aastocks.com/tc/stocks/market/ipo/upcomingipo/company-summary"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2.xml"/><Relationship Id="rId4" Type="http://schemas.openxmlformats.org/officeDocument/2006/relationships/hyperlink" Target="http://www.aastocks.com/tc/stocks/market/ipo/upcomingipo/company-summary"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www.aastocks.com/tc/stocks/market/ipo/upcomingipo/company-summary"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hyperlink" Target="https://www1.hkexnews.hk/listedco/listconews/sehk/2026/0318/2026031800116_c.pdf" TargetMode="External"/><Relationship Id="rId2" Type="http://schemas.openxmlformats.org/officeDocument/2006/relationships/slideLayout" Target="../slideLayouts/slideLayout3.xml"/><Relationship Id="rId1" Type="http://schemas.openxmlformats.org/officeDocument/2006/relationships/tags" Target="../tags/tag4.xml"/><Relationship Id="rId6" Type="http://schemas.openxmlformats.org/officeDocument/2006/relationships/image" Target="../media/image35.png"/><Relationship Id="rId5" Type="http://schemas.openxmlformats.org/officeDocument/2006/relationships/image" Target="../media/image34.jpeg"/><Relationship Id="rId4" Type="http://schemas.openxmlformats.org/officeDocument/2006/relationships/hyperlink" Target="http://www.aastocks.com/tc/stocks/market/ipo/upcomingipo/company-summary"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5.xml"/><Relationship Id="rId5" Type="http://schemas.openxmlformats.org/officeDocument/2006/relationships/image" Target="../media/image36.png"/><Relationship Id="rId4" Type="http://schemas.openxmlformats.org/officeDocument/2006/relationships/hyperlink" Target="http://www.aastocks.com/tc/stocks/market/ipo/upcomingipo/company-summary"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38.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37.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Layout" Target="../slideLayouts/slideLayout15.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70A8-7B19-1FAA-7A7F-5CF71787E7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9BBBE5D-D251-3E7D-FE24-33FA09782F7F}"/>
              </a:ext>
            </a:extLst>
          </p:cNvPr>
          <p:cNvSpPr/>
          <p:nvPr/>
        </p:nvSpPr>
        <p:spPr>
          <a:xfrm>
            <a:off x="125498" y="6139769"/>
            <a:ext cx="7006856" cy="570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 name="object 3">
            <a:extLst>
              <a:ext uri="{FF2B5EF4-FFF2-40B4-BE49-F238E27FC236}">
                <a16:creationId xmlns:a16="http://schemas.microsoft.com/office/drawing/2014/main" id="{66EA98C4-FFB1-2501-3613-ED4E7E6A717C}"/>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4063"/>
            <a:ext cx="9921240" cy="438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object 4">
            <a:extLst>
              <a:ext uri="{FF2B5EF4-FFF2-40B4-BE49-F238E27FC236}">
                <a16:creationId xmlns:a16="http://schemas.microsoft.com/office/drawing/2014/main" id="{16C27A5E-3704-DB16-1BC9-F69F783B08FA}"/>
              </a:ext>
            </a:extLst>
          </p:cNvPr>
          <p:cNvSpPr/>
          <p:nvPr/>
        </p:nvSpPr>
        <p:spPr bwMode="auto">
          <a:xfrm>
            <a:off x="6876851" y="4310742"/>
            <a:ext cx="3029149" cy="2549553"/>
          </a:xfrm>
          <a:custGeom>
            <a:avLst/>
            <a:gdLst>
              <a:gd name="T0" fmla="*/ 6135211 w 6159500"/>
              <a:gd name="T1" fmla="*/ 87325 h 5184140"/>
              <a:gd name="T2" fmla="*/ 6108936 w 6159500"/>
              <a:gd name="T3" fmla="*/ 168072 h 5184140"/>
              <a:gd name="T4" fmla="*/ 6080103 w 6159500"/>
              <a:gd name="T5" fmla="*/ 247170 h 5184140"/>
              <a:gd name="T6" fmla="*/ 6048767 w 6159500"/>
              <a:gd name="T7" fmla="*/ 324649 h 5184140"/>
              <a:gd name="T8" fmla="*/ 6014986 w 6159500"/>
              <a:gd name="T9" fmla="*/ 400543 h 5184140"/>
              <a:gd name="T10" fmla="*/ 5978816 w 6159500"/>
              <a:gd name="T11" fmla="*/ 474882 h 5184140"/>
              <a:gd name="T12" fmla="*/ 5940313 w 6159500"/>
              <a:gd name="T13" fmla="*/ 547699 h 5184140"/>
              <a:gd name="T14" fmla="*/ 5899534 w 6159500"/>
              <a:gd name="T15" fmla="*/ 619025 h 5184140"/>
              <a:gd name="T16" fmla="*/ 5856535 w 6159500"/>
              <a:gd name="T17" fmla="*/ 688892 h 5184140"/>
              <a:gd name="T18" fmla="*/ 5811373 w 6159500"/>
              <a:gd name="T19" fmla="*/ 757332 h 5184140"/>
              <a:gd name="T20" fmla="*/ 5764104 w 6159500"/>
              <a:gd name="T21" fmla="*/ 824377 h 5184140"/>
              <a:gd name="T22" fmla="*/ 5714785 w 6159500"/>
              <a:gd name="T23" fmla="*/ 890059 h 5184140"/>
              <a:gd name="T24" fmla="*/ 5663473 w 6159500"/>
              <a:gd name="T25" fmla="*/ 954409 h 5184140"/>
              <a:gd name="T26" fmla="*/ 5610223 w 6159500"/>
              <a:gd name="T27" fmla="*/ 1017458 h 5184140"/>
              <a:gd name="T28" fmla="*/ 5555092 w 6159500"/>
              <a:gd name="T29" fmla="*/ 1079240 h 5184140"/>
              <a:gd name="T30" fmla="*/ 5498137 w 6159500"/>
              <a:gd name="T31" fmla="*/ 1139786 h 5184140"/>
              <a:gd name="T32" fmla="*/ 5439414 w 6159500"/>
              <a:gd name="T33" fmla="*/ 1199127 h 5184140"/>
              <a:gd name="T34" fmla="*/ 5378980 w 6159500"/>
              <a:gd name="T35" fmla="*/ 1257296 h 5184140"/>
              <a:gd name="T36" fmla="*/ 5316890 w 6159500"/>
              <a:gd name="T37" fmla="*/ 1314323 h 5184140"/>
              <a:gd name="T38" fmla="*/ 5253203 w 6159500"/>
              <a:gd name="T39" fmla="*/ 1370242 h 5184140"/>
              <a:gd name="T40" fmla="*/ 5187973 w 6159500"/>
              <a:gd name="T41" fmla="*/ 1425084 h 5184140"/>
              <a:gd name="T42" fmla="*/ 5121258 w 6159500"/>
              <a:gd name="T43" fmla="*/ 1478880 h 5184140"/>
              <a:gd name="T44" fmla="*/ 5053114 w 6159500"/>
              <a:gd name="T45" fmla="*/ 1531662 h 5184140"/>
              <a:gd name="T46" fmla="*/ 4983598 w 6159500"/>
              <a:gd name="T47" fmla="*/ 1583463 h 5184140"/>
              <a:gd name="T48" fmla="*/ 4912765 w 6159500"/>
              <a:gd name="T49" fmla="*/ 1634314 h 5184140"/>
              <a:gd name="T50" fmla="*/ 4840673 w 6159500"/>
              <a:gd name="T51" fmla="*/ 1684246 h 5184140"/>
              <a:gd name="T52" fmla="*/ 4767378 w 6159500"/>
              <a:gd name="T53" fmla="*/ 1733293 h 5184140"/>
              <a:gd name="T54" fmla="*/ 4692937 w 6159500"/>
              <a:gd name="T55" fmla="*/ 1781484 h 5184140"/>
              <a:gd name="T56" fmla="*/ 4540840 w 6159500"/>
              <a:gd name="T57" fmla="*/ 1875431 h 5184140"/>
              <a:gd name="T58" fmla="*/ 4384835 w 6159500"/>
              <a:gd name="T59" fmla="*/ 1966341 h 5184140"/>
              <a:gd name="T60" fmla="*/ 4225372 w 6159500"/>
              <a:gd name="T61" fmla="*/ 2054469 h 5184140"/>
              <a:gd name="T62" fmla="*/ 3980686 w 6159500"/>
              <a:gd name="T63" fmla="*/ 2182001 h 5184140"/>
              <a:gd name="T64" fmla="*/ 3604316 w 6159500"/>
              <a:gd name="T65" fmla="*/ 2364514 h 5184140"/>
              <a:gd name="T66" fmla="*/ 2414124 w 6159500"/>
              <a:gd name="T67" fmla="*/ 2894430 h 5184140"/>
              <a:gd name="T68" fmla="*/ 1843379 w 6159500"/>
              <a:gd name="T69" fmla="*/ 3157747 h 5184140"/>
              <a:gd name="T70" fmla="*/ 1572570 w 6159500"/>
              <a:gd name="T71" fmla="*/ 3293768 h 5184140"/>
              <a:gd name="T72" fmla="*/ 1386916 w 6159500"/>
              <a:gd name="T73" fmla="*/ 3393741 h 5184140"/>
              <a:gd name="T74" fmla="*/ 1243737 w 6159500"/>
              <a:gd name="T75" fmla="*/ 3475789 h 5184140"/>
              <a:gd name="T76" fmla="*/ 1139768 w 6159500"/>
              <a:gd name="T77" fmla="*/ 3538700 h 5184140"/>
              <a:gd name="T78" fmla="*/ 1072188 w 6159500"/>
              <a:gd name="T79" fmla="*/ 3581354 h 5184140"/>
              <a:gd name="T80" fmla="*/ 1006059 w 6159500"/>
              <a:gd name="T81" fmla="*/ 3624618 h 5184140"/>
              <a:gd name="T82" fmla="*/ 941438 w 6159500"/>
              <a:gd name="T83" fmla="*/ 3668521 h 5184140"/>
              <a:gd name="T84" fmla="*/ 878381 w 6159500"/>
              <a:gd name="T85" fmla="*/ 3713097 h 5184140"/>
              <a:gd name="T86" fmla="*/ 786853 w 6159500"/>
              <a:gd name="T87" fmla="*/ 3781290 h 5184140"/>
              <a:gd name="T88" fmla="*/ 670818 w 6159500"/>
              <a:gd name="T89" fmla="*/ 3874864 h 5184140"/>
              <a:gd name="T90" fmla="*/ 562058 w 6159500"/>
              <a:gd name="T91" fmla="*/ 3971698 h 5184140"/>
              <a:gd name="T92" fmla="*/ 461024 w 6159500"/>
              <a:gd name="T93" fmla="*/ 4072048 h 5184140"/>
              <a:gd name="T94" fmla="*/ 368168 w 6159500"/>
              <a:gd name="T95" fmla="*/ 4176167 h 5184140"/>
              <a:gd name="T96" fmla="*/ 283943 w 6159500"/>
              <a:gd name="T97" fmla="*/ 4284311 h 5184140"/>
              <a:gd name="T98" fmla="*/ 208799 w 6159500"/>
              <a:gd name="T99" fmla="*/ 4396733 h 5184140"/>
              <a:gd name="T100" fmla="*/ 143189 w 6159500"/>
              <a:gd name="T101" fmla="*/ 4513689 h 5184140"/>
              <a:gd name="T102" fmla="*/ 87564 w 6159500"/>
              <a:gd name="T103" fmla="*/ 4635432 h 5184140"/>
              <a:gd name="T104" fmla="*/ 42376 w 6159500"/>
              <a:gd name="T105" fmla="*/ 4762217 h 5184140"/>
              <a:gd name="T106" fmla="*/ 8078 w 6159500"/>
              <a:gd name="T107" fmla="*/ 4894299 h 5184140"/>
              <a:gd name="T108" fmla="*/ 6159384 w 6159500"/>
              <a:gd name="T109" fmla="*/ 5183599 h 518414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159500" h="5184140">
                <a:moveTo>
                  <a:pt x="6159384" y="0"/>
                </a:moveTo>
                <a:lnTo>
                  <a:pt x="6135211" y="87325"/>
                </a:lnTo>
                <a:lnTo>
                  <a:pt x="6122397" y="127907"/>
                </a:lnTo>
                <a:lnTo>
                  <a:pt x="6108936" y="168072"/>
                </a:lnTo>
                <a:lnTo>
                  <a:pt x="6094836" y="207825"/>
                </a:lnTo>
                <a:lnTo>
                  <a:pt x="6080103" y="247170"/>
                </a:lnTo>
                <a:lnTo>
                  <a:pt x="6064744" y="286110"/>
                </a:lnTo>
                <a:lnTo>
                  <a:pt x="6048767" y="324649"/>
                </a:lnTo>
                <a:lnTo>
                  <a:pt x="6032179" y="362792"/>
                </a:lnTo>
                <a:lnTo>
                  <a:pt x="6014986" y="400543"/>
                </a:lnTo>
                <a:lnTo>
                  <a:pt x="5997196" y="437905"/>
                </a:lnTo>
                <a:lnTo>
                  <a:pt x="5978816" y="474882"/>
                </a:lnTo>
                <a:lnTo>
                  <a:pt x="5959852" y="511479"/>
                </a:lnTo>
                <a:lnTo>
                  <a:pt x="5940313" y="547699"/>
                </a:lnTo>
                <a:lnTo>
                  <a:pt x="5920204" y="583546"/>
                </a:lnTo>
                <a:lnTo>
                  <a:pt x="5899534" y="619025"/>
                </a:lnTo>
                <a:lnTo>
                  <a:pt x="5878308" y="654139"/>
                </a:lnTo>
                <a:lnTo>
                  <a:pt x="5856535" y="688892"/>
                </a:lnTo>
                <a:lnTo>
                  <a:pt x="5834221" y="723289"/>
                </a:lnTo>
                <a:lnTo>
                  <a:pt x="5811373" y="757332"/>
                </a:lnTo>
                <a:lnTo>
                  <a:pt x="5787998" y="791027"/>
                </a:lnTo>
                <a:lnTo>
                  <a:pt x="5764104" y="824377"/>
                </a:lnTo>
                <a:lnTo>
                  <a:pt x="5739698" y="857387"/>
                </a:lnTo>
                <a:lnTo>
                  <a:pt x="5714785" y="890059"/>
                </a:lnTo>
                <a:lnTo>
                  <a:pt x="5689375" y="922398"/>
                </a:lnTo>
                <a:lnTo>
                  <a:pt x="5663473" y="954409"/>
                </a:lnTo>
                <a:lnTo>
                  <a:pt x="5637086" y="986094"/>
                </a:lnTo>
                <a:lnTo>
                  <a:pt x="5610223" y="1017458"/>
                </a:lnTo>
                <a:lnTo>
                  <a:pt x="5582889" y="1048506"/>
                </a:lnTo>
                <a:lnTo>
                  <a:pt x="5555092" y="1079240"/>
                </a:lnTo>
                <a:lnTo>
                  <a:pt x="5526839" y="1109666"/>
                </a:lnTo>
                <a:lnTo>
                  <a:pt x="5498137" y="1139786"/>
                </a:lnTo>
                <a:lnTo>
                  <a:pt x="5468993" y="1169605"/>
                </a:lnTo>
                <a:lnTo>
                  <a:pt x="5439414" y="1199127"/>
                </a:lnTo>
                <a:lnTo>
                  <a:pt x="5409407" y="1228356"/>
                </a:lnTo>
                <a:lnTo>
                  <a:pt x="5378980" y="1257296"/>
                </a:lnTo>
                <a:lnTo>
                  <a:pt x="5348138" y="1285950"/>
                </a:lnTo>
                <a:lnTo>
                  <a:pt x="5316890" y="1314323"/>
                </a:lnTo>
                <a:lnTo>
                  <a:pt x="5285243" y="1342419"/>
                </a:lnTo>
                <a:lnTo>
                  <a:pt x="5253203" y="1370242"/>
                </a:lnTo>
                <a:lnTo>
                  <a:pt x="5220777" y="1397796"/>
                </a:lnTo>
                <a:lnTo>
                  <a:pt x="5187973" y="1425084"/>
                </a:lnTo>
                <a:lnTo>
                  <a:pt x="5154798" y="1452110"/>
                </a:lnTo>
                <a:lnTo>
                  <a:pt x="5121258" y="1478880"/>
                </a:lnTo>
                <a:lnTo>
                  <a:pt x="5087361" y="1505396"/>
                </a:lnTo>
                <a:lnTo>
                  <a:pt x="5053114" y="1531662"/>
                </a:lnTo>
                <a:lnTo>
                  <a:pt x="5018524" y="1557683"/>
                </a:lnTo>
                <a:lnTo>
                  <a:pt x="4983598" y="1583463"/>
                </a:lnTo>
                <a:lnTo>
                  <a:pt x="4948343" y="1609005"/>
                </a:lnTo>
                <a:lnTo>
                  <a:pt x="4912765" y="1634314"/>
                </a:lnTo>
                <a:lnTo>
                  <a:pt x="4876873" y="1659393"/>
                </a:lnTo>
                <a:lnTo>
                  <a:pt x="4840673" y="1684246"/>
                </a:lnTo>
                <a:lnTo>
                  <a:pt x="4804173" y="1708878"/>
                </a:lnTo>
                <a:lnTo>
                  <a:pt x="4767378" y="1733293"/>
                </a:lnTo>
                <a:lnTo>
                  <a:pt x="4730297" y="1757493"/>
                </a:lnTo>
                <a:lnTo>
                  <a:pt x="4692937" y="1781484"/>
                </a:lnTo>
                <a:lnTo>
                  <a:pt x="4617405" y="1828853"/>
                </a:lnTo>
                <a:lnTo>
                  <a:pt x="4540840" y="1875431"/>
                </a:lnTo>
                <a:lnTo>
                  <a:pt x="4463298" y="1921250"/>
                </a:lnTo>
                <a:lnTo>
                  <a:pt x="4384835" y="1966341"/>
                </a:lnTo>
                <a:lnTo>
                  <a:pt x="4305507" y="2010737"/>
                </a:lnTo>
                <a:lnTo>
                  <a:pt x="4225372" y="2054469"/>
                </a:lnTo>
                <a:lnTo>
                  <a:pt x="4103779" y="2118892"/>
                </a:lnTo>
                <a:lnTo>
                  <a:pt x="3980686" y="2182001"/>
                </a:lnTo>
                <a:lnTo>
                  <a:pt x="3814559" y="2264287"/>
                </a:lnTo>
                <a:lnTo>
                  <a:pt x="3604316" y="2364514"/>
                </a:lnTo>
                <a:lnTo>
                  <a:pt x="3349400" y="2481584"/>
                </a:lnTo>
                <a:lnTo>
                  <a:pt x="2414124" y="2894430"/>
                </a:lnTo>
                <a:lnTo>
                  <a:pt x="2043394" y="3062727"/>
                </a:lnTo>
                <a:lnTo>
                  <a:pt x="1843379" y="3157747"/>
                </a:lnTo>
                <a:lnTo>
                  <a:pt x="1687188" y="3234974"/>
                </a:lnTo>
                <a:lnTo>
                  <a:pt x="1572570" y="3293768"/>
                </a:lnTo>
                <a:lnTo>
                  <a:pt x="1460329" y="3353431"/>
                </a:lnTo>
                <a:lnTo>
                  <a:pt x="1386916" y="3393741"/>
                </a:lnTo>
                <a:lnTo>
                  <a:pt x="1314699" y="3434516"/>
                </a:lnTo>
                <a:lnTo>
                  <a:pt x="1243737" y="3475789"/>
                </a:lnTo>
                <a:lnTo>
                  <a:pt x="1174085" y="3517591"/>
                </a:lnTo>
                <a:lnTo>
                  <a:pt x="1139768" y="3538700"/>
                </a:lnTo>
                <a:lnTo>
                  <a:pt x="1105800" y="3559953"/>
                </a:lnTo>
                <a:lnTo>
                  <a:pt x="1072188" y="3581354"/>
                </a:lnTo>
                <a:lnTo>
                  <a:pt x="1038938" y="3602908"/>
                </a:lnTo>
                <a:lnTo>
                  <a:pt x="1006059" y="3624618"/>
                </a:lnTo>
                <a:lnTo>
                  <a:pt x="973556" y="3646487"/>
                </a:lnTo>
                <a:lnTo>
                  <a:pt x="941438" y="3668521"/>
                </a:lnTo>
                <a:lnTo>
                  <a:pt x="909710" y="3690723"/>
                </a:lnTo>
                <a:lnTo>
                  <a:pt x="878381" y="3713097"/>
                </a:lnTo>
                <a:lnTo>
                  <a:pt x="847457" y="3735647"/>
                </a:lnTo>
                <a:lnTo>
                  <a:pt x="786853" y="3781290"/>
                </a:lnTo>
                <a:lnTo>
                  <a:pt x="727955" y="3827685"/>
                </a:lnTo>
                <a:lnTo>
                  <a:pt x="670818" y="3874864"/>
                </a:lnTo>
                <a:lnTo>
                  <a:pt x="615501" y="3922857"/>
                </a:lnTo>
                <a:lnTo>
                  <a:pt x="562058" y="3971698"/>
                </a:lnTo>
                <a:lnTo>
                  <a:pt x="510547" y="4021418"/>
                </a:lnTo>
                <a:lnTo>
                  <a:pt x="461024" y="4072048"/>
                </a:lnTo>
                <a:lnTo>
                  <a:pt x="413546" y="4123620"/>
                </a:lnTo>
                <a:lnTo>
                  <a:pt x="368168" y="4176167"/>
                </a:lnTo>
                <a:lnTo>
                  <a:pt x="324949" y="4229720"/>
                </a:lnTo>
                <a:lnTo>
                  <a:pt x="283943" y="4284311"/>
                </a:lnTo>
                <a:lnTo>
                  <a:pt x="245207" y="4339972"/>
                </a:lnTo>
                <a:lnTo>
                  <a:pt x="208799" y="4396733"/>
                </a:lnTo>
                <a:lnTo>
                  <a:pt x="174774" y="4454629"/>
                </a:lnTo>
                <a:lnTo>
                  <a:pt x="143189" y="4513689"/>
                </a:lnTo>
                <a:lnTo>
                  <a:pt x="114100" y="4573946"/>
                </a:lnTo>
                <a:lnTo>
                  <a:pt x="87564" y="4635432"/>
                </a:lnTo>
                <a:lnTo>
                  <a:pt x="63637" y="4698179"/>
                </a:lnTo>
                <a:lnTo>
                  <a:pt x="42376" y="4762217"/>
                </a:lnTo>
                <a:lnTo>
                  <a:pt x="23838" y="4827580"/>
                </a:lnTo>
                <a:lnTo>
                  <a:pt x="8078" y="4894299"/>
                </a:lnTo>
                <a:lnTo>
                  <a:pt x="0" y="5183599"/>
                </a:lnTo>
                <a:lnTo>
                  <a:pt x="6159384" y="5183599"/>
                </a:lnTo>
                <a:lnTo>
                  <a:pt x="6159384" y="0"/>
                </a:lnTo>
                <a:close/>
              </a:path>
            </a:pathLst>
          </a:custGeom>
          <a:solidFill>
            <a:srgbClr val="7F1114"/>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en-US" dirty="0">
              <a:cs typeface="+mn-ea"/>
              <a:sym typeface="+mn-lt"/>
            </a:endParaRPr>
          </a:p>
        </p:txBody>
      </p:sp>
      <p:pic>
        <p:nvPicPr>
          <p:cNvPr id="53" name="object 5">
            <a:extLst>
              <a:ext uri="{FF2B5EF4-FFF2-40B4-BE49-F238E27FC236}">
                <a16:creationId xmlns:a16="http://schemas.microsoft.com/office/drawing/2014/main" id="{36D44664-84C4-54CB-D7D7-0909156FC4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88948" y="5290173"/>
            <a:ext cx="4117052" cy="1569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object 6">
            <a:extLst>
              <a:ext uri="{FF2B5EF4-FFF2-40B4-BE49-F238E27FC236}">
                <a16:creationId xmlns:a16="http://schemas.microsoft.com/office/drawing/2014/main" id="{11B4A1DE-5C33-8892-65BA-58967A97A76A}"/>
              </a:ext>
            </a:extLst>
          </p:cNvPr>
          <p:cNvSpPr/>
          <p:nvPr/>
        </p:nvSpPr>
        <p:spPr bwMode="auto">
          <a:xfrm>
            <a:off x="0" y="0"/>
            <a:ext cx="2250939" cy="1984305"/>
          </a:xfrm>
          <a:custGeom>
            <a:avLst/>
            <a:gdLst>
              <a:gd name="T0" fmla="*/ 0 w 4577080"/>
              <a:gd name="T1" fmla="*/ 0 h 4034790"/>
              <a:gd name="T2" fmla="*/ 39485 w 4577080"/>
              <a:gd name="T3" fmla="*/ 4028571 h 4034790"/>
              <a:gd name="T4" fmla="*/ 120180 w 4577080"/>
              <a:gd name="T5" fmla="*/ 4014805 h 4034790"/>
              <a:gd name="T6" fmla="*/ 199034 w 4577080"/>
              <a:gd name="T7" fmla="*/ 3998505 h 4034790"/>
              <a:gd name="T8" fmla="*/ 276098 w 4577080"/>
              <a:gd name="T9" fmla="*/ 3979731 h 4034790"/>
              <a:gd name="T10" fmla="*/ 351421 w 4577080"/>
              <a:gd name="T11" fmla="*/ 3958545 h 4034790"/>
              <a:gd name="T12" fmla="*/ 425053 w 4577080"/>
              <a:gd name="T13" fmla="*/ 3935007 h 4034790"/>
              <a:gd name="T14" fmla="*/ 497044 w 4577080"/>
              <a:gd name="T15" fmla="*/ 3909178 h 4034790"/>
              <a:gd name="T16" fmla="*/ 636304 w 4577080"/>
              <a:gd name="T17" fmla="*/ 3850895 h 4034790"/>
              <a:gd name="T18" fmla="*/ 769598 w 4577080"/>
              <a:gd name="T19" fmla="*/ 3784184 h 4034790"/>
              <a:gd name="T20" fmla="*/ 897327 w 4577080"/>
              <a:gd name="T21" fmla="*/ 3709533 h 4034790"/>
              <a:gd name="T22" fmla="*/ 1019888 w 4577080"/>
              <a:gd name="T23" fmla="*/ 3627431 h 4034790"/>
              <a:gd name="T24" fmla="*/ 1137682 w 4577080"/>
              <a:gd name="T25" fmla="*/ 3538368 h 4034790"/>
              <a:gd name="T26" fmla="*/ 1251107 w 4577080"/>
              <a:gd name="T27" fmla="*/ 3442831 h 4034790"/>
              <a:gd name="T28" fmla="*/ 1360562 w 4577080"/>
              <a:gd name="T29" fmla="*/ 3341311 h 4034790"/>
              <a:gd name="T30" fmla="*/ 1466447 w 4577080"/>
              <a:gd name="T31" fmla="*/ 3234294 h 4034790"/>
              <a:gd name="T32" fmla="*/ 1569161 w 4577080"/>
              <a:gd name="T33" fmla="*/ 3122272 h 4034790"/>
              <a:gd name="T34" fmla="*/ 1619453 w 4577080"/>
              <a:gd name="T35" fmla="*/ 3064536 h 4034790"/>
              <a:gd name="T36" fmla="*/ 1669102 w 4577080"/>
              <a:gd name="T37" fmla="*/ 3005731 h 4034790"/>
              <a:gd name="T38" fmla="*/ 1718157 w 4577080"/>
              <a:gd name="T39" fmla="*/ 2945920 h 4034790"/>
              <a:gd name="T40" fmla="*/ 1766670 w 4577080"/>
              <a:gd name="T41" fmla="*/ 2885162 h 4034790"/>
              <a:gd name="T42" fmla="*/ 1814688 w 4577080"/>
              <a:gd name="T43" fmla="*/ 2823519 h 4034790"/>
              <a:gd name="T44" fmla="*/ 1862263 w 4577080"/>
              <a:gd name="T45" fmla="*/ 2761052 h 4034790"/>
              <a:gd name="T46" fmla="*/ 1909444 w 4577080"/>
              <a:gd name="T47" fmla="*/ 2697823 h 4034790"/>
              <a:gd name="T48" fmla="*/ 1956281 w 4577080"/>
              <a:gd name="T49" fmla="*/ 2633891 h 4034790"/>
              <a:gd name="T50" fmla="*/ 2026002 w 4577080"/>
              <a:gd name="T51" fmla="*/ 2536812 h 4034790"/>
              <a:gd name="T52" fmla="*/ 2118224 w 4577080"/>
              <a:gd name="T53" fmla="*/ 2405487 h 4034790"/>
              <a:gd name="T54" fmla="*/ 2463061 w 4577080"/>
              <a:gd name="T55" fmla="*/ 1901806 h 4034790"/>
              <a:gd name="T56" fmla="*/ 2580151 w 4577080"/>
              <a:gd name="T57" fmla="*/ 1733033 h 4034790"/>
              <a:gd name="T58" fmla="*/ 2675494 w 4577080"/>
              <a:gd name="T59" fmla="*/ 1598797 h 4034790"/>
              <a:gd name="T60" fmla="*/ 2723859 w 4577080"/>
              <a:gd name="T61" fmla="*/ 1532108 h 4034790"/>
              <a:gd name="T62" fmla="*/ 2772753 w 4577080"/>
              <a:gd name="T63" fmla="*/ 1465787 h 4034790"/>
              <a:gd name="T64" fmla="*/ 2822226 w 4577080"/>
              <a:gd name="T65" fmla="*/ 1399895 h 4034790"/>
              <a:gd name="T66" fmla="*/ 2872328 w 4577080"/>
              <a:gd name="T67" fmla="*/ 1334492 h 4034790"/>
              <a:gd name="T68" fmla="*/ 2923108 w 4577080"/>
              <a:gd name="T69" fmla="*/ 1269640 h 4034790"/>
              <a:gd name="T70" fmla="*/ 2974618 w 4577080"/>
              <a:gd name="T71" fmla="*/ 1205400 h 4034790"/>
              <a:gd name="T72" fmla="*/ 3026905 w 4577080"/>
              <a:gd name="T73" fmla="*/ 1141833 h 4034790"/>
              <a:gd name="T74" fmla="*/ 3080022 w 4577080"/>
              <a:gd name="T75" fmla="*/ 1079000 h 4034790"/>
              <a:gd name="T76" fmla="*/ 3134016 w 4577080"/>
              <a:gd name="T77" fmla="*/ 1016962 h 4034790"/>
              <a:gd name="T78" fmla="*/ 3188939 w 4577080"/>
              <a:gd name="T79" fmla="*/ 955781 h 4034790"/>
              <a:gd name="T80" fmla="*/ 3244840 w 4577080"/>
              <a:gd name="T81" fmla="*/ 895517 h 4034790"/>
              <a:gd name="T82" fmla="*/ 3301768 w 4577080"/>
              <a:gd name="T83" fmla="*/ 836231 h 4034790"/>
              <a:gd name="T84" fmla="*/ 3359775 w 4577080"/>
              <a:gd name="T85" fmla="*/ 777986 h 4034790"/>
              <a:gd name="T86" fmla="*/ 3418909 w 4577080"/>
              <a:gd name="T87" fmla="*/ 720840 h 4034790"/>
              <a:gd name="T88" fmla="*/ 3479221 w 4577080"/>
              <a:gd name="T89" fmla="*/ 664857 h 4034790"/>
              <a:gd name="T90" fmla="*/ 3540760 w 4577080"/>
              <a:gd name="T91" fmla="*/ 610097 h 4034790"/>
              <a:gd name="T92" fmla="*/ 3603576 w 4577080"/>
              <a:gd name="T93" fmla="*/ 556621 h 4034790"/>
              <a:gd name="T94" fmla="*/ 3667720 w 4577080"/>
              <a:gd name="T95" fmla="*/ 504490 h 4034790"/>
              <a:gd name="T96" fmla="*/ 3733241 w 4577080"/>
              <a:gd name="T97" fmla="*/ 453765 h 4034790"/>
              <a:gd name="T98" fmla="*/ 3800189 w 4577080"/>
              <a:gd name="T99" fmla="*/ 404507 h 4034790"/>
              <a:gd name="T100" fmla="*/ 3868614 w 4577080"/>
              <a:gd name="T101" fmla="*/ 356778 h 4034790"/>
              <a:gd name="T102" fmla="*/ 3938566 w 4577080"/>
              <a:gd name="T103" fmla="*/ 310639 h 4034790"/>
              <a:gd name="T104" fmla="*/ 4010094 w 4577080"/>
              <a:gd name="T105" fmla="*/ 266150 h 4034790"/>
              <a:gd name="T106" fmla="*/ 4083249 w 4577080"/>
              <a:gd name="T107" fmla="*/ 223372 h 4034790"/>
              <a:gd name="T108" fmla="*/ 4158081 w 4577080"/>
              <a:gd name="T109" fmla="*/ 182368 h 4034790"/>
              <a:gd name="T110" fmla="*/ 4234638 w 4577080"/>
              <a:gd name="T111" fmla="*/ 143198 h 4034790"/>
              <a:gd name="T112" fmla="*/ 4312972 w 4577080"/>
              <a:gd name="T113" fmla="*/ 105922 h 4034790"/>
              <a:gd name="T114" fmla="*/ 4393132 w 4577080"/>
              <a:gd name="T115" fmla="*/ 70603 h 4034790"/>
              <a:gd name="T116" fmla="*/ 4475168 w 4577080"/>
              <a:gd name="T117" fmla="*/ 37301 h 4034790"/>
              <a:gd name="T118" fmla="*/ 4559130 w 4577080"/>
              <a:gd name="T119" fmla="*/ 6078 h 40347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577080" h="4034790">
                <a:moveTo>
                  <a:pt x="4576658" y="0"/>
                </a:moveTo>
                <a:lnTo>
                  <a:pt x="0" y="0"/>
                </a:lnTo>
                <a:lnTo>
                  <a:pt x="0" y="4034258"/>
                </a:lnTo>
                <a:lnTo>
                  <a:pt x="39485" y="4028571"/>
                </a:lnTo>
                <a:lnTo>
                  <a:pt x="80066" y="4022008"/>
                </a:lnTo>
                <a:lnTo>
                  <a:pt x="120180" y="4014805"/>
                </a:lnTo>
                <a:lnTo>
                  <a:pt x="159834" y="4006968"/>
                </a:lnTo>
                <a:lnTo>
                  <a:pt x="199034" y="3998505"/>
                </a:lnTo>
                <a:lnTo>
                  <a:pt x="237787" y="3989423"/>
                </a:lnTo>
                <a:lnTo>
                  <a:pt x="276098" y="3979731"/>
                </a:lnTo>
                <a:lnTo>
                  <a:pt x="313974" y="3969436"/>
                </a:lnTo>
                <a:lnTo>
                  <a:pt x="351421" y="3958545"/>
                </a:lnTo>
                <a:lnTo>
                  <a:pt x="388445" y="3947066"/>
                </a:lnTo>
                <a:lnTo>
                  <a:pt x="425053" y="3935007"/>
                </a:lnTo>
                <a:lnTo>
                  <a:pt x="461251" y="3922375"/>
                </a:lnTo>
                <a:lnTo>
                  <a:pt x="497044" y="3909178"/>
                </a:lnTo>
                <a:lnTo>
                  <a:pt x="567445" y="3881121"/>
                </a:lnTo>
                <a:lnTo>
                  <a:pt x="636304" y="3850895"/>
                </a:lnTo>
                <a:lnTo>
                  <a:pt x="703672" y="3818562"/>
                </a:lnTo>
                <a:lnTo>
                  <a:pt x="769598" y="3784184"/>
                </a:lnTo>
                <a:lnTo>
                  <a:pt x="834133" y="3747820"/>
                </a:lnTo>
                <a:lnTo>
                  <a:pt x="897327" y="3709533"/>
                </a:lnTo>
                <a:lnTo>
                  <a:pt x="959228" y="3669383"/>
                </a:lnTo>
                <a:lnTo>
                  <a:pt x="1019888" y="3627431"/>
                </a:lnTo>
                <a:lnTo>
                  <a:pt x="1079356" y="3583739"/>
                </a:lnTo>
                <a:lnTo>
                  <a:pt x="1137682" y="3538368"/>
                </a:lnTo>
                <a:lnTo>
                  <a:pt x="1194916" y="3491378"/>
                </a:lnTo>
                <a:lnTo>
                  <a:pt x="1251107" y="3442831"/>
                </a:lnTo>
                <a:lnTo>
                  <a:pt x="1306306" y="3392788"/>
                </a:lnTo>
                <a:lnTo>
                  <a:pt x="1360562" y="3341311"/>
                </a:lnTo>
                <a:lnTo>
                  <a:pt x="1413926" y="3288459"/>
                </a:lnTo>
                <a:lnTo>
                  <a:pt x="1466447" y="3234294"/>
                </a:lnTo>
                <a:lnTo>
                  <a:pt x="1518176" y="3178878"/>
                </a:lnTo>
                <a:lnTo>
                  <a:pt x="1569161" y="3122272"/>
                </a:lnTo>
                <a:lnTo>
                  <a:pt x="1594390" y="3093541"/>
                </a:lnTo>
                <a:lnTo>
                  <a:pt x="1619453" y="3064536"/>
                </a:lnTo>
                <a:lnTo>
                  <a:pt x="1644355" y="3035263"/>
                </a:lnTo>
                <a:lnTo>
                  <a:pt x="1669102" y="3005731"/>
                </a:lnTo>
                <a:lnTo>
                  <a:pt x="1693701" y="2975948"/>
                </a:lnTo>
                <a:lnTo>
                  <a:pt x="1718157" y="2945920"/>
                </a:lnTo>
                <a:lnTo>
                  <a:pt x="1742478" y="2915655"/>
                </a:lnTo>
                <a:lnTo>
                  <a:pt x="1766670" y="2885162"/>
                </a:lnTo>
                <a:lnTo>
                  <a:pt x="1790737" y="2854447"/>
                </a:lnTo>
                <a:lnTo>
                  <a:pt x="1814688" y="2823519"/>
                </a:lnTo>
                <a:lnTo>
                  <a:pt x="1838528" y="2792385"/>
                </a:lnTo>
                <a:lnTo>
                  <a:pt x="1862263" y="2761052"/>
                </a:lnTo>
                <a:lnTo>
                  <a:pt x="1885900" y="2729529"/>
                </a:lnTo>
                <a:lnTo>
                  <a:pt x="1909444" y="2697823"/>
                </a:lnTo>
                <a:lnTo>
                  <a:pt x="1932903" y="2665941"/>
                </a:lnTo>
                <a:lnTo>
                  <a:pt x="1956281" y="2633891"/>
                </a:lnTo>
                <a:lnTo>
                  <a:pt x="1979587" y="2601682"/>
                </a:lnTo>
                <a:lnTo>
                  <a:pt x="2026002" y="2536812"/>
                </a:lnTo>
                <a:lnTo>
                  <a:pt x="2072197" y="2471394"/>
                </a:lnTo>
                <a:lnTo>
                  <a:pt x="2118224" y="2405487"/>
                </a:lnTo>
                <a:lnTo>
                  <a:pt x="2209968" y="2272456"/>
                </a:lnTo>
                <a:lnTo>
                  <a:pt x="2463061" y="1901806"/>
                </a:lnTo>
                <a:lnTo>
                  <a:pt x="2533074" y="1800457"/>
                </a:lnTo>
                <a:lnTo>
                  <a:pt x="2580151" y="1733033"/>
                </a:lnTo>
                <a:lnTo>
                  <a:pt x="2627608" y="1665792"/>
                </a:lnTo>
                <a:lnTo>
                  <a:pt x="2675494" y="1598797"/>
                </a:lnTo>
                <a:lnTo>
                  <a:pt x="2699613" y="1565411"/>
                </a:lnTo>
                <a:lnTo>
                  <a:pt x="2723859" y="1532108"/>
                </a:lnTo>
                <a:lnTo>
                  <a:pt x="2748236" y="1498898"/>
                </a:lnTo>
                <a:lnTo>
                  <a:pt x="2772753" y="1465787"/>
                </a:lnTo>
                <a:lnTo>
                  <a:pt x="2797414" y="1432783"/>
                </a:lnTo>
                <a:lnTo>
                  <a:pt x="2822226" y="1399895"/>
                </a:lnTo>
                <a:lnTo>
                  <a:pt x="2847195" y="1367128"/>
                </a:lnTo>
                <a:lnTo>
                  <a:pt x="2872328" y="1334492"/>
                </a:lnTo>
                <a:lnTo>
                  <a:pt x="2897630" y="1301993"/>
                </a:lnTo>
                <a:lnTo>
                  <a:pt x="2923108" y="1269640"/>
                </a:lnTo>
                <a:lnTo>
                  <a:pt x="2948769" y="1237439"/>
                </a:lnTo>
                <a:lnTo>
                  <a:pt x="2974618" y="1205400"/>
                </a:lnTo>
                <a:lnTo>
                  <a:pt x="3000661" y="1173528"/>
                </a:lnTo>
                <a:lnTo>
                  <a:pt x="3026905" y="1141833"/>
                </a:lnTo>
                <a:lnTo>
                  <a:pt x="3053357" y="1110321"/>
                </a:lnTo>
                <a:lnTo>
                  <a:pt x="3080022" y="1079000"/>
                </a:lnTo>
                <a:lnTo>
                  <a:pt x="3106906" y="1047878"/>
                </a:lnTo>
                <a:lnTo>
                  <a:pt x="3134016" y="1016962"/>
                </a:lnTo>
                <a:lnTo>
                  <a:pt x="3161358" y="986260"/>
                </a:lnTo>
                <a:lnTo>
                  <a:pt x="3188939" y="955781"/>
                </a:lnTo>
                <a:lnTo>
                  <a:pt x="3216764" y="925530"/>
                </a:lnTo>
                <a:lnTo>
                  <a:pt x="3244840" y="895517"/>
                </a:lnTo>
                <a:lnTo>
                  <a:pt x="3273172" y="865748"/>
                </a:lnTo>
                <a:lnTo>
                  <a:pt x="3301768" y="836231"/>
                </a:lnTo>
                <a:lnTo>
                  <a:pt x="3330634" y="806975"/>
                </a:lnTo>
                <a:lnTo>
                  <a:pt x="3359775" y="777986"/>
                </a:lnTo>
                <a:lnTo>
                  <a:pt x="3389198" y="749272"/>
                </a:lnTo>
                <a:lnTo>
                  <a:pt x="3418909" y="720840"/>
                </a:lnTo>
                <a:lnTo>
                  <a:pt x="3448914" y="692700"/>
                </a:lnTo>
                <a:lnTo>
                  <a:pt x="3479221" y="664857"/>
                </a:lnTo>
                <a:lnTo>
                  <a:pt x="3509834" y="637320"/>
                </a:lnTo>
                <a:lnTo>
                  <a:pt x="3540760" y="610097"/>
                </a:lnTo>
                <a:lnTo>
                  <a:pt x="3572005" y="583195"/>
                </a:lnTo>
                <a:lnTo>
                  <a:pt x="3603576" y="556621"/>
                </a:lnTo>
                <a:lnTo>
                  <a:pt x="3635479" y="530383"/>
                </a:lnTo>
                <a:lnTo>
                  <a:pt x="3667720" y="504490"/>
                </a:lnTo>
                <a:lnTo>
                  <a:pt x="3700306" y="478948"/>
                </a:lnTo>
                <a:lnTo>
                  <a:pt x="3733241" y="453765"/>
                </a:lnTo>
                <a:lnTo>
                  <a:pt x="3766534" y="428949"/>
                </a:lnTo>
                <a:lnTo>
                  <a:pt x="3800189" y="404507"/>
                </a:lnTo>
                <a:lnTo>
                  <a:pt x="3834214" y="380448"/>
                </a:lnTo>
                <a:lnTo>
                  <a:pt x="3868614" y="356778"/>
                </a:lnTo>
                <a:lnTo>
                  <a:pt x="3903396" y="333506"/>
                </a:lnTo>
                <a:lnTo>
                  <a:pt x="3938566" y="310639"/>
                </a:lnTo>
                <a:lnTo>
                  <a:pt x="3974130" y="288184"/>
                </a:lnTo>
                <a:lnTo>
                  <a:pt x="4010094" y="266150"/>
                </a:lnTo>
                <a:lnTo>
                  <a:pt x="4046465" y="244543"/>
                </a:lnTo>
                <a:lnTo>
                  <a:pt x="4083249" y="223372"/>
                </a:lnTo>
                <a:lnTo>
                  <a:pt x="4120452" y="202645"/>
                </a:lnTo>
                <a:lnTo>
                  <a:pt x="4158081" y="182368"/>
                </a:lnTo>
                <a:lnTo>
                  <a:pt x="4196140" y="162550"/>
                </a:lnTo>
                <a:lnTo>
                  <a:pt x="4234638" y="143198"/>
                </a:lnTo>
                <a:lnTo>
                  <a:pt x="4273580" y="124319"/>
                </a:lnTo>
                <a:lnTo>
                  <a:pt x="4312972" y="105922"/>
                </a:lnTo>
                <a:lnTo>
                  <a:pt x="4352821" y="88014"/>
                </a:lnTo>
                <a:lnTo>
                  <a:pt x="4393132" y="70603"/>
                </a:lnTo>
                <a:lnTo>
                  <a:pt x="4433912" y="53696"/>
                </a:lnTo>
                <a:lnTo>
                  <a:pt x="4475168" y="37301"/>
                </a:lnTo>
                <a:lnTo>
                  <a:pt x="4516905" y="21426"/>
                </a:lnTo>
                <a:lnTo>
                  <a:pt x="4559130" y="6078"/>
                </a:lnTo>
                <a:lnTo>
                  <a:pt x="4576658" y="0"/>
                </a:lnTo>
                <a:close/>
              </a:path>
            </a:pathLst>
          </a:custGeom>
          <a:solidFill>
            <a:srgbClr val="D9B768"/>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en-US" dirty="0">
              <a:cs typeface="+mn-ea"/>
              <a:sym typeface="+mn-lt"/>
            </a:endParaRPr>
          </a:p>
        </p:txBody>
      </p:sp>
      <p:pic>
        <p:nvPicPr>
          <p:cNvPr id="55" name="object 7">
            <a:extLst>
              <a:ext uri="{FF2B5EF4-FFF2-40B4-BE49-F238E27FC236}">
                <a16:creationId xmlns:a16="http://schemas.microsoft.com/office/drawing/2014/main" id="{1E7EAFEE-E6B0-D878-5251-078D22E46DE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8965"/>
            <a:ext cx="1574027" cy="27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6">
            <a:extLst>
              <a:ext uri="{FF2B5EF4-FFF2-40B4-BE49-F238E27FC236}">
                <a16:creationId xmlns:a16="http://schemas.microsoft.com/office/drawing/2014/main" id="{E618942C-8179-3B80-FBF3-3AD9552913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1949" y="6138860"/>
            <a:ext cx="3291840" cy="408849"/>
          </a:xfrm>
          <a:prstGeom prst="rect">
            <a:avLst/>
          </a:prstGeom>
        </p:spPr>
      </p:pic>
      <p:sp>
        <p:nvSpPr>
          <p:cNvPr id="68" name="object 42">
            <a:extLst>
              <a:ext uri="{FF2B5EF4-FFF2-40B4-BE49-F238E27FC236}">
                <a16:creationId xmlns:a16="http://schemas.microsoft.com/office/drawing/2014/main" id="{A1219750-B2CB-2637-AD3D-8C06D0813C03}"/>
              </a:ext>
            </a:extLst>
          </p:cNvPr>
          <p:cNvSpPr txBox="1">
            <a:spLocks noChangeArrowheads="1"/>
          </p:cNvSpPr>
          <p:nvPr/>
        </p:nvSpPr>
        <p:spPr bwMode="auto">
          <a:xfrm>
            <a:off x="381000" y="4019725"/>
            <a:ext cx="9144000" cy="58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9525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spcAft>
                <a:spcPts val="1200"/>
              </a:spcAft>
            </a:pPr>
            <a:r>
              <a:rPr lang="zh-CN" altLang="en-US" sz="3200" b="1" dirty="0">
                <a:solidFill>
                  <a:srgbClr val="7D0000"/>
                </a:solidFill>
                <a:latin typeface="+mn-lt"/>
                <a:cs typeface="+mn-ea"/>
                <a:sym typeface="+mn-lt"/>
              </a:rPr>
              <a:t>境外资本市场动态更新周报</a:t>
            </a:r>
          </a:p>
        </p:txBody>
      </p:sp>
      <p:sp>
        <p:nvSpPr>
          <p:cNvPr id="69" name="object 43">
            <a:extLst>
              <a:ext uri="{FF2B5EF4-FFF2-40B4-BE49-F238E27FC236}">
                <a16:creationId xmlns:a16="http://schemas.microsoft.com/office/drawing/2014/main" id="{F6C5F986-A973-A4BA-40D5-1E5B9C1C7C55}"/>
              </a:ext>
            </a:extLst>
          </p:cNvPr>
          <p:cNvSpPr txBox="1">
            <a:spLocks noChangeArrowheads="1"/>
          </p:cNvSpPr>
          <p:nvPr/>
        </p:nvSpPr>
        <p:spPr bwMode="auto">
          <a:xfrm>
            <a:off x="3448843" y="5160971"/>
            <a:ext cx="3008313" cy="25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1600" dirty="0">
                <a:solidFill>
                  <a:srgbClr val="7D0000"/>
                </a:solidFill>
                <a:latin typeface="+mn-lt"/>
                <a:cs typeface="+mn-ea"/>
                <a:sym typeface="+mn-lt"/>
              </a:rPr>
              <a:t>2026</a:t>
            </a:r>
            <a:r>
              <a:rPr lang="zh-CN" altLang="en-US" sz="1600" dirty="0">
                <a:solidFill>
                  <a:srgbClr val="7D0000"/>
                </a:solidFill>
                <a:latin typeface="+mn-lt"/>
                <a:cs typeface="+mn-ea"/>
                <a:sym typeface="+mn-lt"/>
              </a:rPr>
              <a:t>年</a:t>
            </a:r>
            <a:r>
              <a:rPr lang="en-US" altLang="zh-CN" sz="1600" dirty="0">
                <a:solidFill>
                  <a:srgbClr val="7D0000"/>
                </a:solidFill>
                <a:latin typeface="+mn-lt"/>
                <a:cs typeface="+mn-ea"/>
                <a:sym typeface="+mn-lt"/>
              </a:rPr>
              <a:t>3</a:t>
            </a:r>
            <a:r>
              <a:rPr lang="zh-CN" altLang="en-US" sz="1600" dirty="0">
                <a:solidFill>
                  <a:srgbClr val="7D0000"/>
                </a:solidFill>
                <a:latin typeface="+mn-lt"/>
                <a:cs typeface="+mn-ea"/>
                <a:sym typeface="+mn-lt"/>
              </a:rPr>
              <a:t>月</a:t>
            </a:r>
            <a:r>
              <a:rPr lang="en-US" altLang="zh-CN" sz="1600" dirty="0">
                <a:solidFill>
                  <a:srgbClr val="7D0000"/>
                </a:solidFill>
                <a:latin typeface="+mn-lt"/>
                <a:cs typeface="+mn-ea"/>
                <a:sym typeface="+mn-lt"/>
              </a:rPr>
              <a:t>23</a:t>
            </a:r>
            <a:r>
              <a:rPr lang="zh-CN" altLang="en-US" sz="1600" dirty="0">
                <a:solidFill>
                  <a:srgbClr val="7D0000"/>
                </a:solidFill>
                <a:latin typeface="+mn-lt"/>
                <a:cs typeface="+mn-ea"/>
                <a:sym typeface="+mn-lt"/>
              </a:rPr>
              <a:t>日</a:t>
            </a:r>
          </a:p>
        </p:txBody>
      </p:sp>
      <p:sp>
        <p:nvSpPr>
          <p:cNvPr id="3" name="Frame 2">
            <a:extLst>
              <a:ext uri="{FF2B5EF4-FFF2-40B4-BE49-F238E27FC236}">
                <a16:creationId xmlns:a16="http://schemas.microsoft.com/office/drawing/2014/main" id="{0D38F64C-A72C-9B1C-AB8F-B4703DADFB37}"/>
              </a:ext>
            </a:extLst>
          </p:cNvPr>
          <p:cNvSpPr/>
          <p:nvPr/>
        </p:nvSpPr>
        <p:spPr>
          <a:xfrm>
            <a:off x="4070838" y="5064369"/>
            <a:ext cx="1718110" cy="501162"/>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0070C0"/>
                </a:solidFill>
              </a:ln>
              <a:solidFill>
                <a:schemeClr val="tx1"/>
              </a:solidFill>
            </a:endParaRPr>
          </a:p>
        </p:txBody>
      </p:sp>
      <p:sp>
        <p:nvSpPr>
          <p:cNvPr id="4" name="TextBox 3">
            <a:extLst>
              <a:ext uri="{FF2B5EF4-FFF2-40B4-BE49-F238E27FC236}">
                <a16:creationId xmlns:a16="http://schemas.microsoft.com/office/drawing/2014/main" id="{DCE5B61B-14E5-18F0-D152-F676AA8FF8D4}"/>
              </a:ext>
            </a:extLst>
          </p:cNvPr>
          <p:cNvSpPr txBox="1"/>
          <p:nvPr/>
        </p:nvSpPr>
        <p:spPr>
          <a:xfrm>
            <a:off x="6247031" y="4997920"/>
            <a:ext cx="1723292" cy="369332"/>
          </a:xfrm>
          <a:prstGeom prst="rect">
            <a:avLst/>
          </a:prstGeom>
          <a:noFill/>
        </p:spPr>
        <p:txBody>
          <a:bodyPr wrap="square" rtlCol="0">
            <a:spAutoFit/>
          </a:bodyPr>
          <a:lstStyle/>
          <a:p>
            <a:r>
              <a:rPr lang="en-US" dirty="0" err="1">
                <a:highlight>
                  <a:srgbClr val="FFFF00"/>
                </a:highlight>
              </a:rPr>
              <a:t>写周一</a:t>
            </a:r>
            <a:endParaRPr lang="en-US" dirty="0">
              <a:highlight>
                <a:srgbClr val="FFFF00"/>
              </a:highlight>
            </a:endParaRPr>
          </a:p>
        </p:txBody>
      </p:sp>
      <p:cxnSp>
        <p:nvCxnSpPr>
          <p:cNvPr id="6" name="Straight Connector 5">
            <a:extLst>
              <a:ext uri="{FF2B5EF4-FFF2-40B4-BE49-F238E27FC236}">
                <a16:creationId xmlns:a16="http://schemas.microsoft.com/office/drawing/2014/main" id="{E854082A-5091-070D-6B2D-1C92571B90C2}"/>
              </a:ext>
            </a:extLst>
          </p:cNvPr>
          <p:cNvCxnSpPr>
            <a:cxnSpLocks/>
            <a:stCxn id="3" idx="3"/>
          </p:cNvCxnSpPr>
          <p:nvPr/>
        </p:nvCxnSpPr>
        <p:spPr>
          <a:xfrm flipV="1">
            <a:off x="5788948" y="5219102"/>
            <a:ext cx="463265" cy="958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374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232600" y="3346653"/>
            <a:ext cx="9255432" cy="636971"/>
          </a:xfrm>
        </p:spPr>
        <p:txBody>
          <a:bodyPr/>
          <a:lstStyle/>
          <a:p>
            <a:r>
              <a:rPr lang="zh-CN" altLang="en-US" dirty="0">
                <a:cs typeface="+mn-ea"/>
                <a:sym typeface="+mn-lt"/>
              </a:rPr>
              <a:t>全球主要股票市场动态更新</a:t>
            </a:r>
            <a:endParaRPr lang="zh-CN" altLang="en-US" dirty="0"/>
          </a:p>
        </p:txBody>
      </p:sp>
      <p:sp>
        <p:nvSpPr>
          <p:cNvPr id="4" name="Text Placeholder 3"/>
          <p:cNvSpPr>
            <a:spLocks noGrp="1"/>
          </p:cNvSpPr>
          <p:nvPr>
            <p:ph type="body" sz="quarter" idx="13"/>
          </p:nvPr>
        </p:nvSpPr>
        <p:spPr/>
        <p:txBody>
          <a:bodyPr/>
          <a:lstStyle/>
          <a:p>
            <a:r>
              <a:rPr lang="zh-CN" altLang="en-US" dirty="0">
                <a:sym typeface="Arial" panose="020B0604020202020204" pitchFamily="34" charset="0"/>
              </a:rPr>
              <a:t>第一章</a:t>
            </a:r>
            <a:endParaRPr lang="zh-TW" altLang="en-US" dirty="0">
              <a:sym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n-lt"/>
                <a:ea typeface="+mn-ea"/>
                <a:cs typeface="+mn-ea"/>
                <a:sym typeface="+mn-lt"/>
              </a:rPr>
              <a:t>股票二级市场动态更新</a:t>
            </a:r>
            <a:endParaRPr lang="en-US" dirty="0">
              <a:latin typeface="+mn-lt"/>
              <a:ea typeface="+mn-ea"/>
              <a:cs typeface="+mn-ea"/>
              <a:sym typeface="+mn-lt"/>
            </a:endParaRPr>
          </a:p>
        </p:txBody>
      </p:sp>
      <p:sp>
        <p:nvSpPr>
          <p:cNvPr id="11" name="Rectangle 10"/>
          <p:cNvSpPr/>
          <p:nvPr/>
        </p:nvSpPr>
        <p:spPr>
          <a:xfrm>
            <a:off x="3083226" y="968206"/>
            <a:ext cx="3017520" cy="182880"/>
          </a:xfrm>
          <a:prstGeom prst="rect">
            <a:avLst/>
          </a:prstGeom>
        </p:spPr>
        <p:txBody>
          <a:bodyPr lIns="0" tIns="0" rIns="0" bIns="0" anchor="ctr">
            <a:spAutoFit/>
          </a:bodyPr>
          <a:lstStyle/>
          <a:p>
            <a:r>
              <a:rPr lang="zh-CN" altLang="en-US" sz="1200" b="1" u="sng" dirty="0">
                <a:solidFill>
                  <a:schemeClr val="accent1"/>
                </a:solidFill>
                <a:cs typeface="+mn-ea"/>
                <a:sym typeface="+mn-lt"/>
              </a:rPr>
              <a:t>过去一年全球主要股票指数表现</a:t>
            </a:r>
            <a:endParaRPr lang="zh-CN" altLang="en-US" sz="1200" b="1" u="sng" baseline="30000" dirty="0">
              <a:solidFill>
                <a:schemeClr val="accent1"/>
              </a:solidFill>
              <a:cs typeface="+mn-ea"/>
              <a:sym typeface="+mn-lt"/>
            </a:endParaRPr>
          </a:p>
        </p:txBody>
      </p:sp>
      <p:sp>
        <p:nvSpPr>
          <p:cNvPr id="12" name="Rectangle 11"/>
          <p:cNvSpPr/>
          <p:nvPr/>
        </p:nvSpPr>
        <p:spPr>
          <a:xfrm>
            <a:off x="3126462" y="3557827"/>
            <a:ext cx="3017520" cy="182880"/>
          </a:xfrm>
          <a:prstGeom prst="rect">
            <a:avLst/>
          </a:prstGeom>
        </p:spPr>
        <p:txBody>
          <a:bodyPr lIns="0" tIns="0" rIns="0" bIns="0" anchor="ctr">
            <a:spAutoFit/>
          </a:bodyPr>
          <a:lstStyle/>
          <a:p>
            <a:r>
              <a:rPr lang="zh-CN" altLang="en-US" sz="1200" b="1" u="sng" dirty="0">
                <a:solidFill>
                  <a:schemeClr val="accent1"/>
                </a:solidFill>
                <a:cs typeface="+mn-ea"/>
                <a:sym typeface="+mn-lt"/>
              </a:rPr>
              <a:t>过去一年中港主要股票指数表现</a:t>
            </a:r>
          </a:p>
        </p:txBody>
      </p:sp>
      <p:sp>
        <p:nvSpPr>
          <p:cNvPr id="6" name="Content Placeholder 9"/>
          <p:cNvSpPr txBox="1"/>
          <p:nvPr/>
        </p:nvSpPr>
        <p:spPr>
          <a:xfrm>
            <a:off x="103450" y="582454"/>
            <a:ext cx="2412021" cy="5751036"/>
          </a:xfrm>
          <a:prstGeom prst="rect">
            <a:avLst/>
          </a:prstGeom>
          <a:noFill/>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latinLnBrk="1">
              <a:lnSpc>
                <a:spcPct val="150000"/>
              </a:lnSpc>
              <a:spcBef>
                <a:spcPts val="0"/>
              </a:spcBef>
              <a:spcAft>
                <a:spcPts val="600"/>
              </a:spcAft>
              <a:buClr>
                <a:schemeClr val="accent1"/>
              </a:buClr>
              <a:buNone/>
            </a:pPr>
            <a:r>
              <a:rPr lang="zh-CN" altLang="en-US" sz="800" b="1" dirty="0">
                <a:latin typeface="Arial" panose="020B0604020202020204" pitchFamily="34" charset="0"/>
                <a:ea typeface="KaiTi" panose="02010609060101010101" pitchFamily="49" charset="-122"/>
                <a:cs typeface="Arial" panose="020B0604020202020204" pitchFamily="34" charset="0"/>
                <a:sym typeface="+mn-lt"/>
              </a:rPr>
              <a:t>中国内地股市 </a:t>
            </a:r>
            <a:endParaRPr lang="zh-CN" altLang="en-US" sz="800" dirty="0">
              <a:latin typeface="Arial" panose="020B0604020202020204" pitchFamily="34" charset="0"/>
              <a:ea typeface="KaiTi" panose="02010609060101010101" pitchFamily="49" charset="-122"/>
              <a:cs typeface="Arial" panose="020B0604020202020204" pitchFamily="34" charset="0"/>
            </a:endParaRPr>
          </a:p>
          <a:p>
            <a:pPr marL="179705" indent="-179705" algn="just" latinLnBrk="1">
              <a:lnSpc>
                <a:spcPct val="100000"/>
              </a:lnSpc>
              <a:spcBef>
                <a:spcPts val="0"/>
              </a:spcBef>
              <a:spcAft>
                <a:spcPts val="600"/>
              </a:spcAft>
              <a:buClr>
                <a:schemeClr val="accent1"/>
              </a:buClr>
            </a:pPr>
            <a:r>
              <a:rPr lang="zh-TW" altLang="en-US" sz="800" dirty="0">
                <a:latin typeface="Arial" panose="020B0604020202020204" pitchFamily="34" charset="0"/>
                <a:ea typeface="KaiTi" panose="02010609060101010101" pitchFamily="49" charset="-122"/>
                <a:cs typeface="Arial" panose="020B0604020202020204" pitchFamily="34" charset="0"/>
              </a:rPr>
              <a:t>本周两市整体震荡下行，主要指数普遍回调，市场情绪有所走弱。上证综指周跌</a:t>
            </a:r>
            <a:r>
              <a:rPr lang="en-US" altLang="zh-TW" sz="800" dirty="0">
                <a:latin typeface="Arial" panose="020B0604020202020204" pitchFamily="34" charset="0"/>
                <a:ea typeface="KaiTi" panose="02010609060101010101" pitchFamily="49" charset="-122"/>
                <a:cs typeface="Arial" panose="020B0604020202020204" pitchFamily="34" charset="0"/>
              </a:rPr>
              <a:t>3.38%</a:t>
            </a:r>
            <a:r>
              <a:rPr lang="zh-TW" altLang="en-US" sz="800" dirty="0">
                <a:latin typeface="Arial" panose="020B0604020202020204" pitchFamily="34" charset="0"/>
                <a:ea typeface="KaiTi" panose="02010609060101010101" pitchFamily="49" charset="-122"/>
                <a:cs typeface="Arial" panose="020B0604020202020204" pitchFamily="34" charset="0"/>
              </a:rPr>
              <a:t>，深证综指周跌</a:t>
            </a:r>
            <a:r>
              <a:rPr lang="en-US" altLang="zh-TW" sz="800" dirty="0">
                <a:latin typeface="Arial" panose="020B0604020202020204" pitchFamily="34" charset="0"/>
                <a:ea typeface="KaiTi" panose="02010609060101010101" pitchFamily="49" charset="-122"/>
                <a:cs typeface="Arial" panose="020B0604020202020204" pitchFamily="34" charset="0"/>
              </a:rPr>
              <a:t>4.16%</a:t>
            </a:r>
            <a:r>
              <a:rPr lang="zh-TW" altLang="en-US" sz="800" dirty="0">
                <a:latin typeface="Arial" panose="020B0604020202020204" pitchFamily="34" charset="0"/>
                <a:ea typeface="KaiTi" panose="02010609060101010101" pitchFamily="49" charset="-122"/>
                <a:cs typeface="Arial" panose="020B0604020202020204" pitchFamily="34" charset="0"/>
              </a:rPr>
              <a:t>，沪深</a:t>
            </a:r>
            <a:r>
              <a:rPr lang="en-US" altLang="zh-TW" sz="800" dirty="0">
                <a:latin typeface="Arial" panose="020B0604020202020204" pitchFamily="34" charset="0"/>
                <a:ea typeface="KaiTi" panose="02010609060101010101" pitchFamily="49" charset="-122"/>
                <a:cs typeface="Arial" panose="020B0604020202020204" pitchFamily="34" charset="0"/>
              </a:rPr>
              <a:t>300</a:t>
            </a:r>
            <a:r>
              <a:rPr lang="zh-TW" altLang="en-US" sz="800" dirty="0">
                <a:latin typeface="Arial" panose="020B0604020202020204" pitchFamily="34" charset="0"/>
                <a:ea typeface="KaiTi" panose="02010609060101010101" pitchFamily="49" charset="-122"/>
                <a:cs typeface="Arial" panose="020B0604020202020204" pitchFamily="34" charset="0"/>
              </a:rPr>
              <a:t>周跌</a:t>
            </a:r>
            <a:r>
              <a:rPr lang="en-US" altLang="zh-TW" sz="800" dirty="0">
                <a:latin typeface="Arial" panose="020B0604020202020204" pitchFamily="34" charset="0"/>
                <a:ea typeface="KaiTi" panose="02010609060101010101" pitchFamily="49" charset="-122"/>
                <a:cs typeface="Arial" panose="020B0604020202020204" pitchFamily="34" charset="0"/>
              </a:rPr>
              <a:t>2.19%</a:t>
            </a:r>
            <a:r>
              <a:rPr lang="zh-TW" altLang="en-US" sz="800" dirty="0">
                <a:latin typeface="Arial" panose="020B0604020202020204" pitchFamily="34" charset="0"/>
                <a:ea typeface="KaiTi" panose="02010609060101010101" pitchFamily="49" charset="-122"/>
                <a:cs typeface="Arial" panose="020B0604020202020204" pitchFamily="34" charset="0"/>
              </a:rPr>
              <a:t>，显示权重板块相对抗跌，中小盘板块回调幅度更为明显；年初至今主要指数涨幅仍介于</a:t>
            </a:r>
            <a:r>
              <a:rPr lang="en-US" altLang="zh-TW" sz="800" dirty="0">
                <a:latin typeface="Arial" panose="020B0604020202020204" pitchFamily="34" charset="0"/>
                <a:ea typeface="KaiTi" panose="02010609060101010101" pitchFamily="49" charset="-122"/>
                <a:cs typeface="Arial" panose="020B0604020202020204" pitchFamily="34" charset="0"/>
              </a:rPr>
              <a:t>16.06%</a:t>
            </a:r>
            <a:r>
              <a:rPr lang="zh-TW" altLang="en-US" sz="800" dirty="0">
                <a:latin typeface="Arial" panose="020B0604020202020204" pitchFamily="34" charset="0"/>
                <a:ea typeface="KaiTi" panose="02010609060101010101" pitchFamily="49" charset="-122"/>
                <a:cs typeface="Arial" panose="020B0604020202020204" pitchFamily="34" charset="0"/>
              </a:rPr>
              <a:t>至</a:t>
            </a:r>
            <a:r>
              <a:rPr lang="en-US" altLang="zh-TW" sz="800" dirty="0">
                <a:latin typeface="Arial" panose="020B0604020202020204" pitchFamily="34" charset="0"/>
                <a:ea typeface="KaiTi" panose="02010609060101010101" pitchFamily="49" charset="-122"/>
                <a:cs typeface="Arial" panose="020B0604020202020204" pitchFamily="34" charset="0"/>
              </a:rPr>
              <a:t>32.27%</a:t>
            </a:r>
            <a:r>
              <a:rPr lang="zh-TW" altLang="en-US" sz="800" dirty="0">
                <a:latin typeface="Arial" panose="020B0604020202020204" pitchFamily="34" charset="0"/>
                <a:ea typeface="KaiTi" panose="02010609060101010101" pitchFamily="49" charset="-122"/>
                <a:cs typeface="Arial" panose="020B0604020202020204" pitchFamily="34" charset="0"/>
              </a:rPr>
              <a:t>之间，其中深证综指涨幅居前。整体来看，短期市场进入调整阶段，但年内整体仍维持上行趋势。</a:t>
            </a:r>
            <a:endParaRPr lang="en-US" altLang="zh-TW" sz="800" dirty="0">
              <a:latin typeface="Arial" panose="020B0604020202020204" pitchFamily="34" charset="0"/>
              <a:ea typeface="KaiTi" panose="02010609060101010101" pitchFamily="49" charset="-122"/>
              <a:cs typeface="Arial" panose="020B0604020202020204" pitchFamily="34" charset="0"/>
            </a:endParaRPr>
          </a:p>
          <a:p>
            <a:pPr marL="179705" indent="-179705" algn="just" latinLnBrk="1">
              <a:lnSpc>
                <a:spcPct val="100000"/>
              </a:lnSpc>
              <a:spcBef>
                <a:spcPts val="0"/>
              </a:spcBef>
              <a:spcAft>
                <a:spcPts val="600"/>
              </a:spcAft>
              <a:buClr>
                <a:schemeClr val="accent1"/>
              </a:buClr>
            </a:pPr>
            <a:r>
              <a:rPr lang="zh-TW" altLang="en-US" sz="800" dirty="0">
                <a:latin typeface="Arial" panose="020B0604020202020204" pitchFamily="34" charset="0"/>
                <a:ea typeface="KaiTi" panose="02010609060101010101" pitchFamily="49" charset="-122"/>
                <a:cs typeface="Arial" panose="020B0604020202020204" pitchFamily="34" charset="0"/>
              </a:rPr>
              <a:t>内地市场政策面以宏观数据和两会后政策预期消化为主。</a:t>
            </a:r>
            <a:r>
              <a:rPr lang="en-US" altLang="zh-TW" sz="800" dirty="0">
                <a:latin typeface="Arial" panose="020B0604020202020204" pitchFamily="34" charset="0"/>
                <a:ea typeface="KaiTi" panose="02010609060101010101" pitchFamily="49" charset="-122"/>
                <a:cs typeface="Arial" panose="020B0604020202020204" pitchFamily="34" charset="0"/>
              </a:rPr>
              <a:t>2</a:t>
            </a:r>
            <a:r>
              <a:rPr lang="zh-TW" altLang="en-US" sz="800" dirty="0">
                <a:latin typeface="Arial" panose="020B0604020202020204" pitchFamily="34" charset="0"/>
                <a:ea typeface="KaiTi" panose="02010609060101010101" pitchFamily="49" charset="-122"/>
                <a:cs typeface="Arial" panose="020B0604020202020204" pitchFamily="34" charset="0"/>
              </a:rPr>
              <a:t>月</a:t>
            </a:r>
            <a:r>
              <a:rPr lang="en-US" altLang="zh-TW" sz="800" dirty="0">
                <a:latin typeface="Arial" panose="020B0604020202020204" pitchFamily="34" charset="0"/>
                <a:ea typeface="KaiTi" panose="02010609060101010101" pitchFamily="49" charset="-122"/>
                <a:cs typeface="Arial" panose="020B0604020202020204" pitchFamily="34" charset="0"/>
              </a:rPr>
              <a:t>CPI</a:t>
            </a:r>
            <a:r>
              <a:rPr lang="zh-TW" altLang="en-US" sz="800" dirty="0">
                <a:latin typeface="Arial" panose="020B0604020202020204" pitchFamily="34" charset="0"/>
                <a:ea typeface="KaiTi" panose="02010609060101010101" pitchFamily="49" charset="-122"/>
                <a:cs typeface="Arial" panose="020B0604020202020204" pitchFamily="34" charset="0"/>
              </a:rPr>
              <a:t>同比回升至约</a:t>
            </a:r>
            <a:r>
              <a:rPr lang="en-US" altLang="zh-TW" sz="800" dirty="0">
                <a:latin typeface="Arial" panose="020B0604020202020204" pitchFamily="34" charset="0"/>
                <a:ea typeface="KaiTi" panose="02010609060101010101" pitchFamily="49" charset="-122"/>
                <a:cs typeface="Arial" panose="020B0604020202020204" pitchFamily="34" charset="0"/>
              </a:rPr>
              <a:t>1.3%</a:t>
            </a:r>
            <a:r>
              <a:rPr lang="zh-TW" altLang="en-US" sz="800" dirty="0">
                <a:latin typeface="Arial" panose="020B0604020202020204" pitchFamily="34" charset="0"/>
                <a:ea typeface="KaiTi" panose="02010609060101010101" pitchFamily="49" charset="-122"/>
                <a:cs typeface="Arial" panose="020B0604020202020204" pitchFamily="34" charset="0"/>
              </a:rPr>
              <a:t>，</a:t>
            </a:r>
            <a:r>
              <a:rPr lang="en-US" altLang="zh-TW" sz="800" dirty="0">
                <a:latin typeface="Arial" panose="020B0604020202020204" pitchFamily="34" charset="0"/>
                <a:ea typeface="KaiTi" panose="02010609060101010101" pitchFamily="49" charset="-122"/>
                <a:cs typeface="Arial" panose="020B0604020202020204" pitchFamily="34" charset="0"/>
              </a:rPr>
              <a:t>PPI</a:t>
            </a:r>
            <a:r>
              <a:rPr lang="zh-TW" altLang="en-US" sz="800" dirty="0">
                <a:latin typeface="Arial" panose="020B0604020202020204" pitchFamily="34" charset="0"/>
                <a:ea typeface="KaiTi" panose="02010609060101010101" pitchFamily="49" charset="-122"/>
                <a:cs typeface="Arial" panose="020B0604020202020204" pitchFamily="34" charset="0"/>
              </a:rPr>
              <a:t>降幅收窄至约</a:t>
            </a:r>
            <a:r>
              <a:rPr lang="en-US" altLang="zh-TW" sz="800" dirty="0">
                <a:latin typeface="Arial" panose="020B0604020202020204" pitchFamily="34" charset="0"/>
                <a:ea typeface="KaiTi" panose="02010609060101010101" pitchFamily="49" charset="-122"/>
                <a:cs typeface="Arial" panose="020B0604020202020204" pitchFamily="34" charset="0"/>
              </a:rPr>
              <a:t>-0.9%</a:t>
            </a:r>
            <a:r>
              <a:rPr lang="zh-TW" altLang="en-US" sz="800" dirty="0">
                <a:latin typeface="Arial" panose="020B0604020202020204" pitchFamily="34" charset="0"/>
                <a:ea typeface="KaiTi" panose="02010609060101010101" pitchFamily="49" charset="-122"/>
                <a:cs typeface="Arial" panose="020B0604020202020204" pitchFamily="34" charset="0"/>
              </a:rPr>
              <a:t>，通胀边际改善；</a:t>
            </a:r>
            <a:r>
              <a:rPr lang="en-US" altLang="zh-TW" sz="800" dirty="0">
                <a:latin typeface="Arial" panose="020B0604020202020204" pitchFamily="34" charset="0"/>
                <a:ea typeface="KaiTi" panose="02010609060101010101" pitchFamily="49" charset="-122"/>
                <a:cs typeface="Arial" panose="020B0604020202020204" pitchFamily="34" charset="0"/>
              </a:rPr>
              <a:t>1–2</a:t>
            </a:r>
            <a:r>
              <a:rPr lang="zh-TW" altLang="en-US" sz="800" dirty="0">
                <a:latin typeface="Arial" panose="020B0604020202020204" pitchFamily="34" charset="0"/>
                <a:ea typeface="KaiTi" panose="02010609060101010101" pitchFamily="49" charset="-122"/>
                <a:cs typeface="Arial" panose="020B0604020202020204" pitchFamily="34" charset="0"/>
              </a:rPr>
              <a:t>月出口同比增逾</a:t>
            </a:r>
            <a:r>
              <a:rPr lang="en-US" altLang="zh-TW" sz="800" dirty="0">
                <a:latin typeface="Arial" panose="020B0604020202020204" pitchFamily="34" charset="0"/>
                <a:ea typeface="KaiTi" panose="02010609060101010101" pitchFamily="49" charset="-122"/>
                <a:cs typeface="Arial" panose="020B0604020202020204" pitchFamily="34" charset="0"/>
              </a:rPr>
              <a:t>20%</a:t>
            </a:r>
            <a:r>
              <a:rPr lang="zh-TW" altLang="en-US" sz="800" dirty="0">
                <a:latin typeface="Arial" panose="020B0604020202020204" pitchFamily="34" charset="0"/>
                <a:ea typeface="KaiTi" panose="02010609060101010101" pitchFamily="49" charset="-122"/>
                <a:cs typeface="Arial" panose="020B0604020202020204" pitchFamily="34" charset="0"/>
              </a:rPr>
              <a:t>，外需超预期，社融增速边际回落，信贷节奏平稳。市场关注经济修复成色及后续稳增长力度，两会强调稳增长与产业升级（如</a:t>
            </a:r>
            <a:r>
              <a:rPr lang="en-US" altLang="zh-TW" sz="800" dirty="0">
                <a:latin typeface="Arial" panose="020B0604020202020204" pitchFamily="34" charset="0"/>
                <a:ea typeface="KaiTi" panose="02010609060101010101" pitchFamily="49" charset="-122"/>
                <a:cs typeface="Arial" panose="020B0604020202020204" pitchFamily="34" charset="0"/>
              </a:rPr>
              <a:t>AI</a:t>
            </a:r>
            <a:r>
              <a:rPr lang="zh-TW" altLang="en-US" sz="800" dirty="0">
                <a:latin typeface="Arial" panose="020B0604020202020204" pitchFamily="34" charset="0"/>
                <a:ea typeface="KaiTi" panose="02010609060101010101" pitchFamily="49" charset="-122"/>
                <a:cs typeface="Arial" panose="020B0604020202020204" pitchFamily="34" charset="0"/>
              </a:rPr>
              <a:t>、先进制造）。整体政策延续“稳中偏积极”，短期缺乏超预期政策，市场以数据验证为主。</a:t>
            </a:r>
            <a:endParaRPr lang="en-US" altLang="zh-TW" sz="800" dirty="0">
              <a:latin typeface="Arial" panose="020B0604020202020204" pitchFamily="34" charset="0"/>
              <a:ea typeface="KaiTi" panose="02010609060101010101" pitchFamily="49" charset="-122"/>
              <a:cs typeface="Arial" panose="020B0604020202020204" pitchFamily="34" charset="0"/>
            </a:endParaRPr>
          </a:p>
          <a:p>
            <a:pPr marL="0" indent="0" algn="just" latinLnBrk="1">
              <a:lnSpc>
                <a:spcPct val="100000"/>
              </a:lnSpc>
              <a:spcBef>
                <a:spcPts val="0"/>
              </a:spcBef>
              <a:spcAft>
                <a:spcPts val="600"/>
              </a:spcAft>
              <a:buClr>
                <a:schemeClr val="accent1"/>
              </a:buClr>
              <a:buNone/>
            </a:pPr>
            <a:r>
              <a:rPr lang="zh-CN" altLang="en-US" sz="800" b="1" dirty="0">
                <a:latin typeface="Arial" panose="020B0604020202020204" pitchFamily="34" charset="0"/>
                <a:ea typeface="KaiTi" panose="02010609060101010101" pitchFamily="49" charset="-122"/>
                <a:cs typeface="Arial" panose="020B0604020202020204" pitchFamily="34" charset="0"/>
                <a:sym typeface="+mn-lt"/>
              </a:rPr>
              <a:t>香港股市</a:t>
            </a:r>
            <a:endParaRPr lang="en-US" altLang="zh-CN" sz="800" b="1" dirty="0">
              <a:latin typeface="Arial" panose="020B0604020202020204" pitchFamily="34" charset="0"/>
              <a:ea typeface="KaiTi" panose="02010609060101010101" pitchFamily="49" charset="-122"/>
              <a:cs typeface="Arial" panose="020B0604020202020204" pitchFamily="34" charset="0"/>
              <a:sym typeface="+mn-lt"/>
            </a:endParaRPr>
          </a:p>
          <a:p>
            <a:pPr marL="179705" indent="-179705" algn="just" latinLnBrk="1">
              <a:lnSpc>
                <a:spcPct val="100000"/>
              </a:lnSpc>
              <a:spcBef>
                <a:spcPts val="0"/>
              </a:spcBef>
              <a:spcAft>
                <a:spcPts val="600"/>
              </a:spcAft>
              <a:buClr>
                <a:schemeClr val="accent1"/>
              </a:buClr>
            </a:pPr>
            <a:r>
              <a:rPr lang="zh-TW" altLang="en-US" sz="800" dirty="0">
                <a:latin typeface="Arial" panose="020B0604020202020204" pitchFamily="34" charset="0"/>
                <a:ea typeface="KaiTi" panose="02010609060101010101" pitchFamily="49" charset="-122"/>
                <a:cs typeface="Arial" panose="020B0604020202020204" pitchFamily="34" charset="0"/>
              </a:rPr>
              <a:t>本周港股市场同样呈现震荡回调态势，主要指数普遍下跌，市场情绪趋于谨慎。恒生指数周跌</a:t>
            </a:r>
            <a:r>
              <a:rPr lang="en-US" altLang="zh-TW" sz="800" dirty="0">
                <a:latin typeface="Arial" panose="020B0604020202020204" pitchFamily="34" charset="0"/>
                <a:ea typeface="KaiTi" panose="02010609060101010101" pitchFamily="49" charset="-122"/>
                <a:cs typeface="Arial" panose="020B0604020202020204" pitchFamily="34" charset="0"/>
              </a:rPr>
              <a:t>0.74%</a:t>
            </a:r>
            <a:r>
              <a:rPr lang="zh-TW" altLang="en-US" sz="800" dirty="0">
                <a:latin typeface="Arial" panose="020B0604020202020204" pitchFamily="34" charset="0"/>
                <a:ea typeface="KaiTi" panose="02010609060101010101" pitchFamily="49" charset="-122"/>
                <a:cs typeface="Arial" panose="020B0604020202020204" pitchFamily="34" charset="0"/>
              </a:rPr>
              <a:t>，恒生中国企业指数周跌</a:t>
            </a:r>
            <a:r>
              <a:rPr lang="en-US" altLang="zh-TW" sz="800" dirty="0">
                <a:latin typeface="Arial" panose="020B0604020202020204" pitchFamily="34" charset="0"/>
                <a:ea typeface="KaiTi" panose="02010609060101010101" pitchFamily="49" charset="-122"/>
                <a:cs typeface="Arial" panose="020B0604020202020204" pitchFamily="34" charset="0"/>
              </a:rPr>
              <a:t>1.12%</a:t>
            </a:r>
            <a:r>
              <a:rPr lang="zh-TW" altLang="en-US" sz="800" dirty="0">
                <a:latin typeface="Arial" panose="020B0604020202020204" pitchFamily="34" charset="0"/>
                <a:ea typeface="KaiTi" panose="02010609060101010101" pitchFamily="49" charset="-122"/>
                <a:cs typeface="Arial" panose="020B0604020202020204" pitchFamily="34" charset="0"/>
              </a:rPr>
              <a:t>，指数表现相对承压。大市成交活跃度较前期略有降温，权重板块表现相对稳健。从结构上看，短期市场维持震荡调整，但年初至今主要指数仍录得约</a:t>
            </a:r>
            <a:r>
              <a:rPr lang="en-US" altLang="zh-TW" sz="800" dirty="0">
                <a:latin typeface="Arial" panose="020B0604020202020204" pitchFamily="34" charset="0"/>
                <a:ea typeface="KaiTi" panose="02010609060101010101" pitchFamily="49" charset="-122"/>
                <a:cs typeface="Arial" panose="020B0604020202020204" pitchFamily="34" charset="0"/>
              </a:rPr>
              <a:t>17.62%</a:t>
            </a:r>
            <a:r>
              <a:rPr lang="zh-TW" altLang="en-US" sz="800" dirty="0">
                <a:latin typeface="Arial" panose="020B0604020202020204" pitchFamily="34" charset="0"/>
                <a:ea typeface="KaiTi" panose="02010609060101010101" pitchFamily="49" charset="-122"/>
                <a:cs typeface="Arial" panose="020B0604020202020204" pitchFamily="34" charset="0"/>
              </a:rPr>
              <a:t>至</a:t>
            </a:r>
            <a:r>
              <a:rPr lang="en-US" altLang="zh-TW" sz="800" dirty="0">
                <a:latin typeface="Arial" panose="020B0604020202020204" pitchFamily="34" charset="0"/>
                <a:ea typeface="KaiTi" panose="02010609060101010101" pitchFamily="49" charset="-122"/>
                <a:cs typeface="Arial" panose="020B0604020202020204" pitchFamily="34" charset="0"/>
              </a:rPr>
              <a:t>26.01%</a:t>
            </a:r>
            <a:r>
              <a:rPr lang="zh-TW" altLang="en-US" sz="800" dirty="0">
                <a:latin typeface="Arial" panose="020B0604020202020204" pitchFamily="34" charset="0"/>
                <a:ea typeface="KaiTi" panose="02010609060101010101" pitchFamily="49" charset="-122"/>
                <a:cs typeface="Arial" panose="020B0604020202020204" pitchFamily="34" charset="0"/>
              </a:rPr>
              <a:t>的涨幅，整体表现仍具一定韧性。</a:t>
            </a:r>
            <a:endParaRPr lang="en-US" altLang="zh-TW" sz="800" dirty="0">
              <a:latin typeface="Arial" panose="020B0604020202020204" pitchFamily="34" charset="0"/>
              <a:ea typeface="KaiTi" panose="02010609060101010101" pitchFamily="49" charset="-122"/>
              <a:cs typeface="Arial" panose="020B0604020202020204" pitchFamily="34" charset="0"/>
            </a:endParaRPr>
          </a:p>
          <a:p>
            <a:pPr marL="180000" indent="-180000" algn="just" latinLnBrk="1">
              <a:lnSpc>
                <a:spcPct val="100000"/>
              </a:lnSpc>
              <a:spcBef>
                <a:spcPts val="0"/>
              </a:spcBef>
              <a:spcAft>
                <a:spcPts val="600"/>
              </a:spcAft>
              <a:buClr>
                <a:schemeClr val="accent1"/>
              </a:buClr>
            </a:pPr>
            <a:r>
              <a:rPr lang="zh-TW" altLang="en-US" sz="800" dirty="0">
                <a:latin typeface="KaiTi" panose="02010609060101010101" pitchFamily="49" charset="-122"/>
                <a:ea typeface="KaiTi" panose="02010609060101010101" pitchFamily="49" charset="-122"/>
                <a:cs typeface="Arial" panose="020B0604020202020204" pitchFamily="34" charset="0"/>
              </a:rPr>
              <a:t>全国两会上周在北京闭幕。第十四届全国人大四次会议审议通过</a:t>
            </a:r>
            <a:r>
              <a:rPr lang="en-US" altLang="zh-TW" sz="800" dirty="0">
                <a:latin typeface="KaiTi" panose="02010609060101010101" pitchFamily="49" charset="-122"/>
                <a:ea typeface="KaiTi" panose="02010609060101010101" pitchFamily="49" charset="-122"/>
                <a:cs typeface="Arial" panose="020B0604020202020204" pitchFamily="34" charset="0"/>
              </a:rPr>
              <a:t>《</a:t>
            </a:r>
            <a:r>
              <a:rPr lang="zh-TW" altLang="en-US" sz="800" dirty="0">
                <a:latin typeface="KaiTi" panose="02010609060101010101" pitchFamily="49" charset="-122"/>
                <a:ea typeface="KaiTi" panose="02010609060101010101" pitchFamily="49" charset="-122"/>
                <a:cs typeface="Arial" panose="020B0604020202020204" pitchFamily="34" charset="0"/>
              </a:rPr>
              <a:t>十五五规划纲要</a:t>
            </a:r>
            <a:r>
              <a:rPr lang="en-US" altLang="zh-TW" sz="800" dirty="0">
                <a:latin typeface="KaiTi" panose="02010609060101010101" pitchFamily="49" charset="-122"/>
                <a:ea typeface="KaiTi" panose="02010609060101010101" pitchFamily="49" charset="-122"/>
                <a:cs typeface="Arial" panose="020B0604020202020204" pitchFamily="34" charset="0"/>
              </a:rPr>
              <a:t>》</a:t>
            </a:r>
            <a:r>
              <a:rPr lang="zh-TW" altLang="en-US" sz="800" dirty="0">
                <a:latin typeface="KaiTi" panose="02010609060101010101" pitchFamily="49" charset="-122"/>
                <a:ea typeface="KaiTi" panose="02010609060101010101" pitchFamily="49" charset="-122"/>
                <a:cs typeface="Arial" panose="020B0604020202020204" pitchFamily="34" charset="0"/>
              </a:rPr>
              <a:t>，为未来五年经济社会发展制定总体蓝图，重点围绕现代化产业体系建设及科技自立自强等方向。同时，纲要亦提出支持香港巩固和提升竞争优势，更好融入和服务国家发展大局，强化其在国家发展中的功能定位。</a:t>
            </a:r>
            <a:endParaRPr lang="en-US" altLang="zh-TW" sz="800" dirty="0">
              <a:latin typeface="KaiTi" panose="02010609060101010101" pitchFamily="49" charset="-122"/>
              <a:ea typeface="KaiTi" panose="02010609060101010101" pitchFamily="49" charset="-122"/>
              <a:cs typeface="Arial" panose="020B0604020202020204" pitchFamily="34" charset="0"/>
            </a:endParaRPr>
          </a:p>
          <a:p>
            <a:pPr marL="0" indent="0" algn="just" latinLnBrk="1">
              <a:lnSpc>
                <a:spcPct val="100000"/>
              </a:lnSpc>
              <a:spcBef>
                <a:spcPts val="0"/>
              </a:spcBef>
              <a:spcAft>
                <a:spcPts val="600"/>
              </a:spcAft>
              <a:buClr>
                <a:schemeClr val="accent1"/>
              </a:buClr>
              <a:buNone/>
            </a:pPr>
            <a:r>
              <a:rPr lang="zh-CN" altLang="en-US" sz="800" b="1" dirty="0">
                <a:latin typeface="Arial" panose="020B0604020202020204" pitchFamily="34" charset="0"/>
                <a:ea typeface="KaiTi" panose="02010609060101010101" pitchFamily="49" charset="-122"/>
                <a:cs typeface="Arial" panose="020B0604020202020204" pitchFamily="34" charset="0"/>
              </a:rPr>
              <a:t>美国股市</a:t>
            </a:r>
          </a:p>
          <a:p>
            <a:pPr marL="179705" indent="-179705" algn="just" latinLnBrk="1">
              <a:lnSpc>
                <a:spcPct val="100000"/>
              </a:lnSpc>
              <a:spcBef>
                <a:spcPts val="0"/>
              </a:spcBef>
              <a:spcAft>
                <a:spcPts val="600"/>
              </a:spcAft>
              <a:buClr>
                <a:schemeClr val="accent1"/>
              </a:buClr>
            </a:pPr>
            <a:r>
              <a:rPr lang="zh-CN" altLang="en-US" sz="800" dirty="0">
                <a:latin typeface="Arial" panose="020B0604020202020204" pitchFamily="34" charset="0"/>
                <a:ea typeface="KaiTi" panose="02010609060101010101" pitchFamily="49" charset="-122"/>
                <a:cs typeface="Arial" panose="020B0604020202020204" pitchFamily="34" charset="0"/>
              </a:rPr>
              <a:t>本周美股三大指数延续回调走势，整体表现偏弱。道琼斯工业平均指数周跌</a:t>
            </a:r>
            <a:r>
              <a:rPr lang="en-US" altLang="zh-CN" sz="800" dirty="0">
                <a:latin typeface="Arial" panose="020B0604020202020204" pitchFamily="34" charset="0"/>
                <a:ea typeface="KaiTi" panose="02010609060101010101" pitchFamily="49" charset="-122"/>
                <a:cs typeface="Arial" panose="020B0604020202020204" pitchFamily="34" charset="0"/>
              </a:rPr>
              <a:t>2.11%</a:t>
            </a:r>
            <a:r>
              <a:rPr lang="zh-CN" altLang="en-US" sz="800" dirty="0">
                <a:latin typeface="Arial" panose="020B0604020202020204" pitchFamily="34" charset="0"/>
                <a:ea typeface="KaiTi" panose="02010609060101010101" pitchFamily="49" charset="-122"/>
                <a:cs typeface="Arial" panose="020B0604020202020204" pitchFamily="34" charset="0"/>
              </a:rPr>
              <a:t>，标普</a:t>
            </a:r>
            <a:r>
              <a:rPr lang="en-US" altLang="zh-CN" sz="800" dirty="0">
                <a:latin typeface="Arial" panose="020B0604020202020204" pitchFamily="34" charset="0"/>
                <a:ea typeface="KaiTi" panose="02010609060101010101" pitchFamily="49" charset="-122"/>
                <a:cs typeface="Arial" panose="020B0604020202020204" pitchFamily="34" charset="0"/>
              </a:rPr>
              <a:t>500</a:t>
            </a:r>
            <a:r>
              <a:rPr lang="zh-CN" altLang="en-US" sz="800" dirty="0">
                <a:latin typeface="Arial" panose="020B0604020202020204" pitchFamily="34" charset="0"/>
                <a:ea typeface="KaiTi" panose="02010609060101010101" pitchFamily="49" charset="-122"/>
                <a:cs typeface="Arial" panose="020B0604020202020204" pitchFamily="34" charset="0"/>
              </a:rPr>
              <a:t>指数周跌</a:t>
            </a:r>
            <a:r>
              <a:rPr lang="en-US" altLang="zh-CN" sz="800" dirty="0">
                <a:latin typeface="Arial" panose="020B0604020202020204" pitchFamily="34" charset="0"/>
                <a:ea typeface="KaiTi" panose="02010609060101010101" pitchFamily="49" charset="-122"/>
                <a:cs typeface="Arial" panose="020B0604020202020204" pitchFamily="34" charset="0"/>
              </a:rPr>
              <a:t>1.90%</a:t>
            </a:r>
            <a:r>
              <a:rPr lang="zh-CN" altLang="en-US" sz="800" dirty="0">
                <a:latin typeface="Arial" panose="020B0604020202020204" pitchFamily="34" charset="0"/>
                <a:ea typeface="KaiTi" panose="02010609060101010101" pitchFamily="49" charset="-122"/>
                <a:cs typeface="Arial" panose="020B0604020202020204" pitchFamily="34" charset="0"/>
              </a:rPr>
              <a:t>，纳斯达克综合指数周跌</a:t>
            </a:r>
            <a:r>
              <a:rPr lang="en-US" altLang="zh-CN" sz="800" dirty="0">
                <a:latin typeface="Arial" panose="020B0604020202020204" pitchFamily="34" charset="0"/>
                <a:ea typeface="KaiTi" panose="02010609060101010101" pitchFamily="49" charset="-122"/>
                <a:cs typeface="Arial" panose="020B0604020202020204" pitchFamily="34" charset="0"/>
              </a:rPr>
              <a:t>2.07%</a:t>
            </a:r>
            <a:r>
              <a:rPr lang="zh-CN" altLang="en-US" sz="800" dirty="0">
                <a:latin typeface="Arial" panose="020B0604020202020204" pitchFamily="34" charset="0"/>
                <a:ea typeface="KaiTi" panose="02010609060101010101" pitchFamily="49" charset="-122"/>
                <a:cs typeface="Arial" panose="020B0604020202020204" pitchFamily="34" charset="0"/>
              </a:rPr>
              <a:t>，其中科技板块调整幅度有所加大。三大指数年初至今仍录得约</a:t>
            </a:r>
            <a:r>
              <a:rPr lang="en-US" altLang="zh-CN" sz="800" dirty="0">
                <a:latin typeface="Arial" panose="020B0604020202020204" pitchFamily="34" charset="0"/>
                <a:ea typeface="KaiTi" panose="02010609060101010101" pitchFamily="49" charset="-122"/>
                <a:cs typeface="Arial" panose="020B0604020202020204" pitchFamily="34" charset="0"/>
              </a:rPr>
              <a:t>7.13%</a:t>
            </a:r>
            <a:r>
              <a:rPr lang="zh-CN" altLang="en-US" sz="800" dirty="0">
                <a:latin typeface="Arial" panose="020B0604020202020204" pitchFamily="34" charset="0"/>
                <a:ea typeface="KaiTi" panose="02010609060101010101" pitchFamily="49" charset="-122"/>
                <a:cs typeface="Arial" panose="020B0604020202020204" pitchFamily="34" charset="0"/>
              </a:rPr>
              <a:t>至</a:t>
            </a:r>
            <a:r>
              <a:rPr lang="en-US" altLang="zh-CN" sz="800" dirty="0">
                <a:latin typeface="Arial" panose="020B0604020202020204" pitchFamily="34" charset="0"/>
                <a:ea typeface="KaiTi" panose="02010609060101010101" pitchFamily="49" charset="-122"/>
                <a:cs typeface="Arial" panose="020B0604020202020204" pitchFamily="34" charset="0"/>
              </a:rPr>
              <a:t>12.10%</a:t>
            </a:r>
            <a:r>
              <a:rPr lang="zh-CN" altLang="en-US" sz="800" dirty="0">
                <a:latin typeface="Arial" panose="020B0604020202020204" pitchFamily="34" charset="0"/>
                <a:ea typeface="KaiTi" panose="02010609060101010101" pitchFamily="49" charset="-122"/>
                <a:cs typeface="Arial" panose="020B0604020202020204" pitchFamily="34" charset="0"/>
              </a:rPr>
              <a:t>的涨幅，市场风险偏好有所回落，波动性维持相对高位。</a:t>
            </a:r>
            <a:endParaRPr lang="en-US" altLang="zh-CN" sz="800" dirty="0">
              <a:latin typeface="Arial" panose="020B0604020202020204" pitchFamily="34" charset="0"/>
              <a:ea typeface="KaiTi" panose="02010609060101010101" pitchFamily="49" charset="-122"/>
              <a:cs typeface="Arial" panose="020B0604020202020204" pitchFamily="34" charset="0"/>
            </a:endParaRPr>
          </a:p>
          <a:p>
            <a:pPr marL="179705" indent="-179705" algn="just" latinLnBrk="1">
              <a:lnSpc>
                <a:spcPct val="100000"/>
              </a:lnSpc>
              <a:spcBef>
                <a:spcPts val="0"/>
              </a:spcBef>
              <a:spcAft>
                <a:spcPts val="600"/>
              </a:spcAft>
              <a:buClr>
                <a:schemeClr val="accent1"/>
              </a:buClr>
            </a:pPr>
            <a:r>
              <a:rPr lang="zh-CN" altLang="en-US" sz="800" dirty="0">
                <a:latin typeface="Arial" panose="020B0604020202020204" pitchFamily="34" charset="0"/>
                <a:ea typeface="KaiTi" panose="02010609060101010101" pitchFamily="49" charset="-122"/>
                <a:cs typeface="Arial" panose="020B0604020202020204" pitchFamily="34" charset="0"/>
              </a:rPr>
              <a:t>美联储议息会议维持政策利率不变，将联邦基金利率目标区间维持在</a:t>
            </a:r>
            <a:r>
              <a:rPr lang="en-US" altLang="zh-CN" sz="800" dirty="0">
                <a:latin typeface="Arial" panose="020B0604020202020204" pitchFamily="34" charset="0"/>
                <a:ea typeface="KaiTi" panose="02010609060101010101" pitchFamily="49" charset="-122"/>
                <a:cs typeface="Arial" panose="020B0604020202020204" pitchFamily="34" charset="0"/>
              </a:rPr>
              <a:t>3.50%–3.75%</a:t>
            </a:r>
            <a:r>
              <a:rPr lang="zh-CN" altLang="en-US" sz="800" dirty="0">
                <a:latin typeface="Arial" panose="020B0604020202020204" pitchFamily="34" charset="0"/>
                <a:ea typeface="KaiTi" panose="02010609060101010101" pitchFamily="49" charset="-122"/>
                <a:cs typeface="Arial" panose="020B0604020202020204" pitchFamily="34" charset="0"/>
              </a:rPr>
              <a:t>，符合市场预期。会议声明指出，中东局势发展为美国经济前景带来不确定性，同时强调未来利率路径将取决于经济数据、前景变化及风险平衡。</a:t>
            </a:r>
          </a:p>
        </p:txBody>
      </p:sp>
      <p:sp>
        <p:nvSpPr>
          <p:cNvPr id="13" name="Text Placeholder FN"/>
          <p:cNvSpPr txBox="1"/>
          <p:nvPr/>
        </p:nvSpPr>
        <p:spPr>
          <a:xfrm>
            <a:off x="3039110" y="6333490"/>
            <a:ext cx="6324600" cy="245745"/>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700" dirty="0">
                <a:solidFill>
                  <a:schemeClr val="tx1"/>
                </a:solidFill>
                <a:cs typeface="+mn-ea"/>
                <a:sym typeface="+mn-lt"/>
              </a:rPr>
              <a:t>资料来源：</a:t>
            </a:r>
            <a:r>
              <a:rPr lang="zh-CN" altLang="en-US" sz="700" b="0" dirty="0">
                <a:solidFill>
                  <a:schemeClr val="tx1"/>
                </a:solidFill>
                <a:cs typeface="+mn-ea"/>
                <a:sym typeface="+mn-lt"/>
              </a:rPr>
              <a:t>彭博资讯、路透社（截至</a:t>
            </a:r>
            <a:r>
              <a:rPr lang="en-US" altLang="zh-CN" sz="700" b="0" dirty="0">
                <a:solidFill>
                  <a:schemeClr val="tx1"/>
                </a:solidFill>
                <a:cs typeface="+mn-ea"/>
                <a:sym typeface="+mn-lt"/>
              </a:rPr>
              <a:t>2026</a:t>
            </a:r>
            <a:r>
              <a:rPr lang="zh-CN" altLang="en-US" sz="700" b="0" dirty="0">
                <a:solidFill>
                  <a:schemeClr val="tx1"/>
                </a:solidFill>
                <a:cs typeface="+mn-ea"/>
                <a:sym typeface="+mn-lt"/>
              </a:rPr>
              <a:t>年</a:t>
            </a:r>
            <a:r>
              <a:rPr lang="en-US" altLang="zh-CN" sz="700" b="0" dirty="0">
                <a:solidFill>
                  <a:schemeClr val="tx1"/>
                </a:solidFill>
                <a:cs typeface="+mn-ea"/>
                <a:sym typeface="+mn-lt"/>
              </a:rPr>
              <a:t>3</a:t>
            </a:r>
            <a:r>
              <a:rPr lang="zh-CN" altLang="en-US" sz="700" b="0" dirty="0">
                <a:solidFill>
                  <a:schemeClr val="tx1"/>
                </a:solidFill>
                <a:cs typeface="+mn-ea"/>
                <a:sym typeface="+mn-lt"/>
              </a:rPr>
              <a:t>月</a:t>
            </a:r>
            <a:r>
              <a:rPr lang="en-US" altLang="zh-CN" sz="700" b="0" dirty="0">
                <a:solidFill>
                  <a:schemeClr val="tx1"/>
                </a:solidFill>
                <a:cs typeface="+mn-ea"/>
                <a:sym typeface="+mn-lt"/>
              </a:rPr>
              <a:t>20</a:t>
            </a:r>
            <a:r>
              <a:rPr lang="zh-CN" altLang="en-US" sz="700" b="0" dirty="0">
                <a:solidFill>
                  <a:schemeClr val="tx1"/>
                </a:solidFill>
                <a:cs typeface="+mn-ea"/>
                <a:sym typeface="+mn-lt"/>
              </a:rPr>
              <a:t>日）</a:t>
            </a:r>
            <a:endParaRPr lang="en-US" altLang="zh-CN" sz="700" b="0" dirty="0">
              <a:solidFill>
                <a:schemeClr val="tx1"/>
              </a:solidFill>
              <a:cs typeface="+mn-ea"/>
              <a:sym typeface="+mn-lt"/>
            </a:endParaRPr>
          </a:p>
        </p:txBody>
      </p:sp>
      <p:sp>
        <p:nvSpPr>
          <p:cNvPr id="8" name="灯片编号占位符 7"/>
          <p:cNvSpPr>
            <a:spLocks noGrp="1"/>
          </p:cNvSpPr>
          <p:nvPr>
            <p:ph type="sldNum" sz="quarter" idx="12"/>
          </p:nvPr>
        </p:nvSpPr>
        <p:spPr/>
        <p:txBody>
          <a:bodyPr/>
          <a:lstStyle/>
          <a:p>
            <a:fld id="{72E6F1C1-8568-433B-B05E-E21B84158B67}" type="slidenum">
              <a:rPr lang="en-US" smtClean="0"/>
              <a:t>3</a:t>
            </a:fld>
            <a:endParaRPr lang="en-US" dirty="0"/>
          </a:p>
        </p:txBody>
      </p:sp>
      <p:graphicFrame>
        <p:nvGraphicFramePr>
          <p:cNvPr id="19" name="表格 13">
            <a:extLst>
              <a:ext uri="{FF2B5EF4-FFF2-40B4-BE49-F238E27FC236}">
                <a16:creationId xmlns:a16="http://schemas.microsoft.com/office/drawing/2014/main" id="{0EA471E3-A7AB-F210-F649-B178266188BD}"/>
              </a:ext>
            </a:extLst>
          </p:cNvPr>
          <p:cNvGraphicFramePr>
            <a:graphicFrameLocks noGrp="1"/>
          </p:cNvGraphicFramePr>
          <p:nvPr>
            <p:extLst>
              <p:ext uri="{D42A27DB-BD31-4B8C-83A1-F6EECF244321}">
                <p14:modId xmlns:p14="http://schemas.microsoft.com/office/powerpoint/2010/main" val="1426463802"/>
              </p:ext>
            </p:extLst>
          </p:nvPr>
        </p:nvGraphicFramePr>
        <p:xfrm>
          <a:off x="6330386" y="4023843"/>
          <a:ext cx="3170699" cy="1703996"/>
        </p:xfrm>
        <a:graphic>
          <a:graphicData uri="http://schemas.openxmlformats.org/drawingml/2006/table">
            <a:tbl>
              <a:tblPr/>
              <a:tblGrid>
                <a:gridCol w="459799">
                  <a:extLst>
                    <a:ext uri="{9D8B030D-6E8A-4147-A177-3AD203B41FA5}">
                      <a16:colId xmlns:a16="http://schemas.microsoft.com/office/drawing/2014/main" val="3006966888"/>
                    </a:ext>
                  </a:extLst>
                </a:gridCol>
                <a:gridCol w="459799">
                  <a:extLst>
                    <a:ext uri="{9D8B030D-6E8A-4147-A177-3AD203B41FA5}">
                      <a16:colId xmlns:a16="http://schemas.microsoft.com/office/drawing/2014/main" val="654430666"/>
                    </a:ext>
                  </a:extLst>
                </a:gridCol>
                <a:gridCol w="459799">
                  <a:extLst>
                    <a:ext uri="{9D8B030D-6E8A-4147-A177-3AD203B41FA5}">
                      <a16:colId xmlns:a16="http://schemas.microsoft.com/office/drawing/2014/main" val="1622848977"/>
                    </a:ext>
                  </a:extLst>
                </a:gridCol>
                <a:gridCol w="546012">
                  <a:extLst>
                    <a:ext uri="{9D8B030D-6E8A-4147-A177-3AD203B41FA5}">
                      <a16:colId xmlns:a16="http://schemas.microsoft.com/office/drawing/2014/main" val="956421061"/>
                    </a:ext>
                  </a:extLst>
                </a:gridCol>
                <a:gridCol w="622645">
                  <a:extLst>
                    <a:ext uri="{9D8B030D-6E8A-4147-A177-3AD203B41FA5}">
                      <a16:colId xmlns:a16="http://schemas.microsoft.com/office/drawing/2014/main" val="3286486074"/>
                    </a:ext>
                  </a:extLst>
                </a:gridCol>
                <a:gridCol w="622645">
                  <a:extLst>
                    <a:ext uri="{9D8B030D-6E8A-4147-A177-3AD203B41FA5}">
                      <a16:colId xmlns:a16="http://schemas.microsoft.com/office/drawing/2014/main" val="914874007"/>
                    </a:ext>
                  </a:extLst>
                </a:gridCol>
              </a:tblGrid>
              <a:tr h="189333">
                <a:tc rowSpan="2">
                  <a:txBody>
                    <a:bodyPr/>
                    <a:lstStyle/>
                    <a:p>
                      <a:pPr algn="ctr" rtl="0" fontAlgn="ctr">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指数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最新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gridSpan="4">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变动</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02778599"/>
                  </a:ext>
                </a:extLst>
              </a:tr>
              <a:tr h="357628">
                <a:tc vMerge="1">
                  <a:txBody>
                    <a:bodyPr/>
                    <a:lstStyle/>
                    <a:p>
                      <a:endParaRPr lang="en-US"/>
                    </a:p>
                  </a:txBody>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收市</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周度（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月度（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b">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a:t>
                      </a:r>
                      <a:r>
                        <a:rPr lang="en-US" altLang="zh-TW" sz="800" b="1" i="0" u="none" strike="noStrike" dirty="0">
                          <a:solidFill>
                            <a:srgbClr val="FFFFFF"/>
                          </a:solidFill>
                          <a:effectLst/>
                          <a:latin typeface="楷体" panose="02010609060101010101" pitchFamily="49" charset="-122"/>
                          <a:ea typeface="楷体" panose="02010609060101010101" pitchFamily="49" charset="-122"/>
                        </a:rPr>
                        <a:t>%</a:t>
                      </a:r>
                      <a:r>
                        <a:rPr lang="zh-TW" altLang="en-US" sz="800" b="1" i="0" u="none" strike="noStrike" dirty="0">
                          <a:solidFill>
                            <a:srgbClr val="FFFFFF"/>
                          </a:solidFill>
                          <a:effectLst/>
                          <a:latin typeface="楷体" panose="02010609060101010101" pitchFamily="49" charset="-122"/>
                          <a:ea typeface="楷体" panose="02010609060101010101" pitchFamily="49" charset="-122"/>
                        </a:rPr>
                        <a:t>）</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b">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年年初（数值）</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extLst>
                  <a:ext uri="{0D108BD9-81ED-4DB2-BD59-A6C34878D82A}">
                    <a16:rowId xmlns:a16="http://schemas.microsoft.com/office/drawing/2014/main" val="1041486586"/>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恒生</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25,277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-0.74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26.01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5,217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784028214"/>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恒生国企</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8,574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-1.12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17.62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1,284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945300343"/>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沪深</a:t>
                      </a:r>
                      <a:r>
                        <a:rPr lang="en-US" altLang="zh-TW" sz="800" b="0" i="0" u="none" strike="noStrike">
                          <a:solidFill>
                            <a:srgbClr val="000000"/>
                          </a:solidFill>
                          <a:effectLst/>
                          <a:latin typeface="楷体" panose="02010609060101010101" pitchFamily="49" charset="-122"/>
                          <a:ea typeface="楷体" panose="02010609060101010101" pitchFamily="49" charset="-122"/>
                        </a:rPr>
                        <a:t>300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4,567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16.06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632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477024004"/>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上证综合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3,957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-3.38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18.06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605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281808053"/>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深证综合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2,589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-4.16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-3.41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32.27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632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750925273"/>
                  </a:ext>
                </a:extLst>
              </a:tr>
            </a:tbl>
          </a:graphicData>
        </a:graphic>
      </p:graphicFrame>
      <p:graphicFrame>
        <p:nvGraphicFramePr>
          <p:cNvPr id="3" name="表格 3">
            <a:extLst>
              <a:ext uri="{FF2B5EF4-FFF2-40B4-BE49-F238E27FC236}">
                <a16:creationId xmlns:a16="http://schemas.microsoft.com/office/drawing/2014/main" id="{FD89E8E0-2CF6-F2F3-A512-693E14ED2FB4}"/>
              </a:ext>
            </a:extLst>
          </p:cNvPr>
          <p:cNvGraphicFramePr>
            <a:graphicFrameLocks noGrp="1"/>
          </p:cNvGraphicFramePr>
          <p:nvPr>
            <p:extLst>
              <p:ext uri="{D42A27DB-BD31-4B8C-83A1-F6EECF244321}">
                <p14:modId xmlns:p14="http://schemas.microsoft.com/office/powerpoint/2010/main" val="1593931380"/>
              </p:ext>
            </p:extLst>
          </p:nvPr>
        </p:nvGraphicFramePr>
        <p:xfrm>
          <a:off x="6330386" y="1358761"/>
          <a:ext cx="3279308" cy="1708837"/>
        </p:xfrm>
        <a:graphic>
          <a:graphicData uri="http://schemas.openxmlformats.org/drawingml/2006/table">
            <a:tbl>
              <a:tblPr/>
              <a:tblGrid>
                <a:gridCol w="475549">
                  <a:extLst>
                    <a:ext uri="{9D8B030D-6E8A-4147-A177-3AD203B41FA5}">
                      <a16:colId xmlns:a16="http://schemas.microsoft.com/office/drawing/2014/main" val="1619687374"/>
                    </a:ext>
                  </a:extLst>
                </a:gridCol>
                <a:gridCol w="475549">
                  <a:extLst>
                    <a:ext uri="{9D8B030D-6E8A-4147-A177-3AD203B41FA5}">
                      <a16:colId xmlns:a16="http://schemas.microsoft.com/office/drawing/2014/main" val="3810526449"/>
                    </a:ext>
                  </a:extLst>
                </a:gridCol>
                <a:gridCol w="475549">
                  <a:extLst>
                    <a:ext uri="{9D8B030D-6E8A-4147-A177-3AD203B41FA5}">
                      <a16:colId xmlns:a16="http://schemas.microsoft.com/office/drawing/2014/main" val="1306804192"/>
                    </a:ext>
                  </a:extLst>
                </a:gridCol>
                <a:gridCol w="564715">
                  <a:extLst>
                    <a:ext uri="{9D8B030D-6E8A-4147-A177-3AD203B41FA5}">
                      <a16:colId xmlns:a16="http://schemas.microsoft.com/office/drawing/2014/main" val="4200501483"/>
                    </a:ext>
                  </a:extLst>
                </a:gridCol>
                <a:gridCol w="643973">
                  <a:extLst>
                    <a:ext uri="{9D8B030D-6E8A-4147-A177-3AD203B41FA5}">
                      <a16:colId xmlns:a16="http://schemas.microsoft.com/office/drawing/2014/main" val="1083133133"/>
                    </a:ext>
                  </a:extLst>
                </a:gridCol>
                <a:gridCol w="643973">
                  <a:extLst>
                    <a:ext uri="{9D8B030D-6E8A-4147-A177-3AD203B41FA5}">
                      <a16:colId xmlns:a16="http://schemas.microsoft.com/office/drawing/2014/main" val="437423915"/>
                    </a:ext>
                  </a:extLst>
                </a:gridCol>
              </a:tblGrid>
              <a:tr h="217488">
                <a:tc rowSpan="2">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指数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最新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gridSpan="4">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变动</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24185881"/>
                  </a:ext>
                </a:extLst>
              </a:tr>
              <a:tr h="352124">
                <a:tc vMerge="1">
                  <a:txBody>
                    <a:bodyPr/>
                    <a:lstStyle/>
                    <a:p>
                      <a:endParaRPr lang="en-US"/>
                    </a:p>
                  </a:txBody>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收市</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周度（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月度（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a:t>
                      </a:r>
                      <a:r>
                        <a:rPr lang="en-US" altLang="zh-TW" sz="800" b="1" i="0" u="none" strike="noStrike" dirty="0">
                          <a:solidFill>
                            <a:srgbClr val="FFFFFF"/>
                          </a:solidFill>
                          <a:effectLst/>
                          <a:latin typeface="楷体" panose="02010609060101010101" pitchFamily="49" charset="-122"/>
                          <a:ea typeface="楷体" panose="02010609060101010101" pitchFamily="49" charset="-122"/>
                        </a:rPr>
                        <a:t>%</a:t>
                      </a:r>
                      <a:r>
                        <a:rPr lang="zh-TW" altLang="en-US" sz="800" b="1" i="0" u="none" strike="noStrike" dirty="0">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年年初（数值）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extLst>
                  <a:ext uri="{0D108BD9-81ED-4DB2-BD59-A6C34878D82A}">
                    <a16:rowId xmlns:a16="http://schemas.microsoft.com/office/drawing/2014/main" val="773847911"/>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道琼斯</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45,577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-8.16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7.13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3,033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142118581"/>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标普</a:t>
                      </a:r>
                      <a:r>
                        <a:rPr lang="en-US" altLang="zh-TW" sz="800" b="0" i="0" u="none" strike="noStrike">
                          <a:solidFill>
                            <a:srgbClr val="000000"/>
                          </a:solidFill>
                          <a:effectLst/>
                          <a:latin typeface="楷体" panose="02010609060101010101" pitchFamily="49" charset="-122"/>
                          <a:ea typeface="楷体" panose="02010609060101010101" pitchFamily="49" charset="-122"/>
                        </a:rPr>
                        <a:t>500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6,506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-1.90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-5.83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10.62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625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403040427"/>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纳斯达克</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21,648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-2.07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-5.41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12.10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2,337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646627117"/>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富时</a:t>
                      </a:r>
                      <a:r>
                        <a:rPr lang="en-US" altLang="zh-TW" sz="800" b="0" i="0" u="none" strike="noStrike">
                          <a:solidFill>
                            <a:srgbClr val="000000"/>
                          </a:solidFill>
                          <a:effectLst/>
                          <a:latin typeface="楷体" panose="02010609060101010101" pitchFamily="49" charset="-122"/>
                          <a:ea typeface="楷体" panose="02010609060101010101" pitchFamily="49" charset="-122"/>
                        </a:rPr>
                        <a:t>100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9,918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-3.34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-7.19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21.35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1,745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339084165"/>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日经</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53,373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-0.83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-6.08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33.78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13,478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530185591"/>
                  </a:ext>
                </a:extLst>
              </a:tr>
            </a:tbl>
          </a:graphicData>
        </a:graphic>
      </p:graphicFrame>
      <p:pic>
        <p:nvPicPr>
          <p:cNvPr id="4" name="图片 11">
            <a:extLst>
              <a:ext uri="{FF2B5EF4-FFF2-40B4-BE49-F238E27FC236}">
                <a16:creationId xmlns:a16="http://schemas.microsoft.com/office/drawing/2014/main" id="{58B23B47-14F9-B9C3-BBAC-9CFD80FEE15E}"/>
              </a:ext>
            </a:extLst>
          </p:cNvPr>
          <p:cNvPicPr>
            <a:picLocks noChangeAspect="1"/>
          </p:cNvPicPr>
          <p:nvPr/>
        </p:nvPicPr>
        <p:blipFill>
          <a:blip r:embed="rId3"/>
          <a:stretch>
            <a:fillRect/>
          </a:stretch>
        </p:blipFill>
        <p:spPr>
          <a:xfrm>
            <a:off x="2687807" y="1243662"/>
            <a:ext cx="3642579" cy="1883668"/>
          </a:xfrm>
          <a:prstGeom prst="rect">
            <a:avLst/>
          </a:prstGeom>
        </p:spPr>
      </p:pic>
      <p:pic>
        <p:nvPicPr>
          <p:cNvPr id="7" name="图片 14">
            <a:extLst>
              <a:ext uri="{FF2B5EF4-FFF2-40B4-BE49-F238E27FC236}">
                <a16:creationId xmlns:a16="http://schemas.microsoft.com/office/drawing/2014/main" id="{1A63317D-911B-4FAB-97A7-8C1BB3AE8047}"/>
              </a:ext>
            </a:extLst>
          </p:cNvPr>
          <p:cNvPicPr>
            <a:picLocks noChangeAspect="1"/>
          </p:cNvPicPr>
          <p:nvPr/>
        </p:nvPicPr>
        <p:blipFill>
          <a:blip r:embed="rId4"/>
          <a:stretch>
            <a:fillRect/>
          </a:stretch>
        </p:blipFill>
        <p:spPr>
          <a:xfrm>
            <a:off x="2687807" y="3868072"/>
            <a:ext cx="3637574" cy="1883668"/>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2F60BC60-B9C2-DB46-8553-DCA0CFB325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4923" y="61657"/>
            <a:ext cx="5501030" cy="3438144"/>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689BE2EF-984B-AE16-66A7-1B8C9913F1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16795" y="3488655"/>
            <a:ext cx="5369230" cy="3355769"/>
          </a:xfrm>
          <a:prstGeom prst="rect">
            <a:avLst/>
          </a:prstGeom>
        </p:spPr>
      </p:pic>
      <p:sp>
        <p:nvSpPr>
          <p:cNvPr id="17" name="TextBox 16">
            <a:extLst>
              <a:ext uri="{FF2B5EF4-FFF2-40B4-BE49-F238E27FC236}">
                <a16:creationId xmlns:a16="http://schemas.microsoft.com/office/drawing/2014/main" id="{DBA5C357-60CC-3D64-C005-E95A9B032545}"/>
              </a:ext>
            </a:extLst>
          </p:cNvPr>
          <p:cNvSpPr txBox="1"/>
          <p:nvPr/>
        </p:nvSpPr>
        <p:spPr>
          <a:xfrm>
            <a:off x="4676688" y="3443983"/>
            <a:ext cx="4262705" cy="646331"/>
          </a:xfrm>
          <a:prstGeom prst="rect">
            <a:avLst/>
          </a:prstGeom>
          <a:noFill/>
        </p:spPr>
        <p:txBody>
          <a:bodyPr wrap="none" rtlCol="0">
            <a:spAutoFit/>
          </a:bodyPr>
          <a:lstStyle/>
          <a:p>
            <a:r>
              <a:rPr lang="en-US" dirty="0" err="1">
                <a:highlight>
                  <a:srgbClr val="FFFF00"/>
                </a:highlight>
              </a:rPr>
              <a:t>图和表在Excel</a:t>
            </a:r>
            <a:r>
              <a:rPr lang="en-US" dirty="0">
                <a:highlight>
                  <a:srgbClr val="FFFF00"/>
                </a:highlight>
              </a:rPr>
              <a:t> copy</a:t>
            </a:r>
            <a:r>
              <a:rPr lang="zh-CN" altLang="en-US" dirty="0">
                <a:highlight>
                  <a:srgbClr val="FFFF00"/>
                </a:highlight>
              </a:rPr>
              <a:t>， </a:t>
            </a:r>
            <a:r>
              <a:rPr lang="en-US" altLang="zh-CN" dirty="0">
                <a:highlight>
                  <a:srgbClr val="FFFF00"/>
                </a:highlight>
              </a:rPr>
              <a:t>Excel</a:t>
            </a:r>
            <a:r>
              <a:rPr lang="zh-CN" altLang="en-US" dirty="0">
                <a:highlight>
                  <a:srgbClr val="FFFF00"/>
                </a:highlight>
              </a:rPr>
              <a:t>用</a:t>
            </a:r>
            <a:r>
              <a:rPr lang="en-US" altLang="zh-CN" dirty="0">
                <a:highlight>
                  <a:srgbClr val="FFFF00"/>
                </a:highlight>
              </a:rPr>
              <a:t>BBG</a:t>
            </a:r>
            <a:r>
              <a:rPr lang="zh-CN" altLang="en-US" dirty="0">
                <a:highlight>
                  <a:srgbClr val="FFFF00"/>
                </a:highlight>
              </a:rPr>
              <a:t>更新</a:t>
            </a:r>
            <a:endParaRPr lang="en-US" altLang="zh-CN" dirty="0">
              <a:highlight>
                <a:srgbClr val="FFFF00"/>
              </a:highlight>
            </a:endParaRPr>
          </a:p>
          <a:p>
            <a:r>
              <a:rPr lang="en-US" dirty="0">
                <a:highlight>
                  <a:srgbClr val="FFFF00"/>
                </a:highlight>
              </a:rPr>
              <a:t>GCM+-+Weekly+Base+20260320.xlsx</a:t>
            </a:r>
          </a:p>
        </p:txBody>
      </p:sp>
      <p:sp>
        <p:nvSpPr>
          <p:cNvPr id="18" name="Frame 17">
            <a:extLst>
              <a:ext uri="{FF2B5EF4-FFF2-40B4-BE49-F238E27FC236}">
                <a16:creationId xmlns:a16="http://schemas.microsoft.com/office/drawing/2014/main" id="{99FA68F3-7763-9E34-05AB-BE7C063BD296}"/>
              </a:ext>
            </a:extLst>
          </p:cNvPr>
          <p:cNvSpPr/>
          <p:nvPr/>
        </p:nvSpPr>
        <p:spPr>
          <a:xfrm>
            <a:off x="5344160" y="933418"/>
            <a:ext cx="2660904" cy="2329004"/>
          </a:xfrm>
          <a:prstGeom prst="frame">
            <a:avLst/>
          </a:prstGeom>
          <a:solidFill>
            <a:srgbClr val="00B0F0"/>
          </a:solidFill>
          <a:ln w="127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Frame 24">
            <a:extLst>
              <a:ext uri="{FF2B5EF4-FFF2-40B4-BE49-F238E27FC236}">
                <a16:creationId xmlns:a16="http://schemas.microsoft.com/office/drawing/2014/main" id="{21061B33-B97A-9375-EE6C-8212F91F61B7}"/>
              </a:ext>
            </a:extLst>
          </p:cNvPr>
          <p:cNvSpPr/>
          <p:nvPr/>
        </p:nvSpPr>
        <p:spPr>
          <a:xfrm>
            <a:off x="5256107" y="3262422"/>
            <a:ext cx="501226" cy="166578"/>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Frame 25">
            <a:extLst>
              <a:ext uri="{FF2B5EF4-FFF2-40B4-BE49-F238E27FC236}">
                <a16:creationId xmlns:a16="http://schemas.microsoft.com/office/drawing/2014/main" id="{8DE89F2E-A76E-366E-CCD3-13AEBDBA809D}"/>
              </a:ext>
            </a:extLst>
          </p:cNvPr>
          <p:cNvSpPr/>
          <p:nvPr/>
        </p:nvSpPr>
        <p:spPr>
          <a:xfrm>
            <a:off x="6325380" y="4614357"/>
            <a:ext cx="1679683" cy="1827084"/>
          </a:xfrm>
          <a:prstGeom prst="frame">
            <a:avLst/>
          </a:prstGeom>
          <a:solidFill>
            <a:srgbClr val="00B0F0"/>
          </a:solidFill>
          <a:ln w="127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Frame 26">
            <a:extLst>
              <a:ext uri="{FF2B5EF4-FFF2-40B4-BE49-F238E27FC236}">
                <a16:creationId xmlns:a16="http://schemas.microsoft.com/office/drawing/2014/main" id="{02F8DC5A-8BD2-3214-ECF0-CADB98A911CF}"/>
              </a:ext>
            </a:extLst>
          </p:cNvPr>
          <p:cNvSpPr/>
          <p:nvPr/>
        </p:nvSpPr>
        <p:spPr>
          <a:xfrm>
            <a:off x="5093547" y="6611272"/>
            <a:ext cx="501226" cy="166578"/>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BCB0D-C926-7059-8454-E5B7B1831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4763E-27DA-B165-034B-D7089F1EF416}"/>
              </a:ext>
            </a:extLst>
          </p:cNvPr>
          <p:cNvSpPr>
            <a:spLocks noGrp="1"/>
          </p:cNvSpPr>
          <p:nvPr>
            <p:ph type="title"/>
          </p:nvPr>
        </p:nvSpPr>
        <p:spPr/>
        <p:txBody>
          <a:bodyPr/>
          <a:lstStyle/>
          <a:p>
            <a:r>
              <a:rPr lang="zh-CN" altLang="en-US" dirty="0">
                <a:latin typeface="+mn-lt"/>
                <a:ea typeface="+mn-ea"/>
                <a:cs typeface="+mn-ea"/>
                <a:sym typeface="+mn-lt"/>
              </a:rPr>
              <a:t>股票二级市场动态更新</a:t>
            </a:r>
            <a:endParaRPr lang="en-US" dirty="0">
              <a:latin typeface="+mn-lt"/>
              <a:ea typeface="+mn-ea"/>
              <a:cs typeface="+mn-ea"/>
              <a:sym typeface="+mn-lt"/>
            </a:endParaRPr>
          </a:p>
        </p:txBody>
      </p:sp>
      <p:sp>
        <p:nvSpPr>
          <p:cNvPr id="11" name="Rectangle 10">
            <a:extLst>
              <a:ext uri="{FF2B5EF4-FFF2-40B4-BE49-F238E27FC236}">
                <a16:creationId xmlns:a16="http://schemas.microsoft.com/office/drawing/2014/main" id="{0F075E93-5DF9-0E23-D995-D70FC6363C9F}"/>
              </a:ext>
            </a:extLst>
          </p:cNvPr>
          <p:cNvSpPr/>
          <p:nvPr/>
        </p:nvSpPr>
        <p:spPr>
          <a:xfrm>
            <a:off x="3083226" y="968206"/>
            <a:ext cx="3017520" cy="182880"/>
          </a:xfrm>
          <a:prstGeom prst="rect">
            <a:avLst/>
          </a:prstGeom>
        </p:spPr>
        <p:txBody>
          <a:bodyPr lIns="0" tIns="0" rIns="0" bIns="0" anchor="ctr">
            <a:spAutoFit/>
          </a:bodyPr>
          <a:lstStyle/>
          <a:p>
            <a:r>
              <a:rPr lang="zh-CN" altLang="en-US" sz="1200" b="1" u="sng" dirty="0">
                <a:solidFill>
                  <a:schemeClr val="accent1"/>
                </a:solidFill>
                <a:cs typeface="+mn-ea"/>
                <a:sym typeface="+mn-lt"/>
              </a:rPr>
              <a:t>过去一年全球主要股票指数表现</a:t>
            </a:r>
            <a:endParaRPr lang="zh-CN" altLang="en-US" sz="1200" b="1" u="sng" baseline="30000" dirty="0">
              <a:solidFill>
                <a:schemeClr val="accent1"/>
              </a:solidFill>
              <a:cs typeface="+mn-ea"/>
              <a:sym typeface="+mn-lt"/>
            </a:endParaRPr>
          </a:p>
        </p:txBody>
      </p:sp>
      <p:sp>
        <p:nvSpPr>
          <p:cNvPr id="12" name="Rectangle 11">
            <a:extLst>
              <a:ext uri="{FF2B5EF4-FFF2-40B4-BE49-F238E27FC236}">
                <a16:creationId xmlns:a16="http://schemas.microsoft.com/office/drawing/2014/main" id="{923C3722-36B1-28E4-3D53-CEF4794866ED}"/>
              </a:ext>
            </a:extLst>
          </p:cNvPr>
          <p:cNvSpPr/>
          <p:nvPr/>
        </p:nvSpPr>
        <p:spPr>
          <a:xfrm>
            <a:off x="3126462" y="3557827"/>
            <a:ext cx="3017520" cy="182880"/>
          </a:xfrm>
          <a:prstGeom prst="rect">
            <a:avLst/>
          </a:prstGeom>
        </p:spPr>
        <p:txBody>
          <a:bodyPr lIns="0" tIns="0" rIns="0" bIns="0" anchor="ctr">
            <a:spAutoFit/>
          </a:bodyPr>
          <a:lstStyle/>
          <a:p>
            <a:r>
              <a:rPr lang="zh-CN" altLang="en-US" sz="1200" b="1" u="sng" dirty="0">
                <a:solidFill>
                  <a:schemeClr val="accent1"/>
                </a:solidFill>
                <a:cs typeface="+mn-ea"/>
                <a:sym typeface="+mn-lt"/>
              </a:rPr>
              <a:t>过去一年中港主要股票指数表现</a:t>
            </a:r>
          </a:p>
        </p:txBody>
      </p:sp>
      <p:sp>
        <p:nvSpPr>
          <p:cNvPr id="6" name="Content Placeholder 9">
            <a:extLst>
              <a:ext uri="{FF2B5EF4-FFF2-40B4-BE49-F238E27FC236}">
                <a16:creationId xmlns:a16="http://schemas.microsoft.com/office/drawing/2014/main" id="{840C5E43-F29D-E76D-861E-D4A54CE163C9}"/>
              </a:ext>
            </a:extLst>
          </p:cNvPr>
          <p:cNvSpPr txBox="1"/>
          <p:nvPr/>
        </p:nvSpPr>
        <p:spPr>
          <a:xfrm>
            <a:off x="103450" y="582454"/>
            <a:ext cx="2412021" cy="5751036"/>
          </a:xfrm>
          <a:prstGeom prst="rect">
            <a:avLst/>
          </a:prstGeom>
          <a:noFill/>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latinLnBrk="1">
              <a:lnSpc>
                <a:spcPct val="150000"/>
              </a:lnSpc>
              <a:spcBef>
                <a:spcPts val="0"/>
              </a:spcBef>
              <a:spcAft>
                <a:spcPts val="600"/>
              </a:spcAft>
              <a:buClr>
                <a:schemeClr val="accent1"/>
              </a:buClr>
              <a:buNone/>
            </a:pPr>
            <a:r>
              <a:rPr lang="zh-CN" altLang="en-US" sz="800" b="1" dirty="0">
                <a:latin typeface="Arial" panose="020B0604020202020204" pitchFamily="34" charset="0"/>
                <a:ea typeface="KaiTi" panose="02010609060101010101" pitchFamily="49" charset="-122"/>
                <a:cs typeface="Arial" panose="020B0604020202020204" pitchFamily="34" charset="0"/>
                <a:sym typeface="+mn-lt"/>
              </a:rPr>
              <a:t>中国内地股市 </a:t>
            </a:r>
            <a:endParaRPr lang="zh-CN" altLang="en-US" sz="800" dirty="0">
              <a:latin typeface="Arial" panose="020B0604020202020204" pitchFamily="34" charset="0"/>
              <a:ea typeface="KaiTi" panose="02010609060101010101" pitchFamily="49" charset="-122"/>
              <a:cs typeface="Arial" panose="020B0604020202020204" pitchFamily="34" charset="0"/>
            </a:endParaRPr>
          </a:p>
          <a:p>
            <a:pPr marL="179705" indent="-179705" algn="just" latinLnBrk="1">
              <a:lnSpc>
                <a:spcPct val="100000"/>
              </a:lnSpc>
              <a:spcBef>
                <a:spcPts val="0"/>
              </a:spcBef>
              <a:spcAft>
                <a:spcPts val="600"/>
              </a:spcAft>
              <a:buClr>
                <a:schemeClr val="accent1"/>
              </a:buClr>
            </a:pPr>
            <a:r>
              <a:rPr lang="zh-TW" altLang="en-US" sz="800" dirty="0">
                <a:latin typeface="Arial" panose="020B0604020202020204" pitchFamily="34" charset="0"/>
                <a:ea typeface="KaiTi" panose="02010609060101010101" pitchFamily="49" charset="-122"/>
                <a:cs typeface="Arial" panose="020B0604020202020204" pitchFamily="34" charset="0"/>
              </a:rPr>
              <a:t>本周两市整体震荡下行，主要指数普遍回调，市场情绪有所走弱。上证综指周跌</a:t>
            </a:r>
            <a:r>
              <a:rPr lang="en-US" altLang="zh-TW" sz="800" dirty="0">
                <a:latin typeface="Arial" panose="020B0604020202020204" pitchFamily="34" charset="0"/>
                <a:ea typeface="KaiTi" panose="02010609060101010101" pitchFamily="49" charset="-122"/>
                <a:cs typeface="Arial" panose="020B0604020202020204" pitchFamily="34" charset="0"/>
              </a:rPr>
              <a:t>3.38%</a:t>
            </a:r>
            <a:r>
              <a:rPr lang="zh-TW" altLang="en-US" sz="800" dirty="0">
                <a:latin typeface="Arial" panose="020B0604020202020204" pitchFamily="34" charset="0"/>
                <a:ea typeface="KaiTi" panose="02010609060101010101" pitchFamily="49" charset="-122"/>
                <a:cs typeface="Arial" panose="020B0604020202020204" pitchFamily="34" charset="0"/>
              </a:rPr>
              <a:t>，深证综指周跌</a:t>
            </a:r>
            <a:r>
              <a:rPr lang="en-US" altLang="zh-TW" sz="800" dirty="0">
                <a:latin typeface="Arial" panose="020B0604020202020204" pitchFamily="34" charset="0"/>
                <a:ea typeface="KaiTi" panose="02010609060101010101" pitchFamily="49" charset="-122"/>
                <a:cs typeface="Arial" panose="020B0604020202020204" pitchFamily="34" charset="0"/>
              </a:rPr>
              <a:t>4.16%</a:t>
            </a:r>
            <a:r>
              <a:rPr lang="zh-TW" altLang="en-US" sz="800" dirty="0">
                <a:latin typeface="Arial" panose="020B0604020202020204" pitchFamily="34" charset="0"/>
                <a:ea typeface="KaiTi" panose="02010609060101010101" pitchFamily="49" charset="-122"/>
                <a:cs typeface="Arial" panose="020B0604020202020204" pitchFamily="34" charset="0"/>
              </a:rPr>
              <a:t>，沪深</a:t>
            </a:r>
            <a:r>
              <a:rPr lang="en-US" altLang="zh-TW" sz="800" dirty="0">
                <a:latin typeface="Arial" panose="020B0604020202020204" pitchFamily="34" charset="0"/>
                <a:ea typeface="KaiTi" panose="02010609060101010101" pitchFamily="49" charset="-122"/>
                <a:cs typeface="Arial" panose="020B0604020202020204" pitchFamily="34" charset="0"/>
              </a:rPr>
              <a:t>300</a:t>
            </a:r>
            <a:r>
              <a:rPr lang="zh-TW" altLang="en-US" sz="800" dirty="0">
                <a:latin typeface="Arial" panose="020B0604020202020204" pitchFamily="34" charset="0"/>
                <a:ea typeface="KaiTi" panose="02010609060101010101" pitchFamily="49" charset="-122"/>
                <a:cs typeface="Arial" panose="020B0604020202020204" pitchFamily="34" charset="0"/>
              </a:rPr>
              <a:t>周跌</a:t>
            </a:r>
            <a:r>
              <a:rPr lang="en-US" altLang="zh-TW" sz="800" dirty="0">
                <a:latin typeface="Arial" panose="020B0604020202020204" pitchFamily="34" charset="0"/>
                <a:ea typeface="KaiTi" panose="02010609060101010101" pitchFamily="49" charset="-122"/>
                <a:cs typeface="Arial" panose="020B0604020202020204" pitchFamily="34" charset="0"/>
              </a:rPr>
              <a:t>2.19%</a:t>
            </a:r>
            <a:r>
              <a:rPr lang="zh-TW" altLang="en-US" sz="800" dirty="0">
                <a:latin typeface="Arial" panose="020B0604020202020204" pitchFamily="34" charset="0"/>
                <a:ea typeface="KaiTi" panose="02010609060101010101" pitchFamily="49" charset="-122"/>
                <a:cs typeface="Arial" panose="020B0604020202020204" pitchFamily="34" charset="0"/>
              </a:rPr>
              <a:t>，显示权重板块相对抗跌，中小盘板块回调幅度更为明显；年初至今主要指数涨幅仍介于</a:t>
            </a:r>
            <a:r>
              <a:rPr lang="en-US" altLang="zh-TW" sz="800" dirty="0">
                <a:latin typeface="Arial" panose="020B0604020202020204" pitchFamily="34" charset="0"/>
                <a:ea typeface="KaiTi" panose="02010609060101010101" pitchFamily="49" charset="-122"/>
                <a:cs typeface="Arial" panose="020B0604020202020204" pitchFamily="34" charset="0"/>
              </a:rPr>
              <a:t>16.06%</a:t>
            </a:r>
            <a:r>
              <a:rPr lang="zh-TW" altLang="en-US" sz="800" dirty="0">
                <a:latin typeface="Arial" panose="020B0604020202020204" pitchFamily="34" charset="0"/>
                <a:ea typeface="KaiTi" panose="02010609060101010101" pitchFamily="49" charset="-122"/>
                <a:cs typeface="Arial" panose="020B0604020202020204" pitchFamily="34" charset="0"/>
              </a:rPr>
              <a:t>至</a:t>
            </a:r>
            <a:r>
              <a:rPr lang="en-US" altLang="zh-TW" sz="800" dirty="0">
                <a:latin typeface="Arial" panose="020B0604020202020204" pitchFamily="34" charset="0"/>
                <a:ea typeface="KaiTi" panose="02010609060101010101" pitchFamily="49" charset="-122"/>
                <a:cs typeface="Arial" panose="020B0604020202020204" pitchFamily="34" charset="0"/>
              </a:rPr>
              <a:t>32.27%</a:t>
            </a:r>
            <a:r>
              <a:rPr lang="zh-TW" altLang="en-US" sz="800" dirty="0">
                <a:latin typeface="Arial" panose="020B0604020202020204" pitchFamily="34" charset="0"/>
                <a:ea typeface="KaiTi" panose="02010609060101010101" pitchFamily="49" charset="-122"/>
                <a:cs typeface="Arial" panose="020B0604020202020204" pitchFamily="34" charset="0"/>
              </a:rPr>
              <a:t>之间，其中深证综指涨幅居前。整体来看，短期市场进入调整阶段，但年内整体仍维持上行趋势。</a:t>
            </a:r>
            <a:endParaRPr lang="en-US" altLang="zh-TW" sz="800" dirty="0">
              <a:latin typeface="Arial" panose="020B0604020202020204" pitchFamily="34" charset="0"/>
              <a:ea typeface="KaiTi" panose="02010609060101010101" pitchFamily="49" charset="-122"/>
              <a:cs typeface="Arial" panose="020B0604020202020204" pitchFamily="34" charset="0"/>
            </a:endParaRPr>
          </a:p>
          <a:p>
            <a:pPr marL="179705" indent="-179705" algn="just" latinLnBrk="1">
              <a:lnSpc>
                <a:spcPct val="100000"/>
              </a:lnSpc>
              <a:spcBef>
                <a:spcPts val="0"/>
              </a:spcBef>
              <a:spcAft>
                <a:spcPts val="600"/>
              </a:spcAft>
              <a:buClr>
                <a:schemeClr val="accent1"/>
              </a:buClr>
            </a:pPr>
            <a:r>
              <a:rPr lang="zh-TW" altLang="en-US" sz="800" dirty="0">
                <a:latin typeface="Arial" panose="020B0604020202020204" pitchFamily="34" charset="0"/>
                <a:ea typeface="KaiTi" panose="02010609060101010101" pitchFamily="49" charset="-122"/>
                <a:cs typeface="Arial" panose="020B0604020202020204" pitchFamily="34" charset="0"/>
              </a:rPr>
              <a:t>内地市场政策面以宏观数据和两会后政策预期消化为主。</a:t>
            </a:r>
            <a:r>
              <a:rPr lang="en-US" altLang="zh-TW" sz="800" dirty="0">
                <a:latin typeface="Arial" panose="020B0604020202020204" pitchFamily="34" charset="0"/>
                <a:ea typeface="KaiTi" panose="02010609060101010101" pitchFamily="49" charset="-122"/>
                <a:cs typeface="Arial" panose="020B0604020202020204" pitchFamily="34" charset="0"/>
              </a:rPr>
              <a:t>2</a:t>
            </a:r>
            <a:r>
              <a:rPr lang="zh-TW" altLang="en-US" sz="800" dirty="0">
                <a:latin typeface="Arial" panose="020B0604020202020204" pitchFamily="34" charset="0"/>
                <a:ea typeface="KaiTi" panose="02010609060101010101" pitchFamily="49" charset="-122"/>
                <a:cs typeface="Arial" panose="020B0604020202020204" pitchFamily="34" charset="0"/>
              </a:rPr>
              <a:t>月</a:t>
            </a:r>
            <a:r>
              <a:rPr lang="en-US" altLang="zh-TW" sz="800" dirty="0">
                <a:latin typeface="Arial" panose="020B0604020202020204" pitchFamily="34" charset="0"/>
                <a:ea typeface="KaiTi" panose="02010609060101010101" pitchFamily="49" charset="-122"/>
                <a:cs typeface="Arial" panose="020B0604020202020204" pitchFamily="34" charset="0"/>
              </a:rPr>
              <a:t>CPI</a:t>
            </a:r>
            <a:r>
              <a:rPr lang="zh-TW" altLang="en-US" sz="800" dirty="0">
                <a:latin typeface="Arial" panose="020B0604020202020204" pitchFamily="34" charset="0"/>
                <a:ea typeface="KaiTi" panose="02010609060101010101" pitchFamily="49" charset="-122"/>
                <a:cs typeface="Arial" panose="020B0604020202020204" pitchFamily="34" charset="0"/>
              </a:rPr>
              <a:t>同比回升至约</a:t>
            </a:r>
            <a:r>
              <a:rPr lang="en-US" altLang="zh-TW" sz="800" dirty="0">
                <a:latin typeface="Arial" panose="020B0604020202020204" pitchFamily="34" charset="0"/>
                <a:ea typeface="KaiTi" panose="02010609060101010101" pitchFamily="49" charset="-122"/>
                <a:cs typeface="Arial" panose="020B0604020202020204" pitchFamily="34" charset="0"/>
              </a:rPr>
              <a:t>1.3%</a:t>
            </a:r>
            <a:r>
              <a:rPr lang="zh-TW" altLang="en-US" sz="800" dirty="0">
                <a:latin typeface="Arial" panose="020B0604020202020204" pitchFamily="34" charset="0"/>
                <a:ea typeface="KaiTi" panose="02010609060101010101" pitchFamily="49" charset="-122"/>
                <a:cs typeface="Arial" panose="020B0604020202020204" pitchFamily="34" charset="0"/>
              </a:rPr>
              <a:t>，</a:t>
            </a:r>
            <a:r>
              <a:rPr lang="en-US" altLang="zh-TW" sz="800" dirty="0">
                <a:latin typeface="Arial" panose="020B0604020202020204" pitchFamily="34" charset="0"/>
                <a:ea typeface="KaiTi" panose="02010609060101010101" pitchFamily="49" charset="-122"/>
                <a:cs typeface="Arial" panose="020B0604020202020204" pitchFamily="34" charset="0"/>
              </a:rPr>
              <a:t>PPI</a:t>
            </a:r>
            <a:r>
              <a:rPr lang="zh-TW" altLang="en-US" sz="800" dirty="0">
                <a:latin typeface="Arial" panose="020B0604020202020204" pitchFamily="34" charset="0"/>
                <a:ea typeface="KaiTi" panose="02010609060101010101" pitchFamily="49" charset="-122"/>
                <a:cs typeface="Arial" panose="020B0604020202020204" pitchFamily="34" charset="0"/>
              </a:rPr>
              <a:t>降幅收窄至约</a:t>
            </a:r>
            <a:r>
              <a:rPr lang="en-US" altLang="zh-TW" sz="800" dirty="0">
                <a:latin typeface="Arial" panose="020B0604020202020204" pitchFamily="34" charset="0"/>
                <a:ea typeface="KaiTi" panose="02010609060101010101" pitchFamily="49" charset="-122"/>
                <a:cs typeface="Arial" panose="020B0604020202020204" pitchFamily="34" charset="0"/>
              </a:rPr>
              <a:t>-0.9%</a:t>
            </a:r>
            <a:r>
              <a:rPr lang="zh-TW" altLang="en-US" sz="800" dirty="0">
                <a:latin typeface="Arial" panose="020B0604020202020204" pitchFamily="34" charset="0"/>
                <a:ea typeface="KaiTi" panose="02010609060101010101" pitchFamily="49" charset="-122"/>
                <a:cs typeface="Arial" panose="020B0604020202020204" pitchFamily="34" charset="0"/>
              </a:rPr>
              <a:t>，通胀边际改善；</a:t>
            </a:r>
            <a:r>
              <a:rPr lang="en-US" altLang="zh-TW" sz="800" dirty="0">
                <a:latin typeface="Arial" panose="020B0604020202020204" pitchFamily="34" charset="0"/>
                <a:ea typeface="KaiTi" panose="02010609060101010101" pitchFamily="49" charset="-122"/>
                <a:cs typeface="Arial" panose="020B0604020202020204" pitchFamily="34" charset="0"/>
              </a:rPr>
              <a:t>1–2</a:t>
            </a:r>
            <a:r>
              <a:rPr lang="zh-TW" altLang="en-US" sz="800" dirty="0">
                <a:latin typeface="Arial" panose="020B0604020202020204" pitchFamily="34" charset="0"/>
                <a:ea typeface="KaiTi" panose="02010609060101010101" pitchFamily="49" charset="-122"/>
                <a:cs typeface="Arial" panose="020B0604020202020204" pitchFamily="34" charset="0"/>
              </a:rPr>
              <a:t>月出口同比增逾</a:t>
            </a:r>
            <a:r>
              <a:rPr lang="en-US" altLang="zh-TW" sz="800" dirty="0">
                <a:latin typeface="Arial" panose="020B0604020202020204" pitchFamily="34" charset="0"/>
                <a:ea typeface="KaiTi" panose="02010609060101010101" pitchFamily="49" charset="-122"/>
                <a:cs typeface="Arial" panose="020B0604020202020204" pitchFamily="34" charset="0"/>
              </a:rPr>
              <a:t>20%</a:t>
            </a:r>
            <a:r>
              <a:rPr lang="zh-TW" altLang="en-US" sz="800" dirty="0">
                <a:latin typeface="Arial" panose="020B0604020202020204" pitchFamily="34" charset="0"/>
                <a:ea typeface="KaiTi" panose="02010609060101010101" pitchFamily="49" charset="-122"/>
                <a:cs typeface="Arial" panose="020B0604020202020204" pitchFamily="34" charset="0"/>
              </a:rPr>
              <a:t>，外需超预期，社融增速边际回落，信贷节奏平稳。市场关注经济修复成色及后续稳增长力度，两会强调稳增长与产业升级（如</a:t>
            </a:r>
            <a:r>
              <a:rPr lang="en-US" altLang="zh-TW" sz="800" dirty="0">
                <a:latin typeface="Arial" panose="020B0604020202020204" pitchFamily="34" charset="0"/>
                <a:ea typeface="KaiTi" panose="02010609060101010101" pitchFamily="49" charset="-122"/>
                <a:cs typeface="Arial" panose="020B0604020202020204" pitchFamily="34" charset="0"/>
              </a:rPr>
              <a:t>AI</a:t>
            </a:r>
            <a:r>
              <a:rPr lang="zh-TW" altLang="en-US" sz="800" dirty="0">
                <a:latin typeface="Arial" panose="020B0604020202020204" pitchFamily="34" charset="0"/>
                <a:ea typeface="KaiTi" panose="02010609060101010101" pitchFamily="49" charset="-122"/>
                <a:cs typeface="Arial" panose="020B0604020202020204" pitchFamily="34" charset="0"/>
              </a:rPr>
              <a:t>、先进制造）。整体政策延续“稳中偏积极”，短期缺乏超预期政策，市场以数据验证为主。</a:t>
            </a:r>
            <a:endParaRPr lang="en-US" altLang="zh-TW" sz="800" dirty="0">
              <a:latin typeface="Arial" panose="020B0604020202020204" pitchFamily="34" charset="0"/>
              <a:ea typeface="KaiTi" panose="02010609060101010101" pitchFamily="49" charset="-122"/>
              <a:cs typeface="Arial" panose="020B0604020202020204" pitchFamily="34" charset="0"/>
            </a:endParaRPr>
          </a:p>
          <a:p>
            <a:pPr marL="0" indent="0" algn="just" latinLnBrk="1">
              <a:lnSpc>
                <a:spcPct val="100000"/>
              </a:lnSpc>
              <a:spcBef>
                <a:spcPts val="0"/>
              </a:spcBef>
              <a:spcAft>
                <a:spcPts val="600"/>
              </a:spcAft>
              <a:buClr>
                <a:schemeClr val="accent1"/>
              </a:buClr>
              <a:buNone/>
            </a:pPr>
            <a:r>
              <a:rPr lang="zh-CN" altLang="en-US" sz="800" b="1" dirty="0">
                <a:latin typeface="Arial" panose="020B0604020202020204" pitchFamily="34" charset="0"/>
                <a:ea typeface="KaiTi" panose="02010609060101010101" pitchFamily="49" charset="-122"/>
                <a:cs typeface="Arial" panose="020B0604020202020204" pitchFamily="34" charset="0"/>
                <a:sym typeface="+mn-lt"/>
              </a:rPr>
              <a:t>香港股市</a:t>
            </a:r>
            <a:endParaRPr lang="en-US" altLang="zh-CN" sz="800" b="1" dirty="0">
              <a:latin typeface="Arial" panose="020B0604020202020204" pitchFamily="34" charset="0"/>
              <a:ea typeface="KaiTi" panose="02010609060101010101" pitchFamily="49" charset="-122"/>
              <a:cs typeface="Arial" panose="020B0604020202020204" pitchFamily="34" charset="0"/>
              <a:sym typeface="+mn-lt"/>
            </a:endParaRPr>
          </a:p>
          <a:p>
            <a:pPr marL="179705" indent="-179705" algn="just" latinLnBrk="1">
              <a:lnSpc>
                <a:spcPct val="100000"/>
              </a:lnSpc>
              <a:spcBef>
                <a:spcPts val="0"/>
              </a:spcBef>
              <a:spcAft>
                <a:spcPts val="600"/>
              </a:spcAft>
              <a:buClr>
                <a:schemeClr val="accent1"/>
              </a:buClr>
            </a:pPr>
            <a:r>
              <a:rPr lang="zh-TW" altLang="en-US" sz="800" dirty="0">
                <a:latin typeface="Arial" panose="020B0604020202020204" pitchFamily="34" charset="0"/>
                <a:ea typeface="KaiTi" panose="02010609060101010101" pitchFamily="49" charset="-122"/>
                <a:cs typeface="Arial" panose="020B0604020202020204" pitchFamily="34" charset="0"/>
              </a:rPr>
              <a:t>本周港股市场同样呈现震荡回调态势，主要指数普遍下跌，市场情绪趋于谨慎。恒生指数周跌</a:t>
            </a:r>
            <a:r>
              <a:rPr lang="en-US" altLang="zh-TW" sz="800" dirty="0">
                <a:latin typeface="Arial" panose="020B0604020202020204" pitchFamily="34" charset="0"/>
                <a:ea typeface="KaiTi" panose="02010609060101010101" pitchFamily="49" charset="-122"/>
                <a:cs typeface="Arial" panose="020B0604020202020204" pitchFamily="34" charset="0"/>
              </a:rPr>
              <a:t>0.74%</a:t>
            </a:r>
            <a:r>
              <a:rPr lang="zh-TW" altLang="en-US" sz="800" dirty="0">
                <a:latin typeface="Arial" panose="020B0604020202020204" pitchFamily="34" charset="0"/>
                <a:ea typeface="KaiTi" panose="02010609060101010101" pitchFamily="49" charset="-122"/>
                <a:cs typeface="Arial" panose="020B0604020202020204" pitchFamily="34" charset="0"/>
              </a:rPr>
              <a:t>，恒生中国企业指数周跌</a:t>
            </a:r>
            <a:r>
              <a:rPr lang="en-US" altLang="zh-TW" sz="800" dirty="0">
                <a:latin typeface="Arial" panose="020B0604020202020204" pitchFamily="34" charset="0"/>
                <a:ea typeface="KaiTi" panose="02010609060101010101" pitchFamily="49" charset="-122"/>
                <a:cs typeface="Arial" panose="020B0604020202020204" pitchFamily="34" charset="0"/>
              </a:rPr>
              <a:t>1.12%</a:t>
            </a:r>
            <a:r>
              <a:rPr lang="zh-TW" altLang="en-US" sz="800" dirty="0">
                <a:latin typeface="Arial" panose="020B0604020202020204" pitchFamily="34" charset="0"/>
                <a:ea typeface="KaiTi" panose="02010609060101010101" pitchFamily="49" charset="-122"/>
                <a:cs typeface="Arial" panose="020B0604020202020204" pitchFamily="34" charset="0"/>
              </a:rPr>
              <a:t>，指数表现相对承压。大市成交活跃度较前期略有降温，权重板块表现相对稳健。从结构上看，短期市场维持震荡调整，但年初至今主要指数仍录得约</a:t>
            </a:r>
            <a:r>
              <a:rPr lang="en-US" altLang="zh-TW" sz="800" dirty="0">
                <a:latin typeface="Arial" panose="020B0604020202020204" pitchFamily="34" charset="0"/>
                <a:ea typeface="KaiTi" panose="02010609060101010101" pitchFamily="49" charset="-122"/>
                <a:cs typeface="Arial" panose="020B0604020202020204" pitchFamily="34" charset="0"/>
              </a:rPr>
              <a:t>17.62%</a:t>
            </a:r>
            <a:r>
              <a:rPr lang="zh-TW" altLang="en-US" sz="800" dirty="0">
                <a:latin typeface="Arial" panose="020B0604020202020204" pitchFamily="34" charset="0"/>
                <a:ea typeface="KaiTi" panose="02010609060101010101" pitchFamily="49" charset="-122"/>
                <a:cs typeface="Arial" panose="020B0604020202020204" pitchFamily="34" charset="0"/>
              </a:rPr>
              <a:t>至</a:t>
            </a:r>
            <a:r>
              <a:rPr lang="en-US" altLang="zh-TW" sz="800" dirty="0">
                <a:latin typeface="Arial" panose="020B0604020202020204" pitchFamily="34" charset="0"/>
                <a:ea typeface="KaiTi" panose="02010609060101010101" pitchFamily="49" charset="-122"/>
                <a:cs typeface="Arial" panose="020B0604020202020204" pitchFamily="34" charset="0"/>
              </a:rPr>
              <a:t>26.01%</a:t>
            </a:r>
            <a:r>
              <a:rPr lang="zh-TW" altLang="en-US" sz="800" dirty="0">
                <a:latin typeface="Arial" panose="020B0604020202020204" pitchFamily="34" charset="0"/>
                <a:ea typeface="KaiTi" panose="02010609060101010101" pitchFamily="49" charset="-122"/>
                <a:cs typeface="Arial" panose="020B0604020202020204" pitchFamily="34" charset="0"/>
              </a:rPr>
              <a:t>的涨幅，整体表现仍具一定韧性。</a:t>
            </a:r>
            <a:endParaRPr lang="en-US" altLang="zh-TW" sz="800" dirty="0">
              <a:latin typeface="Arial" panose="020B0604020202020204" pitchFamily="34" charset="0"/>
              <a:ea typeface="KaiTi" panose="02010609060101010101" pitchFamily="49" charset="-122"/>
              <a:cs typeface="Arial" panose="020B0604020202020204" pitchFamily="34" charset="0"/>
            </a:endParaRPr>
          </a:p>
          <a:p>
            <a:pPr marL="180000" indent="-180000" algn="just" latinLnBrk="1">
              <a:lnSpc>
                <a:spcPct val="100000"/>
              </a:lnSpc>
              <a:spcBef>
                <a:spcPts val="0"/>
              </a:spcBef>
              <a:spcAft>
                <a:spcPts val="600"/>
              </a:spcAft>
              <a:buClr>
                <a:schemeClr val="accent1"/>
              </a:buClr>
            </a:pPr>
            <a:r>
              <a:rPr lang="zh-TW" altLang="en-US" sz="800" dirty="0">
                <a:latin typeface="KaiTi" panose="02010609060101010101" pitchFamily="49" charset="-122"/>
                <a:ea typeface="KaiTi" panose="02010609060101010101" pitchFamily="49" charset="-122"/>
                <a:cs typeface="Arial" panose="020B0604020202020204" pitchFamily="34" charset="0"/>
              </a:rPr>
              <a:t>全国两会上周在北京闭幕。第十四届全国人大四次会议审议通过</a:t>
            </a:r>
            <a:r>
              <a:rPr lang="en-US" altLang="zh-TW" sz="800" dirty="0">
                <a:latin typeface="KaiTi" panose="02010609060101010101" pitchFamily="49" charset="-122"/>
                <a:ea typeface="KaiTi" panose="02010609060101010101" pitchFamily="49" charset="-122"/>
                <a:cs typeface="Arial" panose="020B0604020202020204" pitchFamily="34" charset="0"/>
              </a:rPr>
              <a:t>《</a:t>
            </a:r>
            <a:r>
              <a:rPr lang="zh-TW" altLang="en-US" sz="800" dirty="0">
                <a:latin typeface="KaiTi" panose="02010609060101010101" pitchFamily="49" charset="-122"/>
                <a:ea typeface="KaiTi" panose="02010609060101010101" pitchFamily="49" charset="-122"/>
                <a:cs typeface="Arial" panose="020B0604020202020204" pitchFamily="34" charset="0"/>
              </a:rPr>
              <a:t>十五五规划纲要</a:t>
            </a:r>
            <a:r>
              <a:rPr lang="en-US" altLang="zh-TW" sz="800" dirty="0">
                <a:latin typeface="KaiTi" panose="02010609060101010101" pitchFamily="49" charset="-122"/>
                <a:ea typeface="KaiTi" panose="02010609060101010101" pitchFamily="49" charset="-122"/>
                <a:cs typeface="Arial" panose="020B0604020202020204" pitchFamily="34" charset="0"/>
              </a:rPr>
              <a:t>》</a:t>
            </a:r>
            <a:r>
              <a:rPr lang="zh-TW" altLang="en-US" sz="800" dirty="0">
                <a:latin typeface="KaiTi" panose="02010609060101010101" pitchFamily="49" charset="-122"/>
                <a:ea typeface="KaiTi" panose="02010609060101010101" pitchFamily="49" charset="-122"/>
                <a:cs typeface="Arial" panose="020B0604020202020204" pitchFamily="34" charset="0"/>
              </a:rPr>
              <a:t>，为未来五年经济社会发展制定总体蓝图，重点围绕现代化产业体系建设及科技自立自强等方向。同时，纲要亦提出支持香港巩固和提升竞争优势，更好融入和服务国家发展大局，强化其在国家发展中的功能定位。</a:t>
            </a:r>
            <a:endParaRPr lang="en-US" altLang="zh-TW" sz="800" dirty="0">
              <a:latin typeface="KaiTi" panose="02010609060101010101" pitchFamily="49" charset="-122"/>
              <a:ea typeface="KaiTi" panose="02010609060101010101" pitchFamily="49" charset="-122"/>
              <a:cs typeface="Arial" panose="020B0604020202020204" pitchFamily="34" charset="0"/>
            </a:endParaRPr>
          </a:p>
          <a:p>
            <a:pPr marL="0" indent="0" algn="just" latinLnBrk="1">
              <a:lnSpc>
                <a:spcPct val="100000"/>
              </a:lnSpc>
              <a:spcBef>
                <a:spcPts val="0"/>
              </a:spcBef>
              <a:spcAft>
                <a:spcPts val="600"/>
              </a:spcAft>
              <a:buClr>
                <a:schemeClr val="accent1"/>
              </a:buClr>
              <a:buNone/>
            </a:pPr>
            <a:r>
              <a:rPr lang="zh-CN" altLang="en-US" sz="800" b="1" dirty="0">
                <a:latin typeface="Arial" panose="020B0604020202020204" pitchFamily="34" charset="0"/>
                <a:ea typeface="KaiTi" panose="02010609060101010101" pitchFamily="49" charset="-122"/>
                <a:cs typeface="Arial" panose="020B0604020202020204" pitchFamily="34" charset="0"/>
              </a:rPr>
              <a:t>美国股市</a:t>
            </a:r>
          </a:p>
          <a:p>
            <a:pPr marL="179705" indent="-179705" algn="just" latinLnBrk="1">
              <a:lnSpc>
                <a:spcPct val="100000"/>
              </a:lnSpc>
              <a:spcBef>
                <a:spcPts val="0"/>
              </a:spcBef>
              <a:spcAft>
                <a:spcPts val="600"/>
              </a:spcAft>
              <a:buClr>
                <a:schemeClr val="accent1"/>
              </a:buClr>
            </a:pPr>
            <a:r>
              <a:rPr lang="zh-CN" altLang="en-US" sz="800" dirty="0">
                <a:latin typeface="Arial" panose="020B0604020202020204" pitchFamily="34" charset="0"/>
                <a:ea typeface="KaiTi" panose="02010609060101010101" pitchFamily="49" charset="-122"/>
                <a:cs typeface="Arial" panose="020B0604020202020204" pitchFamily="34" charset="0"/>
              </a:rPr>
              <a:t>本周美股三大指数延续回调走势，整体表现偏弱。道琼斯工业平均指数周跌</a:t>
            </a:r>
            <a:r>
              <a:rPr lang="en-US" altLang="zh-CN" sz="800" dirty="0">
                <a:latin typeface="Arial" panose="020B0604020202020204" pitchFamily="34" charset="0"/>
                <a:ea typeface="KaiTi" panose="02010609060101010101" pitchFamily="49" charset="-122"/>
                <a:cs typeface="Arial" panose="020B0604020202020204" pitchFamily="34" charset="0"/>
              </a:rPr>
              <a:t>2.11%</a:t>
            </a:r>
            <a:r>
              <a:rPr lang="zh-CN" altLang="en-US" sz="800" dirty="0">
                <a:latin typeface="Arial" panose="020B0604020202020204" pitchFamily="34" charset="0"/>
                <a:ea typeface="KaiTi" panose="02010609060101010101" pitchFamily="49" charset="-122"/>
                <a:cs typeface="Arial" panose="020B0604020202020204" pitchFamily="34" charset="0"/>
              </a:rPr>
              <a:t>，标普</a:t>
            </a:r>
            <a:r>
              <a:rPr lang="en-US" altLang="zh-CN" sz="800" dirty="0">
                <a:latin typeface="Arial" panose="020B0604020202020204" pitchFamily="34" charset="0"/>
                <a:ea typeface="KaiTi" panose="02010609060101010101" pitchFamily="49" charset="-122"/>
                <a:cs typeface="Arial" panose="020B0604020202020204" pitchFamily="34" charset="0"/>
              </a:rPr>
              <a:t>500</a:t>
            </a:r>
            <a:r>
              <a:rPr lang="zh-CN" altLang="en-US" sz="800" dirty="0">
                <a:latin typeface="Arial" panose="020B0604020202020204" pitchFamily="34" charset="0"/>
                <a:ea typeface="KaiTi" panose="02010609060101010101" pitchFamily="49" charset="-122"/>
                <a:cs typeface="Arial" panose="020B0604020202020204" pitchFamily="34" charset="0"/>
              </a:rPr>
              <a:t>指数周跌</a:t>
            </a:r>
            <a:r>
              <a:rPr lang="en-US" altLang="zh-CN" sz="800" dirty="0">
                <a:latin typeface="Arial" panose="020B0604020202020204" pitchFamily="34" charset="0"/>
                <a:ea typeface="KaiTi" panose="02010609060101010101" pitchFamily="49" charset="-122"/>
                <a:cs typeface="Arial" panose="020B0604020202020204" pitchFamily="34" charset="0"/>
              </a:rPr>
              <a:t>1.90%</a:t>
            </a:r>
            <a:r>
              <a:rPr lang="zh-CN" altLang="en-US" sz="800" dirty="0">
                <a:latin typeface="Arial" panose="020B0604020202020204" pitchFamily="34" charset="0"/>
                <a:ea typeface="KaiTi" panose="02010609060101010101" pitchFamily="49" charset="-122"/>
                <a:cs typeface="Arial" panose="020B0604020202020204" pitchFamily="34" charset="0"/>
              </a:rPr>
              <a:t>，纳斯达克综合指数周跌</a:t>
            </a:r>
            <a:r>
              <a:rPr lang="en-US" altLang="zh-CN" sz="800" dirty="0">
                <a:latin typeface="Arial" panose="020B0604020202020204" pitchFamily="34" charset="0"/>
                <a:ea typeface="KaiTi" panose="02010609060101010101" pitchFamily="49" charset="-122"/>
                <a:cs typeface="Arial" panose="020B0604020202020204" pitchFamily="34" charset="0"/>
              </a:rPr>
              <a:t>2.07%</a:t>
            </a:r>
            <a:r>
              <a:rPr lang="zh-CN" altLang="en-US" sz="800" dirty="0">
                <a:latin typeface="Arial" panose="020B0604020202020204" pitchFamily="34" charset="0"/>
                <a:ea typeface="KaiTi" panose="02010609060101010101" pitchFamily="49" charset="-122"/>
                <a:cs typeface="Arial" panose="020B0604020202020204" pitchFamily="34" charset="0"/>
              </a:rPr>
              <a:t>，其中科技板块调整幅度有所加大。三大指数年初至今仍录得约</a:t>
            </a:r>
            <a:r>
              <a:rPr lang="en-US" altLang="zh-CN" sz="800" dirty="0">
                <a:latin typeface="Arial" panose="020B0604020202020204" pitchFamily="34" charset="0"/>
                <a:ea typeface="KaiTi" panose="02010609060101010101" pitchFamily="49" charset="-122"/>
                <a:cs typeface="Arial" panose="020B0604020202020204" pitchFamily="34" charset="0"/>
              </a:rPr>
              <a:t>7.13%</a:t>
            </a:r>
            <a:r>
              <a:rPr lang="zh-CN" altLang="en-US" sz="800" dirty="0">
                <a:latin typeface="Arial" panose="020B0604020202020204" pitchFamily="34" charset="0"/>
                <a:ea typeface="KaiTi" panose="02010609060101010101" pitchFamily="49" charset="-122"/>
                <a:cs typeface="Arial" panose="020B0604020202020204" pitchFamily="34" charset="0"/>
              </a:rPr>
              <a:t>至</a:t>
            </a:r>
            <a:r>
              <a:rPr lang="en-US" altLang="zh-CN" sz="800" dirty="0">
                <a:latin typeface="Arial" panose="020B0604020202020204" pitchFamily="34" charset="0"/>
                <a:ea typeface="KaiTi" panose="02010609060101010101" pitchFamily="49" charset="-122"/>
                <a:cs typeface="Arial" panose="020B0604020202020204" pitchFamily="34" charset="0"/>
              </a:rPr>
              <a:t>12.10%</a:t>
            </a:r>
            <a:r>
              <a:rPr lang="zh-CN" altLang="en-US" sz="800" dirty="0">
                <a:latin typeface="Arial" panose="020B0604020202020204" pitchFamily="34" charset="0"/>
                <a:ea typeface="KaiTi" panose="02010609060101010101" pitchFamily="49" charset="-122"/>
                <a:cs typeface="Arial" panose="020B0604020202020204" pitchFamily="34" charset="0"/>
              </a:rPr>
              <a:t>的涨幅，市场风险偏好有所回落，波动性维持相对高位。</a:t>
            </a:r>
            <a:endParaRPr lang="en-US" altLang="zh-CN" sz="800" dirty="0">
              <a:latin typeface="Arial" panose="020B0604020202020204" pitchFamily="34" charset="0"/>
              <a:ea typeface="KaiTi" panose="02010609060101010101" pitchFamily="49" charset="-122"/>
              <a:cs typeface="Arial" panose="020B0604020202020204" pitchFamily="34" charset="0"/>
            </a:endParaRPr>
          </a:p>
          <a:p>
            <a:pPr marL="179705" indent="-179705" algn="just" latinLnBrk="1">
              <a:lnSpc>
                <a:spcPct val="100000"/>
              </a:lnSpc>
              <a:spcBef>
                <a:spcPts val="0"/>
              </a:spcBef>
              <a:spcAft>
                <a:spcPts val="600"/>
              </a:spcAft>
              <a:buClr>
                <a:schemeClr val="accent1"/>
              </a:buClr>
            </a:pPr>
            <a:r>
              <a:rPr lang="zh-CN" altLang="en-US" sz="800" dirty="0">
                <a:latin typeface="Arial" panose="020B0604020202020204" pitchFamily="34" charset="0"/>
                <a:ea typeface="KaiTi" panose="02010609060101010101" pitchFamily="49" charset="-122"/>
                <a:cs typeface="Arial" panose="020B0604020202020204" pitchFamily="34" charset="0"/>
              </a:rPr>
              <a:t>美联储议息会议维持政策利率不变，将联邦基金利率目标区间维持在</a:t>
            </a:r>
            <a:r>
              <a:rPr lang="en-US" altLang="zh-CN" sz="800" dirty="0">
                <a:latin typeface="Arial" panose="020B0604020202020204" pitchFamily="34" charset="0"/>
                <a:ea typeface="KaiTi" panose="02010609060101010101" pitchFamily="49" charset="-122"/>
                <a:cs typeface="Arial" panose="020B0604020202020204" pitchFamily="34" charset="0"/>
              </a:rPr>
              <a:t>3.50%–3.75%</a:t>
            </a:r>
            <a:r>
              <a:rPr lang="zh-CN" altLang="en-US" sz="800" dirty="0">
                <a:latin typeface="Arial" panose="020B0604020202020204" pitchFamily="34" charset="0"/>
                <a:ea typeface="KaiTi" panose="02010609060101010101" pitchFamily="49" charset="-122"/>
                <a:cs typeface="Arial" panose="020B0604020202020204" pitchFamily="34" charset="0"/>
              </a:rPr>
              <a:t>，符合市场预期。会议声明指出，中东局势发展为美国经济前景带来不确定性，同时强调未来利率路径将取决于经济数据、前景变化及风险平衡。</a:t>
            </a:r>
          </a:p>
        </p:txBody>
      </p:sp>
      <p:sp>
        <p:nvSpPr>
          <p:cNvPr id="13" name="Text Placeholder FN">
            <a:extLst>
              <a:ext uri="{FF2B5EF4-FFF2-40B4-BE49-F238E27FC236}">
                <a16:creationId xmlns:a16="http://schemas.microsoft.com/office/drawing/2014/main" id="{04051884-0F47-C1BB-A3CC-0DBD2A508472}"/>
              </a:ext>
            </a:extLst>
          </p:cNvPr>
          <p:cNvSpPr txBox="1"/>
          <p:nvPr/>
        </p:nvSpPr>
        <p:spPr>
          <a:xfrm>
            <a:off x="3039110" y="6333490"/>
            <a:ext cx="6324600" cy="245745"/>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700" dirty="0">
                <a:solidFill>
                  <a:schemeClr val="tx1"/>
                </a:solidFill>
                <a:cs typeface="+mn-ea"/>
                <a:sym typeface="+mn-lt"/>
              </a:rPr>
              <a:t>资料来源：</a:t>
            </a:r>
            <a:r>
              <a:rPr lang="zh-CN" altLang="en-US" sz="700" b="0" dirty="0">
                <a:solidFill>
                  <a:schemeClr val="tx1"/>
                </a:solidFill>
                <a:cs typeface="+mn-ea"/>
                <a:sym typeface="+mn-lt"/>
              </a:rPr>
              <a:t>彭博资讯、路透社（截至</a:t>
            </a:r>
            <a:r>
              <a:rPr lang="en-US" altLang="zh-CN" sz="700" b="0" dirty="0">
                <a:solidFill>
                  <a:schemeClr val="tx1"/>
                </a:solidFill>
                <a:cs typeface="+mn-ea"/>
                <a:sym typeface="+mn-lt"/>
              </a:rPr>
              <a:t>2026</a:t>
            </a:r>
            <a:r>
              <a:rPr lang="zh-CN" altLang="en-US" sz="700" b="0" dirty="0">
                <a:solidFill>
                  <a:schemeClr val="tx1"/>
                </a:solidFill>
                <a:cs typeface="+mn-ea"/>
                <a:sym typeface="+mn-lt"/>
              </a:rPr>
              <a:t>年</a:t>
            </a:r>
            <a:r>
              <a:rPr lang="en-US" altLang="zh-CN" sz="700" b="0" dirty="0">
                <a:solidFill>
                  <a:schemeClr val="tx1"/>
                </a:solidFill>
                <a:cs typeface="+mn-ea"/>
                <a:sym typeface="+mn-lt"/>
              </a:rPr>
              <a:t>3</a:t>
            </a:r>
            <a:r>
              <a:rPr lang="zh-CN" altLang="en-US" sz="700" b="0" dirty="0">
                <a:solidFill>
                  <a:schemeClr val="tx1"/>
                </a:solidFill>
                <a:cs typeface="+mn-ea"/>
                <a:sym typeface="+mn-lt"/>
              </a:rPr>
              <a:t>月</a:t>
            </a:r>
            <a:r>
              <a:rPr lang="en-US" altLang="zh-CN" sz="700" b="0" dirty="0">
                <a:solidFill>
                  <a:schemeClr val="tx1"/>
                </a:solidFill>
                <a:cs typeface="+mn-ea"/>
                <a:sym typeface="+mn-lt"/>
              </a:rPr>
              <a:t>20</a:t>
            </a:r>
            <a:r>
              <a:rPr lang="zh-CN" altLang="en-US" sz="700" b="0" dirty="0">
                <a:solidFill>
                  <a:schemeClr val="tx1"/>
                </a:solidFill>
                <a:cs typeface="+mn-ea"/>
                <a:sym typeface="+mn-lt"/>
              </a:rPr>
              <a:t>日）</a:t>
            </a:r>
            <a:endParaRPr lang="en-US" altLang="zh-CN" sz="700" b="0" dirty="0">
              <a:solidFill>
                <a:schemeClr val="tx1"/>
              </a:solidFill>
              <a:cs typeface="+mn-ea"/>
              <a:sym typeface="+mn-lt"/>
            </a:endParaRPr>
          </a:p>
        </p:txBody>
      </p:sp>
      <p:sp>
        <p:nvSpPr>
          <p:cNvPr id="8" name="灯片编号占位符 7">
            <a:extLst>
              <a:ext uri="{FF2B5EF4-FFF2-40B4-BE49-F238E27FC236}">
                <a16:creationId xmlns:a16="http://schemas.microsoft.com/office/drawing/2014/main" id="{289909DB-C34E-EB30-64B0-2EF830D0D797}"/>
              </a:ext>
            </a:extLst>
          </p:cNvPr>
          <p:cNvSpPr>
            <a:spLocks noGrp="1"/>
          </p:cNvSpPr>
          <p:nvPr>
            <p:ph type="sldNum" sz="quarter" idx="12"/>
          </p:nvPr>
        </p:nvSpPr>
        <p:spPr/>
        <p:txBody>
          <a:bodyPr/>
          <a:lstStyle/>
          <a:p>
            <a:fld id="{72E6F1C1-8568-433B-B05E-E21B84158B67}" type="slidenum">
              <a:rPr lang="en-US" smtClean="0"/>
              <a:t>4</a:t>
            </a:fld>
            <a:endParaRPr lang="en-US" dirty="0"/>
          </a:p>
        </p:txBody>
      </p:sp>
      <p:graphicFrame>
        <p:nvGraphicFramePr>
          <p:cNvPr id="19" name="表格 13">
            <a:extLst>
              <a:ext uri="{FF2B5EF4-FFF2-40B4-BE49-F238E27FC236}">
                <a16:creationId xmlns:a16="http://schemas.microsoft.com/office/drawing/2014/main" id="{93D9B797-715B-1F2A-F44D-E33B5A2CE4F5}"/>
              </a:ext>
            </a:extLst>
          </p:cNvPr>
          <p:cNvGraphicFramePr>
            <a:graphicFrameLocks noGrp="1"/>
          </p:cNvGraphicFramePr>
          <p:nvPr/>
        </p:nvGraphicFramePr>
        <p:xfrm>
          <a:off x="6330386" y="4023843"/>
          <a:ext cx="3170699" cy="1703996"/>
        </p:xfrm>
        <a:graphic>
          <a:graphicData uri="http://schemas.openxmlformats.org/drawingml/2006/table">
            <a:tbl>
              <a:tblPr/>
              <a:tblGrid>
                <a:gridCol w="459799">
                  <a:extLst>
                    <a:ext uri="{9D8B030D-6E8A-4147-A177-3AD203B41FA5}">
                      <a16:colId xmlns:a16="http://schemas.microsoft.com/office/drawing/2014/main" val="3006966888"/>
                    </a:ext>
                  </a:extLst>
                </a:gridCol>
                <a:gridCol w="459799">
                  <a:extLst>
                    <a:ext uri="{9D8B030D-6E8A-4147-A177-3AD203B41FA5}">
                      <a16:colId xmlns:a16="http://schemas.microsoft.com/office/drawing/2014/main" val="654430666"/>
                    </a:ext>
                  </a:extLst>
                </a:gridCol>
                <a:gridCol w="459799">
                  <a:extLst>
                    <a:ext uri="{9D8B030D-6E8A-4147-A177-3AD203B41FA5}">
                      <a16:colId xmlns:a16="http://schemas.microsoft.com/office/drawing/2014/main" val="1622848977"/>
                    </a:ext>
                  </a:extLst>
                </a:gridCol>
                <a:gridCol w="546012">
                  <a:extLst>
                    <a:ext uri="{9D8B030D-6E8A-4147-A177-3AD203B41FA5}">
                      <a16:colId xmlns:a16="http://schemas.microsoft.com/office/drawing/2014/main" val="956421061"/>
                    </a:ext>
                  </a:extLst>
                </a:gridCol>
                <a:gridCol w="622645">
                  <a:extLst>
                    <a:ext uri="{9D8B030D-6E8A-4147-A177-3AD203B41FA5}">
                      <a16:colId xmlns:a16="http://schemas.microsoft.com/office/drawing/2014/main" val="3286486074"/>
                    </a:ext>
                  </a:extLst>
                </a:gridCol>
                <a:gridCol w="622645">
                  <a:extLst>
                    <a:ext uri="{9D8B030D-6E8A-4147-A177-3AD203B41FA5}">
                      <a16:colId xmlns:a16="http://schemas.microsoft.com/office/drawing/2014/main" val="914874007"/>
                    </a:ext>
                  </a:extLst>
                </a:gridCol>
              </a:tblGrid>
              <a:tr h="189333">
                <a:tc rowSpan="2">
                  <a:txBody>
                    <a:bodyPr/>
                    <a:lstStyle/>
                    <a:p>
                      <a:pPr algn="ctr" rtl="0" fontAlgn="ctr">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指数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最新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gridSpan="4">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变动</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02778599"/>
                  </a:ext>
                </a:extLst>
              </a:tr>
              <a:tr h="357628">
                <a:tc vMerge="1">
                  <a:txBody>
                    <a:bodyPr/>
                    <a:lstStyle/>
                    <a:p>
                      <a:endParaRPr lang="en-US"/>
                    </a:p>
                  </a:txBody>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收市</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周度（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月度（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b">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a:t>
                      </a:r>
                      <a:r>
                        <a:rPr lang="en-US" altLang="zh-TW" sz="800" b="1" i="0" u="none" strike="noStrike" dirty="0">
                          <a:solidFill>
                            <a:srgbClr val="FFFFFF"/>
                          </a:solidFill>
                          <a:effectLst/>
                          <a:latin typeface="楷体" panose="02010609060101010101" pitchFamily="49" charset="-122"/>
                          <a:ea typeface="楷体" panose="02010609060101010101" pitchFamily="49" charset="-122"/>
                        </a:rPr>
                        <a:t>%</a:t>
                      </a:r>
                      <a:r>
                        <a:rPr lang="zh-TW" altLang="en-US" sz="800" b="1" i="0" u="none" strike="noStrike" dirty="0">
                          <a:solidFill>
                            <a:srgbClr val="FFFFFF"/>
                          </a:solidFill>
                          <a:effectLst/>
                          <a:latin typeface="楷体" panose="02010609060101010101" pitchFamily="49" charset="-122"/>
                          <a:ea typeface="楷体" panose="02010609060101010101" pitchFamily="49" charset="-122"/>
                        </a:rPr>
                        <a:t>）</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b">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年年初（数值）</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extLst>
                  <a:ext uri="{0D108BD9-81ED-4DB2-BD59-A6C34878D82A}">
                    <a16:rowId xmlns:a16="http://schemas.microsoft.com/office/drawing/2014/main" val="1041486586"/>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恒生</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25,277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-0.74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26.01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5,217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784028214"/>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恒生国企</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8,574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-1.12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17.62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1,284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945300343"/>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沪深</a:t>
                      </a:r>
                      <a:r>
                        <a:rPr lang="en-US" altLang="zh-TW" sz="800" b="0" i="0" u="none" strike="noStrike">
                          <a:solidFill>
                            <a:srgbClr val="000000"/>
                          </a:solidFill>
                          <a:effectLst/>
                          <a:latin typeface="楷体" panose="02010609060101010101" pitchFamily="49" charset="-122"/>
                          <a:ea typeface="楷体" panose="02010609060101010101" pitchFamily="49" charset="-122"/>
                        </a:rPr>
                        <a:t>300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4,567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16.06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632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477024004"/>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上证综合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3,957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-3.38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18.06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605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281808053"/>
                  </a:ext>
                </a:extLst>
              </a:tr>
              <a:tr h="231407">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深证综合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2,589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dirty="0">
                          <a:solidFill>
                            <a:srgbClr val="000000"/>
                          </a:solidFill>
                          <a:effectLst/>
                          <a:latin typeface="Arial" panose="020B0604020202020204" pitchFamily="34" charset="0"/>
                        </a:rPr>
                        <a:t>-4.16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dirty="0">
                          <a:solidFill>
                            <a:srgbClr val="000000"/>
                          </a:solidFill>
                          <a:effectLst/>
                          <a:latin typeface="Arial" panose="020B0604020202020204" pitchFamily="34" charset="0"/>
                        </a:rPr>
                        <a:t>-3.41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32.27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632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750925273"/>
                  </a:ext>
                </a:extLst>
              </a:tr>
            </a:tbl>
          </a:graphicData>
        </a:graphic>
      </p:graphicFrame>
      <p:graphicFrame>
        <p:nvGraphicFramePr>
          <p:cNvPr id="3" name="表格 3">
            <a:extLst>
              <a:ext uri="{FF2B5EF4-FFF2-40B4-BE49-F238E27FC236}">
                <a16:creationId xmlns:a16="http://schemas.microsoft.com/office/drawing/2014/main" id="{BE469AD8-C634-6DB7-5722-022CA336A4E6}"/>
              </a:ext>
            </a:extLst>
          </p:cNvPr>
          <p:cNvGraphicFramePr>
            <a:graphicFrameLocks noGrp="1"/>
          </p:cNvGraphicFramePr>
          <p:nvPr/>
        </p:nvGraphicFramePr>
        <p:xfrm>
          <a:off x="6330386" y="1358761"/>
          <a:ext cx="3279308" cy="1708837"/>
        </p:xfrm>
        <a:graphic>
          <a:graphicData uri="http://schemas.openxmlformats.org/drawingml/2006/table">
            <a:tbl>
              <a:tblPr/>
              <a:tblGrid>
                <a:gridCol w="475549">
                  <a:extLst>
                    <a:ext uri="{9D8B030D-6E8A-4147-A177-3AD203B41FA5}">
                      <a16:colId xmlns:a16="http://schemas.microsoft.com/office/drawing/2014/main" val="1619687374"/>
                    </a:ext>
                  </a:extLst>
                </a:gridCol>
                <a:gridCol w="475549">
                  <a:extLst>
                    <a:ext uri="{9D8B030D-6E8A-4147-A177-3AD203B41FA5}">
                      <a16:colId xmlns:a16="http://schemas.microsoft.com/office/drawing/2014/main" val="3810526449"/>
                    </a:ext>
                  </a:extLst>
                </a:gridCol>
                <a:gridCol w="475549">
                  <a:extLst>
                    <a:ext uri="{9D8B030D-6E8A-4147-A177-3AD203B41FA5}">
                      <a16:colId xmlns:a16="http://schemas.microsoft.com/office/drawing/2014/main" val="1306804192"/>
                    </a:ext>
                  </a:extLst>
                </a:gridCol>
                <a:gridCol w="564715">
                  <a:extLst>
                    <a:ext uri="{9D8B030D-6E8A-4147-A177-3AD203B41FA5}">
                      <a16:colId xmlns:a16="http://schemas.microsoft.com/office/drawing/2014/main" val="4200501483"/>
                    </a:ext>
                  </a:extLst>
                </a:gridCol>
                <a:gridCol w="643973">
                  <a:extLst>
                    <a:ext uri="{9D8B030D-6E8A-4147-A177-3AD203B41FA5}">
                      <a16:colId xmlns:a16="http://schemas.microsoft.com/office/drawing/2014/main" val="1083133133"/>
                    </a:ext>
                  </a:extLst>
                </a:gridCol>
                <a:gridCol w="643973">
                  <a:extLst>
                    <a:ext uri="{9D8B030D-6E8A-4147-A177-3AD203B41FA5}">
                      <a16:colId xmlns:a16="http://schemas.microsoft.com/office/drawing/2014/main" val="437423915"/>
                    </a:ext>
                  </a:extLst>
                </a:gridCol>
              </a:tblGrid>
              <a:tr h="217488">
                <a:tc rowSpan="2">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指数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最新</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gridSpan="4">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变动</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24185881"/>
                  </a:ext>
                </a:extLst>
              </a:tr>
              <a:tr h="352124">
                <a:tc vMerge="1">
                  <a:txBody>
                    <a:bodyPr/>
                    <a:lstStyle/>
                    <a:p>
                      <a:endParaRPr lang="en-US"/>
                    </a:p>
                  </a:txBody>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收市</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周度（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a:solidFill>
                            <a:srgbClr val="FFFFFF"/>
                          </a:solidFill>
                          <a:effectLst/>
                          <a:latin typeface="楷体" panose="02010609060101010101" pitchFamily="49" charset="-122"/>
                          <a:ea typeface="楷体" panose="02010609060101010101" pitchFamily="49" charset="-122"/>
                        </a:rPr>
                        <a:t>月度（</a:t>
                      </a:r>
                      <a:r>
                        <a:rPr lang="en-US" altLang="zh-TW" sz="800" b="1" i="0" u="none" strike="noStrike">
                          <a:solidFill>
                            <a:srgbClr val="FFFFFF"/>
                          </a:solidFill>
                          <a:effectLst/>
                          <a:latin typeface="楷体" panose="02010609060101010101" pitchFamily="49" charset="-122"/>
                          <a:ea typeface="楷体" panose="02010609060101010101" pitchFamily="49" charset="-122"/>
                        </a:rPr>
                        <a:t>%</a:t>
                      </a:r>
                      <a:r>
                        <a:rPr lang="zh-TW" altLang="en-US" sz="800" b="1" i="0" u="none" strike="noStrike">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a:t>
                      </a:r>
                      <a:r>
                        <a:rPr lang="en-US" altLang="zh-TW" sz="800" b="1" i="0" u="none" strike="noStrike" dirty="0">
                          <a:solidFill>
                            <a:srgbClr val="FFFFFF"/>
                          </a:solidFill>
                          <a:effectLst/>
                          <a:latin typeface="楷体" panose="02010609060101010101" pitchFamily="49" charset="-122"/>
                          <a:ea typeface="楷体" panose="02010609060101010101" pitchFamily="49" charset="-122"/>
                        </a:rPr>
                        <a:t>%</a:t>
                      </a:r>
                      <a:r>
                        <a:rPr lang="zh-TW" altLang="en-US" sz="800" b="1" i="0" u="none" strike="noStrike" dirty="0">
                          <a:solidFill>
                            <a:srgbClr val="FFFFFF"/>
                          </a:solidFill>
                          <a:effectLst/>
                          <a:latin typeface="楷体" panose="02010609060101010101" pitchFamily="49" charset="-122"/>
                          <a:ea typeface="楷体" panose="02010609060101010101" pitchFamily="49" charset="-122"/>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ctr" rtl="0" fontAlgn="ctr">
                        <a:buNone/>
                      </a:pPr>
                      <a:r>
                        <a:rPr lang="zh-TW" altLang="en-US" sz="800" b="1" i="0" u="none" strike="noStrike" dirty="0">
                          <a:solidFill>
                            <a:srgbClr val="FFFFFF"/>
                          </a:solidFill>
                          <a:effectLst/>
                          <a:latin typeface="楷体" panose="02010609060101010101" pitchFamily="49" charset="-122"/>
                          <a:ea typeface="楷体" panose="02010609060101010101" pitchFamily="49" charset="-122"/>
                        </a:rPr>
                        <a:t>自</a:t>
                      </a:r>
                      <a:r>
                        <a:rPr lang="en-US" altLang="zh-TW" sz="800" b="1" i="0" u="none" strike="noStrike" dirty="0">
                          <a:solidFill>
                            <a:srgbClr val="FFFFFF"/>
                          </a:solidFill>
                          <a:effectLst/>
                          <a:latin typeface="楷体" panose="02010609060101010101" pitchFamily="49" charset="-122"/>
                          <a:ea typeface="楷体" panose="02010609060101010101" pitchFamily="49" charset="-122"/>
                        </a:rPr>
                        <a:t>202</a:t>
                      </a:r>
                      <a:r>
                        <a:rPr lang="en-US" altLang="zh-CN" sz="800" b="1" i="0" u="none" strike="noStrike" dirty="0">
                          <a:solidFill>
                            <a:srgbClr val="FFFFFF"/>
                          </a:solidFill>
                          <a:effectLst/>
                          <a:latin typeface="楷体" panose="02010609060101010101" pitchFamily="49" charset="-122"/>
                          <a:ea typeface="楷体" panose="02010609060101010101" pitchFamily="49" charset="-122"/>
                        </a:rPr>
                        <a:t>5</a:t>
                      </a:r>
                      <a:r>
                        <a:rPr lang="zh-TW" altLang="en-US" sz="800" b="1" i="0" u="none" strike="noStrike" dirty="0">
                          <a:solidFill>
                            <a:srgbClr val="FFFFFF"/>
                          </a:solidFill>
                          <a:effectLst/>
                          <a:latin typeface="楷体" panose="02010609060101010101" pitchFamily="49" charset="-122"/>
                          <a:ea typeface="楷体" panose="02010609060101010101" pitchFamily="49" charset="-122"/>
                        </a:rPr>
                        <a:t>年年初（数值）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extLst>
                  <a:ext uri="{0D108BD9-81ED-4DB2-BD59-A6C34878D82A}">
                    <a16:rowId xmlns:a16="http://schemas.microsoft.com/office/drawing/2014/main" val="773847911"/>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道琼斯</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45,577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-8.16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7.13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3,033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142118581"/>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标普</a:t>
                      </a:r>
                      <a:r>
                        <a:rPr lang="en-US" altLang="zh-TW" sz="800" b="0" i="0" u="none" strike="noStrike">
                          <a:solidFill>
                            <a:srgbClr val="000000"/>
                          </a:solidFill>
                          <a:effectLst/>
                          <a:latin typeface="楷体" panose="02010609060101010101" pitchFamily="49" charset="-122"/>
                          <a:ea typeface="楷体" panose="02010609060101010101" pitchFamily="49" charset="-122"/>
                        </a:rPr>
                        <a:t>500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6,506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-1.90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-5.83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10.62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625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403040427"/>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纳斯达克</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21,648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-2.07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-5.41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12.10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2,337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646627117"/>
                  </a:ext>
                </a:extLst>
              </a:tr>
              <a:tr h="227845">
                <a:tc>
                  <a:txBody>
                    <a:bodyPr/>
                    <a:lstStyle/>
                    <a:p>
                      <a:pPr algn="ctr" rtl="0" fontAlgn="ctr">
                        <a:buNone/>
                      </a:pPr>
                      <a:r>
                        <a:rPr lang="zh-TW" altLang="en-US" sz="800" b="0" i="0" u="none" strike="noStrike" dirty="0">
                          <a:solidFill>
                            <a:srgbClr val="000000"/>
                          </a:solidFill>
                          <a:effectLst/>
                          <a:latin typeface="楷体" panose="02010609060101010101" pitchFamily="49" charset="-122"/>
                          <a:ea typeface="楷体" panose="02010609060101010101" pitchFamily="49" charset="-122"/>
                        </a:rPr>
                        <a:t>富时</a:t>
                      </a:r>
                      <a:r>
                        <a:rPr lang="en-US" altLang="zh-TW" sz="800" b="0" i="0" u="none" strike="noStrike" dirty="0">
                          <a:solidFill>
                            <a:srgbClr val="000000"/>
                          </a:solidFill>
                          <a:effectLst/>
                          <a:latin typeface="楷体" panose="02010609060101010101" pitchFamily="49" charset="-122"/>
                          <a:ea typeface="楷体" panose="02010609060101010101" pitchFamily="49" charset="-122"/>
                        </a:rPr>
                        <a:t>100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9,918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-3.34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-7.19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21.35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a:solidFill>
                            <a:srgbClr val="000000"/>
                          </a:solidFill>
                          <a:effectLst/>
                          <a:latin typeface="Arial" panose="020B0604020202020204" pitchFamily="34" charset="0"/>
                        </a:rPr>
                        <a:t>1,745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339084165"/>
                  </a:ext>
                </a:extLst>
              </a:tr>
              <a:tr h="227845">
                <a:tc>
                  <a:txBody>
                    <a:bodyPr/>
                    <a:lstStyle/>
                    <a:p>
                      <a:pPr algn="ctr" rtl="0" fontAlgn="ctr">
                        <a:buNone/>
                      </a:pPr>
                      <a:r>
                        <a:rPr lang="zh-TW" altLang="en-US" sz="800" b="0" i="0" u="none" strike="noStrike">
                          <a:solidFill>
                            <a:srgbClr val="000000"/>
                          </a:solidFill>
                          <a:effectLst/>
                          <a:latin typeface="楷体" panose="02010609060101010101" pitchFamily="49" charset="-122"/>
                          <a:ea typeface="楷体" panose="02010609060101010101" pitchFamily="49" charset="-122"/>
                        </a:rPr>
                        <a:t>日经</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53,373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-0.83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-6.08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fontAlgn="ctr">
                        <a:buNone/>
                      </a:pPr>
                      <a:r>
                        <a:rPr lang="en-US" sz="800" b="0" i="0" u="none" strike="noStrike">
                          <a:solidFill>
                            <a:srgbClr val="000000"/>
                          </a:solidFill>
                          <a:effectLst/>
                          <a:latin typeface="Arial" panose="020B0604020202020204" pitchFamily="34" charset="0"/>
                        </a:rPr>
                        <a:t>33.78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rtl="0" fontAlgn="ctr">
                        <a:buNone/>
                      </a:pPr>
                      <a:r>
                        <a:rPr lang="en-US" sz="800" b="0" i="0" u="none" strike="noStrike" dirty="0">
                          <a:solidFill>
                            <a:srgbClr val="000000"/>
                          </a:solidFill>
                          <a:effectLst/>
                          <a:latin typeface="Arial" panose="020B0604020202020204" pitchFamily="34" charset="0"/>
                        </a:rPr>
                        <a:t>13,478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530185591"/>
                  </a:ext>
                </a:extLst>
              </a:tr>
            </a:tbl>
          </a:graphicData>
        </a:graphic>
      </p:graphicFrame>
      <p:pic>
        <p:nvPicPr>
          <p:cNvPr id="4" name="图片 11">
            <a:extLst>
              <a:ext uri="{FF2B5EF4-FFF2-40B4-BE49-F238E27FC236}">
                <a16:creationId xmlns:a16="http://schemas.microsoft.com/office/drawing/2014/main" id="{24A7F96B-61DA-391B-3A1B-99A8DE85A591}"/>
              </a:ext>
            </a:extLst>
          </p:cNvPr>
          <p:cNvPicPr>
            <a:picLocks noChangeAspect="1"/>
          </p:cNvPicPr>
          <p:nvPr/>
        </p:nvPicPr>
        <p:blipFill>
          <a:blip r:embed="rId3"/>
          <a:stretch>
            <a:fillRect/>
          </a:stretch>
        </p:blipFill>
        <p:spPr>
          <a:xfrm>
            <a:off x="2687807" y="1243662"/>
            <a:ext cx="3642579" cy="1883668"/>
          </a:xfrm>
          <a:prstGeom prst="rect">
            <a:avLst/>
          </a:prstGeom>
        </p:spPr>
      </p:pic>
      <p:pic>
        <p:nvPicPr>
          <p:cNvPr id="7" name="图片 14">
            <a:extLst>
              <a:ext uri="{FF2B5EF4-FFF2-40B4-BE49-F238E27FC236}">
                <a16:creationId xmlns:a16="http://schemas.microsoft.com/office/drawing/2014/main" id="{E285BD77-5987-93C2-4C52-1ECD579A1DAE}"/>
              </a:ext>
            </a:extLst>
          </p:cNvPr>
          <p:cNvPicPr>
            <a:picLocks noChangeAspect="1"/>
          </p:cNvPicPr>
          <p:nvPr/>
        </p:nvPicPr>
        <p:blipFill>
          <a:blip r:embed="rId4"/>
          <a:stretch>
            <a:fillRect/>
          </a:stretch>
        </p:blipFill>
        <p:spPr>
          <a:xfrm>
            <a:off x="2687807" y="3868072"/>
            <a:ext cx="3637574" cy="1883668"/>
          </a:xfrm>
          <a:prstGeom prst="rect">
            <a:avLst/>
          </a:prstGeom>
        </p:spPr>
      </p:pic>
      <p:sp>
        <p:nvSpPr>
          <p:cNvPr id="5" name="Frame 4">
            <a:extLst>
              <a:ext uri="{FF2B5EF4-FFF2-40B4-BE49-F238E27FC236}">
                <a16:creationId xmlns:a16="http://schemas.microsoft.com/office/drawing/2014/main" id="{8FF76FC7-7B73-8BA9-DFC1-ABFD44993C89}"/>
              </a:ext>
            </a:extLst>
          </p:cNvPr>
          <p:cNvSpPr/>
          <p:nvPr/>
        </p:nvSpPr>
        <p:spPr>
          <a:xfrm>
            <a:off x="8327571" y="1534886"/>
            <a:ext cx="408215" cy="28575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0FA6C317-B6B0-9303-D00E-82E58EDB736B}"/>
              </a:ext>
            </a:extLst>
          </p:cNvPr>
          <p:cNvSpPr/>
          <p:nvPr/>
        </p:nvSpPr>
        <p:spPr>
          <a:xfrm>
            <a:off x="8968632" y="1534886"/>
            <a:ext cx="408215" cy="28575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B4563E15-4324-3B10-4D26-EC05FA574F01}"/>
              </a:ext>
            </a:extLst>
          </p:cNvPr>
          <p:cNvSpPr/>
          <p:nvPr/>
        </p:nvSpPr>
        <p:spPr>
          <a:xfrm>
            <a:off x="8267699" y="4271919"/>
            <a:ext cx="408215" cy="28575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ame 17">
            <a:extLst>
              <a:ext uri="{FF2B5EF4-FFF2-40B4-BE49-F238E27FC236}">
                <a16:creationId xmlns:a16="http://schemas.microsoft.com/office/drawing/2014/main" id="{820E7D7C-F3F3-624E-562E-3FC1B40C7A12}"/>
              </a:ext>
            </a:extLst>
          </p:cNvPr>
          <p:cNvSpPr/>
          <p:nvPr/>
        </p:nvSpPr>
        <p:spPr>
          <a:xfrm>
            <a:off x="8884392" y="4271919"/>
            <a:ext cx="408215" cy="28575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D287C2B8-92CC-FB08-25B9-126AAD6DE90B}"/>
              </a:ext>
            </a:extLst>
          </p:cNvPr>
          <p:cNvSpPr txBox="1"/>
          <p:nvPr/>
        </p:nvSpPr>
        <p:spPr>
          <a:xfrm>
            <a:off x="6712080" y="3223369"/>
            <a:ext cx="2351926" cy="369332"/>
          </a:xfrm>
          <a:prstGeom prst="rect">
            <a:avLst/>
          </a:prstGeom>
          <a:noFill/>
        </p:spPr>
        <p:txBody>
          <a:bodyPr wrap="none" rtlCol="0">
            <a:spAutoFit/>
          </a:bodyPr>
          <a:lstStyle/>
          <a:p>
            <a:r>
              <a:rPr lang="en-US" dirty="0">
                <a:highlight>
                  <a:srgbClr val="FFFF00"/>
                </a:highlight>
              </a:rPr>
              <a:t>2024改2025,祖传bug</a:t>
            </a:r>
          </a:p>
        </p:txBody>
      </p:sp>
      <p:cxnSp>
        <p:nvCxnSpPr>
          <p:cNvPr id="22" name="Straight Connector 21">
            <a:extLst>
              <a:ext uri="{FF2B5EF4-FFF2-40B4-BE49-F238E27FC236}">
                <a16:creationId xmlns:a16="http://schemas.microsoft.com/office/drawing/2014/main" id="{D36F2861-4156-E704-BFF8-25D6273379B0}"/>
              </a:ext>
            </a:extLst>
          </p:cNvPr>
          <p:cNvCxnSpPr>
            <a:cxnSpLocks/>
            <a:stCxn id="20" idx="0"/>
          </p:cNvCxnSpPr>
          <p:nvPr/>
        </p:nvCxnSpPr>
        <p:spPr>
          <a:xfrm flipV="1">
            <a:off x="7888043" y="1820636"/>
            <a:ext cx="543688" cy="1402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B6FD1FE-77A4-A5A1-69FA-0C010F08984C}"/>
              </a:ext>
            </a:extLst>
          </p:cNvPr>
          <p:cNvCxnSpPr>
            <a:cxnSpLocks/>
            <a:stCxn id="20" idx="0"/>
          </p:cNvCxnSpPr>
          <p:nvPr/>
        </p:nvCxnSpPr>
        <p:spPr>
          <a:xfrm flipV="1">
            <a:off x="7888043" y="1876945"/>
            <a:ext cx="1284696" cy="1346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1B7780-2BBD-4132-7A07-EDD7D18E06F0}"/>
              </a:ext>
            </a:extLst>
          </p:cNvPr>
          <p:cNvCxnSpPr>
            <a:cxnSpLocks/>
            <a:stCxn id="20" idx="2"/>
            <a:endCxn id="18" idx="0"/>
          </p:cNvCxnSpPr>
          <p:nvPr/>
        </p:nvCxnSpPr>
        <p:spPr>
          <a:xfrm>
            <a:off x="7888043" y="3592701"/>
            <a:ext cx="1200457" cy="6792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5F8301A-B2E9-D2D7-DD07-ADADF132D264}"/>
              </a:ext>
            </a:extLst>
          </p:cNvPr>
          <p:cNvCxnSpPr>
            <a:cxnSpLocks/>
            <a:stCxn id="20" idx="2"/>
            <a:endCxn id="17" idx="0"/>
          </p:cNvCxnSpPr>
          <p:nvPr/>
        </p:nvCxnSpPr>
        <p:spPr>
          <a:xfrm>
            <a:off x="7888043" y="3592701"/>
            <a:ext cx="583764" cy="679218"/>
          </a:xfrm>
          <a:prstGeom prst="line">
            <a:avLst/>
          </a:prstGeom>
        </p:spPr>
        <p:style>
          <a:lnRef idx="1">
            <a:schemeClr val="accent1"/>
          </a:lnRef>
          <a:fillRef idx="0">
            <a:schemeClr val="accent1"/>
          </a:fillRef>
          <a:effectRef idx="0">
            <a:schemeClr val="accent1"/>
          </a:effectRef>
          <a:fontRef idx="minor">
            <a:schemeClr val="tx1"/>
          </a:fontRef>
        </p:style>
      </p:cxnSp>
      <p:sp>
        <p:nvSpPr>
          <p:cNvPr id="32" name="Frame 31">
            <a:extLst>
              <a:ext uri="{FF2B5EF4-FFF2-40B4-BE49-F238E27FC236}">
                <a16:creationId xmlns:a16="http://schemas.microsoft.com/office/drawing/2014/main" id="{C7DA5032-EEEE-6CB0-0669-99FA064B53E5}"/>
              </a:ext>
            </a:extLst>
          </p:cNvPr>
          <p:cNvSpPr/>
          <p:nvPr/>
        </p:nvSpPr>
        <p:spPr>
          <a:xfrm>
            <a:off x="-356616" y="182880"/>
            <a:ext cx="3434837" cy="6890195"/>
          </a:xfrm>
          <a:prstGeom prst="frame">
            <a:avLst/>
          </a:prstGeom>
          <a:solidFill>
            <a:srgbClr val="00B0F0"/>
          </a:solidFill>
          <a:ln w="0" cap="fla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TextBox 32">
            <a:extLst>
              <a:ext uri="{FF2B5EF4-FFF2-40B4-BE49-F238E27FC236}">
                <a16:creationId xmlns:a16="http://schemas.microsoft.com/office/drawing/2014/main" id="{DA1BC72C-5FB0-4A4D-8C95-6C89BC1FFB64}"/>
              </a:ext>
            </a:extLst>
          </p:cNvPr>
          <p:cNvSpPr txBox="1"/>
          <p:nvPr/>
        </p:nvSpPr>
        <p:spPr>
          <a:xfrm>
            <a:off x="3216221" y="628011"/>
            <a:ext cx="2838001" cy="5355312"/>
          </a:xfrm>
          <a:prstGeom prst="rect">
            <a:avLst/>
          </a:prstGeom>
          <a:noFill/>
        </p:spPr>
        <p:txBody>
          <a:bodyPr wrap="square" rtlCol="0">
            <a:spAutoFit/>
          </a:bodyPr>
          <a:lstStyle/>
          <a:p>
            <a:r>
              <a:rPr lang="en-US" dirty="0">
                <a:highlight>
                  <a:srgbClr val="FFFF00"/>
                </a:highlight>
              </a:rPr>
              <a:t>Standard Format:</a:t>
            </a:r>
          </a:p>
          <a:p>
            <a:r>
              <a:rPr lang="en-US" dirty="0" err="1">
                <a:highlight>
                  <a:srgbClr val="FFFF00"/>
                </a:highlight>
              </a:rPr>
              <a:t>一段说指数</a:t>
            </a:r>
            <a:r>
              <a:rPr lang="zh-CN" altLang="en-US" dirty="0">
                <a:highlight>
                  <a:srgbClr val="FFFF00"/>
                </a:highlight>
              </a:rPr>
              <a:t>，一段说政策，</a:t>
            </a:r>
            <a:endParaRPr lang="en-US" altLang="zh-CN" dirty="0">
              <a:highlight>
                <a:srgbClr val="FFFF00"/>
              </a:highlight>
            </a:endParaRPr>
          </a:p>
          <a:p>
            <a:r>
              <a:rPr lang="zh-CN" altLang="en-US" dirty="0">
                <a:highlight>
                  <a:srgbClr val="FFFF00"/>
                </a:highlight>
              </a:rPr>
              <a:t>如果很多政策再改</a:t>
            </a:r>
            <a:endParaRPr lang="en-US" altLang="zh-CN" dirty="0">
              <a:highlight>
                <a:srgbClr val="FFFF00"/>
              </a:highlight>
            </a:endParaRPr>
          </a:p>
          <a:p>
            <a:endParaRPr lang="en-US" dirty="0">
              <a:highlight>
                <a:srgbClr val="FFFF00"/>
              </a:highlight>
            </a:endParaRPr>
          </a:p>
          <a:p>
            <a:r>
              <a:rPr lang="en-US" dirty="0" err="1">
                <a:highlight>
                  <a:srgbClr val="FFFF00"/>
                </a:highlight>
              </a:rPr>
              <a:t>指数段</a:t>
            </a:r>
            <a:r>
              <a:rPr lang="zh-CN" altLang="en-US" dirty="0">
                <a:highlight>
                  <a:srgbClr val="FFFF00"/>
                </a:highlight>
              </a:rPr>
              <a:t>：</a:t>
            </a:r>
            <a:r>
              <a:rPr lang="en-US" altLang="zh-CN" dirty="0">
                <a:highlight>
                  <a:srgbClr val="FFFF00"/>
                </a:highlight>
              </a:rPr>
              <a:t>Copy</a:t>
            </a:r>
            <a:r>
              <a:rPr lang="zh-CN" altLang="en-US" dirty="0">
                <a:highlight>
                  <a:srgbClr val="FFFF00"/>
                </a:highlight>
              </a:rPr>
              <a:t>右边的指数</a:t>
            </a:r>
            <a:r>
              <a:rPr lang="en-US" altLang="zh-CN" dirty="0">
                <a:highlight>
                  <a:srgbClr val="FFFF00"/>
                </a:highlight>
              </a:rPr>
              <a:t>table</a:t>
            </a:r>
            <a:r>
              <a:rPr lang="zh-CN" altLang="en-US" dirty="0">
                <a:highlight>
                  <a:srgbClr val="FFFF00"/>
                </a:highlight>
              </a:rPr>
              <a:t>到</a:t>
            </a:r>
            <a:r>
              <a:rPr lang="en-US" altLang="zh-CN" dirty="0">
                <a:highlight>
                  <a:srgbClr val="FFFF00"/>
                </a:highlight>
              </a:rPr>
              <a:t>AI</a:t>
            </a:r>
          </a:p>
          <a:p>
            <a:r>
              <a:rPr lang="en-US" dirty="0">
                <a:highlight>
                  <a:srgbClr val="FFFF00"/>
                </a:highlight>
              </a:rPr>
              <a:t>Prompt: </a:t>
            </a:r>
            <a:r>
              <a:rPr lang="en-US" dirty="0" err="1">
                <a:highlight>
                  <a:srgbClr val="FFFF00"/>
                </a:highlight>
              </a:rPr>
              <a:t>我在做ECM</a:t>
            </a:r>
            <a:r>
              <a:rPr lang="zh-CN" altLang="en-US" dirty="0">
                <a:highlight>
                  <a:srgbClr val="FFFF00"/>
                </a:highlight>
              </a:rPr>
              <a:t>周报，图里是这周的数据，按照这个</a:t>
            </a:r>
            <a:r>
              <a:rPr lang="en-US" altLang="zh-CN" dirty="0">
                <a:highlight>
                  <a:srgbClr val="FFFF00"/>
                </a:highlight>
              </a:rPr>
              <a:t>Format</a:t>
            </a:r>
            <a:r>
              <a:rPr lang="zh-CN" altLang="en-US" dirty="0">
                <a:highlight>
                  <a:srgbClr val="FFFF00"/>
                </a:highlight>
              </a:rPr>
              <a:t>帮我更新，不要</a:t>
            </a:r>
            <a:r>
              <a:rPr lang="zh-TW" altLang="en-US" dirty="0">
                <a:solidFill>
                  <a:srgbClr val="000000"/>
                </a:solidFill>
                <a:highlight>
                  <a:srgbClr val="FFFF00"/>
                </a:highlight>
                <a:latin typeface="楷体" panose="02010609060101010101" pitchFamily="49" charset="-122"/>
                <a:ea typeface="楷体" panose="02010609060101010101" pitchFamily="49" charset="-122"/>
              </a:rPr>
              <a:t>富时</a:t>
            </a:r>
            <a:r>
              <a:rPr lang="en-US" altLang="zh-TW" dirty="0">
                <a:solidFill>
                  <a:srgbClr val="000000"/>
                </a:solidFill>
                <a:highlight>
                  <a:srgbClr val="FFFF00"/>
                </a:highlight>
                <a:latin typeface="楷体" panose="02010609060101010101" pitchFamily="49" charset="-122"/>
                <a:ea typeface="楷体" panose="02010609060101010101" pitchFamily="49" charset="-122"/>
              </a:rPr>
              <a:t>100</a:t>
            </a:r>
            <a:r>
              <a:rPr lang="zh-TW" altLang="en-US" dirty="0">
                <a:solidFill>
                  <a:srgbClr val="000000"/>
                </a:solidFill>
                <a:highlight>
                  <a:srgbClr val="FFFF00"/>
                </a:highlight>
                <a:latin typeface="楷体" panose="02010609060101010101" pitchFamily="49" charset="-122"/>
                <a:ea typeface="楷体" panose="02010609060101010101" pitchFamily="49" charset="-122"/>
              </a:rPr>
              <a:t>和日经</a:t>
            </a:r>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a:t>
            </a:r>
            <a:r>
              <a:rPr lang="en-US" altLang="zh-CN"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(paste</a:t>
            </a:r>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上周的指数段落）</a:t>
            </a:r>
            <a:endParaRPr lang="en-US" altLang="zh-CN"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endParaRPr>
          </a:p>
          <a:p>
            <a:endParaRPr lang="en-US" altLang="zh-TW"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endParaRPr>
          </a:p>
          <a:p>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政策段：到</a:t>
            </a:r>
            <a:r>
              <a:rPr lang="en-US" altLang="zh-CN"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hlinkClick r:id="rId5"/>
              </a:rPr>
              <a:t>https://wallstreetcn.com/live/global</a:t>
            </a:r>
            <a:endParaRPr lang="en-US" altLang="zh-CN"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endParaRPr>
          </a:p>
          <a:p>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a:t>
            </a:r>
            <a:r>
              <a:rPr lang="zh-TW"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只看重要的</a:t>
            </a:r>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”挑新闻，</a:t>
            </a:r>
            <a:r>
              <a:rPr lang="en-US" altLang="zh-CN"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e.g.</a:t>
            </a:r>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重要人物发表</a:t>
            </a:r>
            <a:endParaRPr lang="en-US" altLang="zh-CN"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endParaRPr>
          </a:p>
          <a:p>
            <a:r>
              <a:rPr lang="zh-CN" altLang="en-US" dirty="0">
                <a:solidFill>
                  <a:srgbClr val="000000"/>
                </a:solidFill>
                <a:highlight>
                  <a:srgbClr val="FFFF00"/>
                </a:highlight>
                <a:latin typeface="楷体" panose="02010609060101010101" pitchFamily="49" charset="-122"/>
                <a:ea typeface="楷体" panose="02010609060101010101" pitchFamily="49" charset="-122"/>
                <a:sym typeface="Wingdings" pitchFamily="2" charset="2"/>
              </a:rPr>
              <a:t>不要特定行业的新闻，要宏观的</a:t>
            </a:r>
            <a:endParaRPr lang="en-US" altLang="zh-TW" dirty="0">
              <a:solidFill>
                <a:srgbClr val="000000"/>
              </a:solidFill>
              <a:highlight>
                <a:srgbClr val="FFFF00"/>
              </a:highlight>
              <a:latin typeface="楷体" panose="02010609060101010101" pitchFamily="49" charset="-122"/>
              <a:ea typeface="楷体" panose="02010609060101010101" pitchFamily="49" charset="-122"/>
            </a:endParaRPr>
          </a:p>
        </p:txBody>
      </p:sp>
      <p:pic>
        <p:nvPicPr>
          <p:cNvPr id="39" name="Picture 38" descr="A screenshot of a phone&#10;&#10;AI-generated content may be incorrect.">
            <a:extLst>
              <a:ext uri="{FF2B5EF4-FFF2-40B4-BE49-F238E27FC236}">
                <a16:creationId xmlns:a16="http://schemas.microsoft.com/office/drawing/2014/main" id="{536CB9A3-DC92-8FD3-EC3D-324ACEFD54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5037" y="4703061"/>
            <a:ext cx="3370876" cy="1744725"/>
          </a:xfrm>
          <a:prstGeom prst="rect">
            <a:avLst/>
          </a:prstGeom>
        </p:spPr>
      </p:pic>
      <p:sp>
        <p:nvSpPr>
          <p:cNvPr id="40" name="Frame 39">
            <a:extLst>
              <a:ext uri="{FF2B5EF4-FFF2-40B4-BE49-F238E27FC236}">
                <a16:creationId xmlns:a16="http://schemas.microsoft.com/office/drawing/2014/main" id="{F5E5E5B1-FF67-6634-22FB-2713A64F9678}"/>
              </a:ext>
            </a:extLst>
          </p:cNvPr>
          <p:cNvSpPr/>
          <p:nvPr/>
        </p:nvSpPr>
        <p:spPr>
          <a:xfrm>
            <a:off x="4123765" y="6333490"/>
            <a:ext cx="1102659" cy="34163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TextBox 40">
            <a:extLst>
              <a:ext uri="{FF2B5EF4-FFF2-40B4-BE49-F238E27FC236}">
                <a16:creationId xmlns:a16="http://schemas.microsoft.com/office/drawing/2014/main" id="{045BFAAE-0AFB-5105-D4BF-DBE84F8AA930}"/>
              </a:ext>
            </a:extLst>
          </p:cNvPr>
          <p:cNvSpPr txBox="1"/>
          <p:nvPr/>
        </p:nvSpPr>
        <p:spPr>
          <a:xfrm>
            <a:off x="5358368" y="6344840"/>
            <a:ext cx="1338828" cy="369332"/>
          </a:xfrm>
          <a:prstGeom prst="rect">
            <a:avLst/>
          </a:prstGeom>
          <a:noFill/>
        </p:spPr>
        <p:txBody>
          <a:bodyPr wrap="none" rtlCol="0">
            <a:spAutoFit/>
          </a:bodyPr>
          <a:lstStyle/>
          <a:p>
            <a:r>
              <a:rPr lang="en-US" dirty="0" err="1">
                <a:highlight>
                  <a:srgbClr val="FFFF00"/>
                </a:highlight>
              </a:rPr>
              <a:t>日期写周五</a:t>
            </a:r>
            <a:endParaRPr lang="en-US" dirty="0">
              <a:highlight>
                <a:srgbClr val="FFFF00"/>
              </a:highlight>
            </a:endParaRPr>
          </a:p>
        </p:txBody>
      </p:sp>
      <p:cxnSp>
        <p:nvCxnSpPr>
          <p:cNvPr id="43" name="Straight Connector 42">
            <a:extLst>
              <a:ext uri="{FF2B5EF4-FFF2-40B4-BE49-F238E27FC236}">
                <a16:creationId xmlns:a16="http://schemas.microsoft.com/office/drawing/2014/main" id="{425F0E75-3F60-A539-3209-F54E00E4B107}"/>
              </a:ext>
            </a:extLst>
          </p:cNvPr>
          <p:cNvCxnSpPr>
            <a:cxnSpLocks/>
            <a:stCxn id="33" idx="1"/>
            <a:endCxn id="32" idx="3"/>
          </p:cNvCxnSpPr>
          <p:nvPr/>
        </p:nvCxnSpPr>
        <p:spPr>
          <a:xfrm flipH="1">
            <a:off x="3078221" y="3305667"/>
            <a:ext cx="138000" cy="322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86E2758-23BE-039D-6749-C539959F9C39}"/>
              </a:ext>
            </a:extLst>
          </p:cNvPr>
          <p:cNvCxnSpPr>
            <a:cxnSpLocks/>
            <a:stCxn id="40" idx="3"/>
            <a:endCxn id="41" idx="1"/>
          </p:cNvCxnSpPr>
          <p:nvPr/>
        </p:nvCxnSpPr>
        <p:spPr>
          <a:xfrm>
            <a:off x="5226424" y="6504305"/>
            <a:ext cx="131944" cy="2520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70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232600" y="3346653"/>
            <a:ext cx="9255432" cy="636971"/>
          </a:xfrm>
        </p:spPr>
        <p:txBody>
          <a:bodyPr/>
          <a:lstStyle/>
          <a:p>
            <a:r>
              <a:rPr lang="zh-CN" altLang="en-US" dirty="0"/>
              <a:t>香港资本市场发行情况</a:t>
            </a:r>
          </a:p>
        </p:txBody>
      </p:sp>
      <p:sp>
        <p:nvSpPr>
          <p:cNvPr id="4" name="Text Placeholder 3"/>
          <p:cNvSpPr>
            <a:spLocks noGrp="1"/>
          </p:cNvSpPr>
          <p:nvPr>
            <p:ph type="body" sz="quarter" idx="13"/>
          </p:nvPr>
        </p:nvSpPr>
        <p:spPr/>
        <p:txBody>
          <a:bodyPr/>
          <a:lstStyle/>
          <a:p>
            <a:r>
              <a:rPr lang="zh-CN" altLang="en-US" dirty="0">
                <a:sym typeface="Arial" panose="020B0604020202020204" pitchFamily="34" charset="0"/>
              </a:rPr>
              <a:t>第二章</a:t>
            </a:r>
            <a:endParaRPr lang="zh-TW" altLang="en-US" dirty="0">
              <a:sym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Arial" panose="020B0604020202020204" pitchFamily="34" charset="0"/>
                <a:ea typeface="+mn-ea"/>
                <a:cs typeface="Arial" panose="020B0604020202020204" pitchFamily="34" charset="0"/>
                <a:sym typeface="+mn-lt"/>
              </a:rPr>
              <a:t>过去一周香港新股市场概览</a:t>
            </a:r>
          </a:p>
        </p:txBody>
      </p:sp>
      <p:sp>
        <p:nvSpPr>
          <p:cNvPr id="7" name="Rectangle 6"/>
          <p:cNvSpPr/>
          <p:nvPr/>
        </p:nvSpPr>
        <p:spPr>
          <a:xfrm>
            <a:off x="406946" y="556059"/>
            <a:ext cx="9144000" cy="319405"/>
          </a:xfrm>
          <a:prstGeom prst="rect">
            <a:avLst/>
          </a:prstGeom>
        </p:spPr>
        <p:txBody>
          <a:bodyPr lIns="0" tIns="0" rIns="0" bIns="0" anchor="ctr">
            <a:noAutofit/>
          </a:bodyPr>
          <a:lstStyle/>
          <a:p>
            <a:r>
              <a:rPr lang="zh-CN" altLang="en-US" sz="1400" b="1" u="sng" dirty="0">
                <a:solidFill>
                  <a:schemeClr val="accent1"/>
                </a:solidFill>
                <a:latin typeface="Arial" panose="020B0604020202020204" pitchFamily="34" charset="0"/>
                <a:cs typeface="Arial" panose="020B0604020202020204" pitchFamily="34" charset="0"/>
                <a:sym typeface="+mn-lt"/>
              </a:rPr>
              <a:t>上周挂牌上市的新股项目</a:t>
            </a:r>
            <a:r>
              <a:rPr lang="en-US" altLang="zh-CN" sz="1400" b="1" u="sng" baseline="30000" dirty="0">
                <a:solidFill>
                  <a:schemeClr val="accent1"/>
                </a:solidFill>
                <a:latin typeface="Arial" panose="020B0604020202020204" pitchFamily="34" charset="0"/>
                <a:cs typeface="Arial" panose="020B0604020202020204" pitchFamily="34" charset="0"/>
                <a:sym typeface="+mn-lt"/>
              </a:rPr>
              <a:t>1</a:t>
            </a:r>
          </a:p>
        </p:txBody>
      </p:sp>
      <p:sp>
        <p:nvSpPr>
          <p:cNvPr id="6" name="文本框 5"/>
          <p:cNvSpPr txBox="1"/>
          <p:nvPr/>
        </p:nvSpPr>
        <p:spPr>
          <a:xfrm>
            <a:off x="3660858" y="5734755"/>
            <a:ext cx="181958" cy="369332"/>
          </a:xfrm>
          <a:prstGeom prst="rect">
            <a:avLst/>
          </a:prstGeom>
          <a:noFill/>
        </p:spPr>
        <p:txBody>
          <a:bodyPr wrap="square" rtlCol="0">
            <a:spAutoFit/>
          </a:bodyPr>
          <a:lstStyle/>
          <a:p>
            <a:endParaRPr kumimoji="1" lang="zh-CN" altLang="en-US" dirty="0">
              <a:latin typeface="Arial" panose="020B0604020202020204" pitchFamily="34" charset="0"/>
              <a:cs typeface="Arial" panose="020B0604020202020204" pitchFamily="34" charset="0"/>
            </a:endParaRPr>
          </a:p>
        </p:txBody>
      </p:sp>
      <p:sp>
        <p:nvSpPr>
          <p:cNvPr id="15" name="灯片编号占位符 14"/>
          <p:cNvSpPr>
            <a:spLocks noGrp="1"/>
          </p:cNvSpPr>
          <p:nvPr>
            <p:ph type="sldNum" sz="quarter" idx="16"/>
          </p:nvPr>
        </p:nvSpPr>
        <p:spPr/>
        <p:txBody>
          <a:bodyPr/>
          <a:lstStyle/>
          <a:p>
            <a:fld id="{72E6F1C1-8568-433B-B05E-E21B84158B67}" type="slidenum">
              <a:rPr lang="en-US" smtClean="0">
                <a:latin typeface="Arial" panose="020B0604020202020204" pitchFamily="34" charset="0"/>
                <a:cs typeface="Arial" panose="020B0604020202020204" pitchFamily="34" charset="0"/>
              </a:rPr>
              <a:t>6</a:t>
            </a:fld>
            <a:endParaRPr lang="en-US"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23D99846-66F1-1065-62BC-3D1E21B27761}"/>
              </a:ext>
            </a:extLst>
          </p:cNvPr>
          <p:cNvSpPr txBox="1"/>
          <p:nvPr/>
        </p:nvSpPr>
        <p:spPr>
          <a:xfrm>
            <a:off x="210895" y="5515739"/>
            <a:ext cx="9484210" cy="933589"/>
          </a:xfrm>
          <a:prstGeom prst="rect">
            <a:avLst/>
          </a:prstGeom>
          <a:noFill/>
        </p:spPr>
        <p:txBody>
          <a:bodyPr wrap="square" rtlCol="0">
            <a:spAutoFit/>
          </a:bodyPr>
          <a:lstStyle/>
          <a:p>
            <a:pPr marL="269875" indent="-269875" defTabSz="360363">
              <a:spcAft>
                <a:spcPts val="200"/>
              </a:spcAft>
              <a:buNone/>
            </a:pPr>
            <a:r>
              <a:rPr lang="zh-CN" altLang="en-US" sz="800" b="1" dirty="0">
                <a:latin typeface="Arial" panose="020B0604020202020204" pitchFamily="34" charset="0"/>
                <a:cs typeface="Arial" panose="020B0604020202020204" pitchFamily="34" charset="0"/>
                <a:sym typeface="+mn-lt"/>
              </a:rPr>
              <a:t>资料来源：</a:t>
            </a:r>
            <a:r>
              <a:rPr lang="en-US" altLang="zh-CN" sz="800" dirty="0">
                <a:latin typeface="Arial" panose="020B0604020202020204" pitchFamily="34" charset="0"/>
                <a:cs typeface="Arial" panose="020B0604020202020204" pitchFamily="34" charset="0"/>
                <a:sym typeface="+mn-lt"/>
              </a:rPr>
              <a:t>Dealogic</a:t>
            </a:r>
            <a:r>
              <a:rPr lang="zh-CN" altLang="en-US" sz="800" dirty="0">
                <a:latin typeface="Arial" panose="020B0604020202020204" pitchFamily="34" charset="0"/>
                <a:cs typeface="Arial" panose="020B0604020202020204" pitchFamily="34" charset="0"/>
                <a:sym typeface="+mn-lt"/>
              </a:rPr>
              <a:t> 、港交所网站（截至</a:t>
            </a:r>
            <a:r>
              <a:rPr lang="en-US" altLang="zh-CN" sz="800" dirty="0">
                <a:latin typeface="Arial" panose="020B0604020202020204" pitchFamily="34" charset="0"/>
                <a:cs typeface="Arial" panose="020B0604020202020204" pitchFamily="34" charset="0"/>
                <a:sym typeface="+mn-lt"/>
              </a:rPr>
              <a:t>2026</a:t>
            </a:r>
            <a:r>
              <a:rPr lang="zh-CN" altLang="en-US" sz="800" dirty="0">
                <a:latin typeface="Arial" panose="020B0604020202020204" pitchFamily="34" charset="0"/>
                <a:cs typeface="Arial" panose="020B0604020202020204" pitchFamily="34" charset="0"/>
                <a:sym typeface="+mn-lt"/>
              </a:rPr>
              <a:t>年</a:t>
            </a:r>
            <a:r>
              <a:rPr lang="en-US" altLang="zh-CN" sz="800" dirty="0">
                <a:latin typeface="Arial" panose="020B0604020202020204" pitchFamily="34" charset="0"/>
                <a:cs typeface="Arial" panose="020B0604020202020204" pitchFamily="34" charset="0"/>
                <a:sym typeface="+mn-lt"/>
              </a:rPr>
              <a:t>3</a:t>
            </a:r>
            <a:r>
              <a:rPr lang="zh-CN" altLang="en-US" sz="800" dirty="0">
                <a:latin typeface="Arial" panose="020B0604020202020204" pitchFamily="34" charset="0"/>
                <a:cs typeface="Arial" panose="020B0604020202020204" pitchFamily="34" charset="0"/>
                <a:sym typeface="+mn-lt"/>
              </a:rPr>
              <a:t>月</a:t>
            </a:r>
            <a:r>
              <a:rPr lang="en-US" altLang="zh-CN" sz="800" dirty="0">
                <a:latin typeface="Arial" panose="020B0604020202020204" pitchFamily="34" charset="0"/>
                <a:cs typeface="Arial" panose="020B0604020202020204" pitchFamily="34" charset="0"/>
                <a:sym typeface="+mn-lt"/>
              </a:rPr>
              <a:t>20</a:t>
            </a:r>
            <a:r>
              <a:rPr lang="zh-CN" altLang="en-US" sz="800" dirty="0">
                <a:latin typeface="Arial" panose="020B0604020202020204" pitchFamily="34" charset="0"/>
                <a:cs typeface="Arial" panose="020B0604020202020204" pitchFamily="34" charset="0"/>
                <a:sym typeface="+mn-lt"/>
              </a:rPr>
              <a:t>日）</a:t>
            </a:r>
            <a:endParaRPr lang="en-US" altLang="zh-CN" sz="800" dirty="0">
              <a:latin typeface="Arial" panose="020B0604020202020204" pitchFamily="34" charset="0"/>
              <a:cs typeface="Arial" panose="020B0604020202020204" pitchFamily="34" charset="0"/>
              <a:sym typeface="+mn-lt"/>
            </a:endParaRPr>
          </a:p>
          <a:p>
            <a:pPr marL="269875" indent="-269875" defTabSz="360363">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1</a:t>
            </a:r>
            <a:r>
              <a:rPr lang="zh-CN" altLang="en-US" sz="800" b="1" dirty="0">
                <a:latin typeface="Arial" panose="020B0604020202020204" pitchFamily="34" charset="0"/>
                <a:cs typeface="Arial" panose="020B0604020202020204" pitchFamily="34" charset="0"/>
                <a:sym typeface="+mn-ea"/>
              </a:rPr>
              <a:t>：</a:t>
            </a:r>
            <a:r>
              <a:rPr lang="en-US" altLang="zh-CN" sz="800" b="1" dirty="0">
                <a:latin typeface="Arial" panose="020B0604020202020204" pitchFamily="34" charset="0"/>
                <a:cs typeface="Arial" panose="020B0604020202020204" pitchFamily="34" charset="0"/>
                <a:sym typeface="+mn-ea"/>
              </a:rPr>
              <a:t>		</a:t>
            </a:r>
            <a:r>
              <a:rPr lang="zh-CN" altLang="en-US" sz="800" dirty="0">
                <a:latin typeface="Arial" panose="020B0604020202020204" pitchFamily="34" charset="0"/>
                <a:cs typeface="Arial" panose="020B0604020202020204" pitchFamily="34" charset="0"/>
                <a:sym typeface="+mn-lt"/>
              </a:rPr>
              <a:t>只包括主板</a:t>
            </a:r>
            <a:r>
              <a:rPr lang="en-US" altLang="zh-CN" sz="800" dirty="0">
                <a:latin typeface="Arial" panose="020B0604020202020204" pitchFamily="34" charset="0"/>
                <a:cs typeface="Arial" panose="020B0604020202020204" pitchFamily="34" charset="0"/>
                <a:sym typeface="+mn-lt"/>
              </a:rPr>
              <a:t>IPO</a:t>
            </a:r>
            <a:r>
              <a:rPr lang="zh-CN" altLang="en-US" sz="800" dirty="0">
                <a:latin typeface="Arial" panose="020B0604020202020204" pitchFamily="34" charset="0"/>
                <a:cs typeface="Arial" panose="020B0604020202020204" pitchFamily="34" charset="0"/>
                <a:sym typeface="+mn-lt"/>
              </a:rPr>
              <a:t>项目，不包括创业板项目或介绍上市。</a:t>
            </a:r>
            <a:endParaRPr lang="en-US" altLang="zh-CN" sz="800" dirty="0">
              <a:latin typeface="Arial" panose="020B0604020202020204" pitchFamily="34" charset="0"/>
              <a:cs typeface="Arial" panose="020B0604020202020204" pitchFamily="34" charset="0"/>
              <a:sym typeface="+mn-lt"/>
            </a:endParaRPr>
          </a:p>
          <a:p>
            <a:pPr marL="269875" indent="-269875" defTabSz="360363">
              <a:spcAft>
                <a:spcPts val="200"/>
              </a:spcAft>
            </a:pPr>
            <a:r>
              <a:rPr lang="zh-TW" altLang="en-US" sz="800" dirty="0"/>
              <a:t>注</a:t>
            </a:r>
            <a:r>
              <a:rPr lang="en-US" altLang="zh-TW" sz="800" b="1" dirty="0"/>
              <a:t>2</a:t>
            </a:r>
            <a:r>
              <a:rPr lang="zh-TW" altLang="en-US" sz="800" dirty="0"/>
              <a:t>： </a:t>
            </a:r>
            <a:r>
              <a:rPr lang="en-US" altLang="zh-TW" sz="800" dirty="0"/>
              <a:t>	</a:t>
            </a:r>
            <a:r>
              <a:rPr lang="zh-TW" altLang="en-US" sz="800" dirty="0"/>
              <a:t>假设超额配股权未获行使。</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3</a:t>
            </a:r>
            <a:r>
              <a:rPr lang="zh-CN" altLang="en-US" sz="800" b="1" dirty="0">
                <a:latin typeface="Arial" panose="020B0604020202020204" pitchFamily="34" charset="0"/>
                <a:cs typeface="Arial" panose="020B0604020202020204" pitchFamily="34" charset="0"/>
                <a:sym typeface="+mn-ea"/>
              </a:rPr>
              <a:t>：</a:t>
            </a:r>
            <a:r>
              <a:rPr lang="en-HK" altLang="zh-CN" sz="800" dirty="0">
                <a:latin typeface="Arial" panose="020B0604020202020204" pitchFamily="34" charset="0"/>
                <a:cs typeface="Arial" panose="020B0604020202020204" pitchFamily="34" charset="0"/>
                <a:sym typeface="+mn-ea"/>
              </a:rPr>
              <a:t>	</a:t>
            </a:r>
            <a:r>
              <a:rPr lang="zh-TW" altLang="en-US" sz="800" dirty="0">
                <a:latin typeface="Arial" panose="020B0604020202020204" pitchFamily="34" charset="0"/>
                <a:cs typeface="Arial" panose="020B0604020202020204" pitchFamily="34" charset="0"/>
              </a:rPr>
              <a:t>广合科技</a:t>
            </a:r>
            <a:r>
              <a:rPr lang="en-US" altLang="zh-TW" sz="800" dirty="0">
                <a:latin typeface="Arial" panose="020B0604020202020204" pitchFamily="34" charset="0"/>
                <a:cs typeface="Arial" panose="020B0604020202020204" pitchFamily="34" charset="0"/>
              </a:rPr>
              <a:t>(001389.SZ)</a:t>
            </a:r>
            <a:r>
              <a:rPr lang="zh-TW" altLang="en-US" sz="800" dirty="0">
                <a:latin typeface="Arial" panose="020B0604020202020204" pitchFamily="34" charset="0"/>
                <a:cs typeface="Arial" panose="020B0604020202020204" pitchFamily="34" charset="0"/>
              </a:rPr>
              <a:t>，作为算力服务器关键部件</a:t>
            </a:r>
            <a:r>
              <a:rPr lang="en-US" sz="800" dirty="0">
                <a:latin typeface="Arial" panose="020B0604020202020204" pitchFamily="34" charset="0"/>
                <a:cs typeface="Arial" panose="020B0604020202020204" pitchFamily="34" charset="0"/>
              </a:rPr>
              <a:t>PCB</a:t>
            </a:r>
            <a:r>
              <a:rPr lang="zh-TW" altLang="en-US" sz="800" dirty="0">
                <a:latin typeface="Arial" panose="020B0604020202020204" pitchFamily="34" charset="0"/>
                <a:cs typeface="Arial" panose="020B0604020202020204" pitchFamily="34" charset="0"/>
              </a:rPr>
              <a:t>制造商，主要从事研发、生产及销售应用于算力服务器及其他算力场景的定制化</a:t>
            </a:r>
            <a:r>
              <a:rPr lang="en-US" sz="800" dirty="0">
                <a:latin typeface="Arial" panose="020B0604020202020204" pitchFamily="34" charset="0"/>
                <a:cs typeface="Arial" panose="020B0604020202020204" pitchFamily="34" charset="0"/>
              </a:rPr>
              <a:t>PCB。</a:t>
            </a:r>
            <a:endParaRPr lang="en-US" altLang="zh-TW" sz="800" dirty="0">
              <a:latin typeface="Arial" panose="020B0604020202020204" pitchFamily="34" charset="0"/>
              <a:cs typeface="Arial" panose="020B0604020202020204" pitchFamily="34" charset="0"/>
            </a:endParaRPr>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4</a:t>
            </a:r>
            <a:r>
              <a:rPr lang="zh-CN" altLang="en-US" sz="800" b="1" dirty="0">
                <a:latin typeface="Arial" panose="020B0604020202020204" pitchFamily="34" charset="0"/>
                <a:cs typeface="Arial" panose="020B0604020202020204" pitchFamily="34" charset="0"/>
                <a:sym typeface="+mn-ea"/>
              </a:rPr>
              <a:t>：</a:t>
            </a:r>
            <a:r>
              <a:rPr lang="en-HK" altLang="zh-CN" sz="800" dirty="0">
                <a:latin typeface="Arial" panose="020B0604020202020204" pitchFamily="34" charset="0"/>
                <a:cs typeface="Arial" panose="020B0604020202020204" pitchFamily="34" charset="0"/>
                <a:sym typeface="+mn-ea"/>
              </a:rPr>
              <a:t>	</a:t>
            </a:r>
            <a:r>
              <a:rPr lang="zh-TW" altLang="en-US" sz="800" dirty="0">
                <a:latin typeface="Arial" panose="020B0604020202020204" pitchFamily="34" charset="0"/>
                <a:cs typeface="Arial" panose="020B0604020202020204" pitchFamily="34" charset="0"/>
              </a:rPr>
              <a:t>广合科技是次</a:t>
            </a:r>
            <a:r>
              <a:rPr lang="en-US" sz="800" dirty="0">
                <a:latin typeface="Arial" panose="020B0604020202020204" pitchFamily="34" charset="0"/>
                <a:cs typeface="Arial" panose="020B0604020202020204" pitchFamily="34" charset="0"/>
              </a:rPr>
              <a:t>IPO</a:t>
            </a:r>
            <a:r>
              <a:rPr lang="zh-TW" altLang="en-US" sz="800" dirty="0">
                <a:latin typeface="Arial" panose="020B0604020202020204" pitchFamily="34" charset="0"/>
                <a:cs typeface="Arial" panose="020B0604020202020204" pitchFamily="34" charset="0"/>
              </a:rPr>
              <a:t>招股引入</a:t>
            </a:r>
            <a:r>
              <a:rPr lang="en-US" altLang="zh-TW" sz="800" dirty="0">
                <a:latin typeface="Arial" panose="020B0604020202020204" pitchFamily="34" charset="0"/>
                <a:cs typeface="Arial" panose="020B0604020202020204" pitchFamily="34" charset="0"/>
              </a:rPr>
              <a:t>12</a:t>
            </a:r>
            <a:r>
              <a:rPr lang="zh-TW" altLang="en-US" sz="800" dirty="0">
                <a:latin typeface="Arial" panose="020B0604020202020204" pitchFamily="34" charset="0"/>
                <a:cs typeface="Arial" panose="020B0604020202020204" pitchFamily="34" charset="0"/>
              </a:rPr>
              <a:t>名基石投资者，合共认购约</a:t>
            </a:r>
            <a:r>
              <a:rPr lang="en-US" altLang="zh-TW" sz="800" dirty="0">
                <a:latin typeface="Arial" panose="020B0604020202020204" pitchFamily="34" charset="0"/>
                <a:cs typeface="Arial" panose="020B0604020202020204" pitchFamily="34" charset="0"/>
              </a:rPr>
              <a:t>1.90</a:t>
            </a:r>
            <a:r>
              <a:rPr lang="zh-TW" altLang="en-US" sz="800" dirty="0">
                <a:latin typeface="Arial" panose="020B0604020202020204" pitchFamily="34" charset="0"/>
                <a:cs typeface="Arial" panose="020B0604020202020204" pitchFamily="34" charset="0"/>
              </a:rPr>
              <a:t>亿美元</a:t>
            </a:r>
            <a:r>
              <a:rPr lang="en-US" altLang="zh-TW" sz="800" dirty="0">
                <a:latin typeface="Arial" panose="020B0604020202020204" pitchFamily="34" charset="0"/>
                <a:cs typeface="Arial" panose="020B0604020202020204" pitchFamily="34" charset="0"/>
              </a:rPr>
              <a:t>(</a:t>
            </a:r>
            <a:r>
              <a:rPr lang="zh-TW" altLang="en-US" sz="800" dirty="0">
                <a:latin typeface="Arial" panose="020B0604020202020204" pitchFamily="34" charset="0"/>
                <a:cs typeface="Arial" panose="020B0604020202020204" pitchFamily="34" charset="0"/>
              </a:rPr>
              <a:t>约</a:t>
            </a:r>
            <a:r>
              <a:rPr lang="en-US" altLang="zh-TW" sz="800" dirty="0">
                <a:latin typeface="Arial" panose="020B0604020202020204" pitchFamily="34" charset="0"/>
                <a:cs typeface="Arial" panose="020B0604020202020204" pitchFamily="34" charset="0"/>
              </a:rPr>
              <a:t>14.86</a:t>
            </a:r>
            <a:r>
              <a:rPr lang="zh-TW" altLang="en-US" sz="800" dirty="0">
                <a:latin typeface="Arial" panose="020B0604020202020204" pitchFamily="34" charset="0"/>
                <a:cs typeface="Arial" panose="020B0604020202020204" pitchFamily="34" charset="0"/>
              </a:rPr>
              <a:t>亿港元</a:t>
            </a:r>
            <a:r>
              <a:rPr lang="en-US" altLang="zh-TW" sz="800" dirty="0">
                <a:latin typeface="Arial" panose="020B0604020202020204" pitchFamily="34" charset="0"/>
                <a:cs typeface="Arial" panose="020B0604020202020204" pitchFamily="34" charset="0"/>
              </a:rPr>
              <a:t>)</a:t>
            </a:r>
            <a:r>
              <a:rPr lang="zh-TW" altLang="en-US" sz="800" dirty="0">
                <a:latin typeface="Arial" panose="020B0604020202020204" pitchFamily="34" charset="0"/>
                <a:cs typeface="Arial" panose="020B0604020202020204" pitchFamily="34" charset="0"/>
              </a:rPr>
              <a:t>的发售股份，基石投资者包括</a:t>
            </a:r>
            <a:r>
              <a:rPr lang="en-US" sz="800" dirty="0">
                <a:latin typeface="Arial" panose="020B0604020202020204" pitchFamily="34" charset="0"/>
                <a:cs typeface="Arial" panose="020B0604020202020204" pitchFamily="34" charset="0"/>
              </a:rPr>
              <a:t>CPE(</a:t>
            </a:r>
            <a:r>
              <a:rPr lang="zh-TW" altLang="en-US" sz="800" dirty="0">
                <a:latin typeface="Arial" panose="020B0604020202020204" pitchFamily="34" charset="0"/>
                <a:cs typeface="Arial" panose="020B0604020202020204" pitchFamily="34" charset="0"/>
              </a:rPr>
              <a:t>源峰基金管理</a:t>
            </a:r>
            <a:r>
              <a:rPr lang="en-US" altLang="zh-TW" sz="800" dirty="0">
                <a:latin typeface="Arial" panose="020B0604020202020204" pitchFamily="34" charset="0"/>
                <a:cs typeface="Arial" panose="020B0604020202020204" pitchFamily="34" charset="0"/>
              </a:rPr>
              <a:t>)</a:t>
            </a:r>
            <a:r>
              <a:rPr lang="zh-TW" altLang="en-US" sz="800" dirty="0">
                <a:latin typeface="Arial" panose="020B0604020202020204" pitchFamily="34" charset="0"/>
                <a:cs typeface="Arial" panose="020B0604020202020204" pitchFamily="34" charset="0"/>
              </a:rPr>
              <a:t>、源峰资产、上海景林、香港景林、</a:t>
            </a:r>
            <a:r>
              <a:rPr lang="en-US" sz="800" dirty="0">
                <a:latin typeface="Arial" panose="020B0604020202020204" pitchFamily="34" charset="0"/>
                <a:cs typeface="Arial" panose="020B0604020202020204" pitchFamily="34" charset="0"/>
              </a:rPr>
              <a:t>UBS、</a:t>
            </a:r>
            <a:r>
              <a:rPr lang="zh-TW" altLang="en-US" sz="800" dirty="0">
                <a:latin typeface="Arial" panose="020B0604020202020204" pitchFamily="34" charset="0"/>
                <a:cs typeface="Arial" panose="020B0604020202020204" pitchFamily="34" charset="0"/>
              </a:rPr>
              <a:t>惠理、</a:t>
            </a:r>
            <a:r>
              <a:rPr lang="en-US" sz="800" dirty="0" err="1">
                <a:latin typeface="Arial" panose="020B0604020202020204" pitchFamily="34" charset="0"/>
                <a:cs typeface="Arial" panose="020B0604020202020204" pitchFamily="34" charset="0"/>
              </a:rPr>
              <a:t>Eastspring、GBAHIL</a:t>
            </a:r>
            <a:r>
              <a:rPr lang="en-US" sz="800" dirty="0">
                <a:latin typeface="Arial" panose="020B0604020202020204" pitchFamily="34" charset="0"/>
                <a:cs typeface="Arial" panose="020B0604020202020204" pitchFamily="34" charset="0"/>
              </a:rPr>
              <a:t>(</a:t>
            </a:r>
            <a:r>
              <a:rPr lang="zh-TW" altLang="en-US" sz="800" dirty="0">
                <a:latin typeface="Arial" panose="020B0604020202020204" pitchFamily="34" charset="0"/>
                <a:cs typeface="Arial" panose="020B0604020202020204" pitchFamily="34" charset="0"/>
              </a:rPr>
              <a:t>大湾区共同家园</a:t>
            </a:r>
            <a:r>
              <a:rPr lang="en-US" altLang="zh-TW" sz="800" dirty="0">
                <a:latin typeface="Arial" panose="020B0604020202020204" pitchFamily="34" charset="0"/>
                <a:cs typeface="Arial" panose="020B0604020202020204" pitchFamily="34" charset="0"/>
              </a:rPr>
              <a:t>)</a:t>
            </a:r>
            <a:r>
              <a:rPr lang="zh-TW" altLang="en-US"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MY Asian、</a:t>
            </a:r>
            <a:r>
              <a:rPr lang="zh-TW" altLang="en-US" sz="800" dirty="0">
                <a:latin typeface="Arial" panose="020B0604020202020204" pitchFamily="34" charset="0"/>
                <a:cs typeface="Arial" panose="020B0604020202020204" pitchFamily="34" charset="0"/>
              </a:rPr>
              <a:t>霸菱、大家人寿、工银理财等。</a:t>
            </a:r>
            <a:endParaRPr lang="zh-CN" altLang="en-US" sz="800" dirty="0">
              <a:latin typeface="Arial" panose="020B0604020202020204" pitchFamily="34" charset="0"/>
              <a:cs typeface="Arial" panose="020B0604020202020204" pitchFamily="34" charset="0"/>
              <a:sym typeface="+mn-ea"/>
            </a:endParaRPr>
          </a:p>
        </p:txBody>
      </p:sp>
      <p:graphicFrame>
        <p:nvGraphicFramePr>
          <p:cNvPr id="4" name="Table 3">
            <a:extLst>
              <a:ext uri="{FF2B5EF4-FFF2-40B4-BE49-F238E27FC236}">
                <a16:creationId xmlns:a16="http://schemas.microsoft.com/office/drawing/2014/main" id="{8500FCFF-A8D1-9722-37BE-74F2BCF125AF}"/>
              </a:ext>
            </a:extLst>
          </p:cNvPr>
          <p:cNvGraphicFramePr>
            <a:graphicFrameLocks noGrp="1"/>
          </p:cNvGraphicFramePr>
          <p:nvPr>
            <p:extLst>
              <p:ext uri="{D42A27DB-BD31-4B8C-83A1-F6EECF244321}">
                <p14:modId xmlns:p14="http://schemas.microsoft.com/office/powerpoint/2010/main" val="1693614978"/>
              </p:ext>
            </p:extLst>
          </p:nvPr>
        </p:nvGraphicFramePr>
        <p:xfrm>
          <a:off x="406946" y="875466"/>
          <a:ext cx="9168297" cy="722601"/>
        </p:xfrm>
        <a:graphic>
          <a:graphicData uri="http://schemas.openxmlformats.org/drawingml/2006/table">
            <a:tbl>
              <a:tblPr/>
              <a:tblGrid>
                <a:gridCol w="1090512">
                  <a:extLst>
                    <a:ext uri="{9D8B030D-6E8A-4147-A177-3AD203B41FA5}">
                      <a16:colId xmlns:a16="http://schemas.microsoft.com/office/drawing/2014/main" val="2880910051"/>
                    </a:ext>
                  </a:extLst>
                </a:gridCol>
                <a:gridCol w="611965">
                  <a:extLst>
                    <a:ext uri="{9D8B030D-6E8A-4147-A177-3AD203B41FA5}">
                      <a16:colId xmlns:a16="http://schemas.microsoft.com/office/drawing/2014/main" val="56884968"/>
                    </a:ext>
                  </a:extLst>
                </a:gridCol>
                <a:gridCol w="645789">
                  <a:extLst>
                    <a:ext uri="{9D8B030D-6E8A-4147-A177-3AD203B41FA5}">
                      <a16:colId xmlns:a16="http://schemas.microsoft.com/office/drawing/2014/main" val="1780975526"/>
                    </a:ext>
                  </a:extLst>
                </a:gridCol>
                <a:gridCol w="856876">
                  <a:extLst>
                    <a:ext uri="{9D8B030D-6E8A-4147-A177-3AD203B41FA5}">
                      <a16:colId xmlns:a16="http://schemas.microsoft.com/office/drawing/2014/main" val="3936167188"/>
                    </a:ext>
                  </a:extLst>
                </a:gridCol>
                <a:gridCol w="658316">
                  <a:extLst>
                    <a:ext uri="{9D8B030D-6E8A-4147-A177-3AD203B41FA5}">
                      <a16:colId xmlns:a16="http://schemas.microsoft.com/office/drawing/2014/main" val="1761123781"/>
                    </a:ext>
                  </a:extLst>
                </a:gridCol>
                <a:gridCol w="891952">
                  <a:extLst>
                    <a:ext uri="{9D8B030D-6E8A-4147-A177-3AD203B41FA5}">
                      <a16:colId xmlns:a16="http://schemas.microsoft.com/office/drawing/2014/main" val="385849546"/>
                    </a:ext>
                  </a:extLst>
                </a:gridCol>
                <a:gridCol w="879425">
                  <a:extLst>
                    <a:ext uri="{9D8B030D-6E8A-4147-A177-3AD203B41FA5}">
                      <a16:colId xmlns:a16="http://schemas.microsoft.com/office/drawing/2014/main" val="3583209801"/>
                    </a:ext>
                  </a:extLst>
                </a:gridCol>
                <a:gridCol w="704667">
                  <a:extLst>
                    <a:ext uri="{9D8B030D-6E8A-4147-A177-3AD203B41FA5}">
                      <a16:colId xmlns:a16="http://schemas.microsoft.com/office/drawing/2014/main" val="1106567636"/>
                    </a:ext>
                  </a:extLst>
                </a:gridCol>
                <a:gridCol w="1152000">
                  <a:extLst>
                    <a:ext uri="{9D8B030D-6E8A-4147-A177-3AD203B41FA5}">
                      <a16:colId xmlns:a16="http://schemas.microsoft.com/office/drawing/2014/main" val="3107423023"/>
                    </a:ext>
                  </a:extLst>
                </a:gridCol>
                <a:gridCol w="838084">
                  <a:extLst>
                    <a:ext uri="{9D8B030D-6E8A-4147-A177-3AD203B41FA5}">
                      <a16:colId xmlns:a16="http://schemas.microsoft.com/office/drawing/2014/main" val="264887659"/>
                    </a:ext>
                  </a:extLst>
                </a:gridCol>
                <a:gridCol w="838711">
                  <a:extLst>
                    <a:ext uri="{9D8B030D-6E8A-4147-A177-3AD203B41FA5}">
                      <a16:colId xmlns:a16="http://schemas.microsoft.com/office/drawing/2014/main" val="3013661793"/>
                    </a:ext>
                  </a:extLst>
                </a:gridCol>
              </a:tblGrid>
              <a:tr h="39810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公司</a:t>
                      </a:r>
                    </a:p>
                  </a:txBody>
                  <a:tcPr marL="0" marR="0" marT="0" marB="0" anchor="ctr">
                    <a:lnL w="12700">
                      <a:solidFill>
                        <a:srgbClr val="FF0000"/>
                      </a:solidFill>
                      <a:prstDash val="solid"/>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行业</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kern="1200" dirty="0">
                          <a:solidFill>
                            <a:schemeClr val="bg1"/>
                          </a:solidFill>
                          <a:latin typeface="Arial" panose="020B0604020202020204" pitchFamily="34" charset="0"/>
                          <a:ea typeface="+mn-ea"/>
                          <a:cs typeface="Arial" panose="020B0604020202020204" pitchFamily="34" charset="0"/>
                          <a:sym typeface="+mn-lt"/>
                        </a:rPr>
                        <a:t>上市日期</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融资规模</a:t>
                      </a:r>
                      <a:endParaRPr lang="en-US" altLang="zh-CN" sz="1000" b="1" dirty="0">
                        <a:solidFill>
                          <a:schemeClr val="bg1"/>
                        </a:solidFill>
                        <a:latin typeface="Arial" panose="020B0604020202020204" pitchFamily="34" charset="0"/>
                        <a:ea typeface="+mn-ea"/>
                        <a:cs typeface="Arial" panose="020B0604020202020204" pitchFamily="34" charset="0"/>
                        <a:sym typeface="+mn-lt"/>
                      </a:endParaRPr>
                    </a:p>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（亿港元）</a:t>
                      </a:r>
                      <a:endParaRPr lang="zh-HK" altLang="en-US" sz="1000" b="1"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发行价格</a:t>
                      </a:r>
                      <a:endParaRPr lang="en-US" altLang="zh-CN" sz="1000" b="1" dirty="0">
                        <a:solidFill>
                          <a:schemeClr val="bg1"/>
                        </a:solidFill>
                        <a:latin typeface="Arial" panose="020B0604020202020204" pitchFamily="34" charset="0"/>
                        <a:ea typeface="+mn-ea"/>
                        <a:cs typeface="Arial" panose="020B0604020202020204" pitchFamily="34" charset="0"/>
                        <a:sym typeface="+mn-lt"/>
                      </a:endParaRPr>
                    </a:p>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（港元）</a:t>
                      </a:r>
                      <a:endParaRPr lang="zh-HK" altLang="en-US" sz="1000" b="1"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发行</a:t>
                      </a:r>
                      <a:r>
                        <a:rPr lang="en-US" altLang="zh-CN" sz="1000" b="1" dirty="0">
                          <a:solidFill>
                            <a:schemeClr val="bg1"/>
                          </a:solidFill>
                          <a:latin typeface="Arial" panose="020B0604020202020204" pitchFamily="34" charset="0"/>
                          <a:ea typeface="+mn-ea"/>
                          <a:cs typeface="Arial" panose="020B0604020202020204" pitchFamily="34" charset="0"/>
                          <a:sym typeface="+mn-lt"/>
                        </a:rPr>
                        <a:t>1</a:t>
                      </a:r>
                      <a:r>
                        <a:rPr lang="zh-CN" altLang="en-US" sz="1000" b="1" dirty="0">
                          <a:solidFill>
                            <a:schemeClr val="bg1"/>
                          </a:solidFill>
                          <a:latin typeface="Arial" panose="020B0604020202020204" pitchFamily="34" charset="0"/>
                          <a:ea typeface="+mn-ea"/>
                          <a:cs typeface="Arial" panose="020B0604020202020204" pitchFamily="34" charset="0"/>
                          <a:sym typeface="+mn-lt"/>
                        </a:rPr>
                        <a:t>天后价格较发行价变化（</a:t>
                      </a:r>
                      <a:r>
                        <a:rPr lang="en-US" altLang="zh-CN" sz="1000" b="1" dirty="0">
                          <a:solidFill>
                            <a:schemeClr val="bg1"/>
                          </a:solidFill>
                          <a:latin typeface="Arial" panose="020B0604020202020204" pitchFamily="34" charset="0"/>
                          <a:ea typeface="+mn-ea"/>
                          <a:cs typeface="Arial" panose="020B0604020202020204" pitchFamily="34" charset="0"/>
                          <a:sym typeface="+mn-lt"/>
                        </a:rPr>
                        <a:t>%</a:t>
                      </a:r>
                      <a:r>
                        <a:rPr lang="zh-CN" altLang="en-US" sz="1000" b="1" dirty="0">
                          <a:solidFill>
                            <a:schemeClr val="bg1"/>
                          </a:solidFill>
                          <a:latin typeface="Arial" panose="020B0604020202020204" pitchFamily="34" charset="0"/>
                          <a:ea typeface="+mn-ea"/>
                          <a:cs typeface="Arial" panose="020B0604020202020204" pitchFamily="34" charset="0"/>
                          <a:sym typeface="+mn-lt"/>
                        </a:rPr>
                        <a:t>）</a:t>
                      </a:r>
                      <a:endParaRPr lang="zh-HK" altLang="en-US" sz="1000" b="1"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kern="1200" dirty="0">
                          <a:solidFill>
                            <a:schemeClr val="bg1"/>
                          </a:solidFill>
                          <a:latin typeface="Arial" panose="020B0604020202020204" pitchFamily="34" charset="0"/>
                          <a:ea typeface="+mn-ea"/>
                          <a:cs typeface="Arial" panose="020B0604020202020204" pitchFamily="34" charset="0"/>
                          <a:sym typeface="+mn-lt"/>
                        </a:rPr>
                        <a:t>最近收盘价较</a:t>
                      </a:r>
                      <a:endParaRPr lang="en-US" altLang="zh-CN" sz="1000" b="1" kern="1200" dirty="0">
                        <a:solidFill>
                          <a:schemeClr val="bg1"/>
                        </a:solidFill>
                        <a:latin typeface="Arial" panose="020B0604020202020204" pitchFamily="34" charset="0"/>
                        <a:ea typeface="+mn-ea"/>
                        <a:cs typeface="Arial" panose="020B0604020202020204" pitchFamily="34" charset="0"/>
                        <a:sym typeface="+mn-lt"/>
                      </a:endParaRPr>
                    </a:p>
                    <a:p>
                      <a:pPr algn="ctr"/>
                      <a:r>
                        <a:rPr lang="zh-CN" altLang="en-US" sz="1000" b="1" kern="1200" dirty="0">
                          <a:solidFill>
                            <a:schemeClr val="bg1"/>
                          </a:solidFill>
                          <a:latin typeface="Arial" panose="020B0604020202020204" pitchFamily="34" charset="0"/>
                          <a:ea typeface="+mn-ea"/>
                          <a:cs typeface="Arial" panose="020B0604020202020204" pitchFamily="34" charset="0"/>
                          <a:sym typeface="+mn-lt"/>
                        </a:rPr>
                        <a:t>发行价变化</a:t>
                      </a:r>
                      <a:endParaRPr lang="en-US" altLang="zh-CN" sz="1000" b="1" kern="1200" dirty="0">
                        <a:solidFill>
                          <a:schemeClr val="bg1"/>
                        </a:solidFill>
                        <a:latin typeface="Arial" panose="020B0604020202020204" pitchFamily="34" charset="0"/>
                        <a:ea typeface="+mn-ea"/>
                        <a:cs typeface="Arial" panose="020B0604020202020204" pitchFamily="34" charset="0"/>
                        <a:sym typeface="+mn-lt"/>
                      </a:endParaRPr>
                    </a:p>
                    <a:p>
                      <a:pPr algn="ctr"/>
                      <a:r>
                        <a:rPr lang="zh-CN" altLang="en-US" sz="1000" b="1" kern="1200" dirty="0">
                          <a:solidFill>
                            <a:schemeClr val="bg1"/>
                          </a:solidFill>
                          <a:latin typeface="Arial" panose="020B0604020202020204" pitchFamily="34" charset="0"/>
                          <a:ea typeface="+mn-ea"/>
                          <a:cs typeface="Arial" panose="020B0604020202020204" pitchFamily="34" charset="0"/>
                          <a:sym typeface="+mn-lt"/>
                        </a:rPr>
                        <a:t>（</a:t>
                      </a:r>
                      <a:r>
                        <a:rPr lang="en-US" altLang="zh-CN" sz="1000" b="1" kern="1200" dirty="0">
                          <a:solidFill>
                            <a:schemeClr val="bg1"/>
                          </a:solidFill>
                          <a:latin typeface="Arial" panose="020B0604020202020204" pitchFamily="34" charset="0"/>
                          <a:ea typeface="+mn-ea"/>
                          <a:cs typeface="Arial" panose="020B0604020202020204" pitchFamily="34" charset="0"/>
                          <a:sym typeface="+mn-lt"/>
                        </a:rPr>
                        <a:t>%</a:t>
                      </a:r>
                      <a:r>
                        <a:rPr lang="zh-CN" altLang="en-US" sz="1000" b="1" kern="1200" dirty="0">
                          <a:solidFill>
                            <a:schemeClr val="bg1"/>
                          </a:solidFill>
                          <a:latin typeface="Arial" panose="020B0604020202020204" pitchFamily="34" charset="0"/>
                          <a:ea typeface="+mn-ea"/>
                          <a:cs typeface="Arial" panose="020B0604020202020204" pitchFamily="34" charset="0"/>
                          <a:sym typeface="+mn-lt"/>
                        </a:rPr>
                        <a:t>）</a:t>
                      </a:r>
                      <a:endParaRPr lang="zh-HK" altLang="en-US" sz="1000" b="1" kern="1200"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chemeClr val="bg1"/>
                          </a:solidFill>
                          <a:latin typeface="Arial" panose="020B0604020202020204" pitchFamily="34" charset="0"/>
                          <a:ea typeface="+mn-ea"/>
                          <a:cs typeface="Arial" panose="020B0604020202020204" pitchFamily="34" charset="0"/>
                          <a:sym typeface="+mn-lt"/>
                        </a:rPr>
                        <a:t>基石投资者</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基石占比</a:t>
                      </a:r>
                      <a:r>
                        <a:rPr lang="en-US" altLang="zh-CN" sz="1000" b="1" baseline="30000" dirty="0">
                          <a:solidFill>
                            <a:schemeClr val="bg1"/>
                          </a:solidFill>
                          <a:latin typeface="Arial" panose="020B0604020202020204" pitchFamily="34" charset="0"/>
                          <a:ea typeface="+mn-ea"/>
                          <a:cs typeface="Arial" panose="020B0604020202020204" pitchFamily="34" charset="0"/>
                          <a:sym typeface="+mn-lt"/>
                        </a:rPr>
                        <a:t>2</a:t>
                      </a:r>
                      <a:r>
                        <a:rPr lang="zh-CN" altLang="en-US" sz="1000" b="1" dirty="0">
                          <a:solidFill>
                            <a:schemeClr val="bg1"/>
                          </a:solidFill>
                          <a:latin typeface="Arial" panose="020B0604020202020204" pitchFamily="34" charset="0"/>
                          <a:ea typeface="+mn-ea"/>
                          <a:cs typeface="Arial" panose="020B0604020202020204" pitchFamily="34" charset="0"/>
                          <a:sym typeface="+mn-lt"/>
                        </a:rPr>
                        <a:t> </a:t>
                      </a:r>
                      <a:endParaRPr lang="zh-HK" altLang="en-US" sz="1000" b="1" baseline="30000"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香港公开发售</a:t>
                      </a:r>
                      <a:endParaRPr lang="en-US" altLang="zh-CN" sz="1000" b="1" dirty="0">
                        <a:solidFill>
                          <a:schemeClr val="bg1"/>
                        </a:solidFill>
                        <a:latin typeface="Arial" panose="020B0604020202020204" pitchFamily="34" charset="0"/>
                        <a:ea typeface="+mn-ea"/>
                        <a:cs typeface="Arial" panose="020B0604020202020204" pitchFamily="34" charset="0"/>
                        <a:sym typeface="+mn-lt"/>
                      </a:endParaRPr>
                    </a:p>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认购比例</a:t>
                      </a:r>
                      <a:endParaRPr lang="zh-HK" altLang="en-US" sz="1000" b="1"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00" b="1" dirty="0">
                          <a:solidFill>
                            <a:schemeClr val="bg1"/>
                          </a:solidFill>
                          <a:latin typeface="Arial" panose="020B0604020202020204" pitchFamily="34" charset="0"/>
                          <a:ea typeface="+mn-ea"/>
                          <a:cs typeface="Arial" panose="020B0604020202020204" pitchFamily="34" charset="0"/>
                          <a:sym typeface="+mn-lt"/>
                        </a:rPr>
                        <a:t>国际配售</a:t>
                      </a:r>
                      <a:endParaRPr lang="en-US" altLang="zh-CN" sz="1000" b="1" dirty="0">
                        <a:solidFill>
                          <a:schemeClr val="bg1"/>
                        </a:solidFill>
                        <a:latin typeface="Arial" panose="020B0604020202020204" pitchFamily="34" charset="0"/>
                        <a:ea typeface="+mn-ea"/>
                        <a:cs typeface="Arial" panose="020B0604020202020204" pitchFamily="34" charset="0"/>
                        <a:sym typeface="+mn-lt"/>
                      </a:endParaRPr>
                    </a:p>
                    <a:p>
                      <a:pPr algn="ctr"/>
                      <a:r>
                        <a:rPr lang="zh-CN" altLang="en-US" sz="1000" b="1" kern="1200" dirty="0">
                          <a:solidFill>
                            <a:schemeClr val="bg1"/>
                          </a:solidFill>
                          <a:latin typeface="Arial" panose="020B0604020202020204" pitchFamily="34" charset="0"/>
                          <a:ea typeface="+mn-ea"/>
                          <a:cs typeface="Arial" panose="020B0604020202020204" pitchFamily="34" charset="0"/>
                          <a:sym typeface="+mn-lt"/>
                        </a:rPr>
                        <a:t>认购比例</a:t>
                      </a:r>
                      <a:endParaRPr lang="zh-HK" altLang="en-US" sz="1000" b="1" kern="1200" dirty="0">
                        <a:solidFill>
                          <a:schemeClr val="bg1"/>
                        </a:solidFill>
                        <a:latin typeface="Arial" panose="020B0604020202020204" pitchFamily="34" charset="0"/>
                        <a:ea typeface="+mn-ea"/>
                        <a:cs typeface="Arial" panose="020B0604020202020204" pitchFamily="34" charset="0"/>
                        <a:sym typeface="+mn-lt"/>
                      </a:endParaRPr>
                    </a:p>
                  </a:txBody>
                  <a:tcPr marL="0" marR="0" marT="0" marB="0" anchor="ctr">
                    <a:lnL>
                      <a:noFill/>
                    </a:lnL>
                    <a:lnR w="12700">
                      <a:solidFill>
                        <a:srgbClr val="FF0000"/>
                      </a:solidFill>
                      <a:prstDash val="solid"/>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2623380742"/>
                  </a:ext>
                </a:extLst>
              </a:tr>
              <a:tr h="265401">
                <a:tc>
                  <a:txBody>
                    <a:bodyPr/>
                    <a:lstStyle/>
                    <a:p>
                      <a:pPr algn="ctr" fontAlgn="ctr">
                        <a:buClrTx/>
                        <a:buSzTx/>
                        <a:buFontTx/>
                      </a:pPr>
                      <a:r>
                        <a:rPr lang="zh-CN" altLang="en-US" sz="100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广合科技</a:t>
                      </a:r>
                      <a:r>
                        <a:rPr lang="en-US" altLang="zh-CN" sz="1000" b="0" i="0" baseline="30000"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endParaRPr lang="zh-CN" altLang="en-US" sz="1000" b="0" i="0"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ClrTx/>
                        <a:buSzTx/>
                        <a:buFontTx/>
                      </a:pPr>
                      <a:r>
                        <a:rPr lang="zh-CN" altLang="en-US" sz="100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3月20日</a:t>
                      </a: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ClrTx/>
                        <a:buSzTx/>
                        <a:buFontTx/>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33.1</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Arial" panose="020B0604020202020204" pitchFamily="34" charset="0"/>
                          <a:ea typeface="KaiTi" panose="02010609060101010101" pitchFamily="49" charset="-122"/>
                          <a:cs typeface="Arial" panose="020B0604020202020204" pitchFamily="34" charset="0"/>
                        </a:rPr>
                        <a:t>71.88</a:t>
                      </a:r>
                      <a:endParaRPr kumimoji="0" lang="en-US" altLang="en-US" sz="1000" b="0" i="0" u="none" strike="noStrike" kern="1200" cap="none" spc="0" normalizeH="0" baseline="0" dirty="0">
                        <a:ln>
                          <a:noFill/>
                        </a:ln>
                        <a:solidFill>
                          <a:schemeClr val="tx1"/>
                        </a:solidFill>
                        <a:effectLst/>
                        <a:uLnTx/>
                        <a:uFillTx/>
                        <a:latin typeface="Arial" panose="020B0604020202020204" pitchFamily="34" charset="0"/>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FF0000"/>
                          </a:solidFill>
                          <a:effectLst/>
                          <a:uLnTx/>
                          <a:uFillTx/>
                          <a:latin typeface="Arial" panose="020B0604020202020204" pitchFamily="34" charset="0"/>
                          <a:ea typeface="KaiTi" panose="02010609060101010101" pitchFamily="49" charset="-122"/>
                          <a:cs typeface="Arial" panose="020B0604020202020204" pitchFamily="34" charset="0"/>
                        </a:rPr>
                        <a:t>33.6%</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FF0000"/>
                          </a:solidFill>
                          <a:effectLst/>
                          <a:uLnTx/>
                          <a:uFillTx/>
                          <a:latin typeface="Arial" panose="020B0604020202020204" pitchFamily="34" charset="0"/>
                          <a:ea typeface="KaiTi" panose="02010609060101010101" pitchFamily="49" charset="-122"/>
                          <a:cs typeface="Arial" panose="020B0604020202020204" pitchFamily="34" charset="0"/>
                        </a:rPr>
                        <a:t>33.6%</a:t>
                      </a:r>
                    </a:p>
                  </a:txBody>
                  <a:tcPr marL="13017" marR="13017" marT="13017"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KaiTi" panose="02010609060101010101" pitchFamily="49" charset="-122"/>
                          <a:cs typeface="Arial" panose="020B0604020202020204" pitchFamily="34" charset="0"/>
                        </a:rPr>
                        <a:t>12</a:t>
                      </a:r>
                      <a:r>
                        <a:rPr lang="en-US" altLang="zh-CN" sz="1000" b="0" i="0" u="none" strike="noStrike" baseline="30000"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endPar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solidFill>
                          <a:effectLst/>
                          <a:uLnTx/>
                          <a:uFillTx/>
                          <a:latin typeface="Arial" panose="020B0604020202020204" pitchFamily="34" charset="0"/>
                          <a:ea typeface="KaiTi" panose="02010609060101010101" pitchFamily="49" charset="-122"/>
                          <a:cs typeface="Arial" panose="020B0604020202020204" pitchFamily="34" charset="0"/>
                          <a:sym typeface="+mn-ea"/>
                        </a:rPr>
                        <a:t>44.95%</a:t>
                      </a:r>
                      <a:endParaRPr kumimoji="0" lang="en-US" altLang="zh-CN" sz="1000" b="0" i="0" u="none" strike="noStrike" kern="1200" cap="none" spc="0" normalizeH="0" baseline="0" noProof="0" dirty="0">
                        <a:ln>
                          <a:noFill/>
                        </a:ln>
                        <a:solidFill>
                          <a:schemeClr val="tx1"/>
                        </a:solidFill>
                        <a:effectLst/>
                        <a:uLnTx/>
                        <a:uFillTx/>
                        <a:latin typeface="Arial" panose="020B0604020202020204" pitchFamily="34" charset="0"/>
                        <a:ea typeface="KaiTi" panose="02010609060101010101" pitchFamily="49" charset="-122"/>
                        <a:cs typeface="Arial" panose="020B0604020202020204" pitchFamily="34" charset="0"/>
                        <a:sym typeface="+mn-ea"/>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ClrTx/>
                        <a:buSzTx/>
                        <a:buFontTx/>
                      </a:pPr>
                      <a:r>
                        <a:rPr lang="zh-CN" altLang="en-US" sz="100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1,070.7x</a:t>
                      </a:r>
                    </a:p>
                  </a:txBody>
                  <a:tcPr marL="13017" marR="13017" marT="13017"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ClrTx/>
                        <a:buSzTx/>
                        <a:buFontTx/>
                      </a:pPr>
                      <a:r>
                        <a:rPr lang="zh-CN" altLang="en-US" sz="100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14.64x</a:t>
                      </a:r>
                    </a:p>
                  </a:txBody>
                  <a:tcPr marL="13017" marR="13017" marT="13017"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39458866"/>
                  </a:ext>
                </a:extLst>
              </a:tr>
            </a:tbl>
          </a:graphicData>
        </a:graphic>
      </p:graphicFrame>
      <p:sp>
        <p:nvSpPr>
          <p:cNvPr id="3" name="Frame 2">
            <a:extLst>
              <a:ext uri="{FF2B5EF4-FFF2-40B4-BE49-F238E27FC236}">
                <a16:creationId xmlns:a16="http://schemas.microsoft.com/office/drawing/2014/main" id="{4D9481C8-4B52-47CE-6967-FA38AC4CAD1E}"/>
              </a:ext>
            </a:extLst>
          </p:cNvPr>
          <p:cNvSpPr/>
          <p:nvPr/>
        </p:nvSpPr>
        <p:spPr>
          <a:xfrm>
            <a:off x="4283765" y="1272209"/>
            <a:ext cx="1729409" cy="407504"/>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97FB648A-9677-1557-4855-D7E2DDB21DAE}"/>
              </a:ext>
            </a:extLst>
          </p:cNvPr>
          <p:cNvSpPr/>
          <p:nvPr/>
        </p:nvSpPr>
        <p:spPr>
          <a:xfrm>
            <a:off x="2037522" y="1272209"/>
            <a:ext cx="725556" cy="407504"/>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36292A68-E6D2-C846-5942-10A6393A1951}"/>
              </a:ext>
            </a:extLst>
          </p:cNvPr>
          <p:cNvSpPr/>
          <p:nvPr/>
        </p:nvSpPr>
        <p:spPr>
          <a:xfrm>
            <a:off x="7832035" y="1272209"/>
            <a:ext cx="1743208" cy="407504"/>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71305965-7CC8-84BA-CA91-60AF4594998A}"/>
              </a:ext>
            </a:extLst>
          </p:cNvPr>
          <p:cNvSpPr txBox="1"/>
          <p:nvPr/>
        </p:nvSpPr>
        <p:spPr>
          <a:xfrm>
            <a:off x="5893904" y="2633870"/>
            <a:ext cx="877163" cy="369332"/>
          </a:xfrm>
          <a:prstGeom prst="rect">
            <a:avLst/>
          </a:prstGeom>
          <a:noFill/>
        </p:spPr>
        <p:txBody>
          <a:bodyPr wrap="none" rtlCol="0">
            <a:spAutoFit/>
          </a:bodyPr>
          <a:lstStyle/>
          <a:p>
            <a:r>
              <a:rPr lang="en-US" dirty="0" err="1">
                <a:highlight>
                  <a:srgbClr val="FFFF00"/>
                </a:highlight>
              </a:rPr>
              <a:t>抄大表</a:t>
            </a:r>
            <a:endParaRPr lang="en-US" dirty="0">
              <a:highlight>
                <a:srgbClr val="FFFF00"/>
              </a:highlight>
            </a:endParaRPr>
          </a:p>
        </p:txBody>
      </p:sp>
      <p:cxnSp>
        <p:nvCxnSpPr>
          <p:cNvPr id="12" name="Straight Connector 11">
            <a:extLst>
              <a:ext uri="{FF2B5EF4-FFF2-40B4-BE49-F238E27FC236}">
                <a16:creationId xmlns:a16="http://schemas.microsoft.com/office/drawing/2014/main" id="{887877F3-1226-321A-448D-6CE4552313AF}"/>
              </a:ext>
            </a:extLst>
          </p:cNvPr>
          <p:cNvCxnSpPr>
            <a:cxnSpLocks/>
            <a:stCxn id="8" idx="2"/>
            <a:endCxn id="10" idx="0"/>
          </p:cNvCxnSpPr>
          <p:nvPr/>
        </p:nvCxnSpPr>
        <p:spPr>
          <a:xfrm>
            <a:off x="2400300" y="1679713"/>
            <a:ext cx="3932186" cy="95415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19F8462-2177-3E24-9F0E-FC94CD79F943}"/>
              </a:ext>
            </a:extLst>
          </p:cNvPr>
          <p:cNvCxnSpPr>
            <a:cxnSpLocks/>
            <a:endCxn id="10" idx="0"/>
          </p:cNvCxnSpPr>
          <p:nvPr/>
        </p:nvCxnSpPr>
        <p:spPr>
          <a:xfrm>
            <a:off x="5108713" y="1679713"/>
            <a:ext cx="1223773" cy="95415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B2E5C6-D66C-BAFD-CC70-5788A35E7035}"/>
              </a:ext>
            </a:extLst>
          </p:cNvPr>
          <p:cNvCxnSpPr>
            <a:cxnSpLocks/>
            <a:stCxn id="9" idx="2"/>
            <a:endCxn id="10" idx="0"/>
          </p:cNvCxnSpPr>
          <p:nvPr/>
        </p:nvCxnSpPr>
        <p:spPr>
          <a:xfrm flipH="1">
            <a:off x="6332486" y="1679713"/>
            <a:ext cx="2371153" cy="95415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1" name="Frame 20">
            <a:extLst>
              <a:ext uri="{FF2B5EF4-FFF2-40B4-BE49-F238E27FC236}">
                <a16:creationId xmlns:a16="http://schemas.microsoft.com/office/drawing/2014/main" id="{4A5DCB59-E7B2-91E0-E9E6-8FF3C2083960}"/>
              </a:ext>
            </a:extLst>
          </p:cNvPr>
          <p:cNvSpPr/>
          <p:nvPr/>
        </p:nvSpPr>
        <p:spPr>
          <a:xfrm>
            <a:off x="477430" y="1338353"/>
            <a:ext cx="1560092" cy="254789"/>
          </a:xfrm>
          <a:prstGeom prst="fram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ame 21">
            <a:extLst>
              <a:ext uri="{FF2B5EF4-FFF2-40B4-BE49-F238E27FC236}">
                <a16:creationId xmlns:a16="http://schemas.microsoft.com/office/drawing/2014/main" id="{41F06F05-F06F-C0B6-882D-226A3AE9654A}"/>
              </a:ext>
            </a:extLst>
          </p:cNvPr>
          <p:cNvSpPr/>
          <p:nvPr/>
        </p:nvSpPr>
        <p:spPr>
          <a:xfrm>
            <a:off x="2832212" y="1338353"/>
            <a:ext cx="1451553" cy="254789"/>
          </a:xfrm>
          <a:prstGeom prst="fram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ame 22">
            <a:extLst>
              <a:ext uri="{FF2B5EF4-FFF2-40B4-BE49-F238E27FC236}">
                <a16:creationId xmlns:a16="http://schemas.microsoft.com/office/drawing/2014/main" id="{D89029C4-825E-8216-FF95-58EB0FDD76D4}"/>
              </a:ext>
            </a:extLst>
          </p:cNvPr>
          <p:cNvSpPr/>
          <p:nvPr/>
        </p:nvSpPr>
        <p:spPr>
          <a:xfrm>
            <a:off x="6013174" y="1272209"/>
            <a:ext cx="1818861" cy="387077"/>
          </a:xfrm>
          <a:prstGeom prst="fram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A84EA862-A31D-4A4F-A753-01F6EA1D3EA6}"/>
              </a:ext>
            </a:extLst>
          </p:cNvPr>
          <p:cNvSpPr txBox="1"/>
          <p:nvPr/>
        </p:nvSpPr>
        <p:spPr>
          <a:xfrm>
            <a:off x="1198949" y="2646125"/>
            <a:ext cx="4339650" cy="1200329"/>
          </a:xfrm>
          <a:prstGeom prst="rect">
            <a:avLst/>
          </a:prstGeom>
          <a:noFill/>
        </p:spPr>
        <p:txBody>
          <a:bodyPr wrap="none" rtlCol="0">
            <a:spAutoFit/>
          </a:bodyPr>
          <a:lstStyle/>
          <a:p>
            <a:r>
              <a:rPr lang="en-US" dirty="0" err="1">
                <a:highlight>
                  <a:srgbClr val="FFFF00"/>
                </a:highlight>
              </a:rPr>
              <a:t>抄上个礼拜的周报</a:t>
            </a:r>
            <a:r>
              <a:rPr lang="zh-CN" altLang="en-US" dirty="0">
                <a:highlight>
                  <a:srgbClr val="FFFF00"/>
                </a:highlight>
              </a:rPr>
              <a:t>，上个礼拜是抄瑞恩的</a:t>
            </a:r>
            <a:endParaRPr lang="en-US" altLang="zh-CN" dirty="0">
              <a:highlight>
                <a:srgbClr val="FFFF00"/>
              </a:highlight>
            </a:endParaRPr>
          </a:p>
          <a:p>
            <a:r>
              <a:rPr lang="en-US" dirty="0" err="1">
                <a:highlight>
                  <a:srgbClr val="FFFF00"/>
                </a:highlight>
              </a:rPr>
              <a:t>留意有superscript</a:t>
            </a:r>
            <a:r>
              <a:rPr lang="zh-CN" altLang="en-US" dirty="0">
                <a:highlight>
                  <a:srgbClr val="FFFF00"/>
                </a:highlight>
              </a:rPr>
              <a:t>，</a:t>
            </a:r>
            <a:r>
              <a:rPr lang="zh-CN" altLang="en-US" dirty="0">
                <a:solidFill>
                  <a:srgbClr val="000000"/>
                </a:solidFill>
                <a:highlight>
                  <a:srgbClr val="FFFF00"/>
                </a:highlight>
                <a:latin typeface="Arial" panose="020B0604020202020204" pitchFamily="34" charset="0"/>
                <a:ea typeface="KaiTi" panose="02010609060101010101" pitchFamily="49" charset="-122"/>
                <a:cs typeface="Arial" panose="020B0604020202020204" pitchFamily="34" charset="0"/>
              </a:rPr>
              <a:t>广合科技</a:t>
            </a:r>
            <a:r>
              <a:rPr lang="en-US" altLang="zh-CN" baseline="30000" dirty="0">
                <a:solidFill>
                  <a:srgbClr val="FF0000"/>
                </a:solidFill>
                <a:highlight>
                  <a:srgbClr val="FFFF00"/>
                </a:highlight>
                <a:latin typeface="Arial" panose="020B0604020202020204" pitchFamily="34" charset="0"/>
                <a:ea typeface="KaiTi" panose="02010609060101010101" pitchFamily="49" charset="-122"/>
                <a:cs typeface="Arial" panose="020B0604020202020204" pitchFamily="34" charset="0"/>
              </a:rPr>
              <a:t>3</a:t>
            </a:r>
            <a:r>
              <a:rPr lang="zh-CN" altLang="en-US" dirty="0">
                <a:highlight>
                  <a:srgbClr val="FFFF00"/>
                </a:highlight>
                <a:latin typeface="Arial" panose="020B0604020202020204" pitchFamily="34" charset="0"/>
                <a:ea typeface="KaiTi" panose="02010609060101010101" pitchFamily="49" charset="-122"/>
                <a:cs typeface="Arial" panose="020B0604020202020204" pitchFamily="34" charset="0"/>
              </a:rPr>
              <a:t>，</a:t>
            </a:r>
            <a:r>
              <a:rPr lang="en-US" altLang="zh-CN" dirty="0">
                <a:solidFill>
                  <a:srgbClr val="000000"/>
                </a:solidFill>
                <a:highlight>
                  <a:srgbClr val="FFFF00"/>
                </a:highlight>
                <a:latin typeface="Arial" panose="020B0604020202020204" pitchFamily="34" charset="0"/>
                <a:ea typeface="KaiTi" panose="02010609060101010101" pitchFamily="49" charset="-122"/>
                <a:cs typeface="Arial" panose="020B0604020202020204" pitchFamily="34" charset="0"/>
              </a:rPr>
              <a:t>12</a:t>
            </a:r>
            <a:r>
              <a:rPr lang="en-US" altLang="zh-CN" baseline="30000" dirty="0">
                <a:solidFill>
                  <a:srgbClr val="FF0000"/>
                </a:solidFill>
                <a:highlight>
                  <a:srgbClr val="FFFF00"/>
                </a:highlight>
                <a:latin typeface="Arial" panose="020B0604020202020204" pitchFamily="34" charset="0"/>
                <a:ea typeface="KaiTi" panose="02010609060101010101" pitchFamily="49" charset="-122"/>
                <a:cs typeface="Arial" panose="020B0604020202020204" pitchFamily="34" charset="0"/>
              </a:rPr>
              <a:t>4</a:t>
            </a:r>
            <a:endParaRPr lang="en-US" altLang="zh-CN" dirty="0">
              <a:solidFill>
                <a:srgbClr val="FF0000"/>
              </a:solidFill>
              <a:highlight>
                <a:srgbClr val="FFFF00"/>
              </a:highlight>
              <a:latin typeface="Arial" panose="020B0604020202020204" pitchFamily="34" charset="0"/>
              <a:ea typeface="KaiTi" panose="02010609060101010101" pitchFamily="49" charset="-122"/>
              <a:cs typeface="Arial" panose="020B0604020202020204" pitchFamily="34" charset="0"/>
            </a:endParaRPr>
          </a:p>
          <a:p>
            <a:endParaRPr lang="zh-CN" altLang="en-US" dirty="0">
              <a:solidFill>
                <a:srgbClr val="FF0000"/>
              </a:solidFill>
              <a:highlight>
                <a:srgbClr val="FFFF00"/>
              </a:highlight>
              <a:latin typeface="Arial" panose="020B0604020202020204" pitchFamily="34" charset="0"/>
              <a:ea typeface="KaiTi" panose="02010609060101010101" pitchFamily="49" charset="-122"/>
              <a:cs typeface="Arial" panose="020B0604020202020204" pitchFamily="34" charset="0"/>
            </a:endParaRPr>
          </a:p>
          <a:p>
            <a:endParaRPr lang="en-US" dirty="0">
              <a:highlight>
                <a:srgbClr val="FFFF00"/>
              </a:highlight>
            </a:endParaRPr>
          </a:p>
        </p:txBody>
      </p:sp>
      <p:cxnSp>
        <p:nvCxnSpPr>
          <p:cNvPr id="26" name="Straight Connector 25">
            <a:extLst>
              <a:ext uri="{FF2B5EF4-FFF2-40B4-BE49-F238E27FC236}">
                <a16:creationId xmlns:a16="http://schemas.microsoft.com/office/drawing/2014/main" id="{E7FADA43-81DD-1409-1284-EC95292119B4}"/>
              </a:ext>
            </a:extLst>
          </p:cNvPr>
          <p:cNvCxnSpPr>
            <a:cxnSpLocks/>
            <a:endCxn id="24" idx="0"/>
          </p:cNvCxnSpPr>
          <p:nvPr/>
        </p:nvCxnSpPr>
        <p:spPr>
          <a:xfrm>
            <a:off x="978216" y="1389857"/>
            <a:ext cx="2390558" cy="1256268"/>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3D3451F-99AB-B47B-AC91-1E07AC1AA7F0}"/>
              </a:ext>
            </a:extLst>
          </p:cNvPr>
          <p:cNvCxnSpPr>
            <a:cxnSpLocks/>
            <a:stCxn id="22" idx="2"/>
            <a:endCxn id="24" idx="0"/>
          </p:cNvCxnSpPr>
          <p:nvPr/>
        </p:nvCxnSpPr>
        <p:spPr>
          <a:xfrm flipH="1">
            <a:off x="3368774" y="1593142"/>
            <a:ext cx="189215" cy="1052983"/>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F91D289-F453-200F-8858-31609D905FEE}"/>
              </a:ext>
            </a:extLst>
          </p:cNvPr>
          <p:cNvCxnSpPr>
            <a:cxnSpLocks/>
            <a:stCxn id="23" idx="2"/>
            <a:endCxn id="24" idx="0"/>
          </p:cNvCxnSpPr>
          <p:nvPr/>
        </p:nvCxnSpPr>
        <p:spPr>
          <a:xfrm flipH="1">
            <a:off x="3368774" y="1659286"/>
            <a:ext cx="3553831" cy="98683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34" name="Frame 33">
            <a:extLst>
              <a:ext uri="{FF2B5EF4-FFF2-40B4-BE49-F238E27FC236}">
                <a16:creationId xmlns:a16="http://schemas.microsoft.com/office/drawing/2014/main" id="{4D01EE35-210C-A5B2-EFD4-5771C465EE7E}"/>
              </a:ext>
            </a:extLst>
          </p:cNvPr>
          <p:cNvSpPr/>
          <p:nvPr/>
        </p:nvSpPr>
        <p:spPr>
          <a:xfrm>
            <a:off x="1856836" y="5503484"/>
            <a:ext cx="1086928" cy="215982"/>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6440F613-A9F6-826B-E7E9-D164FA883067}"/>
              </a:ext>
            </a:extLst>
          </p:cNvPr>
          <p:cNvSpPr txBox="1"/>
          <p:nvPr/>
        </p:nvSpPr>
        <p:spPr>
          <a:xfrm>
            <a:off x="381000" y="3520807"/>
            <a:ext cx="5480988" cy="369332"/>
          </a:xfrm>
          <a:prstGeom prst="rect">
            <a:avLst/>
          </a:prstGeom>
          <a:noFill/>
        </p:spPr>
        <p:txBody>
          <a:bodyPr wrap="none" rtlCol="0">
            <a:spAutoFit/>
          </a:bodyPr>
          <a:lstStyle/>
          <a:p>
            <a:r>
              <a:rPr lang="en-US" dirty="0" err="1">
                <a:highlight>
                  <a:srgbClr val="FFFF00"/>
                </a:highlight>
              </a:rPr>
              <a:t>去大表看今周上市的公司</a:t>
            </a:r>
            <a:r>
              <a:rPr lang="zh-CN" altLang="en-US" dirty="0">
                <a:highlight>
                  <a:srgbClr val="FFFF00"/>
                </a:highlight>
              </a:rPr>
              <a:t>，不要</a:t>
            </a:r>
            <a:r>
              <a:rPr lang="en-US" altLang="zh-CN" dirty="0">
                <a:highlight>
                  <a:srgbClr val="FFFF00"/>
                </a:highlight>
              </a:rPr>
              <a:t>GEM</a:t>
            </a:r>
            <a:r>
              <a:rPr lang="zh-CN" altLang="en-US" dirty="0">
                <a:highlight>
                  <a:srgbClr val="FFFF00"/>
                </a:highlight>
              </a:rPr>
              <a:t>或介绍上市的</a:t>
            </a:r>
            <a:endParaRPr lang="en-US" dirty="0">
              <a:highlight>
                <a:srgbClr val="FFFF00"/>
              </a:highlight>
            </a:endParaRPr>
          </a:p>
        </p:txBody>
      </p:sp>
      <p:cxnSp>
        <p:nvCxnSpPr>
          <p:cNvPr id="37" name="Straight Arrow Connector 36">
            <a:extLst>
              <a:ext uri="{FF2B5EF4-FFF2-40B4-BE49-F238E27FC236}">
                <a16:creationId xmlns:a16="http://schemas.microsoft.com/office/drawing/2014/main" id="{2D76136B-9473-E919-27B1-92A55EA5DD1E}"/>
              </a:ext>
            </a:extLst>
          </p:cNvPr>
          <p:cNvCxnSpPr>
            <a:cxnSpLocks/>
          </p:cNvCxnSpPr>
          <p:nvPr/>
        </p:nvCxnSpPr>
        <p:spPr>
          <a:xfrm flipH="1">
            <a:off x="3006671" y="3921455"/>
            <a:ext cx="1086928" cy="1813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Frame 40">
            <a:extLst>
              <a:ext uri="{FF2B5EF4-FFF2-40B4-BE49-F238E27FC236}">
                <a16:creationId xmlns:a16="http://schemas.microsoft.com/office/drawing/2014/main" id="{D8BF10D7-F2AA-FB69-DCA8-31032C373C0D}"/>
              </a:ext>
            </a:extLst>
          </p:cNvPr>
          <p:cNvSpPr/>
          <p:nvPr/>
        </p:nvSpPr>
        <p:spPr>
          <a:xfrm>
            <a:off x="210895" y="5938482"/>
            <a:ext cx="9364348" cy="510846"/>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TextBox 41">
            <a:extLst>
              <a:ext uri="{FF2B5EF4-FFF2-40B4-BE49-F238E27FC236}">
                <a16:creationId xmlns:a16="http://schemas.microsoft.com/office/drawing/2014/main" id="{040E5960-01BD-8058-42CA-378AA782F60D}"/>
              </a:ext>
            </a:extLst>
          </p:cNvPr>
          <p:cNvSpPr txBox="1"/>
          <p:nvPr/>
        </p:nvSpPr>
        <p:spPr>
          <a:xfrm>
            <a:off x="1598940" y="4961741"/>
            <a:ext cx="877163" cy="369332"/>
          </a:xfrm>
          <a:prstGeom prst="rect">
            <a:avLst/>
          </a:prstGeom>
          <a:noFill/>
        </p:spPr>
        <p:txBody>
          <a:bodyPr wrap="none" rtlCol="0">
            <a:spAutoFit/>
          </a:bodyPr>
          <a:lstStyle/>
          <a:p>
            <a:r>
              <a:rPr lang="en-US" dirty="0" err="1">
                <a:highlight>
                  <a:srgbClr val="FFFF00"/>
                </a:highlight>
              </a:rPr>
              <a:t>改日期</a:t>
            </a:r>
            <a:endParaRPr lang="en-US" dirty="0">
              <a:highlight>
                <a:srgbClr val="FFFF00"/>
              </a:highlight>
            </a:endParaRPr>
          </a:p>
        </p:txBody>
      </p:sp>
      <p:cxnSp>
        <p:nvCxnSpPr>
          <p:cNvPr id="44" name="Straight Connector 43">
            <a:extLst>
              <a:ext uri="{FF2B5EF4-FFF2-40B4-BE49-F238E27FC236}">
                <a16:creationId xmlns:a16="http://schemas.microsoft.com/office/drawing/2014/main" id="{CE33169A-59C3-3651-50EF-B23A8F2EE1FD}"/>
              </a:ext>
            </a:extLst>
          </p:cNvPr>
          <p:cNvCxnSpPr>
            <a:cxnSpLocks/>
            <a:stCxn id="42" idx="2"/>
            <a:endCxn id="34" idx="0"/>
          </p:cNvCxnSpPr>
          <p:nvPr/>
        </p:nvCxnSpPr>
        <p:spPr>
          <a:xfrm>
            <a:off x="2037522" y="5331073"/>
            <a:ext cx="362778" cy="172411"/>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1DD9F1EF-69A3-3131-A2A7-F0FA0C583873}"/>
              </a:ext>
            </a:extLst>
          </p:cNvPr>
          <p:cNvSpPr txBox="1"/>
          <p:nvPr/>
        </p:nvSpPr>
        <p:spPr>
          <a:xfrm>
            <a:off x="6332485" y="5207626"/>
            <a:ext cx="1338828" cy="369332"/>
          </a:xfrm>
          <a:prstGeom prst="rect">
            <a:avLst/>
          </a:prstGeom>
          <a:noFill/>
        </p:spPr>
        <p:txBody>
          <a:bodyPr wrap="none" rtlCol="0">
            <a:spAutoFit/>
          </a:bodyPr>
          <a:lstStyle/>
          <a:p>
            <a:r>
              <a:rPr lang="en-US" dirty="0" err="1">
                <a:highlight>
                  <a:srgbClr val="FFFF00"/>
                </a:highlight>
              </a:rPr>
              <a:t>抄上星期的</a:t>
            </a:r>
            <a:endParaRPr lang="en-US" dirty="0">
              <a:highlight>
                <a:srgbClr val="FFFF00"/>
              </a:highlight>
            </a:endParaRPr>
          </a:p>
        </p:txBody>
      </p:sp>
      <p:cxnSp>
        <p:nvCxnSpPr>
          <p:cNvPr id="48" name="Straight Connector 47">
            <a:extLst>
              <a:ext uri="{FF2B5EF4-FFF2-40B4-BE49-F238E27FC236}">
                <a16:creationId xmlns:a16="http://schemas.microsoft.com/office/drawing/2014/main" id="{5817CE05-8731-7CC5-28C5-89F649366A30}"/>
              </a:ext>
            </a:extLst>
          </p:cNvPr>
          <p:cNvCxnSpPr>
            <a:cxnSpLocks/>
            <a:stCxn id="46" idx="2"/>
          </p:cNvCxnSpPr>
          <p:nvPr/>
        </p:nvCxnSpPr>
        <p:spPr>
          <a:xfrm flipH="1">
            <a:off x="4893069" y="5576958"/>
            <a:ext cx="2108830" cy="342463"/>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1C24-DE78-81DD-235E-470BE2E3B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D5FFE-3ED6-B891-2925-CD65926A7662}"/>
              </a:ext>
            </a:extLst>
          </p:cNvPr>
          <p:cNvSpPr>
            <a:spLocks noGrp="1"/>
          </p:cNvSpPr>
          <p:nvPr>
            <p:ph type="title"/>
          </p:nvPr>
        </p:nvSpPr>
        <p:spPr/>
        <p:txBody>
          <a:bodyPr>
            <a:normAutofit/>
          </a:bodyPr>
          <a:lstStyle/>
          <a:p>
            <a:r>
              <a:rPr lang="zh-CN" altLang="en-US" dirty="0">
                <a:latin typeface="+mn-lt"/>
                <a:ea typeface="+mn-ea"/>
                <a:cs typeface="+mn-ea"/>
                <a:sym typeface="+mn-lt"/>
              </a:rPr>
              <a:t>过去一周香港新股市场概览（续）</a:t>
            </a:r>
          </a:p>
        </p:txBody>
      </p:sp>
      <p:sp>
        <p:nvSpPr>
          <p:cNvPr id="3" name="TextBox 2">
            <a:extLst>
              <a:ext uri="{FF2B5EF4-FFF2-40B4-BE49-F238E27FC236}">
                <a16:creationId xmlns:a16="http://schemas.microsoft.com/office/drawing/2014/main" id="{9B7892F7-EEC4-D7F0-0062-9FA098955523}"/>
              </a:ext>
            </a:extLst>
          </p:cNvPr>
          <p:cNvSpPr txBox="1"/>
          <p:nvPr/>
        </p:nvSpPr>
        <p:spPr>
          <a:xfrm>
            <a:off x="1192562" y="-1363082"/>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dirty="0">
                <a:cs typeface="+mn-ea"/>
                <a:sym typeface="+mn-lt"/>
                <a:hlinkClick r:id="rId3"/>
              </a:rPr>
              <a:t>http://www.aastocks.com/tc/stocks/market/ipo/upcomingipo/company-summary</a:t>
            </a:r>
            <a:r>
              <a:rPr lang="en-US" sz="1200" dirty="0">
                <a:cs typeface="+mn-ea"/>
                <a:sym typeface="+mn-lt"/>
              </a:rPr>
              <a:t> </a:t>
            </a:r>
          </a:p>
        </p:txBody>
      </p:sp>
      <p:sp>
        <p:nvSpPr>
          <p:cNvPr id="15" name="灯片编号占位符 14">
            <a:extLst>
              <a:ext uri="{FF2B5EF4-FFF2-40B4-BE49-F238E27FC236}">
                <a16:creationId xmlns:a16="http://schemas.microsoft.com/office/drawing/2014/main" id="{1A840792-A9B1-C854-E3BA-C8293CE61D09}"/>
              </a:ext>
            </a:extLst>
          </p:cNvPr>
          <p:cNvSpPr>
            <a:spLocks noGrp="1"/>
          </p:cNvSpPr>
          <p:nvPr>
            <p:ph type="sldNum" sz="quarter" idx="16"/>
          </p:nvPr>
        </p:nvSpPr>
        <p:spPr/>
        <p:txBody>
          <a:bodyPr/>
          <a:lstStyle/>
          <a:p>
            <a:fld id="{72E6F1C1-8568-433B-B05E-E21B84158B67}" type="slidenum">
              <a:rPr lang="en-US" smtClean="0"/>
              <a:t>7</a:t>
            </a:fld>
            <a:endParaRPr lang="en-US" dirty="0"/>
          </a:p>
        </p:txBody>
      </p:sp>
      <p:sp>
        <p:nvSpPr>
          <p:cNvPr id="11" name="Rectangle 3">
            <a:extLst>
              <a:ext uri="{FF2B5EF4-FFF2-40B4-BE49-F238E27FC236}">
                <a16:creationId xmlns:a16="http://schemas.microsoft.com/office/drawing/2014/main" id="{8428B03F-346C-E3F6-6836-C4D1DB7A68BE}"/>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67948873-0CAF-306A-4062-FCD06E399799}"/>
              </a:ext>
            </a:extLst>
          </p:cNvPr>
          <p:cNvSpPr>
            <a:spLocks noChangeArrowheads="1"/>
          </p:cNvSpPr>
          <p:nvPr/>
        </p:nvSpPr>
        <p:spPr bwMode="auto">
          <a:xfrm>
            <a:off x="4952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6">
            <a:extLst>
              <a:ext uri="{FF2B5EF4-FFF2-40B4-BE49-F238E27FC236}">
                <a16:creationId xmlns:a16="http://schemas.microsoft.com/office/drawing/2014/main" id="{7CB4E208-52BD-F8E5-3D84-423B07527137}"/>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Rectangle 7">
            <a:extLst>
              <a:ext uri="{FF2B5EF4-FFF2-40B4-BE49-F238E27FC236}">
                <a16:creationId xmlns:a16="http://schemas.microsoft.com/office/drawing/2014/main" id="{3AD42AAA-0700-22A9-A27B-555A97B49AC5}"/>
              </a:ext>
            </a:extLst>
          </p:cNvPr>
          <p:cNvSpPr/>
          <p:nvPr/>
        </p:nvSpPr>
        <p:spPr>
          <a:xfrm>
            <a:off x="377190" y="546154"/>
            <a:ext cx="9006737" cy="215265"/>
          </a:xfrm>
          <a:prstGeom prst="rect">
            <a:avLst/>
          </a:prstGeom>
        </p:spPr>
        <p:txBody>
          <a:bodyPr wrap="square" lIns="0" tIns="0" rIns="0" bIns="0" anchor="ctr">
            <a:spAutoFit/>
          </a:bodyPr>
          <a:lstStyle/>
          <a:p>
            <a:r>
              <a:rPr lang="zh-CN" altLang="en-US" sz="1400" b="1" u="sng" dirty="0">
                <a:solidFill>
                  <a:schemeClr val="accent1"/>
                </a:solidFill>
                <a:cs typeface="+mn-ea"/>
                <a:sym typeface="+mn-lt"/>
              </a:rPr>
              <a:t>上周进行公开发售或定价的新股项目</a:t>
            </a:r>
            <a:r>
              <a:rPr lang="en-US" altLang="zh-CN" sz="1400" b="1" u="sng" baseline="30000" dirty="0">
                <a:solidFill>
                  <a:schemeClr val="accent1"/>
                </a:solidFill>
                <a:cs typeface="+mn-ea"/>
                <a:sym typeface="+mn-lt"/>
              </a:rPr>
              <a:t>1</a:t>
            </a:r>
            <a:endParaRPr lang="zh-CN" altLang="en-US" sz="1400" b="1" u="sng" baseline="30000" dirty="0">
              <a:solidFill>
                <a:schemeClr val="accent1"/>
              </a:solidFill>
              <a:cs typeface="+mn-ea"/>
              <a:sym typeface="+mn-lt"/>
            </a:endParaRPr>
          </a:p>
        </p:txBody>
      </p:sp>
      <p:sp>
        <p:nvSpPr>
          <p:cNvPr id="10" name="Text Placeholder FN">
            <a:extLst>
              <a:ext uri="{FF2B5EF4-FFF2-40B4-BE49-F238E27FC236}">
                <a16:creationId xmlns:a16="http://schemas.microsoft.com/office/drawing/2014/main" id="{80536D9A-D579-B0DC-3E09-B2A15CAD64D4}"/>
              </a:ext>
            </a:extLst>
          </p:cNvPr>
          <p:cNvSpPr txBox="1"/>
          <p:nvPr/>
        </p:nvSpPr>
        <p:spPr>
          <a:xfrm>
            <a:off x="248534" y="3337560"/>
            <a:ext cx="9264047" cy="3337560"/>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资料来源：</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Dealogic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、港交所网站（截至</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2026</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年</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3</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月</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20</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日）</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只包括主板</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IPO</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项目，不包括创业板项目。</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以基础发行规模测算，假设发售量调整权未获行使。</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3</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以基础发行规模，按价格区间中端测算（若有）。</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4</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极视角，前身为成立于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年的深圳极视角，作为是中国</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AI</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计算器视觉解决方案提供商，为各行各业的企业提供端到端解决方案开发、部署及管理服务，此外亦提供具有商业可行性的大模型解决方案以赋能企业进行数字化转型方面。</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5: </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极视角是次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4720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万港元的发售股份，基石投资者包括济南中财金投资旗下政金国际、马来西亚上市公司</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GKM(3204.HK)</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旗下</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GKI</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6:</a:t>
            </a:r>
            <a:r>
              <a:rPr lang="en-HK"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瀚天天成，成立于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2011</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年，由碳化硅行业内顶级科学家赵建辉博士创立，作为全球碳化硅外延行业的领导者，主要从事碳化硅外延晶片的研发、量产及销售。</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7</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HK"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瀚天天成是次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名基石投资者，厦门先进制造业基金认购约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7.75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8</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同仁堂医养，成立于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年，作为同仁堂旗下一家战略性聚焦中国中医医疗服务集团，为个人客户提供全面中医医疗服务，为机构客户提供标准化管理服务，并提供各种医药产品及其他产品。</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9</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HK"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同仁堂医养是次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3.893</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亿港元的发售股份，基石投资者包括郑州航空港科创旗下航空港科技资本、</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Aurora SF(</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最终客户包括北京仟草、安国百德、北京本草、海口澜鑫</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10</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HK"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德适生物</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-B</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2016</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年，作为一家专注于开发医学影像产品及服务的医疗器械公司，公司自主研发的</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iMedImage</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是世界上参数规模最大的通用型医学影像基座模型，也是唯一与预训练显微成像技术深度集成的通用模型，已成功实现商业化。</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11</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德适生物是次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招股未引入基石投资者</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12</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华沿机器人，成立于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2017</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年，作为一家协作机器人公司，从事面向工业自动化应用的协作机器人及核心运动部件的研发、生产和销售。</a:t>
            </a:r>
            <a:endPar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13</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华沿机器人是次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9</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9840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万美元</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7.70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HHLRA(</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高瓴</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、广发基金、</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Morgan Stanley、</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晟信集团、灏浚投资、</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Eternal Summer(</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夏佐全信托旗下</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Shrewd Pioneer(</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方绍云</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、全顺</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粤德贸易</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VVC Technology</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p:txBody>
      </p:sp>
      <p:sp>
        <p:nvSpPr>
          <p:cNvPr id="7" name="TextBox 6">
            <a:extLst>
              <a:ext uri="{FF2B5EF4-FFF2-40B4-BE49-F238E27FC236}">
                <a16:creationId xmlns:a16="http://schemas.microsoft.com/office/drawing/2014/main" id="{F89F3B1A-9207-92B0-A91C-DE57643C7F38}"/>
              </a:ext>
            </a:extLst>
          </p:cNvPr>
          <p:cNvSpPr txBox="1"/>
          <p:nvPr/>
        </p:nvSpPr>
        <p:spPr>
          <a:xfrm>
            <a:off x="236224" y="3122580"/>
            <a:ext cx="8448675" cy="861774"/>
          </a:xfrm>
          <a:prstGeom prst="rect">
            <a:avLst/>
          </a:prstGeom>
          <a:noFill/>
        </p:spPr>
        <p:txBody>
          <a:bodyPr wrap="square" rtlCol="0">
            <a:spAutoFit/>
          </a:bodyPr>
          <a:lstStyle/>
          <a:p>
            <a:endParaRPr lang="zh-CN" altLang="en-US" sz="1200" dirty="0">
              <a:latin typeface="Arial" panose="020B0604020202020204" pitchFamily="34" charset="0"/>
              <a:cs typeface="Arial" panose="020B0604020202020204" pitchFamily="34" charset="0"/>
              <a:sym typeface="+mn-lt"/>
            </a:endParaRPr>
          </a:p>
          <a:p>
            <a:r>
              <a:rPr lang="en-US" sz="1400" dirty="0">
                <a:highlight>
                  <a:srgbClr val="FFFF00"/>
                </a:highlight>
                <a:latin typeface="Arial" panose="020B0604020202020204" pitchFamily="34" charset="0"/>
                <a:cs typeface="Arial" panose="020B0604020202020204" pitchFamily="34" charset="0"/>
                <a:sym typeface="+mn-lt"/>
                <a:hlinkClick r:id="rId3"/>
              </a:rPr>
              <a:t>http://www.aastocks.com/tc/stocks/market/ipo/upcomingipo/company-summary</a:t>
            </a:r>
            <a:r>
              <a:rPr lang="en-US" sz="1400" dirty="0">
                <a:highlight>
                  <a:srgbClr val="FFFF00"/>
                </a:highlight>
                <a:latin typeface="Arial" panose="020B0604020202020204" pitchFamily="34" charset="0"/>
                <a:cs typeface="Arial" panose="020B0604020202020204" pitchFamily="34" charset="0"/>
                <a:sym typeface="+mn-lt"/>
              </a:rPr>
              <a:t> </a:t>
            </a:r>
            <a:br>
              <a:rPr lang="en-US" sz="1200" dirty="0">
                <a:highlight>
                  <a:srgbClr val="FFFF00"/>
                </a:highlight>
                <a:latin typeface="Arial" panose="020B0604020202020204" pitchFamily="34" charset="0"/>
                <a:cs typeface="Arial" panose="020B0604020202020204" pitchFamily="34" charset="0"/>
                <a:sym typeface="+mn-lt"/>
              </a:rPr>
            </a:br>
            <a:r>
              <a:rPr lang="en-US" sz="1200" dirty="0" err="1">
                <a:highlight>
                  <a:srgbClr val="FFFF00"/>
                </a:highlight>
                <a:latin typeface="Arial" panose="020B0604020202020204" pitchFamily="34" charset="0"/>
                <a:cs typeface="Arial" panose="020B0604020202020204" pitchFamily="34" charset="0"/>
                <a:sym typeface="+mn-lt"/>
              </a:rPr>
              <a:t>名字copy下面的description</a:t>
            </a:r>
            <a:r>
              <a:rPr lang="en-US" sz="1200" dirty="0">
                <a:highlight>
                  <a:srgbClr val="FFFF00"/>
                </a:highlight>
                <a:latin typeface="Arial" panose="020B0604020202020204" pitchFamily="34" charset="0"/>
                <a:cs typeface="Arial" panose="020B0604020202020204" pitchFamily="34" charset="0"/>
                <a:sym typeface="+mn-lt"/>
              </a:rPr>
              <a:t>, </a:t>
            </a:r>
            <a:r>
              <a:rPr lang="en-US" sz="1200" dirty="0" err="1">
                <a:highlight>
                  <a:srgbClr val="FFFF00"/>
                </a:highlight>
                <a:latin typeface="Arial" panose="020B0604020202020204" pitchFamily="34" charset="0"/>
                <a:cs typeface="Arial" panose="020B0604020202020204" pitchFamily="34" charset="0"/>
                <a:sym typeface="+mn-lt"/>
              </a:rPr>
              <a:t>留意加</a:t>
            </a:r>
            <a:r>
              <a:rPr lang="zh-CN" altLang="en-US" sz="1200" dirty="0">
                <a:highlight>
                  <a:srgbClr val="FFFF00"/>
                </a:highlight>
                <a:latin typeface="Arial" panose="020B0604020202020204" pitchFamily="34" charset="0"/>
                <a:cs typeface="Arial" panose="020B0604020202020204" pitchFamily="34" charset="0"/>
                <a:sym typeface="+mn-lt"/>
              </a:rPr>
              <a:t> </a:t>
            </a:r>
            <a:r>
              <a:rPr lang="en-US" altLang="zh-CN" sz="1200" dirty="0">
                <a:highlight>
                  <a:srgbClr val="FFFF00"/>
                </a:highlight>
                <a:latin typeface="Arial" panose="020B0604020202020204" pitchFamily="34" charset="0"/>
                <a:cs typeface="Arial" panose="020B0604020202020204" pitchFamily="34" charset="0"/>
                <a:sym typeface="+mn-lt"/>
              </a:rPr>
              <a:t>-W, -B, -S, e.g.</a:t>
            </a:r>
            <a:r>
              <a:rPr lang="zh-TW" altLang="en-US" sz="1200" dirty="0">
                <a:highlight>
                  <a:srgbClr val="FFFF00"/>
                </a:highlight>
                <a:latin typeface="Arial" panose="020B0604020202020204" pitchFamily="34" charset="0"/>
                <a:ea typeface="KaiTi" panose="02010609060101010101" pitchFamily="49" charset="-122"/>
                <a:cs typeface="Arial" panose="020B0604020202020204" pitchFamily="34" charset="0"/>
              </a:rPr>
              <a:t>德适生物</a:t>
            </a:r>
            <a:r>
              <a:rPr lang="en-US" altLang="zh-CN" sz="1200" dirty="0">
                <a:highlight>
                  <a:srgbClr val="FFFF00"/>
                </a:highlight>
                <a:latin typeface="Arial" panose="020B0604020202020204" pitchFamily="34" charset="0"/>
                <a:ea typeface="KaiTi" panose="02010609060101010101" pitchFamily="49" charset="-122"/>
                <a:cs typeface="Arial" panose="020B0604020202020204" pitchFamily="34" charset="0"/>
              </a:rPr>
              <a:t>-B</a:t>
            </a:r>
            <a:br>
              <a:rPr lang="en-US" altLang="zh-CN" sz="1200" dirty="0">
                <a:highlight>
                  <a:srgbClr val="FFFF00"/>
                </a:highlight>
                <a:latin typeface="Arial" panose="020B0604020202020204" pitchFamily="34" charset="0"/>
                <a:ea typeface="KaiTi" panose="02010609060101010101" pitchFamily="49" charset="-122"/>
                <a:cs typeface="Arial" panose="020B0604020202020204" pitchFamily="34" charset="0"/>
              </a:rPr>
            </a:br>
            <a:r>
              <a:rPr lang="zh-CN" altLang="en-US" sz="1200" dirty="0">
                <a:highlight>
                  <a:srgbClr val="FFFF00"/>
                </a:highlight>
                <a:latin typeface="Arial" panose="020B0604020202020204" pitchFamily="34" charset="0"/>
                <a:ea typeface="KaiTi" panose="02010609060101010101" pitchFamily="49" charset="-122"/>
                <a:cs typeface="Arial" panose="020B0604020202020204" pitchFamily="34" charset="0"/>
              </a:rPr>
              <a:t>太多分两页</a:t>
            </a:r>
            <a:endParaRPr lang="en-US" sz="1200" dirty="0">
              <a:highlight>
                <a:srgbClr val="FFFF00"/>
              </a:highlight>
              <a:latin typeface="Arial" panose="020B0604020202020204" pitchFamily="34" charset="0"/>
              <a:cs typeface="Arial" panose="020B0604020202020204" pitchFamily="34" charset="0"/>
              <a:sym typeface="+mn-lt"/>
            </a:endParaRPr>
          </a:p>
        </p:txBody>
      </p:sp>
      <p:graphicFrame>
        <p:nvGraphicFramePr>
          <p:cNvPr id="8" name="表格 5">
            <a:extLst>
              <a:ext uri="{FF2B5EF4-FFF2-40B4-BE49-F238E27FC236}">
                <a16:creationId xmlns:a16="http://schemas.microsoft.com/office/drawing/2014/main" id="{AF3A3143-1899-492C-F500-5605DF035EF9}"/>
              </a:ext>
            </a:extLst>
          </p:cNvPr>
          <p:cNvGraphicFramePr>
            <a:graphicFrameLocks noGrp="1"/>
          </p:cNvGraphicFramePr>
          <p:nvPr>
            <p:extLst>
              <p:ext uri="{D42A27DB-BD31-4B8C-83A1-F6EECF244321}">
                <p14:modId xmlns:p14="http://schemas.microsoft.com/office/powerpoint/2010/main" val="150827554"/>
              </p:ext>
            </p:extLst>
          </p:nvPr>
        </p:nvGraphicFramePr>
        <p:xfrm>
          <a:off x="377190" y="959709"/>
          <a:ext cx="9116090" cy="1998033"/>
        </p:xfrm>
        <a:graphic>
          <a:graphicData uri="http://schemas.openxmlformats.org/drawingml/2006/table">
            <a:tbl>
              <a:tblPr/>
              <a:tblGrid>
                <a:gridCol w="1777081">
                  <a:extLst>
                    <a:ext uri="{9D8B030D-6E8A-4147-A177-3AD203B41FA5}">
                      <a16:colId xmlns:a16="http://schemas.microsoft.com/office/drawing/2014/main" val="1174748977"/>
                    </a:ext>
                  </a:extLst>
                </a:gridCol>
                <a:gridCol w="997249">
                  <a:extLst>
                    <a:ext uri="{9D8B030D-6E8A-4147-A177-3AD203B41FA5}">
                      <a16:colId xmlns:a16="http://schemas.microsoft.com/office/drawing/2014/main" val="2476774980"/>
                    </a:ext>
                  </a:extLst>
                </a:gridCol>
                <a:gridCol w="1052367">
                  <a:extLst>
                    <a:ext uri="{9D8B030D-6E8A-4147-A177-3AD203B41FA5}">
                      <a16:colId xmlns:a16="http://schemas.microsoft.com/office/drawing/2014/main" val="3772983679"/>
                    </a:ext>
                  </a:extLst>
                </a:gridCol>
                <a:gridCol w="1396352">
                  <a:extLst>
                    <a:ext uri="{9D8B030D-6E8A-4147-A177-3AD203B41FA5}">
                      <a16:colId xmlns:a16="http://schemas.microsoft.com/office/drawing/2014/main" val="341598341"/>
                    </a:ext>
                  </a:extLst>
                </a:gridCol>
                <a:gridCol w="1072781">
                  <a:extLst>
                    <a:ext uri="{9D8B030D-6E8A-4147-A177-3AD203B41FA5}">
                      <a16:colId xmlns:a16="http://schemas.microsoft.com/office/drawing/2014/main" val="1175654604"/>
                    </a:ext>
                  </a:extLst>
                </a:gridCol>
                <a:gridCol w="1453510">
                  <a:extLst>
                    <a:ext uri="{9D8B030D-6E8A-4147-A177-3AD203B41FA5}">
                      <a16:colId xmlns:a16="http://schemas.microsoft.com/office/drawing/2014/main" val="4165654902"/>
                    </a:ext>
                  </a:extLst>
                </a:gridCol>
                <a:gridCol w="1366750">
                  <a:extLst>
                    <a:ext uri="{9D8B030D-6E8A-4147-A177-3AD203B41FA5}">
                      <a16:colId xmlns:a16="http://schemas.microsoft.com/office/drawing/2014/main" val="2879076724"/>
                    </a:ext>
                  </a:extLst>
                </a:gridCol>
              </a:tblGrid>
              <a:tr h="325993">
                <a:tc>
                  <a:txBody>
                    <a:bodyPr/>
                    <a:lstStyle/>
                    <a:p>
                      <a:pPr algn="ctr"/>
                      <a:r>
                        <a:rPr lang="zh-CN" altLang="en-US" sz="1000" b="1" dirty="0">
                          <a:solidFill>
                            <a:schemeClr val="bg1"/>
                          </a:solidFill>
                          <a:latin typeface="+mn-lt"/>
                          <a:ea typeface="+mn-ea"/>
                          <a:cs typeface="+mn-ea"/>
                          <a:sym typeface="+mn-lt"/>
                        </a:rPr>
                        <a:t>公司</a:t>
                      </a:r>
                      <a:endParaRPr lang="zh-HK" altLang="en-US" sz="1000" b="1" dirty="0">
                        <a:solidFill>
                          <a:schemeClr val="bg1"/>
                        </a:solidFill>
                        <a:latin typeface="+mn-lt"/>
                        <a:ea typeface="+mn-ea"/>
                        <a:cs typeface="+mn-ea"/>
                        <a:sym typeface="+mn-lt"/>
                      </a:endParaRPr>
                    </a:p>
                  </a:txBody>
                  <a:tcPr marL="0" marR="0" marT="0" marB="0" anchor="ctr">
                    <a:lnL w="12700">
                      <a:solidFill>
                        <a:srgbClr val="FF0000"/>
                      </a:solidFill>
                      <a:prstDash val="solid"/>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行业</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公开发售</a:t>
                      </a:r>
                      <a:endParaRPr lang="en-US" altLang="zh-CN" sz="1000" b="1" kern="1200" dirty="0">
                        <a:solidFill>
                          <a:schemeClr val="bg1"/>
                        </a:solidFill>
                        <a:latin typeface="+mn-lt"/>
                        <a:ea typeface="+mn-ea"/>
                        <a:cs typeface="+mn-ea"/>
                        <a:sym typeface="+mn-lt"/>
                      </a:endParaRPr>
                    </a:p>
                    <a:p>
                      <a:pPr algn="ctr"/>
                      <a:r>
                        <a:rPr lang="zh-CN" altLang="en-US" sz="1000" b="1" kern="1200" dirty="0">
                          <a:solidFill>
                            <a:schemeClr val="bg1"/>
                          </a:solidFill>
                          <a:latin typeface="+mn-lt"/>
                          <a:ea typeface="+mn-ea"/>
                          <a:cs typeface="+mn-ea"/>
                          <a:sym typeface="+mn-lt"/>
                        </a:rPr>
                        <a:t>结束日期</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发售价格</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（港元）</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绿鞋前融资规模</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（亿港元）</a:t>
                      </a:r>
                      <a:r>
                        <a:rPr lang="en-US" altLang="zh-CN" sz="1000" b="1" baseline="30000" dirty="0">
                          <a:solidFill>
                            <a:schemeClr val="bg1"/>
                          </a:solidFill>
                          <a:latin typeface="+mn-lt"/>
                          <a:ea typeface="+mn-ea"/>
                          <a:cs typeface="+mn-ea"/>
                          <a:sym typeface="+mn-lt"/>
                        </a:rPr>
                        <a:t>2</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基石投资者数量</a:t>
                      </a:r>
                      <a:endParaRPr lang="zh-HK" altLang="en-US" sz="1000" b="1" kern="1200"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基石投资总额占</a:t>
                      </a:r>
                      <a:endParaRPr lang="en-US" altLang="zh-CN" sz="1000" b="1" dirty="0">
                        <a:solidFill>
                          <a:schemeClr val="bg1"/>
                        </a:solidFill>
                        <a:latin typeface="+mn-lt"/>
                        <a:ea typeface="+mn-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基础发行规模比例</a:t>
                      </a:r>
                      <a:r>
                        <a:rPr lang="en-US" altLang="zh-CN" sz="1000" b="1" baseline="30000" dirty="0">
                          <a:solidFill>
                            <a:schemeClr val="bg1"/>
                          </a:solidFill>
                          <a:latin typeface="+mn-lt"/>
                          <a:ea typeface="+mn-ea"/>
                          <a:cs typeface="+mn-ea"/>
                          <a:sym typeface="+mn-lt"/>
                        </a:rPr>
                        <a:t>3</a:t>
                      </a:r>
                      <a:endParaRPr lang="zh-HK" altLang="en-US" sz="1000" b="1" baseline="30000" dirty="0">
                        <a:solidFill>
                          <a:schemeClr val="bg1"/>
                        </a:solidFill>
                        <a:latin typeface="+mn-lt"/>
                        <a:ea typeface="+mn-ea"/>
                        <a:cs typeface="+mn-ea"/>
                        <a:sym typeface="+mn-lt"/>
                      </a:endParaRPr>
                    </a:p>
                  </a:txBody>
                  <a:tcPr marL="0" marR="0" marT="0" marB="0" anchor="ctr">
                    <a:lnL>
                      <a:noFill/>
                    </a:lnL>
                    <a:lnR w="12700">
                      <a:solidFill>
                        <a:srgbClr val="FF0000"/>
                      </a:solidFill>
                      <a:prstDash val="solid"/>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2353208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极视角</a:t>
                      </a:r>
                      <a:r>
                        <a:rPr lang="en-US" altLang="zh-TW" sz="1000" b="0" i="0" u="none" strike="noStrike" kern="1200" baseline="30000" dirty="0">
                          <a:solidFill>
                            <a:schemeClr val="tx1"/>
                          </a:solidFill>
                          <a:effectLst/>
                          <a:latin typeface="Arial" panose="020B0604020202020204" pitchFamily="34" charset="0"/>
                          <a:ea typeface="+mn-ea"/>
                          <a:cs typeface="Arial" panose="020B0604020202020204" pitchFamily="34" charset="0"/>
                        </a:rPr>
                        <a:t>4</a:t>
                      </a:r>
                      <a:endParaRPr lang="zh-CN" altLang="en-US"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25</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40.00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n-lt"/>
                          <a:ea typeface="+mn-ea"/>
                          <a:cs typeface="+mn-ea"/>
                        </a:rPr>
                        <a:t>4.99</a:t>
                      </a:r>
                      <a:endParaRPr kumimoji="0" lang="en-US" altLang="en-US" sz="1000" b="0" i="0" u="none" strike="noStrike" kern="1200" cap="none" spc="0" normalizeH="0" baseline="0" dirty="0">
                        <a:ln>
                          <a:noFill/>
                        </a:ln>
                        <a:solidFill>
                          <a:schemeClr val="tx1"/>
                        </a:solidFill>
                        <a:effectLst/>
                        <a:uLnTx/>
                        <a:uFillTx/>
                        <a:latin typeface="+mn-lt"/>
                        <a:ea typeface="+mn-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2</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5</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9.46%</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6740679"/>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瀚天天成</a:t>
                      </a:r>
                      <a:r>
                        <a:rPr lang="en-US" altLang="zh-TW" sz="1000" b="0" i="0" u="none" strike="noStrike" kern="1200" baseline="30000" dirty="0">
                          <a:solidFill>
                            <a:schemeClr val="tx1"/>
                          </a:solidFill>
                          <a:effectLst/>
                          <a:latin typeface="Arial" panose="020B0604020202020204" pitchFamily="34" charset="0"/>
                          <a:ea typeface="+mn-ea"/>
                          <a:cs typeface="Arial" panose="020B0604020202020204" pitchFamily="34" charset="0"/>
                        </a:rPr>
                        <a:t>6</a:t>
                      </a: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25</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76.26</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16.39</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1</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7</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46.80%</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23363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同仁堂医养</a:t>
                      </a:r>
                      <a:r>
                        <a:rPr lang="en-US" altLang="zh-TW" sz="1000" b="0" i="0" u="none" strike="noStrike" kern="1200" baseline="30000" dirty="0">
                          <a:solidFill>
                            <a:schemeClr val="tx1"/>
                          </a:solidFill>
                          <a:effectLst/>
                          <a:latin typeface="Arial" panose="020B0604020202020204" pitchFamily="34" charset="0"/>
                          <a:ea typeface="+mn-ea"/>
                          <a:cs typeface="Arial" panose="020B0604020202020204" pitchFamily="34" charset="0"/>
                        </a:rPr>
                        <a:t>8</a:t>
                      </a:r>
                      <a:endPar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医疗健康</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25</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7.30 – 8.30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7.90 – 8.98</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2</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9</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46.15%</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835139"/>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德适生物</a:t>
                      </a:r>
                      <a:r>
                        <a:rPr lang="en-US" altLang="zh-CN" sz="1000" b="0" dirty="0">
                          <a:solidFill>
                            <a:schemeClr val="tx1"/>
                          </a:solidFill>
                          <a:latin typeface="Arial" panose="020B0604020202020204" pitchFamily="34" charset="0"/>
                          <a:ea typeface="KaiTi" panose="02010609060101010101" pitchFamily="49" charset="-122"/>
                          <a:cs typeface="Arial" panose="020B0604020202020204" pitchFamily="34" charset="0"/>
                        </a:rPr>
                        <a:t>-B</a:t>
                      </a:r>
                      <a:r>
                        <a:rPr lang="en-US" altLang="zh-TW"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10</a:t>
                      </a: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医疗健康</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25</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95.60 </a:t>
                      </a:r>
                      <a:r>
                        <a:rPr kumimoji="0" lang="en-US" altLang="en-US" sz="1000" b="0" i="0" u="none" strike="noStrike" kern="1200" cap="none" spc="0" normalizeH="0" baseline="0" dirty="0">
                          <a:ln>
                            <a:noFill/>
                          </a:ln>
                          <a:solidFill>
                            <a:schemeClr val="tx1"/>
                          </a:solidFill>
                          <a:effectLst/>
                          <a:uLnTx/>
                          <a:uFillTx/>
                          <a:latin typeface="+mn-lt"/>
                          <a:ea typeface="+mn-ea"/>
                          <a:cs typeface="+mn-ea"/>
                        </a:rPr>
                        <a:t>–</a:t>
                      </a:r>
                      <a:r>
                        <a:rPr kumimoji="0" lang="en-US" altLang="en-US" sz="1000" b="0" i="0" u="none" strike="noStrike" kern="1200" cap="none" spc="0" normalizeH="0" baseline="0" dirty="0">
                          <a:ln>
                            <a:noFill/>
                          </a:ln>
                          <a:solidFill>
                            <a:schemeClr val="tx1"/>
                          </a:solidFill>
                          <a:effectLst/>
                          <a:uLnTx/>
                          <a:uFillTx/>
                          <a:latin typeface="+mj-lt"/>
                          <a:ea typeface="+mj-ea"/>
                          <a:cs typeface="+mn-ea"/>
                        </a:rPr>
                        <a:t> 112.50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7.65 – 9.00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0</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11</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0316762"/>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华沿机器人</a:t>
                      </a:r>
                      <a:r>
                        <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rPr>
                        <a:t>12</a:t>
                      </a:r>
                      <a:endParaRPr lang="zh-CN" altLang="en-US"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25</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17.00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n-lt"/>
                          <a:ea typeface="+mn-ea"/>
                          <a:cs typeface="+mn-ea"/>
                        </a:rPr>
                        <a:t>13.73</a:t>
                      </a:r>
                      <a:endParaRPr kumimoji="0" lang="en-US" altLang="en-US" sz="1000" b="0" i="0" u="none" strike="noStrike" kern="1200" cap="none" spc="0" normalizeH="0" baseline="0" dirty="0">
                        <a:ln>
                          <a:noFill/>
                        </a:ln>
                        <a:solidFill>
                          <a:schemeClr val="tx1"/>
                        </a:solidFill>
                        <a:effectLst/>
                        <a:uLnTx/>
                        <a:uFillTx/>
                        <a:latin typeface="+mn-lt"/>
                        <a:ea typeface="+mn-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9</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13</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56.00%</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381136"/>
                  </a:ext>
                </a:extLst>
              </a:tr>
            </a:tbl>
          </a:graphicData>
        </a:graphic>
      </p:graphicFrame>
      <p:sp>
        <p:nvSpPr>
          <p:cNvPr id="5" name="Frame 4">
            <a:extLst>
              <a:ext uri="{FF2B5EF4-FFF2-40B4-BE49-F238E27FC236}">
                <a16:creationId xmlns:a16="http://schemas.microsoft.com/office/drawing/2014/main" id="{B69BCA75-4A66-2842-97B9-681162210DD2}"/>
              </a:ext>
            </a:extLst>
          </p:cNvPr>
          <p:cNvSpPr/>
          <p:nvPr/>
        </p:nvSpPr>
        <p:spPr>
          <a:xfrm>
            <a:off x="1799924" y="4090737"/>
            <a:ext cx="1116531" cy="20213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EFF13483-6BC2-0521-AEDA-96C261174DC4}"/>
              </a:ext>
            </a:extLst>
          </p:cNvPr>
          <p:cNvSpPr txBox="1"/>
          <p:nvPr/>
        </p:nvSpPr>
        <p:spPr>
          <a:xfrm>
            <a:off x="2453133" y="3726035"/>
            <a:ext cx="877163" cy="369332"/>
          </a:xfrm>
          <a:prstGeom prst="rect">
            <a:avLst/>
          </a:prstGeom>
          <a:noFill/>
        </p:spPr>
        <p:txBody>
          <a:bodyPr wrap="none" rtlCol="0">
            <a:spAutoFit/>
          </a:bodyPr>
          <a:lstStyle/>
          <a:p>
            <a:r>
              <a:rPr lang="en-US" dirty="0" err="1">
                <a:highlight>
                  <a:srgbClr val="FFFF00"/>
                </a:highlight>
              </a:rPr>
              <a:t>改日期</a:t>
            </a:r>
            <a:endParaRPr lang="en-US" dirty="0">
              <a:highlight>
                <a:srgbClr val="FFFF00"/>
              </a:highlight>
            </a:endParaRPr>
          </a:p>
        </p:txBody>
      </p:sp>
      <p:cxnSp>
        <p:nvCxnSpPr>
          <p:cNvPr id="12" name="Straight Connector 11">
            <a:extLst>
              <a:ext uri="{FF2B5EF4-FFF2-40B4-BE49-F238E27FC236}">
                <a16:creationId xmlns:a16="http://schemas.microsoft.com/office/drawing/2014/main" id="{B6FFF417-9825-95E0-8413-15081E6BB80F}"/>
              </a:ext>
            </a:extLst>
          </p:cNvPr>
          <p:cNvCxnSpPr>
            <a:cxnSpLocks/>
            <a:stCxn id="6" idx="2"/>
            <a:endCxn id="5" idx="0"/>
          </p:cNvCxnSpPr>
          <p:nvPr/>
        </p:nvCxnSpPr>
        <p:spPr>
          <a:xfrm flipH="1" flipV="1">
            <a:off x="2358190" y="4090737"/>
            <a:ext cx="533525" cy="4630"/>
          </a:xfrm>
          <a:prstGeom prst="line">
            <a:avLst/>
          </a:prstGeom>
        </p:spPr>
        <p:style>
          <a:lnRef idx="1">
            <a:schemeClr val="accent1"/>
          </a:lnRef>
          <a:fillRef idx="0">
            <a:schemeClr val="accent1"/>
          </a:fillRef>
          <a:effectRef idx="0">
            <a:schemeClr val="accent1"/>
          </a:effectRef>
          <a:fontRef idx="minor">
            <a:schemeClr val="tx1"/>
          </a:fontRef>
        </p:style>
      </p:cxnSp>
      <p:sp>
        <p:nvSpPr>
          <p:cNvPr id="16" name="Frame 15">
            <a:extLst>
              <a:ext uri="{FF2B5EF4-FFF2-40B4-BE49-F238E27FC236}">
                <a16:creationId xmlns:a16="http://schemas.microsoft.com/office/drawing/2014/main" id="{41545275-841E-3E85-5FF7-1C80008995A1}"/>
              </a:ext>
            </a:extLst>
          </p:cNvPr>
          <p:cNvSpPr/>
          <p:nvPr/>
        </p:nvSpPr>
        <p:spPr>
          <a:xfrm>
            <a:off x="462013" y="1149428"/>
            <a:ext cx="1472665" cy="1998033"/>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2913F6A-0471-2350-C9A6-0A2D83A1BBA6}"/>
              </a:ext>
            </a:extLst>
          </p:cNvPr>
          <p:cNvCxnSpPr>
            <a:cxnSpLocks/>
          </p:cNvCxnSpPr>
          <p:nvPr/>
        </p:nvCxnSpPr>
        <p:spPr>
          <a:xfrm flipH="1">
            <a:off x="617220" y="3118017"/>
            <a:ext cx="532367" cy="219163"/>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EF7C170-49DB-4D1F-B789-6985C4C7BF2F}"/>
              </a:ext>
            </a:extLst>
          </p:cNvPr>
          <p:cNvSpPr txBox="1"/>
          <p:nvPr/>
        </p:nvSpPr>
        <p:spPr>
          <a:xfrm>
            <a:off x="3486151" y="459879"/>
            <a:ext cx="1918478" cy="369332"/>
          </a:xfrm>
          <a:prstGeom prst="rect">
            <a:avLst/>
          </a:prstGeom>
          <a:noFill/>
        </p:spPr>
        <p:txBody>
          <a:bodyPr wrap="square" rtlCol="0">
            <a:spAutoFit/>
          </a:bodyPr>
          <a:lstStyle/>
          <a:p>
            <a:r>
              <a:rPr lang="en-US" dirty="0">
                <a:highlight>
                  <a:srgbClr val="FFFF00"/>
                </a:highlight>
              </a:rPr>
              <a:t>Latest to Earliest</a:t>
            </a:r>
          </a:p>
        </p:txBody>
      </p:sp>
      <p:cxnSp>
        <p:nvCxnSpPr>
          <p:cNvPr id="26" name="Straight Connector 25">
            <a:extLst>
              <a:ext uri="{FF2B5EF4-FFF2-40B4-BE49-F238E27FC236}">
                <a16:creationId xmlns:a16="http://schemas.microsoft.com/office/drawing/2014/main" id="{0B5BBC27-6878-2450-30FE-E5384FCA3168}"/>
              </a:ext>
            </a:extLst>
          </p:cNvPr>
          <p:cNvCxnSpPr>
            <a:cxnSpLocks/>
            <a:stCxn id="24" idx="2"/>
          </p:cNvCxnSpPr>
          <p:nvPr/>
        </p:nvCxnSpPr>
        <p:spPr>
          <a:xfrm flipH="1">
            <a:off x="3731079" y="829211"/>
            <a:ext cx="714311" cy="529405"/>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28ACBC1-9B40-74D0-E82C-5ABA9954468E}"/>
              </a:ext>
            </a:extLst>
          </p:cNvPr>
          <p:cNvCxnSpPr>
            <a:cxnSpLocks/>
          </p:cNvCxnSpPr>
          <p:nvPr/>
        </p:nvCxnSpPr>
        <p:spPr>
          <a:xfrm>
            <a:off x="2660822" y="2850292"/>
            <a:ext cx="469556" cy="227424"/>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488995B-1CE8-7D97-6557-0EAC23991F9B}"/>
              </a:ext>
            </a:extLst>
          </p:cNvPr>
          <p:cNvSpPr txBox="1"/>
          <p:nvPr/>
        </p:nvSpPr>
        <p:spPr>
          <a:xfrm>
            <a:off x="3051418" y="2933351"/>
            <a:ext cx="2454518" cy="369332"/>
          </a:xfrm>
          <a:prstGeom prst="rect">
            <a:avLst/>
          </a:prstGeom>
          <a:noFill/>
        </p:spPr>
        <p:txBody>
          <a:bodyPr wrap="none" rtlCol="0">
            <a:spAutoFit/>
          </a:bodyPr>
          <a:lstStyle/>
          <a:p>
            <a:r>
              <a:rPr lang="en-US" dirty="0" err="1">
                <a:highlight>
                  <a:srgbClr val="FFFF00"/>
                </a:highlight>
              </a:rPr>
              <a:t>看description自己判断</a:t>
            </a:r>
            <a:endParaRPr lang="en-US" dirty="0">
              <a:highlight>
                <a:srgbClr val="FFFF00"/>
              </a:highlight>
            </a:endParaRPr>
          </a:p>
        </p:txBody>
      </p:sp>
      <p:sp>
        <p:nvSpPr>
          <p:cNvPr id="35" name="TextBox 34">
            <a:extLst>
              <a:ext uri="{FF2B5EF4-FFF2-40B4-BE49-F238E27FC236}">
                <a16:creationId xmlns:a16="http://schemas.microsoft.com/office/drawing/2014/main" id="{C14831B2-04BF-4388-FDE0-7FBFA13435E3}"/>
              </a:ext>
            </a:extLst>
          </p:cNvPr>
          <p:cNvSpPr txBox="1"/>
          <p:nvPr/>
        </p:nvSpPr>
        <p:spPr>
          <a:xfrm>
            <a:off x="4912325" y="3512707"/>
            <a:ext cx="4993675" cy="369332"/>
          </a:xfrm>
          <a:prstGeom prst="rect">
            <a:avLst/>
          </a:prstGeom>
          <a:noFill/>
        </p:spPr>
        <p:txBody>
          <a:bodyPr wrap="none" rtlCol="0">
            <a:spAutoFit/>
          </a:bodyPr>
          <a:lstStyle/>
          <a:p>
            <a:r>
              <a:rPr lang="en-US" dirty="0" err="1">
                <a:solidFill>
                  <a:srgbClr val="FF0000"/>
                </a:solidFill>
                <a:highlight>
                  <a:srgbClr val="FFFF00"/>
                </a:highlight>
              </a:rPr>
              <a:t>先做下面的description再做上面的表会比较方便</a:t>
            </a:r>
            <a:endParaRPr lang="en-US" dirty="0">
              <a:solidFill>
                <a:srgbClr val="FF0000"/>
              </a:solidFill>
              <a:highlight>
                <a:srgbClr val="FFFF00"/>
              </a:highlight>
            </a:endParaRPr>
          </a:p>
        </p:txBody>
      </p:sp>
      <p:sp>
        <p:nvSpPr>
          <p:cNvPr id="37" name="Frame 36">
            <a:extLst>
              <a:ext uri="{FF2B5EF4-FFF2-40B4-BE49-F238E27FC236}">
                <a16:creationId xmlns:a16="http://schemas.microsoft.com/office/drawing/2014/main" id="{33BA7D81-2780-9E1E-7341-B6132DA0C714}"/>
              </a:ext>
            </a:extLst>
          </p:cNvPr>
          <p:cNvSpPr/>
          <p:nvPr/>
        </p:nvSpPr>
        <p:spPr>
          <a:xfrm>
            <a:off x="236224" y="4672685"/>
            <a:ext cx="9288776" cy="52277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TextBox 37">
            <a:extLst>
              <a:ext uri="{FF2B5EF4-FFF2-40B4-BE49-F238E27FC236}">
                <a16:creationId xmlns:a16="http://schemas.microsoft.com/office/drawing/2014/main" id="{0D06B055-97A3-2D64-B0E4-E0C25AB6796A}"/>
              </a:ext>
            </a:extLst>
          </p:cNvPr>
          <p:cNvSpPr txBox="1"/>
          <p:nvPr/>
        </p:nvSpPr>
        <p:spPr>
          <a:xfrm>
            <a:off x="286160" y="5587508"/>
            <a:ext cx="3005951" cy="646331"/>
          </a:xfrm>
          <a:prstGeom prst="rect">
            <a:avLst/>
          </a:prstGeom>
          <a:noFill/>
        </p:spPr>
        <p:txBody>
          <a:bodyPr wrap="none" rtlCol="0">
            <a:spAutoFit/>
          </a:bodyPr>
          <a:lstStyle/>
          <a:p>
            <a:r>
              <a:rPr lang="en-US" dirty="0" err="1">
                <a:highlight>
                  <a:srgbClr val="FFFF00"/>
                </a:highlight>
              </a:rPr>
              <a:t>去瑞恩copy</a:t>
            </a:r>
            <a:r>
              <a:rPr lang="zh-CN" altLang="en-US" dirty="0">
                <a:highlight>
                  <a:srgbClr val="FFFF00"/>
                </a:highlight>
              </a:rPr>
              <a:t>，简介</a:t>
            </a:r>
            <a:r>
              <a:rPr lang="en-US" altLang="zh-CN" dirty="0">
                <a:highlight>
                  <a:srgbClr val="FFFF00"/>
                </a:highlight>
              </a:rPr>
              <a:t>copy</a:t>
            </a:r>
            <a:r>
              <a:rPr lang="zh-CN" altLang="en-US" dirty="0">
                <a:highlight>
                  <a:srgbClr val="FFFF00"/>
                </a:highlight>
              </a:rPr>
              <a:t>到第</a:t>
            </a:r>
            <a:endParaRPr lang="en-US" altLang="zh-CN" dirty="0">
              <a:highlight>
                <a:srgbClr val="FFFF00"/>
              </a:highlight>
            </a:endParaRPr>
          </a:p>
          <a:p>
            <a:r>
              <a:rPr lang="zh-CN" altLang="en-US" dirty="0">
                <a:highlight>
                  <a:srgbClr val="FFFF00"/>
                </a:highlight>
              </a:rPr>
              <a:t>一个句号</a:t>
            </a:r>
            <a:endParaRPr lang="en-US" dirty="0">
              <a:highlight>
                <a:srgbClr val="FFFF00"/>
              </a:highlight>
            </a:endParaRPr>
          </a:p>
        </p:txBody>
      </p:sp>
      <p:cxnSp>
        <p:nvCxnSpPr>
          <p:cNvPr id="40" name="Straight Connector 39">
            <a:extLst>
              <a:ext uri="{FF2B5EF4-FFF2-40B4-BE49-F238E27FC236}">
                <a16:creationId xmlns:a16="http://schemas.microsoft.com/office/drawing/2014/main" id="{0D2CD8C7-AEA0-402C-F369-9E32EDBF0F81}"/>
              </a:ext>
            </a:extLst>
          </p:cNvPr>
          <p:cNvCxnSpPr>
            <a:cxnSpLocks/>
          </p:cNvCxnSpPr>
          <p:nvPr/>
        </p:nvCxnSpPr>
        <p:spPr>
          <a:xfrm flipV="1">
            <a:off x="968398" y="5195455"/>
            <a:ext cx="682238" cy="513117"/>
          </a:xfrm>
          <a:prstGeom prst="line">
            <a:avLst/>
          </a:prstGeom>
        </p:spPr>
        <p:style>
          <a:lnRef idx="1">
            <a:schemeClr val="accent1"/>
          </a:lnRef>
          <a:fillRef idx="0">
            <a:schemeClr val="accent1"/>
          </a:fillRef>
          <a:effectRef idx="0">
            <a:schemeClr val="accent1"/>
          </a:effectRef>
          <a:fontRef idx="minor">
            <a:schemeClr val="tx1"/>
          </a:fontRef>
        </p:style>
      </p:cxnSp>
      <p:pic>
        <p:nvPicPr>
          <p:cNvPr id="45" name="Picture 44" descr="A screenshot of a black screen&#10;&#10;AI-generated content may be incorrect.">
            <a:extLst>
              <a:ext uri="{FF2B5EF4-FFF2-40B4-BE49-F238E27FC236}">
                <a16:creationId xmlns:a16="http://schemas.microsoft.com/office/drawing/2014/main" id="{7D5DE4DD-9E9C-FB71-4052-1F98956590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8234" y="3832378"/>
            <a:ext cx="3893367" cy="1355771"/>
          </a:xfrm>
          <a:prstGeom prst="rect">
            <a:avLst/>
          </a:prstGeom>
        </p:spPr>
      </p:pic>
      <p:pic>
        <p:nvPicPr>
          <p:cNvPr id="47" name="Picture 46" descr="A black screen with white text&#10;&#10;AI-generated content may be incorrect.">
            <a:extLst>
              <a:ext uri="{FF2B5EF4-FFF2-40B4-BE49-F238E27FC236}">
                <a16:creationId xmlns:a16="http://schemas.microsoft.com/office/drawing/2014/main" id="{7F6323CD-CB87-A673-3473-74F49F3B12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0029" y="4917044"/>
            <a:ext cx="6596439" cy="1166717"/>
          </a:xfrm>
          <a:prstGeom prst="rect">
            <a:avLst/>
          </a:prstGeom>
        </p:spPr>
      </p:pic>
      <p:pic>
        <p:nvPicPr>
          <p:cNvPr id="49" name="Picture 48" descr="A close up of a sign&#10;&#10;AI-generated content may be incorrect.">
            <a:extLst>
              <a:ext uri="{FF2B5EF4-FFF2-40B4-BE49-F238E27FC236}">
                <a16:creationId xmlns:a16="http://schemas.microsoft.com/office/drawing/2014/main" id="{F70837A8-F197-69C6-8AD8-CA797C8B8C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3819" y="5772174"/>
            <a:ext cx="6188762" cy="1079531"/>
          </a:xfrm>
          <a:prstGeom prst="rect">
            <a:avLst/>
          </a:prstGeom>
        </p:spPr>
      </p:pic>
      <p:cxnSp>
        <p:nvCxnSpPr>
          <p:cNvPr id="51" name="Straight Connector 50">
            <a:extLst>
              <a:ext uri="{FF2B5EF4-FFF2-40B4-BE49-F238E27FC236}">
                <a16:creationId xmlns:a16="http://schemas.microsoft.com/office/drawing/2014/main" id="{3031DADA-6732-006C-1F76-AFDB6293061B}"/>
              </a:ext>
            </a:extLst>
          </p:cNvPr>
          <p:cNvCxnSpPr>
            <a:cxnSpLocks/>
          </p:cNvCxnSpPr>
          <p:nvPr/>
        </p:nvCxnSpPr>
        <p:spPr>
          <a:xfrm flipV="1">
            <a:off x="1309517" y="5452013"/>
            <a:ext cx="2778717" cy="631748"/>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3626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C0FB9-235A-C818-A4C6-307DAC8E9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F0D80-8BF9-DCEF-BEAC-748374C27708}"/>
              </a:ext>
            </a:extLst>
          </p:cNvPr>
          <p:cNvSpPr>
            <a:spLocks noGrp="1"/>
          </p:cNvSpPr>
          <p:nvPr>
            <p:ph type="title"/>
          </p:nvPr>
        </p:nvSpPr>
        <p:spPr/>
        <p:txBody>
          <a:bodyPr>
            <a:normAutofit/>
          </a:bodyPr>
          <a:lstStyle/>
          <a:p>
            <a:r>
              <a:rPr lang="zh-CN" altLang="en-US" dirty="0">
                <a:latin typeface="+mn-lt"/>
                <a:ea typeface="+mn-ea"/>
                <a:cs typeface="+mn-ea"/>
                <a:sym typeface="+mn-lt"/>
              </a:rPr>
              <a:t>过去一周香港新股市场概览（续）</a:t>
            </a:r>
          </a:p>
        </p:txBody>
      </p:sp>
      <p:sp>
        <p:nvSpPr>
          <p:cNvPr id="3" name="TextBox 2">
            <a:extLst>
              <a:ext uri="{FF2B5EF4-FFF2-40B4-BE49-F238E27FC236}">
                <a16:creationId xmlns:a16="http://schemas.microsoft.com/office/drawing/2014/main" id="{6E12AC3D-60C8-87CC-7A0E-A5DBA41E3C60}"/>
              </a:ext>
            </a:extLst>
          </p:cNvPr>
          <p:cNvSpPr txBox="1"/>
          <p:nvPr/>
        </p:nvSpPr>
        <p:spPr>
          <a:xfrm>
            <a:off x="1192562" y="-1363082"/>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dirty="0">
                <a:cs typeface="+mn-ea"/>
                <a:sym typeface="+mn-lt"/>
                <a:hlinkClick r:id="rId3"/>
              </a:rPr>
              <a:t>http://www.aastocks.com/tc/stocks/market/ipo/upcomingipo/company-summary</a:t>
            </a:r>
            <a:r>
              <a:rPr lang="en-US" sz="1200" dirty="0">
                <a:cs typeface="+mn-ea"/>
                <a:sym typeface="+mn-lt"/>
              </a:rPr>
              <a:t> </a:t>
            </a:r>
          </a:p>
        </p:txBody>
      </p:sp>
      <p:sp>
        <p:nvSpPr>
          <p:cNvPr id="15" name="灯片编号占位符 14">
            <a:extLst>
              <a:ext uri="{FF2B5EF4-FFF2-40B4-BE49-F238E27FC236}">
                <a16:creationId xmlns:a16="http://schemas.microsoft.com/office/drawing/2014/main" id="{A32C3478-A584-9310-840C-834EA55558CD}"/>
              </a:ext>
            </a:extLst>
          </p:cNvPr>
          <p:cNvSpPr>
            <a:spLocks noGrp="1"/>
          </p:cNvSpPr>
          <p:nvPr>
            <p:ph type="sldNum" sz="quarter" idx="16"/>
          </p:nvPr>
        </p:nvSpPr>
        <p:spPr/>
        <p:txBody>
          <a:bodyPr/>
          <a:lstStyle/>
          <a:p>
            <a:fld id="{72E6F1C1-8568-433B-B05E-E21B84158B67}" type="slidenum">
              <a:rPr lang="en-US" smtClean="0"/>
              <a:t>8</a:t>
            </a:fld>
            <a:endParaRPr lang="en-US" dirty="0"/>
          </a:p>
        </p:txBody>
      </p:sp>
      <p:sp>
        <p:nvSpPr>
          <p:cNvPr id="11" name="Rectangle 3">
            <a:extLst>
              <a:ext uri="{FF2B5EF4-FFF2-40B4-BE49-F238E27FC236}">
                <a16:creationId xmlns:a16="http://schemas.microsoft.com/office/drawing/2014/main" id="{F1B1E7C3-82A1-B8F9-F1B7-A5C52E5301CD}"/>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DE8AE594-46C6-120D-BBF2-B3F2834E142E}"/>
              </a:ext>
            </a:extLst>
          </p:cNvPr>
          <p:cNvSpPr>
            <a:spLocks noChangeArrowheads="1"/>
          </p:cNvSpPr>
          <p:nvPr/>
        </p:nvSpPr>
        <p:spPr bwMode="auto">
          <a:xfrm>
            <a:off x="4952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6">
            <a:extLst>
              <a:ext uri="{FF2B5EF4-FFF2-40B4-BE49-F238E27FC236}">
                <a16:creationId xmlns:a16="http://schemas.microsoft.com/office/drawing/2014/main" id="{F1F43FC2-5CE0-A1E7-19E0-434B40EAFC55}"/>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Rectangle 7">
            <a:extLst>
              <a:ext uri="{FF2B5EF4-FFF2-40B4-BE49-F238E27FC236}">
                <a16:creationId xmlns:a16="http://schemas.microsoft.com/office/drawing/2014/main" id="{7529FB8E-B78B-4CC8-AB32-08ADFD7536A0}"/>
              </a:ext>
            </a:extLst>
          </p:cNvPr>
          <p:cNvSpPr/>
          <p:nvPr/>
        </p:nvSpPr>
        <p:spPr>
          <a:xfrm>
            <a:off x="377190" y="546154"/>
            <a:ext cx="9006737" cy="215265"/>
          </a:xfrm>
          <a:prstGeom prst="rect">
            <a:avLst/>
          </a:prstGeom>
        </p:spPr>
        <p:txBody>
          <a:bodyPr wrap="square" lIns="0" tIns="0" rIns="0" bIns="0" anchor="ctr">
            <a:spAutoFit/>
          </a:bodyPr>
          <a:lstStyle/>
          <a:p>
            <a:r>
              <a:rPr lang="zh-CN" altLang="en-US" sz="1400" b="1" u="sng" dirty="0">
                <a:solidFill>
                  <a:schemeClr val="accent1"/>
                </a:solidFill>
                <a:cs typeface="+mn-ea"/>
                <a:sym typeface="+mn-lt"/>
              </a:rPr>
              <a:t>上周进行公开发售或定价的新股项目</a:t>
            </a:r>
            <a:r>
              <a:rPr lang="en-US" altLang="zh-CN" sz="1400" b="1" u="sng" baseline="30000" dirty="0">
                <a:solidFill>
                  <a:schemeClr val="accent1"/>
                </a:solidFill>
                <a:cs typeface="+mn-ea"/>
                <a:sym typeface="+mn-lt"/>
              </a:rPr>
              <a:t>1</a:t>
            </a:r>
            <a:endParaRPr lang="zh-CN" altLang="en-US" sz="1400" b="1" u="sng" baseline="30000" dirty="0">
              <a:solidFill>
                <a:schemeClr val="accent1"/>
              </a:solidFill>
              <a:cs typeface="+mn-ea"/>
              <a:sym typeface="+mn-lt"/>
            </a:endParaRPr>
          </a:p>
        </p:txBody>
      </p:sp>
      <p:sp>
        <p:nvSpPr>
          <p:cNvPr id="10" name="Text Placeholder FN">
            <a:extLst>
              <a:ext uri="{FF2B5EF4-FFF2-40B4-BE49-F238E27FC236}">
                <a16:creationId xmlns:a16="http://schemas.microsoft.com/office/drawing/2014/main" id="{4271D94B-7356-0471-74B3-4DC22FEA1CFC}"/>
              </a:ext>
            </a:extLst>
          </p:cNvPr>
          <p:cNvSpPr txBox="1"/>
          <p:nvPr/>
        </p:nvSpPr>
        <p:spPr>
          <a:xfrm>
            <a:off x="260953" y="3246120"/>
            <a:ext cx="9264047" cy="3337560"/>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资料来源：</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Dealogic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、港交所网站（截至</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2026</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年</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3</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月</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20</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日）</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只包括主板</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IPO</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项目，不包括创业板项目。</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以基础发行规模测算，假设发售量调整权未获行使。</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3</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以基础发行规模，按价格区间中端测算（若有）。</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4</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zh-TW" altLang="en-US"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en-US"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2014</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综合智能场内物流机器人提供商，致力于通过先进机器人技术重新定义供应链的运作模式，公司是是智能场内物流机器人行业的成熟厂商之一，拥有广泛的机器人技术能力及多元化的自主研发机器人产品组合，涵盖广泛采用的高度和有效载荷规格的核心场内物流功能。</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5</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招股未引入基石投资者</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6</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zh-TW" altLang="en-US"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en-US"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泽景电子，成立于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年，专注于</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HUD(</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抬头显示系统</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研发，公司率先在中国市场推出自研</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HUD</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解决方案，通过创新解决方案，推动智能座舱视觉、人车交互系统由</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D</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至</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D、AR</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变革及市场渗透。</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7</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zh-TW" altLang="en-US"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en-US"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泽景股份是次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1.10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亿港元的发售股份，基石投资者包括盈科投资基金、北京高精尖等。</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8</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飞速创新，成立于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2009</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年，作为企业级网络解决方案的全球领军企业，通过公司的在线销售平台</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FS.com</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提供可扩展、具成本效益及一站式网络解决方案，包括高性能网络设备、可扩展网络设备操作系统及云网络管理平台。</a:t>
            </a:r>
            <a:r>
              <a:rPr lang="zh-TW" altLang="en-US" sz="800" b="0" dirty="0">
                <a:solidFill>
                  <a:srgbClr val="C00000"/>
                </a:solidFill>
                <a:latin typeface="Arial" panose="020B0604020202020204" pitchFamily="34" charset="0"/>
                <a:ea typeface="KaiTi" panose="02010609060101010101" pitchFamily="49" charset="-122"/>
                <a:cs typeface="Arial" panose="020B0604020202020204" pitchFamily="34" charset="0"/>
              </a:rPr>
              <a:t>招证国际为联席保荐人</a:t>
            </a:r>
            <a:r>
              <a:rPr lang="zh-CN" altLang="en-US" sz="800" b="0" dirty="0">
                <a:solidFill>
                  <a:srgbClr val="C00000"/>
                </a:solidFill>
                <a:latin typeface="Arial" panose="020B0604020202020204" pitchFamily="34" charset="0"/>
                <a:ea typeface="KaiTi" panose="02010609060101010101" pitchFamily="49" charset="-122"/>
                <a:cs typeface="Arial" panose="020B0604020202020204" pitchFamily="34" charset="0"/>
              </a:rPr>
              <a:t>。</a:t>
            </a:r>
            <a:endParaRPr lang="en-US" altLang="zh-TW" sz="800" b="0"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9</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飞速创新是次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11</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7.04</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Hao </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Fund、Great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 Holding(</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袁永刚先生</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WT </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Asset、Caitong</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 SEIII(</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财通资产管理</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、上海聚鸣、前瞻资本、</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SCGC</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资本</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深创投</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Aether、</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广发基金管理、深圳凯丰管理、</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Wider Huge(Laurena Wu</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女士</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10</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HK"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(300077.SZ)</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2000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一家平台型集成电路设计公司，致力于为各类智能终端提供高安全性、高可靠性、高集成度的控制芯片与系统解决方案，客户涵盖消费电子、工业控制和数字能源、智能家居、汽车电子与医疗电子多个关键领域。除芯片业务外，国民技术亦同步发展锂电池负极材料业务。</a:t>
            </a:r>
            <a:endParaRPr lang="en-HK"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11:</a:t>
            </a:r>
            <a:r>
              <a:rPr lang="en-HK"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1.40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亿港元的发售股份，基石投资者包括国华人寿、</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Harvest Oriental II、</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戴婉琴女士、安江波先生、欣旺达</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(300207.</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SZ)</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endPar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p:txBody>
      </p:sp>
      <p:sp>
        <p:nvSpPr>
          <p:cNvPr id="7" name="TextBox 6">
            <a:extLst>
              <a:ext uri="{FF2B5EF4-FFF2-40B4-BE49-F238E27FC236}">
                <a16:creationId xmlns:a16="http://schemas.microsoft.com/office/drawing/2014/main" id="{6C1D4E3A-5622-7118-5BFD-E3FCC4567B50}"/>
              </a:ext>
            </a:extLst>
          </p:cNvPr>
          <p:cNvSpPr txBox="1"/>
          <p:nvPr/>
        </p:nvSpPr>
        <p:spPr>
          <a:xfrm>
            <a:off x="1076325" y="-485163"/>
            <a:ext cx="8448675" cy="461665"/>
          </a:xfrm>
          <a:prstGeom prst="rect">
            <a:avLst/>
          </a:prstGeom>
          <a:noFill/>
        </p:spPr>
        <p:txBody>
          <a:bodyPr wrap="square" rtlCol="0">
            <a:spAutoFit/>
          </a:bodyPr>
          <a:lstStyle/>
          <a:p>
            <a:r>
              <a:rPr lang="zh-CN" altLang="en-US" sz="1200" dirty="0">
                <a:latin typeface="Arial" panose="020B0604020202020204" pitchFamily="34" charset="0"/>
                <a:cs typeface="Arial" panose="020B0604020202020204" pitchFamily="34" charset="0"/>
                <a:sym typeface="+mn-lt"/>
              </a:rPr>
              <a:t>上周开始公开发售的新股项目</a:t>
            </a:r>
          </a:p>
          <a:p>
            <a:r>
              <a:rPr lang="en-US" sz="1200" dirty="0">
                <a:latin typeface="Arial" panose="020B0604020202020204" pitchFamily="34" charset="0"/>
                <a:cs typeface="Arial" panose="020B0604020202020204" pitchFamily="34" charset="0"/>
                <a:sym typeface="+mn-lt"/>
                <a:hlinkClick r:id="rId3"/>
              </a:rPr>
              <a:t>http://www.aastocks.com/tc/stocks/market/ipo/upcomingipo/company-summary</a:t>
            </a:r>
            <a:r>
              <a:rPr lang="en-US" sz="1200" dirty="0">
                <a:latin typeface="Arial" panose="020B0604020202020204" pitchFamily="34" charset="0"/>
                <a:cs typeface="Arial" panose="020B0604020202020204" pitchFamily="34" charset="0"/>
                <a:sym typeface="+mn-lt"/>
              </a:rPr>
              <a:t> </a:t>
            </a:r>
          </a:p>
        </p:txBody>
      </p:sp>
      <p:graphicFrame>
        <p:nvGraphicFramePr>
          <p:cNvPr id="8" name="表格 5">
            <a:extLst>
              <a:ext uri="{FF2B5EF4-FFF2-40B4-BE49-F238E27FC236}">
                <a16:creationId xmlns:a16="http://schemas.microsoft.com/office/drawing/2014/main" id="{1A04EA38-F43E-E3AD-AA28-CC003F5C51C0}"/>
              </a:ext>
            </a:extLst>
          </p:cNvPr>
          <p:cNvGraphicFramePr>
            <a:graphicFrameLocks noGrp="1"/>
          </p:cNvGraphicFramePr>
          <p:nvPr>
            <p:extLst>
              <p:ext uri="{D42A27DB-BD31-4B8C-83A1-F6EECF244321}">
                <p14:modId xmlns:p14="http://schemas.microsoft.com/office/powerpoint/2010/main" val="2148513677"/>
              </p:ext>
            </p:extLst>
          </p:nvPr>
        </p:nvGraphicFramePr>
        <p:xfrm>
          <a:off x="377190" y="959709"/>
          <a:ext cx="9116090" cy="1663625"/>
        </p:xfrm>
        <a:graphic>
          <a:graphicData uri="http://schemas.openxmlformats.org/drawingml/2006/table">
            <a:tbl>
              <a:tblPr/>
              <a:tblGrid>
                <a:gridCol w="1777081">
                  <a:extLst>
                    <a:ext uri="{9D8B030D-6E8A-4147-A177-3AD203B41FA5}">
                      <a16:colId xmlns:a16="http://schemas.microsoft.com/office/drawing/2014/main" val="1174748977"/>
                    </a:ext>
                  </a:extLst>
                </a:gridCol>
                <a:gridCol w="997249">
                  <a:extLst>
                    <a:ext uri="{9D8B030D-6E8A-4147-A177-3AD203B41FA5}">
                      <a16:colId xmlns:a16="http://schemas.microsoft.com/office/drawing/2014/main" val="2476774980"/>
                    </a:ext>
                  </a:extLst>
                </a:gridCol>
                <a:gridCol w="1052367">
                  <a:extLst>
                    <a:ext uri="{9D8B030D-6E8A-4147-A177-3AD203B41FA5}">
                      <a16:colId xmlns:a16="http://schemas.microsoft.com/office/drawing/2014/main" val="3772983679"/>
                    </a:ext>
                  </a:extLst>
                </a:gridCol>
                <a:gridCol w="1396352">
                  <a:extLst>
                    <a:ext uri="{9D8B030D-6E8A-4147-A177-3AD203B41FA5}">
                      <a16:colId xmlns:a16="http://schemas.microsoft.com/office/drawing/2014/main" val="341598341"/>
                    </a:ext>
                  </a:extLst>
                </a:gridCol>
                <a:gridCol w="1072781">
                  <a:extLst>
                    <a:ext uri="{9D8B030D-6E8A-4147-A177-3AD203B41FA5}">
                      <a16:colId xmlns:a16="http://schemas.microsoft.com/office/drawing/2014/main" val="1175654604"/>
                    </a:ext>
                  </a:extLst>
                </a:gridCol>
                <a:gridCol w="1453510">
                  <a:extLst>
                    <a:ext uri="{9D8B030D-6E8A-4147-A177-3AD203B41FA5}">
                      <a16:colId xmlns:a16="http://schemas.microsoft.com/office/drawing/2014/main" val="4165654902"/>
                    </a:ext>
                  </a:extLst>
                </a:gridCol>
                <a:gridCol w="1366750">
                  <a:extLst>
                    <a:ext uri="{9D8B030D-6E8A-4147-A177-3AD203B41FA5}">
                      <a16:colId xmlns:a16="http://schemas.microsoft.com/office/drawing/2014/main" val="2879076724"/>
                    </a:ext>
                  </a:extLst>
                </a:gridCol>
              </a:tblGrid>
              <a:tr h="325993">
                <a:tc>
                  <a:txBody>
                    <a:bodyPr/>
                    <a:lstStyle/>
                    <a:p>
                      <a:pPr algn="ctr"/>
                      <a:r>
                        <a:rPr lang="zh-CN" altLang="en-US" sz="1000" b="1" dirty="0">
                          <a:solidFill>
                            <a:schemeClr val="bg1"/>
                          </a:solidFill>
                          <a:latin typeface="+mn-lt"/>
                          <a:ea typeface="+mn-ea"/>
                          <a:cs typeface="+mn-ea"/>
                          <a:sym typeface="+mn-lt"/>
                        </a:rPr>
                        <a:t>公司</a:t>
                      </a:r>
                      <a:endParaRPr lang="zh-HK" altLang="en-US" sz="1000" b="1" dirty="0">
                        <a:solidFill>
                          <a:schemeClr val="bg1"/>
                        </a:solidFill>
                        <a:latin typeface="+mn-lt"/>
                        <a:ea typeface="+mn-ea"/>
                        <a:cs typeface="+mn-ea"/>
                        <a:sym typeface="+mn-lt"/>
                      </a:endParaRPr>
                    </a:p>
                  </a:txBody>
                  <a:tcPr marL="0" marR="0" marT="0" marB="0" anchor="ctr">
                    <a:lnL w="12700">
                      <a:solidFill>
                        <a:srgbClr val="FF0000"/>
                      </a:solidFill>
                      <a:prstDash val="solid"/>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行业</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公开发售</a:t>
                      </a:r>
                      <a:endParaRPr lang="en-US" altLang="zh-CN" sz="1000" b="1" kern="1200" dirty="0">
                        <a:solidFill>
                          <a:schemeClr val="bg1"/>
                        </a:solidFill>
                        <a:latin typeface="+mn-lt"/>
                        <a:ea typeface="+mn-ea"/>
                        <a:cs typeface="+mn-ea"/>
                        <a:sym typeface="+mn-lt"/>
                      </a:endParaRPr>
                    </a:p>
                    <a:p>
                      <a:pPr algn="ctr"/>
                      <a:r>
                        <a:rPr lang="zh-CN" altLang="en-US" sz="1000" b="1" kern="1200" dirty="0">
                          <a:solidFill>
                            <a:schemeClr val="bg1"/>
                          </a:solidFill>
                          <a:latin typeface="+mn-lt"/>
                          <a:ea typeface="+mn-ea"/>
                          <a:cs typeface="+mn-ea"/>
                          <a:sym typeface="+mn-lt"/>
                        </a:rPr>
                        <a:t>结束日期</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发售价格</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（港元）</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绿鞋前融资规模</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（亿港元）</a:t>
                      </a:r>
                      <a:r>
                        <a:rPr lang="en-US" altLang="zh-CN" sz="1000" b="1" baseline="30000" dirty="0">
                          <a:solidFill>
                            <a:schemeClr val="bg1"/>
                          </a:solidFill>
                          <a:latin typeface="+mn-lt"/>
                          <a:ea typeface="+mn-ea"/>
                          <a:cs typeface="+mn-ea"/>
                          <a:sym typeface="+mn-lt"/>
                        </a:rPr>
                        <a:t>2</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基石投资者数量</a:t>
                      </a:r>
                      <a:endParaRPr lang="zh-HK" altLang="en-US" sz="1000" b="1" kern="1200"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基石投资总额占</a:t>
                      </a:r>
                      <a:endParaRPr lang="en-US" altLang="zh-CN" sz="1000" b="1" dirty="0">
                        <a:solidFill>
                          <a:schemeClr val="bg1"/>
                        </a:solidFill>
                        <a:latin typeface="+mn-lt"/>
                        <a:ea typeface="+mn-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基础发行规模比例</a:t>
                      </a:r>
                      <a:r>
                        <a:rPr lang="en-US" altLang="zh-CN" sz="1000" b="1" baseline="30000" dirty="0">
                          <a:solidFill>
                            <a:schemeClr val="bg1"/>
                          </a:solidFill>
                          <a:latin typeface="+mn-lt"/>
                          <a:ea typeface="+mn-ea"/>
                          <a:cs typeface="+mn-ea"/>
                          <a:sym typeface="+mn-lt"/>
                        </a:rPr>
                        <a:t>3</a:t>
                      </a:r>
                      <a:endParaRPr lang="zh-HK" altLang="en-US" sz="1000" b="1" baseline="30000" dirty="0">
                        <a:solidFill>
                          <a:schemeClr val="bg1"/>
                        </a:solidFill>
                        <a:latin typeface="+mn-lt"/>
                        <a:ea typeface="+mn-ea"/>
                        <a:cs typeface="+mn-ea"/>
                        <a:sym typeface="+mn-lt"/>
                      </a:endParaRPr>
                    </a:p>
                  </a:txBody>
                  <a:tcPr marL="0" marR="0" marT="0" marB="0" anchor="ctr">
                    <a:lnL>
                      <a:noFill/>
                    </a:lnL>
                    <a:lnR w="12700">
                      <a:solidFill>
                        <a:srgbClr val="FF0000"/>
                      </a:solidFill>
                      <a:prstDash val="solid"/>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2353208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a:t>
                      </a:r>
                      <a:r>
                        <a:rPr lang="en-US" altLang="zh-CN"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4</a:t>
                      </a:r>
                      <a:endParaRPr lang="en-US" altLang="zh-TW" sz="1000" b="0" dirty="0">
                        <a:solidFill>
                          <a:srgbClr val="C00000"/>
                        </a:solidFill>
                        <a:latin typeface="Arial" panose="020B0604020202020204" pitchFamily="34" charset="0"/>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19</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16.40 – 20.40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6.03 – 7.51</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0</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5</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23363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泽景电子</a:t>
                      </a:r>
                      <a:r>
                        <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rPr>
                        <a:t>6</a:t>
                      </a: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TMT</a:t>
                      </a:r>
                      <a:endPar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19</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42.00 – 48.00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6.82 – 7.79</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2</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7</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15.06%</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835139"/>
                  </a:ext>
                </a:extLst>
              </a:tr>
              <a:tr h="334408">
                <a:tc>
                  <a:txBody>
                    <a:bodyPr/>
                    <a:lstStyle/>
                    <a:p>
                      <a:pPr algn="ctr" fontAlgn="b">
                        <a:buNone/>
                      </a:pPr>
                      <a:r>
                        <a:rPr lang="zh-TW" altLang="en-US" sz="1000" b="0" dirty="0">
                          <a:solidFill>
                            <a:srgbClr val="C00000"/>
                          </a:solidFill>
                          <a:latin typeface="Arial" panose="020B0604020202020204" pitchFamily="34" charset="0"/>
                          <a:cs typeface="Arial" panose="020B0604020202020204" pitchFamily="34" charset="0"/>
                        </a:rPr>
                        <a:t>飞速创新</a:t>
                      </a:r>
                      <a:r>
                        <a:rPr lang="en-US" altLang="zh-CN" sz="1000" b="0" i="0" u="none" strike="noStrike" kern="1200" baseline="30000" dirty="0">
                          <a:solidFill>
                            <a:srgbClr val="C00000"/>
                          </a:solidFill>
                          <a:effectLst/>
                          <a:latin typeface="Arial" panose="020B0604020202020204" pitchFamily="34" charset="0"/>
                          <a:ea typeface="+mn-ea"/>
                          <a:cs typeface="Arial" panose="020B0604020202020204" pitchFamily="34" charset="0"/>
                        </a:rPr>
                        <a:t>8</a:t>
                      </a:r>
                      <a:endParaRPr lang="en-US" altLang="zh-TW" sz="1000" b="0" i="0" u="none" strike="noStrike" kern="1200" baseline="30000" dirty="0">
                        <a:solidFill>
                          <a:srgbClr val="C00000"/>
                        </a:solidFill>
                        <a:effectLst/>
                        <a:latin typeface="Arial" panose="020B0604020202020204" pitchFamily="34" charset="0"/>
                        <a:ea typeface="+mn-ea"/>
                        <a:cs typeface="Arial" panose="020B0604020202020204" pitchFamily="34" charset="0"/>
                      </a:endParaRPr>
                    </a:p>
                    <a:p>
                      <a:pPr algn="ctr" fontAlgn="b">
                        <a:buNone/>
                      </a:pPr>
                      <a:r>
                        <a:rPr lang="zh-CN" altLang="en-US" sz="1000" b="0" i="0" u="none" strike="noStrike" dirty="0">
                          <a:solidFill>
                            <a:srgbClr val="C00000"/>
                          </a:solidFill>
                          <a:effectLst/>
                          <a:latin typeface="Arial" panose="020B0604020202020204" pitchFamily="34" charset="0"/>
                          <a:ea typeface="+mn-ea"/>
                          <a:cs typeface="Arial" panose="020B0604020202020204" pitchFamily="34" charset="0"/>
                        </a:rPr>
                        <a:t>（</a:t>
                      </a:r>
                      <a:r>
                        <a:rPr lang="zh-TW" altLang="en-US" sz="1000" b="0" dirty="0">
                          <a:solidFill>
                            <a:srgbClr val="C00000"/>
                          </a:solidFill>
                          <a:latin typeface="Arial" panose="020B0604020202020204" pitchFamily="34" charset="0"/>
                          <a:cs typeface="Arial" panose="020B0604020202020204" pitchFamily="34" charset="0"/>
                        </a:rPr>
                        <a:t>招证国际为联席保荐人</a:t>
                      </a:r>
                      <a:r>
                        <a:rPr lang="zh-CN" altLang="en-US" sz="1000" b="0" dirty="0">
                          <a:solidFill>
                            <a:srgbClr val="C00000"/>
                          </a:solidFill>
                          <a:latin typeface="Arial" panose="020B0604020202020204" pitchFamily="34" charset="0"/>
                          <a:cs typeface="Arial" panose="020B0604020202020204" pitchFamily="34" charset="0"/>
                        </a:rPr>
                        <a:t>）</a:t>
                      </a:r>
                      <a:endParaRPr lang="en-US"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41.60</a:t>
                      </a:r>
                      <a:endParaRPr kumimoji="0" lang="en-US" altLang="en-US" sz="1000" b="0" i="0" u="none" strike="noStrike" kern="1200" cap="none" spc="0" normalizeH="0" baseline="0" dirty="0">
                        <a:ln>
                          <a:noFill/>
                        </a:ln>
                        <a:solidFill>
                          <a:schemeClr val="tx1"/>
                        </a:solidFill>
                        <a:effectLst/>
                        <a:uLnTx/>
                        <a:uFillTx/>
                        <a:latin typeface="+mj-lt"/>
                        <a:ea typeface="+mj-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16.64</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11</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9</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42.31%</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2346414"/>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a:t>
                      </a:r>
                      <a:r>
                        <a:rPr lang="en-US" altLang="zh-TW"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1</a:t>
                      </a:r>
                      <a:r>
                        <a:rPr lang="en-US" altLang="zh-CN"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0</a:t>
                      </a:r>
                      <a:endPar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10.80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n-lt"/>
                          <a:ea typeface="+mn-ea"/>
                          <a:cs typeface="+mn-ea"/>
                        </a:rPr>
                        <a:t>10.26</a:t>
                      </a:r>
                      <a:endParaRPr kumimoji="0" lang="en-US" altLang="en-US" sz="1000" b="0" i="0" u="none" strike="noStrike" kern="1200" cap="none" spc="0" normalizeH="0" baseline="0" dirty="0">
                        <a:ln>
                          <a:noFill/>
                        </a:ln>
                        <a:solidFill>
                          <a:schemeClr val="tx1"/>
                        </a:solidFill>
                        <a:effectLst/>
                        <a:uLnTx/>
                        <a:uFillTx/>
                        <a:latin typeface="+mn-lt"/>
                        <a:ea typeface="+mn-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5</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11</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solidFill>
                          <a:effectLst/>
                          <a:uLnTx/>
                          <a:uFillTx/>
                          <a:latin typeface="+mn-lt"/>
                          <a:ea typeface="+mn-ea"/>
                          <a:cs typeface="+mn-ea"/>
                          <a:sym typeface="+mn-ea"/>
                        </a:rPr>
                        <a:t>13.60%</a:t>
                      </a: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endParaRP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8853820"/>
                  </a:ext>
                </a:extLst>
              </a:tr>
            </a:tbl>
          </a:graphicData>
        </a:graphic>
      </p:graphicFrame>
      <p:sp>
        <p:nvSpPr>
          <p:cNvPr id="5" name="Frame 4">
            <a:extLst>
              <a:ext uri="{FF2B5EF4-FFF2-40B4-BE49-F238E27FC236}">
                <a16:creationId xmlns:a16="http://schemas.microsoft.com/office/drawing/2014/main" id="{0EEE35AA-AD08-1842-C6FF-58577E75F562}"/>
              </a:ext>
            </a:extLst>
          </p:cNvPr>
          <p:cNvSpPr/>
          <p:nvPr/>
        </p:nvSpPr>
        <p:spPr>
          <a:xfrm>
            <a:off x="4195482" y="1072571"/>
            <a:ext cx="2528047" cy="1787169"/>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4" name="Picture 13" descr="A screenshot of a phone&#10;&#10;AI-generated content may be incorrect.">
            <a:extLst>
              <a:ext uri="{FF2B5EF4-FFF2-40B4-BE49-F238E27FC236}">
                <a16:creationId xmlns:a16="http://schemas.microsoft.com/office/drawing/2014/main" id="{71E0BB1A-E834-E6B7-751D-EF0A782DE5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4204" y="2885343"/>
            <a:ext cx="3430231" cy="3881217"/>
          </a:xfrm>
          <a:prstGeom prst="rect">
            <a:avLst/>
          </a:prstGeom>
        </p:spPr>
      </p:pic>
      <p:sp>
        <p:nvSpPr>
          <p:cNvPr id="16" name="Frame 15">
            <a:extLst>
              <a:ext uri="{FF2B5EF4-FFF2-40B4-BE49-F238E27FC236}">
                <a16:creationId xmlns:a16="http://schemas.microsoft.com/office/drawing/2014/main" id="{C1440355-DB0C-1946-1BE1-B72DE2F9D650}"/>
              </a:ext>
            </a:extLst>
          </p:cNvPr>
          <p:cNvSpPr/>
          <p:nvPr/>
        </p:nvSpPr>
        <p:spPr>
          <a:xfrm>
            <a:off x="6260451" y="3915508"/>
            <a:ext cx="1836615" cy="242277"/>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65CC1715-D13A-BDA9-37DF-4C83CB6FF509}"/>
              </a:ext>
            </a:extLst>
          </p:cNvPr>
          <p:cNvSpPr/>
          <p:nvPr/>
        </p:nvSpPr>
        <p:spPr>
          <a:xfrm>
            <a:off x="6291712" y="4157785"/>
            <a:ext cx="1828800" cy="257907"/>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 name="Straight Connector 19">
            <a:extLst>
              <a:ext uri="{FF2B5EF4-FFF2-40B4-BE49-F238E27FC236}">
                <a16:creationId xmlns:a16="http://schemas.microsoft.com/office/drawing/2014/main" id="{6E0F81F4-1ACB-378D-4ECF-AE265877F01E}"/>
              </a:ext>
            </a:extLst>
          </p:cNvPr>
          <p:cNvCxnSpPr>
            <a:cxnSpLocks/>
            <a:stCxn id="16" idx="0"/>
          </p:cNvCxnSpPr>
          <p:nvPr/>
        </p:nvCxnSpPr>
        <p:spPr>
          <a:xfrm flipH="1" flipV="1">
            <a:off x="4952967" y="1561958"/>
            <a:ext cx="2225792" cy="235355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2B1F6C2-663A-51C4-BB83-AD6E1D13D6DE}"/>
              </a:ext>
            </a:extLst>
          </p:cNvPr>
          <p:cNvCxnSpPr>
            <a:cxnSpLocks/>
            <a:stCxn id="16" idx="2"/>
          </p:cNvCxnSpPr>
          <p:nvPr/>
        </p:nvCxnSpPr>
        <p:spPr>
          <a:xfrm flipH="1" flipV="1">
            <a:off x="6130758" y="1536617"/>
            <a:ext cx="1048001" cy="262116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F608EEC-0182-D6D6-2271-84F9A014F2EC}"/>
              </a:ext>
            </a:extLst>
          </p:cNvPr>
          <p:cNvSpPr txBox="1"/>
          <p:nvPr/>
        </p:nvSpPr>
        <p:spPr>
          <a:xfrm>
            <a:off x="6271846" y="437965"/>
            <a:ext cx="1531188" cy="369332"/>
          </a:xfrm>
          <a:prstGeom prst="rect">
            <a:avLst/>
          </a:prstGeom>
          <a:noFill/>
        </p:spPr>
        <p:txBody>
          <a:bodyPr wrap="none" rtlCol="0">
            <a:spAutoFit/>
          </a:bodyPr>
          <a:lstStyle/>
          <a:p>
            <a:r>
              <a:rPr lang="en-US" dirty="0" err="1">
                <a:highlight>
                  <a:srgbClr val="FFFF00"/>
                </a:highlight>
              </a:rPr>
              <a:t>抄description</a:t>
            </a:r>
            <a:endParaRPr lang="en-US" dirty="0">
              <a:highlight>
                <a:srgbClr val="FFFF00"/>
              </a:highlight>
            </a:endParaRPr>
          </a:p>
        </p:txBody>
      </p:sp>
      <p:cxnSp>
        <p:nvCxnSpPr>
          <p:cNvPr id="28" name="Straight Connector 27">
            <a:extLst>
              <a:ext uri="{FF2B5EF4-FFF2-40B4-BE49-F238E27FC236}">
                <a16:creationId xmlns:a16="http://schemas.microsoft.com/office/drawing/2014/main" id="{8825F7F6-72EB-089C-C106-65DAAFA181B8}"/>
              </a:ext>
            </a:extLst>
          </p:cNvPr>
          <p:cNvCxnSpPr>
            <a:cxnSpLocks/>
            <a:stCxn id="26" idx="2"/>
          </p:cNvCxnSpPr>
          <p:nvPr/>
        </p:nvCxnSpPr>
        <p:spPr>
          <a:xfrm>
            <a:off x="7037440" y="807297"/>
            <a:ext cx="297298" cy="576908"/>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DD36FA7-336D-2732-BCD5-0B2C7BDF172A}"/>
              </a:ext>
            </a:extLst>
          </p:cNvPr>
          <p:cNvSpPr txBox="1"/>
          <p:nvPr/>
        </p:nvSpPr>
        <p:spPr>
          <a:xfrm>
            <a:off x="365316" y="2842501"/>
            <a:ext cx="2031325" cy="1569660"/>
          </a:xfrm>
          <a:prstGeom prst="rect">
            <a:avLst/>
          </a:prstGeom>
          <a:noFill/>
        </p:spPr>
        <p:txBody>
          <a:bodyPr wrap="square" rtlCol="0">
            <a:spAutoFit/>
          </a:bodyPr>
          <a:lstStyle/>
          <a:p>
            <a:r>
              <a:rPr lang="en-US" sz="1200" dirty="0" err="1">
                <a:highlight>
                  <a:srgbClr val="FFFF00"/>
                </a:highlight>
              </a:rPr>
              <a:t>每一个都看看有没有在其他</a:t>
            </a:r>
            <a:endParaRPr lang="en-US" sz="1200" dirty="0">
              <a:highlight>
                <a:srgbClr val="FFFF00"/>
              </a:highlight>
            </a:endParaRPr>
          </a:p>
          <a:p>
            <a:r>
              <a:rPr lang="en-US" sz="1200" dirty="0" err="1">
                <a:highlight>
                  <a:srgbClr val="FFFF00"/>
                </a:highlight>
              </a:rPr>
              <a:t>市场上市</a:t>
            </a:r>
            <a:r>
              <a:rPr lang="zh-CN" altLang="en-US" sz="1200" dirty="0">
                <a:highlight>
                  <a:srgbClr val="FFFF00"/>
                </a:highlight>
              </a:rPr>
              <a:t>，有的话写</a:t>
            </a:r>
            <a:r>
              <a:rPr lang="en-US" altLang="zh-CN" sz="1200" dirty="0">
                <a:highlight>
                  <a:srgbClr val="FFFF00"/>
                </a:highlight>
              </a:rPr>
              <a:t>stock </a:t>
            </a:r>
          </a:p>
          <a:p>
            <a:r>
              <a:rPr lang="en-US" sz="1200" dirty="0">
                <a:highlight>
                  <a:srgbClr val="FFFF00"/>
                </a:highlight>
              </a:rPr>
              <a:t>code,</a:t>
            </a:r>
            <a:r>
              <a:rPr lang="zh-CN" altLang="en-US" sz="1200" dirty="0">
                <a:highlight>
                  <a:srgbClr val="FFFF00"/>
                </a:highlight>
              </a:rPr>
              <a:t> </a:t>
            </a:r>
            <a:r>
              <a:rPr lang="en-US" sz="1200" dirty="0" err="1">
                <a:highlight>
                  <a:srgbClr val="FFFF00"/>
                </a:highlight>
              </a:rPr>
              <a:t>只是现在通常都是</a:t>
            </a:r>
            <a:endParaRPr lang="en-US" sz="1200" dirty="0">
              <a:highlight>
                <a:srgbClr val="FFFF00"/>
              </a:highlight>
            </a:endParaRPr>
          </a:p>
          <a:p>
            <a:r>
              <a:rPr lang="en-US" sz="1200" dirty="0">
                <a:highlight>
                  <a:srgbClr val="FFFF00"/>
                </a:highlight>
              </a:rPr>
              <a:t>A-to-</a:t>
            </a:r>
            <a:r>
              <a:rPr lang="en-US" sz="1200" dirty="0" err="1">
                <a:highlight>
                  <a:srgbClr val="FFFF00"/>
                </a:highlight>
              </a:rPr>
              <a:t>H而已</a:t>
            </a:r>
            <a:r>
              <a:rPr lang="zh-CN" altLang="en-US" sz="1200" dirty="0">
                <a:highlight>
                  <a:srgbClr val="FFFF00"/>
                </a:highlight>
              </a:rPr>
              <a:t>，有机会是在美国已经上市，但来香港是以介绍方式上市，就不包括。只需在</a:t>
            </a:r>
            <a:r>
              <a:rPr lang="en-US" altLang="zh-CN" sz="1200" dirty="0">
                <a:highlight>
                  <a:srgbClr val="FFFF00"/>
                </a:highlight>
              </a:rPr>
              <a:t>description</a:t>
            </a:r>
            <a:r>
              <a:rPr lang="zh-CN" altLang="en-US" sz="1200" dirty="0">
                <a:highlight>
                  <a:srgbClr val="FFFF00"/>
                </a:highlight>
              </a:rPr>
              <a:t>写，上面表不用</a:t>
            </a:r>
            <a:endParaRPr lang="en-US" sz="1200" dirty="0">
              <a:highlight>
                <a:srgbClr val="FFFF00"/>
              </a:highlight>
            </a:endParaRPr>
          </a:p>
        </p:txBody>
      </p:sp>
      <p:cxnSp>
        <p:nvCxnSpPr>
          <p:cNvPr id="40" name="Straight Arrow Connector 39">
            <a:extLst>
              <a:ext uri="{FF2B5EF4-FFF2-40B4-BE49-F238E27FC236}">
                <a16:creationId xmlns:a16="http://schemas.microsoft.com/office/drawing/2014/main" id="{A4AA5D25-91C4-247C-BC71-0BE5E8C340B7}"/>
              </a:ext>
            </a:extLst>
          </p:cNvPr>
          <p:cNvCxnSpPr>
            <a:cxnSpLocks/>
          </p:cNvCxnSpPr>
          <p:nvPr/>
        </p:nvCxnSpPr>
        <p:spPr>
          <a:xfrm>
            <a:off x="984738" y="4157785"/>
            <a:ext cx="207824" cy="2037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5" name="Picture 44" descr="A blue rectangle with white text&#10;&#10;AI-generated content may be incorrect.">
            <a:extLst>
              <a:ext uri="{FF2B5EF4-FFF2-40B4-BE49-F238E27FC236}">
                <a16:creationId xmlns:a16="http://schemas.microsoft.com/office/drawing/2014/main" id="{692F16C8-8772-6BED-FD18-F9C9AFAFEC7E}"/>
              </a:ext>
            </a:extLst>
          </p:cNvPr>
          <p:cNvPicPr>
            <a:picLocks noChangeAspect="1"/>
          </p:cNvPicPr>
          <p:nvPr/>
        </p:nvPicPr>
        <p:blipFill>
          <a:blip r:embed="rId5">
            <a:extLst>
              <a:ext uri="{28A0092B-C50C-407E-A947-70E740481C1C}">
                <a14:useLocalDpi xmlns:a14="http://schemas.microsoft.com/office/drawing/2010/main" val="0"/>
              </a:ext>
            </a:extLst>
          </a:blip>
          <a:srcRect l="12437" r="27401"/>
          <a:stretch>
            <a:fillRect/>
          </a:stretch>
        </p:blipFill>
        <p:spPr>
          <a:xfrm>
            <a:off x="488610" y="4584896"/>
            <a:ext cx="1870681" cy="685119"/>
          </a:xfrm>
          <a:prstGeom prst="rect">
            <a:avLst/>
          </a:prstGeom>
        </p:spPr>
      </p:pic>
      <p:sp>
        <p:nvSpPr>
          <p:cNvPr id="49" name="TextBox 48">
            <a:extLst>
              <a:ext uri="{FF2B5EF4-FFF2-40B4-BE49-F238E27FC236}">
                <a16:creationId xmlns:a16="http://schemas.microsoft.com/office/drawing/2014/main" id="{AF7C7CCE-19B5-DB5F-7741-434C4EC303EE}"/>
              </a:ext>
            </a:extLst>
          </p:cNvPr>
          <p:cNvSpPr txBox="1"/>
          <p:nvPr/>
        </p:nvSpPr>
        <p:spPr>
          <a:xfrm>
            <a:off x="2770992" y="3023899"/>
            <a:ext cx="3135795" cy="1754326"/>
          </a:xfrm>
          <a:prstGeom prst="rect">
            <a:avLst/>
          </a:prstGeom>
          <a:noFill/>
        </p:spPr>
        <p:txBody>
          <a:bodyPr wrap="none" rtlCol="0">
            <a:spAutoFit/>
          </a:bodyPr>
          <a:lstStyle/>
          <a:p>
            <a:r>
              <a:rPr lang="en-US" sz="1200" dirty="0">
                <a:highlight>
                  <a:srgbClr val="FFFF00"/>
                </a:highlight>
              </a:rPr>
              <a:t>Copy </a:t>
            </a:r>
            <a:r>
              <a:rPr lang="en-US" sz="1200" dirty="0" err="1">
                <a:highlight>
                  <a:srgbClr val="FFFF00"/>
                </a:highlight>
              </a:rPr>
              <a:t>description之后看看</a:t>
            </a:r>
            <a:endParaRPr lang="en-US" sz="1200" dirty="0">
              <a:highlight>
                <a:srgbClr val="FFFF00"/>
              </a:highlight>
            </a:endParaRPr>
          </a:p>
          <a:p>
            <a:r>
              <a:rPr lang="en-US" sz="1200" dirty="0">
                <a:highlight>
                  <a:srgbClr val="FFFF00"/>
                </a:highlight>
              </a:rPr>
              <a:t>CMS </a:t>
            </a:r>
            <a:r>
              <a:rPr lang="en-US" sz="1200" dirty="0" err="1">
                <a:highlight>
                  <a:srgbClr val="FFFF00"/>
                </a:highlight>
              </a:rPr>
              <a:t>有没有参与</a:t>
            </a:r>
            <a:r>
              <a:rPr lang="zh-CN" altLang="en-US" sz="1200" dirty="0">
                <a:highlight>
                  <a:srgbClr val="FFFF00"/>
                </a:highlight>
              </a:rPr>
              <a:t>，有要写最大的</a:t>
            </a:r>
            <a:r>
              <a:rPr lang="en-US" altLang="zh-CN" sz="1200" dirty="0">
                <a:highlight>
                  <a:srgbClr val="FFFF00"/>
                </a:highlight>
              </a:rPr>
              <a:t>,</a:t>
            </a:r>
            <a:br>
              <a:rPr lang="en-US" altLang="zh-CN" sz="1200" dirty="0">
                <a:highlight>
                  <a:srgbClr val="FFFF00"/>
                </a:highlight>
              </a:rPr>
            </a:br>
            <a:r>
              <a:rPr lang="zh-CN" altLang="en-US" sz="1200" dirty="0">
                <a:highlight>
                  <a:srgbClr val="FFFF00"/>
                </a:highlight>
              </a:rPr>
              <a:t>標紅</a:t>
            </a:r>
            <a:r>
              <a:rPr lang="zh-TW" altLang="en-US" sz="1200" dirty="0">
                <a:highlight>
                  <a:srgbClr val="FFFF00"/>
                </a:highlight>
              </a:rPr>
              <a:t>，</a:t>
            </a:r>
            <a:r>
              <a:rPr lang="en-US" altLang="zh-TW" sz="1200" dirty="0">
                <a:solidFill>
                  <a:srgbClr val="FF0000"/>
                </a:solidFill>
                <a:highlight>
                  <a:srgbClr val="FFFF00"/>
                </a:highlight>
              </a:rPr>
              <a:t>description</a:t>
            </a:r>
            <a:r>
              <a:rPr lang="zh-TW" altLang="en-US" sz="1200" dirty="0">
                <a:solidFill>
                  <a:srgbClr val="FF0000"/>
                </a:solidFill>
                <a:highlight>
                  <a:srgbClr val="FFFF00"/>
                </a:highlight>
              </a:rPr>
              <a:t>要句号</a:t>
            </a:r>
            <a:endParaRPr lang="en-US" altLang="zh-CN" sz="1200" dirty="0">
              <a:solidFill>
                <a:srgbClr val="FF0000"/>
              </a:solidFill>
              <a:highlight>
                <a:srgbClr val="FFFF00"/>
              </a:highlight>
            </a:endParaRPr>
          </a:p>
          <a:p>
            <a:pPr marL="228600" indent="-228600">
              <a:buAutoNum type="arabicPeriod"/>
            </a:pPr>
            <a:r>
              <a:rPr lang="zh-CN" altLang="en-US" sz="1200" dirty="0">
                <a:highlight>
                  <a:srgbClr val="FFFF00"/>
                </a:highlight>
              </a:rPr>
              <a:t>独家保荐人</a:t>
            </a:r>
            <a:r>
              <a:rPr lang="en-US" altLang="zh-CN" sz="1200" dirty="0">
                <a:highlight>
                  <a:srgbClr val="FFFF00"/>
                </a:highlight>
              </a:rPr>
              <a:t>(sole sponsor)</a:t>
            </a:r>
          </a:p>
          <a:p>
            <a:pPr marL="228600" indent="-228600">
              <a:buAutoNum type="arabicPeriod"/>
            </a:pPr>
            <a:r>
              <a:rPr lang="zh-CN" altLang="en-US" sz="1200" dirty="0">
                <a:highlight>
                  <a:srgbClr val="FFFF00"/>
                </a:highlight>
              </a:rPr>
              <a:t>联席保荐人</a:t>
            </a:r>
            <a:r>
              <a:rPr lang="en-US" altLang="zh-CN" sz="1200" dirty="0">
                <a:highlight>
                  <a:srgbClr val="FFFF00"/>
                </a:highlight>
              </a:rPr>
              <a:t>(joint sponsor)</a:t>
            </a:r>
          </a:p>
          <a:p>
            <a:pPr marL="228600" indent="-228600">
              <a:buAutoNum type="arabicPeriod"/>
            </a:pPr>
            <a:r>
              <a:rPr lang="zh-CN" altLang="en-US" sz="1200" dirty="0">
                <a:highlight>
                  <a:srgbClr val="FFFF00"/>
                </a:highlight>
              </a:rPr>
              <a:t>整體协调人</a:t>
            </a:r>
            <a:r>
              <a:rPr lang="en-US" altLang="zh-CN" sz="1200" dirty="0">
                <a:highlight>
                  <a:srgbClr val="FFFF00"/>
                </a:highlight>
              </a:rPr>
              <a:t>(overall coordinator)</a:t>
            </a:r>
          </a:p>
          <a:p>
            <a:pPr marL="228600" indent="-228600">
              <a:buAutoNum type="arabicPeriod"/>
            </a:pPr>
            <a:r>
              <a:rPr lang="zh-TW" altLang="en-US" sz="1200" dirty="0">
                <a:highlight>
                  <a:srgbClr val="FFFF00"/>
                </a:highlight>
              </a:rPr>
              <a:t>联席全球协调人</a:t>
            </a:r>
            <a:r>
              <a:rPr lang="en-US" altLang="zh-TW" sz="1200" dirty="0">
                <a:highlight>
                  <a:srgbClr val="FFFF00"/>
                </a:highlight>
              </a:rPr>
              <a:t>(joint global coordinator)</a:t>
            </a:r>
          </a:p>
          <a:p>
            <a:pPr marL="228600" indent="-228600">
              <a:buAutoNum type="arabicPeriod"/>
            </a:pPr>
            <a:r>
              <a:rPr lang="zh-TW" altLang="en-US" sz="1200" dirty="0">
                <a:highlight>
                  <a:srgbClr val="FFFF00"/>
                </a:highlight>
              </a:rPr>
              <a:t>联席账簿管理人</a:t>
            </a:r>
            <a:r>
              <a:rPr lang="en-US" altLang="zh-TW" sz="1200" dirty="0">
                <a:highlight>
                  <a:srgbClr val="FFFF00"/>
                </a:highlight>
              </a:rPr>
              <a:t>(joint book runner)</a:t>
            </a:r>
          </a:p>
          <a:p>
            <a:pPr marL="228600" indent="-228600">
              <a:buAutoNum type="arabicPeriod"/>
            </a:pPr>
            <a:r>
              <a:rPr lang="zh-TW" altLang="en-US" sz="1200" dirty="0">
                <a:highlight>
                  <a:srgbClr val="FFFF00"/>
                </a:highlight>
              </a:rPr>
              <a:t>联席经办人</a:t>
            </a:r>
            <a:r>
              <a:rPr lang="en-US" altLang="zh-TW" sz="1200" dirty="0">
                <a:highlight>
                  <a:srgbClr val="FFFF00"/>
                </a:highlight>
              </a:rPr>
              <a:t>(joint lead manager)</a:t>
            </a:r>
            <a:endParaRPr lang="en-US" altLang="zh-CN" sz="1200" dirty="0">
              <a:highlight>
                <a:srgbClr val="FFFF00"/>
              </a:highlight>
            </a:endParaRPr>
          </a:p>
        </p:txBody>
      </p:sp>
      <p:pic>
        <p:nvPicPr>
          <p:cNvPr id="51" name="Picture 50" descr="A screenshot of a phone&#10;&#10;AI-generated content may be incorrect.">
            <a:extLst>
              <a:ext uri="{FF2B5EF4-FFF2-40B4-BE49-F238E27FC236}">
                <a16:creationId xmlns:a16="http://schemas.microsoft.com/office/drawing/2014/main" id="{0959A4BA-0E68-E4C3-9A78-270D7F759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05409" y="3070126"/>
            <a:ext cx="1063855" cy="811075"/>
          </a:xfrm>
          <a:prstGeom prst="rect">
            <a:avLst/>
          </a:prstGeom>
        </p:spPr>
      </p:pic>
      <p:cxnSp>
        <p:nvCxnSpPr>
          <p:cNvPr id="55" name="Straight Arrow Connector 54">
            <a:extLst>
              <a:ext uri="{FF2B5EF4-FFF2-40B4-BE49-F238E27FC236}">
                <a16:creationId xmlns:a16="http://schemas.microsoft.com/office/drawing/2014/main" id="{B5E3FA39-E047-BD67-A77C-23CE7941DA8C}"/>
              </a:ext>
            </a:extLst>
          </p:cNvPr>
          <p:cNvCxnSpPr>
            <a:cxnSpLocks/>
          </p:cNvCxnSpPr>
          <p:nvPr/>
        </p:nvCxnSpPr>
        <p:spPr>
          <a:xfrm flipH="1" flipV="1">
            <a:off x="1460205" y="2275367"/>
            <a:ext cx="1729562" cy="786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A254289-9152-724F-53DD-D747D7381CFF}"/>
              </a:ext>
            </a:extLst>
          </p:cNvPr>
          <p:cNvCxnSpPr>
            <a:cxnSpLocks/>
          </p:cNvCxnSpPr>
          <p:nvPr/>
        </p:nvCxnSpPr>
        <p:spPr>
          <a:xfrm flipH="1">
            <a:off x="2770992" y="4778225"/>
            <a:ext cx="980805" cy="100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2" name="Picture 61" descr="A screenshot of a computer&#10;&#10;AI-generated content may be incorrect.">
            <a:extLst>
              <a:ext uri="{FF2B5EF4-FFF2-40B4-BE49-F238E27FC236}">
                <a16:creationId xmlns:a16="http://schemas.microsoft.com/office/drawing/2014/main" id="{79F886AB-1AA1-C550-B2F8-8E780E17C5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08285" y="4843732"/>
            <a:ext cx="2020238" cy="1958903"/>
          </a:xfrm>
          <a:prstGeom prst="rect">
            <a:avLst/>
          </a:prstGeom>
        </p:spPr>
      </p:pic>
    </p:spTree>
    <p:extLst>
      <p:ext uri="{BB962C8B-B14F-4D97-AF65-F5344CB8AC3E}">
        <p14:creationId xmlns:p14="http://schemas.microsoft.com/office/powerpoint/2010/main" val="1965843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C0FB9-235A-C818-A4C6-307DAC8E9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F0D80-8BF9-DCEF-BEAC-748374C27708}"/>
              </a:ext>
            </a:extLst>
          </p:cNvPr>
          <p:cNvSpPr>
            <a:spLocks noGrp="1"/>
          </p:cNvSpPr>
          <p:nvPr>
            <p:ph type="title"/>
          </p:nvPr>
        </p:nvSpPr>
        <p:spPr/>
        <p:txBody>
          <a:bodyPr>
            <a:normAutofit/>
          </a:bodyPr>
          <a:lstStyle/>
          <a:p>
            <a:r>
              <a:rPr lang="zh-CN" altLang="en-US" dirty="0">
                <a:latin typeface="+mn-lt"/>
                <a:ea typeface="+mn-ea"/>
                <a:cs typeface="+mn-ea"/>
                <a:sym typeface="+mn-lt"/>
              </a:rPr>
              <a:t>过去一周香港新股市场概览（续）</a:t>
            </a:r>
          </a:p>
        </p:txBody>
      </p:sp>
      <p:sp>
        <p:nvSpPr>
          <p:cNvPr id="3" name="TextBox 2">
            <a:extLst>
              <a:ext uri="{FF2B5EF4-FFF2-40B4-BE49-F238E27FC236}">
                <a16:creationId xmlns:a16="http://schemas.microsoft.com/office/drawing/2014/main" id="{6E12AC3D-60C8-87CC-7A0E-A5DBA41E3C60}"/>
              </a:ext>
            </a:extLst>
          </p:cNvPr>
          <p:cNvSpPr txBox="1"/>
          <p:nvPr/>
        </p:nvSpPr>
        <p:spPr>
          <a:xfrm>
            <a:off x="1192562" y="-1363082"/>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dirty="0">
                <a:cs typeface="+mn-ea"/>
                <a:sym typeface="+mn-lt"/>
                <a:hlinkClick r:id="rId3"/>
              </a:rPr>
              <a:t>http://www.aastocks.com/tc/stocks/market/ipo/upcomingipo/company-summary</a:t>
            </a:r>
            <a:r>
              <a:rPr lang="en-US" sz="1200" dirty="0">
                <a:cs typeface="+mn-ea"/>
                <a:sym typeface="+mn-lt"/>
              </a:rPr>
              <a:t> </a:t>
            </a:r>
          </a:p>
        </p:txBody>
      </p:sp>
      <p:sp>
        <p:nvSpPr>
          <p:cNvPr id="15" name="灯片编号占位符 14">
            <a:extLst>
              <a:ext uri="{FF2B5EF4-FFF2-40B4-BE49-F238E27FC236}">
                <a16:creationId xmlns:a16="http://schemas.microsoft.com/office/drawing/2014/main" id="{A32C3478-A584-9310-840C-834EA55558CD}"/>
              </a:ext>
            </a:extLst>
          </p:cNvPr>
          <p:cNvSpPr>
            <a:spLocks noGrp="1"/>
          </p:cNvSpPr>
          <p:nvPr>
            <p:ph type="sldNum" sz="quarter" idx="16"/>
          </p:nvPr>
        </p:nvSpPr>
        <p:spPr/>
        <p:txBody>
          <a:bodyPr/>
          <a:lstStyle/>
          <a:p>
            <a:fld id="{72E6F1C1-8568-433B-B05E-E21B84158B67}" type="slidenum">
              <a:rPr lang="en-US" smtClean="0"/>
              <a:t>9</a:t>
            </a:fld>
            <a:endParaRPr lang="en-US" dirty="0"/>
          </a:p>
        </p:txBody>
      </p:sp>
      <p:sp>
        <p:nvSpPr>
          <p:cNvPr id="11" name="Rectangle 3">
            <a:extLst>
              <a:ext uri="{FF2B5EF4-FFF2-40B4-BE49-F238E27FC236}">
                <a16:creationId xmlns:a16="http://schemas.microsoft.com/office/drawing/2014/main" id="{F1B1E7C3-82A1-B8F9-F1B7-A5C52E5301CD}"/>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DE8AE594-46C6-120D-BBF2-B3F2834E142E}"/>
              </a:ext>
            </a:extLst>
          </p:cNvPr>
          <p:cNvSpPr>
            <a:spLocks noChangeArrowheads="1"/>
          </p:cNvSpPr>
          <p:nvPr/>
        </p:nvSpPr>
        <p:spPr bwMode="auto">
          <a:xfrm>
            <a:off x="4952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6">
            <a:extLst>
              <a:ext uri="{FF2B5EF4-FFF2-40B4-BE49-F238E27FC236}">
                <a16:creationId xmlns:a16="http://schemas.microsoft.com/office/drawing/2014/main" id="{F1F43FC2-5CE0-A1E7-19E0-434B40EAFC55}"/>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Rectangle 7">
            <a:extLst>
              <a:ext uri="{FF2B5EF4-FFF2-40B4-BE49-F238E27FC236}">
                <a16:creationId xmlns:a16="http://schemas.microsoft.com/office/drawing/2014/main" id="{7529FB8E-B78B-4CC8-AB32-08ADFD7536A0}"/>
              </a:ext>
            </a:extLst>
          </p:cNvPr>
          <p:cNvSpPr/>
          <p:nvPr/>
        </p:nvSpPr>
        <p:spPr>
          <a:xfrm>
            <a:off x="377190" y="546154"/>
            <a:ext cx="9006737" cy="215265"/>
          </a:xfrm>
          <a:prstGeom prst="rect">
            <a:avLst/>
          </a:prstGeom>
        </p:spPr>
        <p:txBody>
          <a:bodyPr wrap="square" lIns="0" tIns="0" rIns="0" bIns="0" anchor="ctr">
            <a:spAutoFit/>
          </a:bodyPr>
          <a:lstStyle/>
          <a:p>
            <a:r>
              <a:rPr lang="zh-CN" altLang="en-US" sz="1400" b="1" u="sng" dirty="0">
                <a:solidFill>
                  <a:schemeClr val="accent1"/>
                </a:solidFill>
                <a:cs typeface="+mn-ea"/>
                <a:sym typeface="+mn-lt"/>
              </a:rPr>
              <a:t>上周进行公开发售或定价的新股项目</a:t>
            </a:r>
            <a:r>
              <a:rPr lang="en-US" altLang="zh-CN" sz="1400" b="1" u="sng" baseline="30000" dirty="0">
                <a:solidFill>
                  <a:schemeClr val="accent1"/>
                </a:solidFill>
                <a:cs typeface="+mn-ea"/>
                <a:sym typeface="+mn-lt"/>
              </a:rPr>
              <a:t>1</a:t>
            </a:r>
            <a:endParaRPr lang="zh-CN" altLang="en-US" sz="1400" b="1" u="sng" baseline="30000" dirty="0">
              <a:solidFill>
                <a:schemeClr val="accent1"/>
              </a:solidFill>
              <a:cs typeface="+mn-ea"/>
              <a:sym typeface="+mn-lt"/>
            </a:endParaRPr>
          </a:p>
        </p:txBody>
      </p:sp>
      <p:sp>
        <p:nvSpPr>
          <p:cNvPr id="10" name="Text Placeholder FN">
            <a:extLst>
              <a:ext uri="{FF2B5EF4-FFF2-40B4-BE49-F238E27FC236}">
                <a16:creationId xmlns:a16="http://schemas.microsoft.com/office/drawing/2014/main" id="{4271D94B-7356-0471-74B3-4DC22FEA1CFC}"/>
              </a:ext>
            </a:extLst>
          </p:cNvPr>
          <p:cNvSpPr txBox="1"/>
          <p:nvPr/>
        </p:nvSpPr>
        <p:spPr>
          <a:xfrm>
            <a:off x="260953" y="3246120"/>
            <a:ext cx="9264047" cy="3337560"/>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资料来源：</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Dealogic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、港交所网站（截至</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2026</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年</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3</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月</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20</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日）</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只包括主板</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IPO</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项目，不包括创业板项目。</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2</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以基础发行规模测算，假设发售量调整权未获行使。</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3</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以基础发行规模，按价格区间中端测算（若有）。</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4</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zh-TW" altLang="en-US"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en-US"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2014</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综合智能场内物流机器人提供商，致力于通过先进机器人技术重新定义供应链的运作模式，公司是是智能场内物流机器人行业的成熟厂商之一，拥有广泛的机器人技术能力及多元化的自主研发机器人产品组合，涵盖广泛采用的高度和有效载荷规格的核心场内物流功能。</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5</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招股未引入基石投资者</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6</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zh-TW" altLang="en-US"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en-US"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泽景电子，成立于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2015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年，专注于</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HUD(</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抬头显示系统</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研发，公司率先在中国市场推出自研</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HUD</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解决方案，通过创新解决方案，推动智能座舱视觉、人车交互系统由</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D</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至</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D、AR</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变革及市场渗透。</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7</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zh-TW" altLang="en-US"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en-US"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泽景股份是次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1.10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亿港元的发售股份，基石投资者包括盈科投资基金、北京高精尖等。</a:t>
            </a:r>
            <a:endPar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8</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飞速创新，成立于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2009</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年，作为企业级网络解决方案的全球领军企业，通过公司的在线销售平台</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FS.com</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提供可扩展、具成本效益及一站式网络解决方案，包括高性能网络设备、可扩展网络设备操作系统及云网络管理平台。</a:t>
            </a:r>
            <a:r>
              <a:rPr lang="zh-TW" altLang="en-US" sz="800" b="0" dirty="0">
                <a:solidFill>
                  <a:srgbClr val="C00000"/>
                </a:solidFill>
                <a:latin typeface="Arial" panose="020B0604020202020204" pitchFamily="34" charset="0"/>
                <a:ea typeface="KaiTi" panose="02010609060101010101" pitchFamily="49" charset="-122"/>
                <a:cs typeface="Arial" panose="020B0604020202020204" pitchFamily="34" charset="0"/>
              </a:rPr>
              <a:t>招证国际为联席保荐人</a:t>
            </a:r>
            <a:r>
              <a:rPr lang="zh-CN" altLang="en-US" sz="800" b="0" dirty="0">
                <a:solidFill>
                  <a:srgbClr val="C00000"/>
                </a:solidFill>
                <a:latin typeface="Arial" panose="020B0604020202020204" pitchFamily="34" charset="0"/>
                <a:ea typeface="KaiTi" panose="02010609060101010101" pitchFamily="49" charset="-122"/>
                <a:cs typeface="Arial" panose="020B0604020202020204" pitchFamily="34" charset="0"/>
              </a:rPr>
              <a:t>。</a:t>
            </a:r>
            <a:endParaRPr lang="en-US" altLang="zh-TW" sz="800" b="0"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9</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US"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飞速创新是次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11</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7.04</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Hao </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Fund、Great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 Holding(</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袁永刚先生</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WT </a:t>
            </a:r>
            <a:r>
              <a:rPr lang="en-US" sz="800" b="0" dirty="0" err="1">
                <a:solidFill>
                  <a:schemeClr val="tx1"/>
                </a:solidFill>
                <a:latin typeface="Arial" panose="020B0604020202020204" pitchFamily="34" charset="0"/>
                <a:ea typeface="KaiTi" panose="02010609060101010101" pitchFamily="49" charset="-122"/>
                <a:cs typeface="Arial" panose="020B0604020202020204" pitchFamily="34" charset="0"/>
              </a:rPr>
              <a:t>Asset、Caitong</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 SEIII(</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财通资产管理</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、上海聚鸣、前瞻资本、</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SCGC</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资本</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深创投</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Aether、</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广发基金管理、深圳凯丰管理、</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Wider Huge(Laurena Wu</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女士</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r>
              <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a:t>
            </a:r>
            <a:endPar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10</a:t>
            </a: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a:t>
            </a:r>
            <a:r>
              <a:rPr lang="en-HK"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(300077.SZ)</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，成立于</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2000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年，作为一家平台型集成电路设计公司，致力于为各类智能终端提供高安全性、高可靠性、高集成度的控制芯片与系统解决方案，客户涵盖消费电子、工业控制和数字能源、智能家居、汽车电子与医疗电子多个关键领域。除芯片业务外，国民技术亦同步发展锂电池负极材料业务。</a:t>
            </a:r>
            <a:endParaRPr lang="en-HK" altLang="zh-CN"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a:p>
            <a:pPr marL="361950" indent="-350838" defTabSz="361950">
              <a:spcAft>
                <a:spcPts val="200"/>
              </a:spcAft>
              <a:buNone/>
            </a:pPr>
            <a:r>
              <a:rPr lang="zh-CN" altLang="en-US"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注</a:t>
            </a:r>
            <a:r>
              <a:rPr lang="en-US" altLang="zh-CN" sz="800" dirty="0">
                <a:solidFill>
                  <a:schemeClr val="tx1"/>
                </a:solidFill>
                <a:latin typeface="Arial" panose="020B0604020202020204" pitchFamily="34" charset="0"/>
                <a:ea typeface="KaiTi" panose="02010609060101010101" pitchFamily="49" charset="-122"/>
                <a:cs typeface="Arial" panose="020B0604020202020204" pitchFamily="34" charset="0"/>
                <a:sym typeface="+mn-ea"/>
              </a:rPr>
              <a:t>11:</a:t>
            </a:r>
            <a:r>
              <a:rPr lang="en-HK" altLang="zh-TW" sz="800" dirty="0">
                <a:solidFill>
                  <a:schemeClr val="tx1"/>
                </a:solidFill>
                <a:latin typeface="Arial" panose="020B0604020202020204" pitchFamily="34" charset="0"/>
                <a:ea typeface="KaiTi" panose="02010609060101010101" pitchFamily="49" charset="-122"/>
                <a:cs typeface="Arial" panose="020B0604020202020204" pitchFamily="34" charset="0"/>
              </a:rPr>
              <a:t>	</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国民技术是次</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IPO</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招股引入</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5</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名基石投资者，合共认购约</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1.40</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亿港元的发售股份，基石投资者包括国华人寿、</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Harvest Oriental II、</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戴婉琴女士、安江波先生、欣旺达</a:t>
            </a:r>
            <a:r>
              <a:rPr lang="en-US" altLang="zh-TW" sz="800" b="0" dirty="0">
                <a:solidFill>
                  <a:schemeClr val="tx1"/>
                </a:solidFill>
                <a:latin typeface="Arial" panose="020B0604020202020204" pitchFamily="34" charset="0"/>
                <a:ea typeface="KaiTi" panose="02010609060101010101" pitchFamily="49" charset="-122"/>
                <a:cs typeface="Arial" panose="020B0604020202020204" pitchFamily="34" charset="0"/>
              </a:rPr>
              <a:t>(300207.</a:t>
            </a:r>
            <a:r>
              <a:rPr 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SZ)</a:t>
            </a:r>
            <a:r>
              <a:rPr lang="zh-TW" altLang="en-US" sz="800" b="0" dirty="0">
                <a:solidFill>
                  <a:schemeClr val="tx1"/>
                </a:solidFill>
                <a:latin typeface="Arial" panose="020B0604020202020204" pitchFamily="34" charset="0"/>
                <a:ea typeface="KaiTi" panose="02010609060101010101" pitchFamily="49" charset="-122"/>
                <a:cs typeface="Arial" panose="020B0604020202020204" pitchFamily="34" charset="0"/>
              </a:rPr>
              <a:t>等。</a:t>
            </a:r>
            <a:endParaRPr lang="zh-CN" altLang="en-US" sz="800" b="0" dirty="0">
              <a:solidFill>
                <a:schemeClr val="tx1"/>
              </a:solidFill>
              <a:latin typeface="Arial" panose="020B0604020202020204" pitchFamily="34" charset="0"/>
              <a:ea typeface="KaiTi" panose="02010609060101010101" pitchFamily="49" charset="-122"/>
              <a:cs typeface="Arial" panose="020B0604020202020204" pitchFamily="34" charset="0"/>
              <a:sym typeface="+mn-ea"/>
            </a:endParaRPr>
          </a:p>
        </p:txBody>
      </p:sp>
      <p:sp>
        <p:nvSpPr>
          <p:cNvPr id="7" name="TextBox 6">
            <a:extLst>
              <a:ext uri="{FF2B5EF4-FFF2-40B4-BE49-F238E27FC236}">
                <a16:creationId xmlns:a16="http://schemas.microsoft.com/office/drawing/2014/main" id="{6C1D4E3A-5622-7118-5BFD-E3FCC4567B50}"/>
              </a:ext>
            </a:extLst>
          </p:cNvPr>
          <p:cNvSpPr txBox="1"/>
          <p:nvPr/>
        </p:nvSpPr>
        <p:spPr>
          <a:xfrm>
            <a:off x="1076325" y="-485163"/>
            <a:ext cx="8448675" cy="461665"/>
          </a:xfrm>
          <a:prstGeom prst="rect">
            <a:avLst/>
          </a:prstGeom>
          <a:noFill/>
        </p:spPr>
        <p:txBody>
          <a:bodyPr wrap="square" rtlCol="0">
            <a:spAutoFit/>
          </a:bodyPr>
          <a:lstStyle/>
          <a:p>
            <a:r>
              <a:rPr lang="zh-CN" altLang="en-US" sz="1200" dirty="0">
                <a:latin typeface="Arial" panose="020B0604020202020204" pitchFamily="34" charset="0"/>
                <a:cs typeface="Arial" panose="020B0604020202020204" pitchFamily="34" charset="0"/>
                <a:sym typeface="+mn-lt"/>
              </a:rPr>
              <a:t>上周开始公开发售的新股项目</a:t>
            </a:r>
          </a:p>
          <a:p>
            <a:r>
              <a:rPr lang="en-US" sz="1200" dirty="0">
                <a:latin typeface="Arial" panose="020B0604020202020204" pitchFamily="34" charset="0"/>
                <a:cs typeface="Arial" panose="020B0604020202020204" pitchFamily="34" charset="0"/>
                <a:sym typeface="+mn-lt"/>
                <a:hlinkClick r:id="rId3"/>
              </a:rPr>
              <a:t>http://www.aastocks.com/tc/stocks/market/ipo/upcomingipo/company-summary</a:t>
            </a:r>
            <a:r>
              <a:rPr lang="en-US" sz="1200" dirty="0">
                <a:latin typeface="Arial" panose="020B0604020202020204" pitchFamily="34" charset="0"/>
                <a:cs typeface="Arial" panose="020B0604020202020204" pitchFamily="34" charset="0"/>
                <a:sym typeface="+mn-lt"/>
              </a:rPr>
              <a:t> </a:t>
            </a:r>
          </a:p>
        </p:txBody>
      </p:sp>
      <p:graphicFrame>
        <p:nvGraphicFramePr>
          <p:cNvPr id="8" name="表格 5">
            <a:extLst>
              <a:ext uri="{FF2B5EF4-FFF2-40B4-BE49-F238E27FC236}">
                <a16:creationId xmlns:a16="http://schemas.microsoft.com/office/drawing/2014/main" id="{1A04EA38-F43E-E3AD-AA28-CC003F5C51C0}"/>
              </a:ext>
            </a:extLst>
          </p:cNvPr>
          <p:cNvGraphicFramePr>
            <a:graphicFrameLocks noGrp="1"/>
          </p:cNvGraphicFramePr>
          <p:nvPr/>
        </p:nvGraphicFramePr>
        <p:xfrm>
          <a:off x="377190" y="959709"/>
          <a:ext cx="9116090" cy="1663625"/>
        </p:xfrm>
        <a:graphic>
          <a:graphicData uri="http://schemas.openxmlformats.org/drawingml/2006/table">
            <a:tbl>
              <a:tblPr/>
              <a:tblGrid>
                <a:gridCol w="1777081">
                  <a:extLst>
                    <a:ext uri="{9D8B030D-6E8A-4147-A177-3AD203B41FA5}">
                      <a16:colId xmlns:a16="http://schemas.microsoft.com/office/drawing/2014/main" val="1174748977"/>
                    </a:ext>
                  </a:extLst>
                </a:gridCol>
                <a:gridCol w="997249">
                  <a:extLst>
                    <a:ext uri="{9D8B030D-6E8A-4147-A177-3AD203B41FA5}">
                      <a16:colId xmlns:a16="http://schemas.microsoft.com/office/drawing/2014/main" val="2476774980"/>
                    </a:ext>
                  </a:extLst>
                </a:gridCol>
                <a:gridCol w="1052367">
                  <a:extLst>
                    <a:ext uri="{9D8B030D-6E8A-4147-A177-3AD203B41FA5}">
                      <a16:colId xmlns:a16="http://schemas.microsoft.com/office/drawing/2014/main" val="3772983679"/>
                    </a:ext>
                  </a:extLst>
                </a:gridCol>
                <a:gridCol w="1396352">
                  <a:extLst>
                    <a:ext uri="{9D8B030D-6E8A-4147-A177-3AD203B41FA5}">
                      <a16:colId xmlns:a16="http://schemas.microsoft.com/office/drawing/2014/main" val="341598341"/>
                    </a:ext>
                  </a:extLst>
                </a:gridCol>
                <a:gridCol w="1072781">
                  <a:extLst>
                    <a:ext uri="{9D8B030D-6E8A-4147-A177-3AD203B41FA5}">
                      <a16:colId xmlns:a16="http://schemas.microsoft.com/office/drawing/2014/main" val="1175654604"/>
                    </a:ext>
                  </a:extLst>
                </a:gridCol>
                <a:gridCol w="1453510">
                  <a:extLst>
                    <a:ext uri="{9D8B030D-6E8A-4147-A177-3AD203B41FA5}">
                      <a16:colId xmlns:a16="http://schemas.microsoft.com/office/drawing/2014/main" val="4165654902"/>
                    </a:ext>
                  </a:extLst>
                </a:gridCol>
                <a:gridCol w="1366750">
                  <a:extLst>
                    <a:ext uri="{9D8B030D-6E8A-4147-A177-3AD203B41FA5}">
                      <a16:colId xmlns:a16="http://schemas.microsoft.com/office/drawing/2014/main" val="2879076724"/>
                    </a:ext>
                  </a:extLst>
                </a:gridCol>
              </a:tblGrid>
              <a:tr h="325993">
                <a:tc>
                  <a:txBody>
                    <a:bodyPr/>
                    <a:lstStyle/>
                    <a:p>
                      <a:pPr algn="ctr"/>
                      <a:r>
                        <a:rPr lang="zh-CN" altLang="en-US" sz="1000" b="1" dirty="0">
                          <a:solidFill>
                            <a:schemeClr val="bg1"/>
                          </a:solidFill>
                          <a:latin typeface="+mn-lt"/>
                          <a:ea typeface="+mn-ea"/>
                          <a:cs typeface="+mn-ea"/>
                          <a:sym typeface="+mn-lt"/>
                        </a:rPr>
                        <a:t>公司</a:t>
                      </a:r>
                      <a:endParaRPr lang="zh-HK" altLang="en-US" sz="1000" b="1" dirty="0">
                        <a:solidFill>
                          <a:schemeClr val="bg1"/>
                        </a:solidFill>
                        <a:latin typeface="+mn-lt"/>
                        <a:ea typeface="+mn-ea"/>
                        <a:cs typeface="+mn-ea"/>
                        <a:sym typeface="+mn-lt"/>
                      </a:endParaRPr>
                    </a:p>
                  </a:txBody>
                  <a:tcPr marL="0" marR="0" marT="0" marB="0" anchor="ctr">
                    <a:lnL w="12700">
                      <a:solidFill>
                        <a:srgbClr val="FF0000"/>
                      </a:solidFill>
                      <a:prstDash val="solid"/>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行业</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公开发售</a:t>
                      </a:r>
                      <a:endParaRPr lang="en-US" altLang="zh-CN" sz="1000" b="1" kern="1200" dirty="0">
                        <a:solidFill>
                          <a:schemeClr val="bg1"/>
                        </a:solidFill>
                        <a:latin typeface="+mn-lt"/>
                        <a:ea typeface="+mn-ea"/>
                        <a:cs typeface="+mn-ea"/>
                        <a:sym typeface="+mn-lt"/>
                      </a:endParaRPr>
                    </a:p>
                    <a:p>
                      <a:pPr algn="ctr"/>
                      <a:r>
                        <a:rPr lang="zh-CN" altLang="en-US" sz="1000" b="1" kern="1200" dirty="0">
                          <a:solidFill>
                            <a:schemeClr val="bg1"/>
                          </a:solidFill>
                          <a:latin typeface="+mn-lt"/>
                          <a:ea typeface="+mn-ea"/>
                          <a:cs typeface="+mn-ea"/>
                          <a:sym typeface="+mn-lt"/>
                        </a:rPr>
                        <a:t>结束日期</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发售价格</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（港元）</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绿鞋前融资规模</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（亿港元）</a:t>
                      </a:r>
                      <a:r>
                        <a:rPr lang="en-US" altLang="zh-CN" sz="1000" b="1" baseline="30000" dirty="0">
                          <a:solidFill>
                            <a:schemeClr val="bg1"/>
                          </a:solidFill>
                          <a:latin typeface="+mn-lt"/>
                          <a:ea typeface="+mn-ea"/>
                          <a:cs typeface="+mn-ea"/>
                          <a:sym typeface="+mn-lt"/>
                        </a:rPr>
                        <a:t>2</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基石投资者数量</a:t>
                      </a:r>
                      <a:endParaRPr lang="zh-HK" altLang="en-US" sz="1000" b="1" kern="1200"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基石投资总额占</a:t>
                      </a:r>
                      <a:endParaRPr lang="en-US" altLang="zh-CN" sz="1000" b="1" dirty="0">
                        <a:solidFill>
                          <a:schemeClr val="bg1"/>
                        </a:solidFill>
                        <a:latin typeface="+mn-lt"/>
                        <a:ea typeface="+mn-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基础发行规模比例</a:t>
                      </a:r>
                      <a:r>
                        <a:rPr lang="en-US" altLang="zh-CN" sz="1000" b="1" baseline="30000" dirty="0">
                          <a:solidFill>
                            <a:schemeClr val="bg1"/>
                          </a:solidFill>
                          <a:latin typeface="+mn-lt"/>
                          <a:ea typeface="+mn-ea"/>
                          <a:cs typeface="+mn-ea"/>
                          <a:sym typeface="+mn-lt"/>
                        </a:rPr>
                        <a:t>3</a:t>
                      </a:r>
                      <a:endParaRPr lang="zh-HK" altLang="en-US" sz="1000" b="1" baseline="30000" dirty="0">
                        <a:solidFill>
                          <a:schemeClr val="bg1"/>
                        </a:solidFill>
                        <a:latin typeface="+mn-lt"/>
                        <a:ea typeface="+mn-ea"/>
                        <a:cs typeface="+mn-ea"/>
                        <a:sym typeface="+mn-lt"/>
                      </a:endParaRPr>
                    </a:p>
                  </a:txBody>
                  <a:tcPr marL="0" marR="0" marT="0" marB="0" anchor="ctr">
                    <a:lnL>
                      <a:noFill/>
                    </a:lnL>
                    <a:lnR w="12700">
                      <a:solidFill>
                        <a:srgbClr val="FF0000"/>
                      </a:solidFill>
                      <a:prstDash val="solid"/>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2353208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a:t>
                      </a:r>
                      <a:r>
                        <a:rPr lang="en-US" altLang="zh-CN"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4</a:t>
                      </a:r>
                      <a:endParaRPr lang="en-US" altLang="zh-TW" sz="1000" b="0" dirty="0">
                        <a:solidFill>
                          <a:srgbClr val="C00000"/>
                        </a:solidFill>
                        <a:latin typeface="Arial" panose="020B0604020202020204" pitchFamily="34" charset="0"/>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19</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16.40 – 20.40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6.03 – 7.51</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0</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5</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23363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泽景电子</a:t>
                      </a:r>
                      <a:r>
                        <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rPr>
                        <a:t>6</a:t>
                      </a: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TMT</a:t>
                      </a:r>
                      <a:endPar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19</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42.00 – 48.00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6.82 – 7.79</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2</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7</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15.06%</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835139"/>
                  </a:ext>
                </a:extLst>
              </a:tr>
              <a:tr h="334408">
                <a:tc>
                  <a:txBody>
                    <a:bodyPr/>
                    <a:lstStyle/>
                    <a:p>
                      <a:pPr algn="ctr" fontAlgn="b">
                        <a:buNone/>
                      </a:pPr>
                      <a:r>
                        <a:rPr lang="zh-TW" altLang="en-US" sz="1000" b="0" dirty="0">
                          <a:solidFill>
                            <a:srgbClr val="C00000"/>
                          </a:solidFill>
                          <a:latin typeface="Arial" panose="020B0604020202020204" pitchFamily="34" charset="0"/>
                          <a:cs typeface="Arial" panose="020B0604020202020204" pitchFamily="34" charset="0"/>
                        </a:rPr>
                        <a:t>飞速创新</a:t>
                      </a:r>
                      <a:r>
                        <a:rPr lang="en-US" altLang="zh-CN" sz="1000" b="0" i="0" u="none" strike="noStrike" kern="1200" baseline="30000" dirty="0">
                          <a:solidFill>
                            <a:srgbClr val="C00000"/>
                          </a:solidFill>
                          <a:effectLst/>
                          <a:latin typeface="Arial" panose="020B0604020202020204" pitchFamily="34" charset="0"/>
                          <a:ea typeface="+mn-ea"/>
                          <a:cs typeface="Arial" panose="020B0604020202020204" pitchFamily="34" charset="0"/>
                        </a:rPr>
                        <a:t>8</a:t>
                      </a:r>
                      <a:endParaRPr lang="en-US" altLang="zh-TW" sz="1000" b="0" i="0" u="none" strike="noStrike" kern="1200" baseline="30000" dirty="0">
                        <a:solidFill>
                          <a:srgbClr val="C00000"/>
                        </a:solidFill>
                        <a:effectLst/>
                        <a:latin typeface="Arial" panose="020B0604020202020204" pitchFamily="34" charset="0"/>
                        <a:ea typeface="+mn-ea"/>
                        <a:cs typeface="Arial" panose="020B0604020202020204" pitchFamily="34" charset="0"/>
                      </a:endParaRPr>
                    </a:p>
                    <a:p>
                      <a:pPr algn="ctr" fontAlgn="b">
                        <a:buNone/>
                      </a:pPr>
                      <a:r>
                        <a:rPr lang="zh-CN" altLang="en-US" sz="1000" b="0" i="0" u="none" strike="noStrike" dirty="0">
                          <a:solidFill>
                            <a:srgbClr val="C00000"/>
                          </a:solidFill>
                          <a:effectLst/>
                          <a:latin typeface="Arial" panose="020B0604020202020204" pitchFamily="34" charset="0"/>
                          <a:ea typeface="+mn-ea"/>
                          <a:cs typeface="Arial" panose="020B0604020202020204" pitchFamily="34" charset="0"/>
                        </a:rPr>
                        <a:t>（</a:t>
                      </a:r>
                      <a:r>
                        <a:rPr lang="zh-TW" altLang="en-US" sz="1000" b="0" dirty="0">
                          <a:solidFill>
                            <a:srgbClr val="C00000"/>
                          </a:solidFill>
                          <a:latin typeface="Arial" panose="020B0604020202020204" pitchFamily="34" charset="0"/>
                          <a:cs typeface="Arial" panose="020B0604020202020204" pitchFamily="34" charset="0"/>
                        </a:rPr>
                        <a:t>招证国际为联席保荐人</a:t>
                      </a:r>
                      <a:r>
                        <a:rPr lang="zh-CN" altLang="en-US" sz="1000" b="0" dirty="0">
                          <a:solidFill>
                            <a:srgbClr val="C00000"/>
                          </a:solidFill>
                          <a:latin typeface="Arial" panose="020B0604020202020204" pitchFamily="34" charset="0"/>
                          <a:cs typeface="Arial" panose="020B0604020202020204" pitchFamily="34" charset="0"/>
                        </a:rPr>
                        <a:t>）</a:t>
                      </a:r>
                      <a:endParaRPr lang="en-US"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41.60</a:t>
                      </a:r>
                      <a:endParaRPr kumimoji="0" lang="en-US" altLang="en-US" sz="1000" b="0" i="0" u="none" strike="noStrike" kern="1200" cap="none" spc="0" normalizeH="0" baseline="0" dirty="0">
                        <a:ln>
                          <a:noFill/>
                        </a:ln>
                        <a:solidFill>
                          <a:schemeClr val="tx1"/>
                        </a:solidFill>
                        <a:effectLst/>
                        <a:uLnTx/>
                        <a:uFillTx/>
                        <a:latin typeface="+mj-lt"/>
                        <a:ea typeface="+mj-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16.64</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11</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9</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42.31%</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2346414"/>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a:t>
                      </a:r>
                      <a:r>
                        <a:rPr lang="en-US" altLang="zh-TW"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1</a:t>
                      </a:r>
                      <a:r>
                        <a:rPr lang="en-US" altLang="zh-CN"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0</a:t>
                      </a:r>
                      <a:endPar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10.80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n-lt"/>
                          <a:ea typeface="+mn-ea"/>
                          <a:cs typeface="+mn-ea"/>
                        </a:rPr>
                        <a:t>10.26</a:t>
                      </a:r>
                      <a:endParaRPr kumimoji="0" lang="en-US" altLang="en-US" sz="1000" b="0" i="0" u="none" strike="noStrike" kern="1200" cap="none" spc="0" normalizeH="0" baseline="0" dirty="0">
                        <a:ln>
                          <a:noFill/>
                        </a:ln>
                        <a:solidFill>
                          <a:schemeClr val="tx1"/>
                        </a:solidFill>
                        <a:effectLst/>
                        <a:uLnTx/>
                        <a:uFillTx/>
                        <a:latin typeface="+mn-lt"/>
                        <a:ea typeface="+mn-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5</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11</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solidFill>
                          <a:effectLst/>
                          <a:uLnTx/>
                          <a:uFillTx/>
                          <a:latin typeface="+mn-lt"/>
                          <a:ea typeface="+mn-ea"/>
                          <a:cs typeface="+mn-ea"/>
                          <a:sym typeface="+mn-ea"/>
                        </a:rPr>
                        <a:t>13.60%</a:t>
                      </a: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endParaRP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8853820"/>
                  </a:ext>
                </a:extLst>
              </a:tr>
            </a:tbl>
          </a:graphicData>
        </a:graphic>
      </p:graphicFrame>
      <p:sp>
        <p:nvSpPr>
          <p:cNvPr id="5" name="Frame 4">
            <a:extLst>
              <a:ext uri="{FF2B5EF4-FFF2-40B4-BE49-F238E27FC236}">
                <a16:creationId xmlns:a16="http://schemas.microsoft.com/office/drawing/2014/main" id="{1C51936C-D477-BBF8-FFD5-BAFE6EB8FF5B}"/>
              </a:ext>
            </a:extLst>
          </p:cNvPr>
          <p:cNvSpPr/>
          <p:nvPr/>
        </p:nvSpPr>
        <p:spPr>
          <a:xfrm>
            <a:off x="8183105" y="1278610"/>
            <a:ext cx="1200822" cy="1418095"/>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7F487B1C-C254-5048-99A7-D92FF4F968A0}"/>
              </a:ext>
            </a:extLst>
          </p:cNvPr>
          <p:cNvSpPr txBox="1"/>
          <p:nvPr/>
        </p:nvSpPr>
        <p:spPr>
          <a:xfrm>
            <a:off x="4475089" y="2364922"/>
            <a:ext cx="2866490" cy="1569660"/>
          </a:xfrm>
          <a:prstGeom prst="rect">
            <a:avLst/>
          </a:prstGeom>
          <a:noFill/>
        </p:spPr>
        <p:txBody>
          <a:bodyPr wrap="none" rtlCol="0">
            <a:spAutoFit/>
          </a:bodyPr>
          <a:lstStyle/>
          <a:p>
            <a:r>
              <a:rPr lang="en-US" sz="1200" dirty="0" err="1">
                <a:highlight>
                  <a:srgbClr val="FFFF00"/>
                </a:highlight>
              </a:rPr>
              <a:t>不要自己算</a:t>
            </a:r>
            <a:r>
              <a:rPr lang="zh-CN" altLang="en-US" sz="1200" dirty="0">
                <a:highlight>
                  <a:srgbClr val="FFFF00"/>
                </a:highlight>
              </a:rPr>
              <a:t>，自己算会有小数点</a:t>
            </a:r>
            <a:endParaRPr lang="en-US" altLang="zh-CN" sz="1200" dirty="0">
              <a:highlight>
                <a:srgbClr val="FFFF00"/>
              </a:highlight>
            </a:endParaRPr>
          </a:p>
          <a:p>
            <a:r>
              <a:rPr lang="en-US" altLang="zh-CN" sz="1200" dirty="0">
                <a:highlight>
                  <a:srgbClr val="FFFF00"/>
                </a:highlight>
              </a:rPr>
              <a:t>error carry forward</a:t>
            </a:r>
            <a:r>
              <a:rPr lang="zh-CN" altLang="en-US" sz="1200" dirty="0">
                <a:highlight>
                  <a:srgbClr val="FFFF00"/>
                </a:highlight>
              </a:rPr>
              <a:t>，</a:t>
            </a:r>
            <a:r>
              <a:rPr lang="en-US" sz="1200" dirty="0" err="1">
                <a:highlight>
                  <a:srgbClr val="FFFF00"/>
                </a:highlight>
              </a:rPr>
              <a:t>每一个都要</a:t>
            </a:r>
            <a:endParaRPr lang="en-US" sz="1200" dirty="0">
              <a:highlight>
                <a:srgbClr val="FFFF00"/>
              </a:highlight>
            </a:endParaRPr>
          </a:p>
          <a:p>
            <a:r>
              <a:rPr lang="en-US" sz="1200" dirty="0" err="1">
                <a:highlight>
                  <a:srgbClr val="FFFF00"/>
                </a:highlight>
              </a:rPr>
              <a:t>去hkex搜全球发售</a:t>
            </a:r>
            <a:r>
              <a:rPr lang="en-US" sz="1200" dirty="0">
                <a:highlight>
                  <a:srgbClr val="FFFF00"/>
                </a:highlight>
              </a:rPr>
              <a:t>(</a:t>
            </a:r>
            <a:r>
              <a:rPr lang="zh-TW" altLang="en-US" sz="1200" dirty="0">
                <a:highlight>
                  <a:srgbClr val="FFFF00"/>
                </a:highlight>
              </a:rPr>
              <a:t>用</a:t>
            </a:r>
            <a:r>
              <a:rPr lang="en-US" altLang="zh-TW" sz="1200" dirty="0">
                <a:highlight>
                  <a:srgbClr val="FFFF00"/>
                </a:highlight>
              </a:rPr>
              <a:t>Microsoft Edge)</a:t>
            </a:r>
            <a:r>
              <a:rPr lang="zh-CN" altLang="en-US" sz="1200" dirty="0">
                <a:highlight>
                  <a:srgbClr val="FFFF00"/>
                </a:highlight>
              </a:rPr>
              <a:t>，</a:t>
            </a:r>
            <a:endParaRPr lang="en-US" altLang="zh-CN" sz="1200" dirty="0">
              <a:highlight>
                <a:srgbClr val="FFFF00"/>
              </a:highlight>
            </a:endParaRPr>
          </a:p>
          <a:p>
            <a:r>
              <a:rPr lang="zh-CN" altLang="en-US" sz="1200" dirty="0">
                <a:highlight>
                  <a:srgbClr val="FFFF00"/>
                </a:highlight>
              </a:rPr>
              <a:t>找基石投资者，</a:t>
            </a:r>
            <a:r>
              <a:rPr lang="zh-CN" altLang="en-US" sz="1200" dirty="0">
                <a:solidFill>
                  <a:srgbClr val="FF0000"/>
                </a:solidFill>
                <a:highlight>
                  <a:srgbClr val="FFFF00"/>
                </a:highlight>
              </a:rPr>
              <a:t>如果融资规模是</a:t>
            </a:r>
            <a:r>
              <a:rPr lang="en-US" altLang="zh-CN" sz="1200" dirty="0">
                <a:solidFill>
                  <a:srgbClr val="FF0000"/>
                </a:solidFill>
                <a:highlight>
                  <a:srgbClr val="FFFF00"/>
                </a:highlight>
              </a:rPr>
              <a:t>range, </a:t>
            </a:r>
          </a:p>
          <a:p>
            <a:r>
              <a:rPr lang="en-US" altLang="zh-CN" sz="1200" dirty="0">
                <a:solidFill>
                  <a:srgbClr val="FF0000"/>
                </a:solidFill>
                <a:highlight>
                  <a:srgbClr val="FFFF00"/>
                </a:highlight>
              </a:rPr>
              <a:t>e.g. </a:t>
            </a:r>
            <a:r>
              <a:rPr lang="en-US" altLang="en-US" sz="1200" dirty="0">
                <a:solidFill>
                  <a:srgbClr val="FF0000"/>
                </a:solidFill>
                <a:highlight>
                  <a:srgbClr val="FFFF00"/>
                </a:highlight>
                <a:cs typeface="+mn-ea"/>
              </a:rPr>
              <a:t>6.82 – 7.79, </a:t>
            </a:r>
            <a:r>
              <a:rPr lang="en-US" altLang="en-US" sz="1200" dirty="0" err="1">
                <a:solidFill>
                  <a:srgbClr val="FF0000"/>
                </a:solidFill>
                <a:highlight>
                  <a:srgbClr val="FFFF00"/>
                </a:highlight>
                <a:cs typeface="+mn-ea"/>
              </a:rPr>
              <a:t>比例用中位數</a:t>
            </a:r>
            <a:endParaRPr lang="en-US" altLang="en-US" sz="1200" dirty="0">
              <a:solidFill>
                <a:srgbClr val="FF0000"/>
              </a:solidFill>
              <a:highlight>
                <a:srgbClr val="FFFF00"/>
              </a:highlight>
              <a:cs typeface="+mn-ea"/>
            </a:endParaRPr>
          </a:p>
          <a:p>
            <a:r>
              <a:rPr lang="en-US" altLang="en-US" sz="1200" dirty="0" err="1">
                <a:highlight>
                  <a:srgbClr val="FFFF00"/>
                </a:highlight>
                <a:cs typeface="+mn-ea"/>
              </a:rPr>
              <a:t>要一個一個搜</a:t>
            </a:r>
            <a:endParaRPr lang="en-US" altLang="en-US" sz="1200" dirty="0">
              <a:highlight>
                <a:srgbClr val="FFFF00"/>
              </a:highlight>
              <a:cs typeface="+mn-ea"/>
            </a:endParaRPr>
          </a:p>
          <a:p>
            <a:endParaRPr lang="en-US" altLang="zh-TW" sz="1200" dirty="0">
              <a:highlight>
                <a:srgbClr val="FFFF00"/>
              </a:highlight>
            </a:endParaRPr>
          </a:p>
          <a:p>
            <a:pPr marL="228600" indent="-228600">
              <a:buAutoNum type="arabicPeriod"/>
            </a:pPr>
            <a:endParaRPr lang="en-US" sz="1200" dirty="0">
              <a:highlight>
                <a:srgbClr val="FFFF00"/>
              </a:highlight>
            </a:endParaRPr>
          </a:p>
        </p:txBody>
      </p:sp>
      <p:pic>
        <p:nvPicPr>
          <p:cNvPr id="12" name="Picture 11" descr="A screenshot of a computer&#10;&#10;AI-generated content may be incorrect.">
            <a:extLst>
              <a:ext uri="{FF2B5EF4-FFF2-40B4-BE49-F238E27FC236}">
                <a16:creationId xmlns:a16="http://schemas.microsoft.com/office/drawing/2014/main" id="{DE68C117-8005-33D2-A5A2-B9205EEC11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53" y="2987621"/>
            <a:ext cx="3614260" cy="2889538"/>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DC39B5E0-2DA4-4498-F5EC-0C5572666C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73911" y="3571296"/>
            <a:ext cx="4550736" cy="2729806"/>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D676A9AE-EE13-CD1F-24FE-774CAEDC94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42643" y="3772538"/>
            <a:ext cx="4541353" cy="1312938"/>
          </a:xfrm>
          <a:prstGeom prst="rect">
            <a:avLst/>
          </a:prstGeom>
        </p:spPr>
      </p:pic>
      <p:cxnSp>
        <p:nvCxnSpPr>
          <p:cNvPr id="21" name="Straight Arrow Connector 20">
            <a:extLst>
              <a:ext uri="{FF2B5EF4-FFF2-40B4-BE49-F238E27FC236}">
                <a16:creationId xmlns:a16="http://schemas.microsoft.com/office/drawing/2014/main" id="{3208CFA0-3218-0C4F-49CC-E01C14984449}"/>
              </a:ext>
            </a:extLst>
          </p:cNvPr>
          <p:cNvCxnSpPr>
            <a:cxnSpLocks/>
          </p:cNvCxnSpPr>
          <p:nvPr/>
        </p:nvCxnSpPr>
        <p:spPr>
          <a:xfrm>
            <a:off x="6708228" y="3246120"/>
            <a:ext cx="2675699" cy="1052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460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6F9A-6D07-D739-724E-C67263AD6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6148A-3EA7-E412-4FAA-8610B7495453}"/>
              </a:ext>
            </a:extLst>
          </p:cNvPr>
          <p:cNvSpPr>
            <a:spLocks noGrp="1"/>
          </p:cNvSpPr>
          <p:nvPr>
            <p:ph type="title"/>
          </p:nvPr>
        </p:nvSpPr>
        <p:spPr/>
        <p:txBody>
          <a:bodyPr>
            <a:normAutofit/>
          </a:bodyPr>
          <a:lstStyle/>
          <a:p>
            <a:r>
              <a:rPr lang="zh-CN" altLang="en-US" dirty="0">
                <a:latin typeface="+mn-lt"/>
                <a:ea typeface="+mn-ea"/>
                <a:cs typeface="+mn-ea"/>
                <a:sym typeface="+mn-lt"/>
              </a:rPr>
              <a:t>过去一周香港新股市场概览（续）</a:t>
            </a:r>
          </a:p>
        </p:txBody>
      </p:sp>
      <p:sp>
        <p:nvSpPr>
          <p:cNvPr id="3" name="TextBox 2">
            <a:extLst>
              <a:ext uri="{FF2B5EF4-FFF2-40B4-BE49-F238E27FC236}">
                <a16:creationId xmlns:a16="http://schemas.microsoft.com/office/drawing/2014/main" id="{24205B4B-103C-5DF9-CF60-C7238187144F}"/>
              </a:ext>
            </a:extLst>
          </p:cNvPr>
          <p:cNvSpPr txBox="1"/>
          <p:nvPr/>
        </p:nvSpPr>
        <p:spPr>
          <a:xfrm>
            <a:off x="1192562" y="-1363082"/>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dirty="0">
                <a:cs typeface="+mn-ea"/>
                <a:sym typeface="+mn-lt"/>
                <a:hlinkClick r:id="rId3"/>
              </a:rPr>
              <a:t>http://www.aastocks.com/tc/stocks/market/ipo/upcomingipo/company-summary</a:t>
            </a:r>
            <a:r>
              <a:rPr lang="en-US" sz="1200" dirty="0">
                <a:cs typeface="+mn-ea"/>
                <a:sym typeface="+mn-lt"/>
              </a:rPr>
              <a:t> </a:t>
            </a:r>
          </a:p>
        </p:txBody>
      </p:sp>
      <p:sp>
        <p:nvSpPr>
          <p:cNvPr id="15" name="灯片编号占位符 14">
            <a:extLst>
              <a:ext uri="{FF2B5EF4-FFF2-40B4-BE49-F238E27FC236}">
                <a16:creationId xmlns:a16="http://schemas.microsoft.com/office/drawing/2014/main" id="{CC239055-FED9-0838-0F27-A27776AA10AF}"/>
              </a:ext>
            </a:extLst>
          </p:cNvPr>
          <p:cNvSpPr>
            <a:spLocks noGrp="1"/>
          </p:cNvSpPr>
          <p:nvPr>
            <p:ph type="sldNum" sz="quarter" idx="16"/>
          </p:nvPr>
        </p:nvSpPr>
        <p:spPr/>
        <p:txBody>
          <a:bodyPr/>
          <a:lstStyle/>
          <a:p>
            <a:fld id="{72E6F1C1-8568-433B-B05E-E21B84158B67}" type="slidenum">
              <a:rPr lang="en-US" smtClean="0"/>
              <a:t>10</a:t>
            </a:fld>
            <a:endParaRPr lang="en-US" dirty="0"/>
          </a:p>
        </p:txBody>
      </p:sp>
      <p:sp>
        <p:nvSpPr>
          <p:cNvPr id="11" name="Rectangle 3">
            <a:extLst>
              <a:ext uri="{FF2B5EF4-FFF2-40B4-BE49-F238E27FC236}">
                <a16:creationId xmlns:a16="http://schemas.microsoft.com/office/drawing/2014/main" id="{22D94261-F16B-D408-E21E-CCD7AB24EB52}"/>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2D55AEAC-BFCF-D418-6EB9-4C2899962F43}"/>
              </a:ext>
            </a:extLst>
          </p:cNvPr>
          <p:cNvSpPr>
            <a:spLocks noChangeArrowheads="1"/>
          </p:cNvSpPr>
          <p:nvPr/>
        </p:nvSpPr>
        <p:spPr bwMode="auto">
          <a:xfrm>
            <a:off x="4952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6">
            <a:extLst>
              <a:ext uri="{FF2B5EF4-FFF2-40B4-BE49-F238E27FC236}">
                <a16:creationId xmlns:a16="http://schemas.microsoft.com/office/drawing/2014/main" id="{A0B0AE6E-6BC8-071B-3D92-B5156E7CF3F1}"/>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Rectangle 7">
            <a:extLst>
              <a:ext uri="{FF2B5EF4-FFF2-40B4-BE49-F238E27FC236}">
                <a16:creationId xmlns:a16="http://schemas.microsoft.com/office/drawing/2014/main" id="{C10635CB-7E58-21BF-98C9-C075DC154560}"/>
              </a:ext>
            </a:extLst>
          </p:cNvPr>
          <p:cNvSpPr/>
          <p:nvPr/>
        </p:nvSpPr>
        <p:spPr>
          <a:xfrm>
            <a:off x="377190" y="546154"/>
            <a:ext cx="9006737" cy="215265"/>
          </a:xfrm>
          <a:prstGeom prst="rect">
            <a:avLst/>
          </a:prstGeom>
        </p:spPr>
        <p:txBody>
          <a:bodyPr wrap="square" lIns="0" tIns="0" rIns="0" bIns="0" anchor="ctr">
            <a:spAutoFit/>
          </a:bodyPr>
          <a:lstStyle/>
          <a:p>
            <a:r>
              <a:rPr lang="zh-CN" altLang="en-US" sz="1400" b="1" u="sng" dirty="0">
                <a:solidFill>
                  <a:schemeClr val="accent1"/>
                </a:solidFill>
                <a:cs typeface="+mn-ea"/>
                <a:sym typeface="+mn-lt"/>
              </a:rPr>
              <a:t>上周进行公开发售或定价的新股项目</a:t>
            </a:r>
            <a:r>
              <a:rPr lang="en-US" altLang="zh-CN" sz="1400" b="1" u="sng" baseline="30000" dirty="0">
                <a:solidFill>
                  <a:schemeClr val="accent1"/>
                </a:solidFill>
                <a:cs typeface="+mn-ea"/>
                <a:sym typeface="+mn-lt"/>
              </a:rPr>
              <a:t>1</a:t>
            </a:r>
            <a:endParaRPr lang="zh-CN" altLang="en-US" sz="1400" b="1" u="sng" baseline="30000" dirty="0">
              <a:solidFill>
                <a:schemeClr val="accent1"/>
              </a:solidFill>
              <a:cs typeface="+mn-ea"/>
              <a:sym typeface="+mn-lt"/>
            </a:endParaRPr>
          </a:p>
        </p:txBody>
      </p:sp>
      <p:sp>
        <p:nvSpPr>
          <p:cNvPr id="7" name="TextBox 6">
            <a:extLst>
              <a:ext uri="{FF2B5EF4-FFF2-40B4-BE49-F238E27FC236}">
                <a16:creationId xmlns:a16="http://schemas.microsoft.com/office/drawing/2014/main" id="{E706E221-36D0-DA70-7204-C42F6A39AC0B}"/>
              </a:ext>
            </a:extLst>
          </p:cNvPr>
          <p:cNvSpPr txBox="1"/>
          <p:nvPr/>
        </p:nvSpPr>
        <p:spPr>
          <a:xfrm>
            <a:off x="1076325" y="-485163"/>
            <a:ext cx="8448675" cy="461665"/>
          </a:xfrm>
          <a:prstGeom prst="rect">
            <a:avLst/>
          </a:prstGeom>
          <a:noFill/>
        </p:spPr>
        <p:txBody>
          <a:bodyPr wrap="square" rtlCol="0">
            <a:spAutoFit/>
          </a:bodyPr>
          <a:lstStyle/>
          <a:p>
            <a:r>
              <a:rPr lang="zh-CN" altLang="en-US" sz="1200" dirty="0">
                <a:latin typeface="Arial" panose="020B0604020202020204" pitchFamily="34" charset="0"/>
                <a:cs typeface="Arial" panose="020B0604020202020204" pitchFamily="34" charset="0"/>
                <a:sym typeface="+mn-lt"/>
              </a:rPr>
              <a:t>上周开始公开发售的新股项目</a:t>
            </a:r>
          </a:p>
          <a:p>
            <a:r>
              <a:rPr lang="en-US" sz="1200" dirty="0">
                <a:latin typeface="Arial" panose="020B0604020202020204" pitchFamily="34" charset="0"/>
                <a:cs typeface="Arial" panose="020B0604020202020204" pitchFamily="34" charset="0"/>
                <a:sym typeface="+mn-lt"/>
                <a:hlinkClick r:id="rId3"/>
              </a:rPr>
              <a:t>http://www.aastocks.com/tc/stocks/market/ipo/upcomingipo/company-summary</a:t>
            </a:r>
            <a:r>
              <a:rPr lang="en-US" sz="1200" dirty="0">
                <a:latin typeface="Arial" panose="020B0604020202020204" pitchFamily="34" charset="0"/>
                <a:cs typeface="Arial" panose="020B0604020202020204" pitchFamily="34" charset="0"/>
                <a:sym typeface="+mn-lt"/>
              </a:rPr>
              <a:t> </a:t>
            </a:r>
          </a:p>
        </p:txBody>
      </p:sp>
      <p:graphicFrame>
        <p:nvGraphicFramePr>
          <p:cNvPr id="8" name="表格 5">
            <a:extLst>
              <a:ext uri="{FF2B5EF4-FFF2-40B4-BE49-F238E27FC236}">
                <a16:creationId xmlns:a16="http://schemas.microsoft.com/office/drawing/2014/main" id="{01D1B069-C561-C932-668E-53CB01CB5E4D}"/>
              </a:ext>
            </a:extLst>
          </p:cNvPr>
          <p:cNvGraphicFramePr>
            <a:graphicFrameLocks noGrp="1"/>
          </p:cNvGraphicFramePr>
          <p:nvPr/>
        </p:nvGraphicFramePr>
        <p:xfrm>
          <a:off x="377190" y="959709"/>
          <a:ext cx="9116090" cy="1663625"/>
        </p:xfrm>
        <a:graphic>
          <a:graphicData uri="http://schemas.openxmlformats.org/drawingml/2006/table">
            <a:tbl>
              <a:tblPr/>
              <a:tblGrid>
                <a:gridCol w="1777081">
                  <a:extLst>
                    <a:ext uri="{9D8B030D-6E8A-4147-A177-3AD203B41FA5}">
                      <a16:colId xmlns:a16="http://schemas.microsoft.com/office/drawing/2014/main" val="1174748977"/>
                    </a:ext>
                  </a:extLst>
                </a:gridCol>
                <a:gridCol w="997249">
                  <a:extLst>
                    <a:ext uri="{9D8B030D-6E8A-4147-A177-3AD203B41FA5}">
                      <a16:colId xmlns:a16="http://schemas.microsoft.com/office/drawing/2014/main" val="2476774980"/>
                    </a:ext>
                  </a:extLst>
                </a:gridCol>
                <a:gridCol w="1052367">
                  <a:extLst>
                    <a:ext uri="{9D8B030D-6E8A-4147-A177-3AD203B41FA5}">
                      <a16:colId xmlns:a16="http://schemas.microsoft.com/office/drawing/2014/main" val="3772983679"/>
                    </a:ext>
                  </a:extLst>
                </a:gridCol>
                <a:gridCol w="1396352">
                  <a:extLst>
                    <a:ext uri="{9D8B030D-6E8A-4147-A177-3AD203B41FA5}">
                      <a16:colId xmlns:a16="http://schemas.microsoft.com/office/drawing/2014/main" val="341598341"/>
                    </a:ext>
                  </a:extLst>
                </a:gridCol>
                <a:gridCol w="1072781">
                  <a:extLst>
                    <a:ext uri="{9D8B030D-6E8A-4147-A177-3AD203B41FA5}">
                      <a16:colId xmlns:a16="http://schemas.microsoft.com/office/drawing/2014/main" val="1175654604"/>
                    </a:ext>
                  </a:extLst>
                </a:gridCol>
                <a:gridCol w="1453510">
                  <a:extLst>
                    <a:ext uri="{9D8B030D-6E8A-4147-A177-3AD203B41FA5}">
                      <a16:colId xmlns:a16="http://schemas.microsoft.com/office/drawing/2014/main" val="4165654902"/>
                    </a:ext>
                  </a:extLst>
                </a:gridCol>
                <a:gridCol w="1366750">
                  <a:extLst>
                    <a:ext uri="{9D8B030D-6E8A-4147-A177-3AD203B41FA5}">
                      <a16:colId xmlns:a16="http://schemas.microsoft.com/office/drawing/2014/main" val="2879076724"/>
                    </a:ext>
                  </a:extLst>
                </a:gridCol>
              </a:tblGrid>
              <a:tr h="325993">
                <a:tc>
                  <a:txBody>
                    <a:bodyPr/>
                    <a:lstStyle/>
                    <a:p>
                      <a:pPr algn="ctr"/>
                      <a:r>
                        <a:rPr lang="zh-CN" altLang="en-US" sz="1000" b="1" dirty="0">
                          <a:solidFill>
                            <a:schemeClr val="bg1"/>
                          </a:solidFill>
                          <a:latin typeface="+mn-lt"/>
                          <a:ea typeface="+mn-ea"/>
                          <a:cs typeface="+mn-ea"/>
                          <a:sym typeface="+mn-lt"/>
                        </a:rPr>
                        <a:t>公司</a:t>
                      </a:r>
                      <a:endParaRPr lang="zh-HK" altLang="en-US" sz="1000" b="1" dirty="0">
                        <a:solidFill>
                          <a:schemeClr val="bg1"/>
                        </a:solidFill>
                        <a:latin typeface="+mn-lt"/>
                        <a:ea typeface="+mn-ea"/>
                        <a:cs typeface="+mn-ea"/>
                        <a:sym typeface="+mn-lt"/>
                      </a:endParaRPr>
                    </a:p>
                  </a:txBody>
                  <a:tcPr marL="0" marR="0" marT="0" marB="0" anchor="ctr">
                    <a:lnL w="12700">
                      <a:solidFill>
                        <a:srgbClr val="FF0000"/>
                      </a:solidFill>
                      <a:prstDash val="solid"/>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行业</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公开发售</a:t>
                      </a:r>
                      <a:endParaRPr lang="en-US" altLang="zh-CN" sz="1000" b="1" kern="1200" dirty="0">
                        <a:solidFill>
                          <a:schemeClr val="bg1"/>
                        </a:solidFill>
                        <a:latin typeface="+mn-lt"/>
                        <a:ea typeface="+mn-ea"/>
                        <a:cs typeface="+mn-ea"/>
                        <a:sym typeface="+mn-lt"/>
                      </a:endParaRPr>
                    </a:p>
                    <a:p>
                      <a:pPr algn="ctr"/>
                      <a:r>
                        <a:rPr lang="zh-CN" altLang="en-US" sz="1000" b="1" kern="1200" dirty="0">
                          <a:solidFill>
                            <a:schemeClr val="bg1"/>
                          </a:solidFill>
                          <a:latin typeface="+mn-lt"/>
                          <a:ea typeface="+mn-ea"/>
                          <a:cs typeface="+mn-ea"/>
                          <a:sym typeface="+mn-lt"/>
                        </a:rPr>
                        <a:t>结束日期</a:t>
                      </a: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发售价格</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（港元）</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n-lt"/>
                          <a:ea typeface="+mn-ea"/>
                          <a:cs typeface="+mn-ea"/>
                          <a:sym typeface="+mn-lt"/>
                        </a:rPr>
                        <a:t>绿鞋前融资规模</a:t>
                      </a:r>
                      <a:endParaRPr lang="en-US" altLang="zh-CN" sz="1000" b="1" dirty="0">
                        <a:solidFill>
                          <a:schemeClr val="bg1"/>
                        </a:solidFill>
                        <a:latin typeface="+mn-lt"/>
                        <a:ea typeface="+mn-ea"/>
                        <a:cs typeface="+mn-ea"/>
                        <a:sym typeface="+mn-lt"/>
                      </a:endParaRPr>
                    </a:p>
                    <a:p>
                      <a:pPr algn="ctr"/>
                      <a:r>
                        <a:rPr lang="zh-CN" altLang="en-US" sz="1000" b="1" dirty="0">
                          <a:solidFill>
                            <a:schemeClr val="bg1"/>
                          </a:solidFill>
                          <a:latin typeface="+mn-lt"/>
                          <a:ea typeface="+mn-ea"/>
                          <a:cs typeface="+mn-ea"/>
                          <a:sym typeface="+mn-lt"/>
                        </a:rPr>
                        <a:t>（亿港元）</a:t>
                      </a:r>
                      <a:r>
                        <a:rPr lang="en-US" altLang="zh-CN" sz="1000" b="1" baseline="30000" dirty="0">
                          <a:solidFill>
                            <a:schemeClr val="bg1"/>
                          </a:solidFill>
                          <a:latin typeface="+mn-lt"/>
                          <a:ea typeface="+mn-ea"/>
                          <a:cs typeface="+mn-ea"/>
                          <a:sym typeface="+mn-lt"/>
                        </a:rPr>
                        <a:t>2</a:t>
                      </a:r>
                      <a:endParaRPr lang="zh-HK" altLang="en-US" sz="1000" b="1"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基石投资者数量</a:t>
                      </a:r>
                      <a:endParaRPr lang="zh-HK" altLang="en-US" sz="1000" b="1" kern="1200" dirty="0">
                        <a:solidFill>
                          <a:schemeClr val="bg1"/>
                        </a:solidFill>
                        <a:latin typeface="+mn-lt"/>
                        <a:ea typeface="+mn-ea"/>
                        <a:cs typeface="+mn-ea"/>
                        <a:sym typeface="+mn-lt"/>
                      </a:endParaRPr>
                    </a:p>
                  </a:txBody>
                  <a:tcPr marL="0" marR="0" marT="0" marB="0" anchor="ctr">
                    <a:lnL>
                      <a:noFill/>
                    </a:lnL>
                    <a:lnR>
                      <a:noFill/>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基石投资总额占</a:t>
                      </a:r>
                      <a:endParaRPr lang="en-US" altLang="zh-CN" sz="1000" b="1" dirty="0">
                        <a:solidFill>
                          <a:schemeClr val="bg1"/>
                        </a:solidFill>
                        <a:latin typeface="+mn-lt"/>
                        <a:ea typeface="+mn-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n-ea"/>
                          <a:cs typeface="+mn-ea"/>
                          <a:sym typeface="+mn-lt"/>
                        </a:rPr>
                        <a:t>基础发行规模比例</a:t>
                      </a:r>
                      <a:r>
                        <a:rPr lang="en-US" altLang="zh-CN" sz="1000" b="1" baseline="30000" dirty="0">
                          <a:solidFill>
                            <a:schemeClr val="bg1"/>
                          </a:solidFill>
                          <a:latin typeface="+mn-lt"/>
                          <a:ea typeface="+mn-ea"/>
                          <a:cs typeface="+mn-ea"/>
                          <a:sym typeface="+mn-lt"/>
                        </a:rPr>
                        <a:t>3</a:t>
                      </a:r>
                      <a:endParaRPr lang="zh-HK" altLang="en-US" sz="1000" b="1" baseline="30000" dirty="0">
                        <a:solidFill>
                          <a:schemeClr val="bg1"/>
                        </a:solidFill>
                        <a:latin typeface="+mn-lt"/>
                        <a:ea typeface="+mn-ea"/>
                        <a:cs typeface="+mn-ea"/>
                        <a:sym typeface="+mn-lt"/>
                      </a:endParaRPr>
                    </a:p>
                  </a:txBody>
                  <a:tcPr marL="0" marR="0" marT="0" marB="0" anchor="ctr">
                    <a:lnL>
                      <a:noFill/>
                    </a:lnL>
                    <a:lnR w="12700">
                      <a:solidFill>
                        <a:srgbClr val="FF0000"/>
                      </a:solidFill>
                      <a:prstDash val="solid"/>
                    </a:lnR>
                    <a:lnT>
                      <a:noFill/>
                    </a:lnT>
                    <a:lnB w="12700" cap="flat" cmpd="sng" algn="ctr">
                      <a:solidFill>
                        <a:schemeClr val="bg2">
                          <a:lumMod val="90000"/>
                        </a:schemeClr>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2353208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凯乐士科技</a:t>
                      </a:r>
                      <a:r>
                        <a:rPr lang="en-US" altLang="zh-CN"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4</a:t>
                      </a:r>
                      <a:endParaRPr lang="en-US" altLang="zh-TW" sz="1000" b="0" dirty="0">
                        <a:solidFill>
                          <a:srgbClr val="C00000"/>
                        </a:solidFill>
                        <a:latin typeface="Arial" panose="020B0604020202020204" pitchFamily="34" charset="0"/>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19</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16.40 – 20.40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6.03 – 7.51</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0</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5</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2336360"/>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泽景电子</a:t>
                      </a:r>
                      <a:r>
                        <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rPr>
                        <a:t>6</a:t>
                      </a: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TMT</a:t>
                      </a:r>
                      <a:endPar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19</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j-lt"/>
                          <a:ea typeface="+mj-ea"/>
                          <a:cs typeface="+mn-ea"/>
                        </a:rPr>
                        <a:t>42.00 – 48.00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6.82 – 7.79</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n-ea"/>
                          <a:cs typeface="Arial" panose="020B0604020202020204" pitchFamily="34" charset="0"/>
                        </a:rPr>
                        <a:t>2</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7</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15.06%</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835139"/>
                  </a:ext>
                </a:extLst>
              </a:tr>
              <a:tr h="334408">
                <a:tc>
                  <a:txBody>
                    <a:bodyPr/>
                    <a:lstStyle/>
                    <a:p>
                      <a:pPr algn="ctr" fontAlgn="b">
                        <a:buNone/>
                      </a:pPr>
                      <a:r>
                        <a:rPr lang="zh-TW" altLang="en-US" sz="1000" b="0" dirty="0">
                          <a:solidFill>
                            <a:srgbClr val="C00000"/>
                          </a:solidFill>
                          <a:latin typeface="Arial" panose="020B0604020202020204" pitchFamily="34" charset="0"/>
                          <a:cs typeface="Arial" panose="020B0604020202020204" pitchFamily="34" charset="0"/>
                        </a:rPr>
                        <a:t>飞速创新</a:t>
                      </a:r>
                      <a:r>
                        <a:rPr lang="en-US" altLang="zh-CN" sz="1000" b="0" i="0" u="none" strike="noStrike" kern="1200" baseline="30000" dirty="0">
                          <a:solidFill>
                            <a:srgbClr val="C00000"/>
                          </a:solidFill>
                          <a:effectLst/>
                          <a:latin typeface="Arial" panose="020B0604020202020204" pitchFamily="34" charset="0"/>
                          <a:ea typeface="+mn-ea"/>
                          <a:cs typeface="Arial" panose="020B0604020202020204" pitchFamily="34" charset="0"/>
                        </a:rPr>
                        <a:t>8</a:t>
                      </a:r>
                      <a:endParaRPr lang="en-US" altLang="zh-TW" sz="1000" b="0" i="0" u="none" strike="noStrike" kern="1200" baseline="30000" dirty="0">
                        <a:solidFill>
                          <a:srgbClr val="C00000"/>
                        </a:solidFill>
                        <a:effectLst/>
                        <a:latin typeface="Arial" panose="020B0604020202020204" pitchFamily="34" charset="0"/>
                        <a:ea typeface="+mn-ea"/>
                        <a:cs typeface="Arial" panose="020B0604020202020204" pitchFamily="34" charset="0"/>
                      </a:endParaRPr>
                    </a:p>
                    <a:p>
                      <a:pPr algn="ctr" fontAlgn="b">
                        <a:buNone/>
                      </a:pPr>
                      <a:r>
                        <a:rPr lang="zh-CN" altLang="en-US" sz="1000" b="0" i="0" u="none" strike="noStrike" dirty="0">
                          <a:solidFill>
                            <a:srgbClr val="C00000"/>
                          </a:solidFill>
                          <a:effectLst/>
                          <a:latin typeface="Arial" panose="020B0604020202020204" pitchFamily="34" charset="0"/>
                          <a:ea typeface="+mn-ea"/>
                          <a:cs typeface="Arial" panose="020B0604020202020204" pitchFamily="34" charset="0"/>
                        </a:rPr>
                        <a:t>（</a:t>
                      </a:r>
                      <a:r>
                        <a:rPr lang="zh-TW" altLang="en-US" sz="1000" b="0" dirty="0">
                          <a:solidFill>
                            <a:srgbClr val="C00000"/>
                          </a:solidFill>
                          <a:latin typeface="Arial" panose="020B0604020202020204" pitchFamily="34" charset="0"/>
                          <a:cs typeface="Arial" panose="020B0604020202020204" pitchFamily="34" charset="0"/>
                        </a:rPr>
                        <a:t>招证国际为联席保荐人</a:t>
                      </a:r>
                      <a:r>
                        <a:rPr lang="zh-CN" altLang="en-US" sz="1000" b="0" dirty="0">
                          <a:solidFill>
                            <a:srgbClr val="C00000"/>
                          </a:solidFill>
                          <a:latin typeface="Arial" panose="020B0604020202020204" pitchFamily="34" charset="0"/>
                          <a:cs typeface="Arial" panose="020B0604020202020204" pitchFamily="34" charset="0"/>
                        </a:rPr>
                        <a:t>）</a:t>
                      </a:r>
                      <a:endParaRPr lang="en-US"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41.60</a:t>
                      </a:r>
                      <a:endParaRPr kumimoji="0" lang="en-US" altLang="en-US" sz="1000" b="0" i="0" u="none" strike="noStrike" kern="1200" cap="none" spc="0" normalizeH="0" baseline="0" dirty="0">
                        <a:ln>
                          <a:noFill/>
                        </a:ln>
                        <a:solidFill>
                          <a:schemeClr val="tx1"/>
                        </a:solidFill>
                        <a:effectLst/>
                        <a:uLnTx/>
                        <a:uFillTx/>
                        <a:latin typeface="+mj-lt"/>
                        <a:ea typeface="+mj-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dirty="0">
                          <a:ln>
                            <a:noFill/>
                          </a:ln>
                          <a:solidFill>
                            <a:schemeClr val="tx1"/>
                          </a:solidFill>
                          <a:effectLst/>
                          <a:uLnTx/>
                          <a:uFillTx/>
                          <a:latin typeface="+mn-lt"/>
                          <a:ea typeface="+mn-ea"/>
                          <a:cs typeface="+mn-ea"/>
                        </a:rPr>
                        <a:t>16.64</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11</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9</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rPr>
                        <a:t>42.31%</a:t>
                      </a: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2346414"/>
                  </a:ext>
                </a:extLst>
              </a:tr>
              <a:tr h="334408">
                <a:tc>
                  <a:txBody>
                    <a:bodyPr/>
                    <a:lstStyle/>
                    <a:p>
                      <a:pPr algn="ctr" fontAlgn="b">
                        <a:buNone/>
                      </a:pPr>
                      <a:r>
                        <a:rPr lang="zh-TW" altLang="en-US" sz="1000" b="0" dirty="0">
                          <a:solidFill>
                            <a:schemeClr val="tx1"/>
                          </a:solidFill>
                          <a:latin typeface="Arial" panose="020B0604020202020204" pitchFamily="34" charset="0"/>
                          <a:ea typeface="KaiTi" panose="02010609060101010101" pitchFamily="49" charset="-122"/>
                          <a:cs typeface="Arial" panose="020B0604020202020204" pitchFamily="34" charset="0"/>
                        </a:rPr>
                        <a:t>国民技术</a:t>
                      </a:r>
                      <a:r>
                        <a:rPr lang="en-US" altLang="zh-TW"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1</a:t>
                      </a:r>
                      <a:r>
                        <a:rPr lang="en-US" altLang="zh-CN" sz="1000" b="0" baseline="30000" dirty="0">
                          <a:solidFill>
                            <a:schemeClr val="tx1"/>
                          </a:solidFill>
                          <a:latin typeface="Arial" panose="020B0604020202020204" pitchFamily="34" charset="0"/>
                          <a:ea typeface="KaiTi" panose="02010609060101010101" pitchFamily="49" charset="-122"/>
                          <a:cs typeface="Arial" panose="020B0604020202020204" pitchFamily="34" charset="0"/>
                        </a:rPr>
                        <a:t>0</a:t>
                      </a:r>
                      <a:endParaRPr lang="en-US" altLang="zh-CN" sz="1000" b="0" i="0" u="none" strike="noStrike" kern="1200" baseline="30000" dirty="0">
                        <a:solidFill>
                          <a:schemeClr val="tx1"/>
                        </a:solidFill>
                        <a:effectLst/>
                        <a:latin typeface="Arial" panose="020B0604020202020204" pitchFamily="34" charset="0"/>
                        <a:ea typeface="+mn-ea"/>
                        <a:cs typeface="Arial" panose="020B0604020202020204" pitchFamily="34" charset="0"/>
                      </a:endParaRPr>
                    </a:p>
                  </a:txBody>
                  <a:tcPr marL="6350" marR="6350" marT="6350" marB="0" anchor="ctr">
                    <a:lnL w="12700" cap="flat" cmpd="sng" algn="ctr">
                      <a:solidFill>
                        <a:srgbClr val="C00000"/>
                      </a:solidFill>
                      <a:prstDash val="solid"/>
                      <a:round/>
                      <a:headEnd type="none" w="med" len="med"/>
                      <a:tailEnd type="none" w="med" len="med"/>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TMT</a:t>
                      </a:r>
                    </a:p>
                  </a:txBody>
                  <a:tcPr marL="6350" marR="6350" marT="635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j-lt"/>
                          <a:ea typeface="+mj-ea"/>
                          <a:cs typeface="+mn-ea"/>
                        </a:rPr>
                        <a:t>10.80</a:t>
                      </a: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dirty="0">
                          <a:ln>
                            <a:noFill/>
                          </a:ln>
                          <a:solidFill>
                            <a:schemeClr val="tx1"/>
                          </a:solidFill>
                          <a:effectLst/>
                          <a:uLnTx/>
                          <a:uFillTx/>
                          <a:latin typeface="+mn-lt"/>
                          <a:ea typeface="+mn-ea"/>
                          <a:cs typeface="+mn-ea"/>
                        </a:rPr>
                        <a:t>10.26</a:t>
                      </a:r>
                      <a:endParaRPr kumimoji="0" lang="en-US" altLang="en-US" sz="1000" b="0" i="0" u="none" strike="noStrike" kern="1200" cap="none" spc="0" normalizeH="0" baseline="0" dirty="0">
                        <a:ln>
                          <a:noFill/>
                        </a:ln>
                        <a:solidFill>
                          <a:schemeClr val="tx1"/>
                        </a:solidFill>
                        <a:effectLst/>
                        <a:uLnTx/>
                        <a:uFillTx/>
                        <a:latin typeface="+mn-lt"/>
                        <a:ea typeface="+mn-ea"/>
                        <a:cs typeface="+mn-ea"/>
                      </a:endParaRPr>
                    </a:p>
                  </a:txBody>
                  <a:tcPr marL="9525" marR="9525" marT="9525"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algn="ctr" fontAlgn="ctr">
                        <a:buNone/>
                      </a:pPr>
                      <a:r>
                        <a:rPr lang="en-US" altLang="zh-CN" sz="1000" b="0" i="0" u="none" strike="noStrike" baseline="0" dirty="0">
                          <a:solidFill>
                            <a:srgbClr val="000000"/>
                          </a:solidFill>
                          <a:effectLst/>
                          <a:latin typeface="Arial" panose="020B0604020202020204" pitchFamily="34" charset="0"/>
                          <a:ea typeface="+mn-ea"/>
                          <a:cs typeface="Arial" panose="020B0604020202020204" pitchFamily="34" charset="0"/>
                        </a:rPr>
                        <a:t>5</a:t>
                      </a:r>
                      <a:r>
                        <a:rPr lang="en-US" altLang="zh-CN" sz="1000" b="0" i="0" u="none" strike="noStrike" baseline="30000" dirty="0">
                          <a:solidFill>
                            <a:srgbClr val="000000"/>
                          </a:solidFill>
                          <a:effectLst/>
                          <a:latin typeface="Arial" panose="020B0604020202020204" pitchFamily="34" charset="0"/>
                          <a:ea typeface="+mn-ea"/>
                          <a:cs typeface="Arial" panose="020B0604020202020204" pitchFamily="34" charset="0"/>
                        </a:rPr>
                        <a:t>11</a:t>
                      </a:r>
                      <a:endParaRPr lang="en-US" altLang="zh-CN" sz="10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solidFill>
                          <a:effectLst/>
                          <a:uLnTx/>
                          <a:uFillTx/>
                          <a:latin typeface="+mn-lt"/>
                          <a:ea typeface="+mn-ea"/>
                          <a:cs typeface="+mn-ea"/>
                          <a:sym typeface="+mn-ea"/>
                        </a:rPr>
                        <a:t>13.60%</a:t>
                      </a: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ea"/>
                      </a:endParaRPr>
                    </a:p>
                  </a:txBody>
                  <a:tcPr marL="0" marR="0" marT="0" marB="0" anchor="ctr">
                    <a:lnL>
                      <a:noFill/>
                    </a:lnL>
                    <a:lnR w="12700" cap="flat" cmpd="sng" algn="ctr">
                      <a:solidFill>
                        <a:srgbClr val="C00000"/>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8853820"/>
                  </a:ext>
                </a:extLst>
              </a:tr>
            </a:tbl>
          </a:graphicData>
        </a:graphic>
      </p:graphicFrame>
      <p:sp>
        <p:nvSpPr>
          <p:cNvPr id="9" name="Frame 8">
            <a:extLst>
              <a:ext uri="{FF2B5EF4-FFF2-40B4-BE49-F238E27FC236}">
                <a16:creationId xmlns:a16="http://schemas.microsoft.com/office/drawing/2014/main" id="{1B9BA9F7-D2ED-53CD-7ADC-B51B3FFB9088}"/>
              </a:ext>
            </a:extLst>
          </p:cNvPr>
          <p:cNvSpPr/>
          <p:nvPr/>
        </p:nvSpPr>
        <p:spPr>
          <a:xfrm>
            <a:off x="245093" y="1896861"/>
            <a:ext cx="9380284" cy="47134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a:extLst>
              <a:ext uri="{FF2B5EF4-FFF2-40B4-BE49-F238E27FC236}">
                <a16:creationId xmlns:a16="http://schemas.microsoft.com/office/drawing/2014/main" id="{EC6D0A89-87B8-1091-1077-9AE9A229A500}"/>
              </a:ext>
            </a:extLst>
          </p:cNvPr>
          <p:cNvSpPr txBox="1"/>
          <p:nvPr/>
        </p:nvSpPr>
        <p:spPr>
          <a:xfrm>
            <a:off x="377190" y="3197681"/>
            <a:ext cx="4119309" cy="646331"/>
          </a:xfrm>
          <a:prstGeom prst="rect">
            <a:avLst/>
          </a:prstGeom>
          <a:noFill/>
        </p:spPr>
        <p:txBody>
          <a:bodyPr wrap="square" rtlCol="0">
            <a:spAutoFit/>
          </a:bodyPr>
          <a:lstStyle/>
          <a:p>
            <a:r>
              <a:rPr lang="en-US" sz="1200" dirty="0" err="1">
                <a:highlight>
                  <a:srgbClr val="FFFF00"/>
                </a:highlight>
              </a:rPr>
              <a:t>上个礼拜可能是range</a:t>
            </a:r>
            <a:r>
              <a:rPr lang="en-US" sz="1200" dirty="0">
                <a:highlight>
                  <a:srgbClr val="FFFF00"/>
                </a:highlight>
              </a:rPr>
              <a:t>(</a:t>
            </a:r>
            <a:r>
              <a:rPr lang="en-US" sz="1200" dirty="0" err="1">
                <a:highlight>
                  <a:srgbClr val="FFFF00"/>
                </a:highlight>
              </a:rPr>
              <a:t>开售中</a:t>
            </a:r>
            <a:r>
              <a:rPr lang="en-US" sz="1200" dirty="0">
                <a:highlight>
                  <a:srgbClr val="FFFF00"/>
                </a:highlight>
              </a:rPr>
              <a:t>), </a:t>
            </a:r>
            <a:r>
              <a:rPr lang="zh-CN" altLang="en-US" sz="1200" dirty="0">
                <a:highlight>
                  <a:srgbClr val="FFFF00"/>
                </a:highlight>
              </a:rPr>
              <a:t>这个礼拜公开发售结束，会变成一个数，要更新，要去</a:t>
            </a:r>
            <a:r>
              <a:rPr lang="en-US" altLang="zh-CN" sz="1200" dirty="0" err="1">
                <a:highlight>
                  <a:srgbClr val="FFFF00"/>
                </a:highlight>
              </a:rPr>
              <a:t>hkex</a:t>
            </a:r>
            <a:r>
              <a:rPr lang="zh-CN" altLang="en-US" sz="1200" dirty="0">
                <a:highlight>
                  <a:srgbClr val="FFFF00"/>
                </a:highlight>
              </a:rPr>
              <a:t>看，这里是开售的</a:t>
            </a:r>
            <a:r>
              <a:rPr lang="en-US" altLang="zh-CN" sz="1200" dirty="0">
                <a:highlight>
                  <a:srgbClr val="FFFF00"/>
                </a:highlight>
              </a:rPr>
              <a:t>upper limit, </a:t>
            </a:r>
            <a:r>
              <a:rPr lang="zh-CN" altLang="en-US" sz="1200" dirty="0">
                <a:highlight>
                  <a:srgbClr val="FFFF00"/>
                </a:highlight>
              </a:rPr>
              <a:t>可抄上个礼拜的，但</a:t>
            </a:r>
            <a:r>
              <a:rPr lang="zh-CN" altLang="en-US" sz="1200" dirty="0">
                <a:solidFill>
                  <a:srgbClr val="FF0000"/>
                </a:solidFill>
                <a:highlight>
                  <a:srgbClr val="FFFF00"/>
                </a:highlight>
              </a:rPr>
              <a:t>有时候是一个随机数，要重新看</a:t>
            </a:r>
            <a:endParaRPr lang="en-US" sz="1200" dirty="0">
              <a:solidFill>
                <a:srgbClr val="FF0000"/>
              </a:solidFill>
              <a:highlight>
                <a:srgbClr val="FFFF00"/>
              </a:highlight>
            </a:endParaRPr>
          </a:p>
        </p:txBody>
      </p:sp>
      <p:pic>
        <p:nvPicPr>
          <p:cNvPr id="20" name="Picture 19">
            <a:extLst>
              <a:ext uri="{FF2B5EF4-FFF2-40B4-BE49-F238E27FC236}">
                <a16:creationId xmlns:a16="http://schemas.microsoft.com/office/drawing/2014/main" id="{1470DF4A-499E-DEFE-EEC9-C9539B6FFB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628" y="2671773"/>
            <a:ext cx="9353652" cy="574347"/>
          </a:xfrm>
          <a:prstGeom prst="rect">
            <a:avLst/>
          </a:prstGeom>
        </p:spPr>
      </p:pic>
      <p:sp>
        <p:nvSpPr>
          <p:cNvPr id="22" name="TextBox 21">
            <a:extLst>
              <a:ext uri="{FF2B5EF4-FFF2-40B4-BE49-F238E27FC236}">
                <a16:creationId xmlns:a16="http://schemas.microsoft.com/office/drawing/2014/main" id="{A09C88EB-F4BC-1BD6-4965-69BAFA7AC3A1}"/>
              </a:ext>
            </a:extLst>
          </p:cNvPr>
          <p:cNvSpPr txBox="1"/>
          <p:nvPr/>
        </p:nvSpPr>
        <p:spPr>
          <a:xfrm>
            <a:off x="6576969" y="3246120"/>
            <a:ext cx="1287532" cy="369332"/>
          </a:xfrm>
          <a:prstGeom prst="rect">
            <a:avLst/>
          </a:prstGeom>
          <a:noFill/>
        </p:spPr>
        <p:txBody>
          <a:bodyPr wrap="none" rtlCol="0">
            <a:spAutoFit/>
          </a:bodyPr>
          <a:lstStyle/>
          <a:p>
            <a:r>
              <a:rPr lang="en-US" dirty="0">
                <a:highlight>
                  <a:srgbClr val="FFFF00"/>
                </a:highlight>
              </a:rPr>
              <a:t>Last</a:t>
            </a:r>
            <a:r>
              <a:rPr lang="zh-CN" altLang="en-US" dirty="0">
                <a:highlight>
                  <a:srgbClr val="FFFF00"/>
                </a:highlight>
              </a:rPr>
              <a:t> </a:t>
            </a:r>
            <a:r>
              <a:rPr lang="en-US" altLang="zh-CN" dirty="0">
                <a:highlight>
                  <a:srgbClr val="FFFF00"/>
                </a:highlight>
              </a:rPr>
              <a:t> week</a:t>
            </a:r>
            <a:endParaRPr lang="en-US" dirty="0">
              <a:highlight>
                <a:srgbClr val="FFFF00"/>
              </a:highlight>
            </a:endParaRPr>
          </a:p>
        </p:txBody>
      </p:sp>
      <p:cxnSp>
        <p:nvCxnSpPr>
          <p:cNvPr id="24" name="Straight Connector 23">
            <a:extLst>
              <a:ext uri="{FF2B5EF4-FFF2-40B4-BE49-F238E27FC236}">
                <a16:creationId xmlns:a16="http://schemas.microsoft.com/office/drawing/2014/main" id="{A39E8F5A-C8A0-34F1-0370-D48C05FF6213}"/>
              </a:ext>
            </a:extLst>
          </p:cNvPr>
          <p:cNvCxnSpPr>
            <a:cxnSpLocks/>
            <a:stCxn id="22" idx="1"/>
          </p:cNvCxnSpPr>
          <p:nvPr/>
        </p:nvCxnSpPr>
        <p:spPr>
          <a:xfrm flipH="1" flipV="1">
            <a:off x="6014906" y="3117094"/>
            <a:ext cx="562063" cy="313692"/>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CE2F00AE-8424-BF94-E438-30803FE894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916" y="3919228"/>
            <a:ext cx="8185449" cy="369332"/>
          </a:xfrm>
          <a:prstGeom prst="rect">
            <a:avLst/>
          </a:prstGeom>
        </p:spPr>
      </p:pic>
      <p:pic>
        <p:nvPicPr>
          <p:cNvPr id="30" name="Picture 29">
            <a:extLst>
              <a:ext uri="{FF2B5EF4-FFF2-40B4-BE49-F238E27FC236}">
                <a16:creationId xmlns:a16="http://schemas.microsoft.com/office/drawing/2014/main" id="{577F769C-DF54-BE51-FC2C-BD37560AF4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5093" y="4354411"/>
            <a:ext cx="8864324" cy="418225"/>
          </a:xfrm>
          <a:prstGeom prst="rect">
            <a:avLst/>
          </a:prstGeom>
        </p:spPr>
      </p:pic>
      <p:sp>
        <p:nvSpPr>
          <p:cNvPr id="31" name="TextBox 30">
            <a:extLst>
              <a:ext uri="{FF2B5EF4-FFF2-40B4-BE49-F238E27FC236}">
                <a16:creationId xmlns:a16="http://schemas.microsoft.com/office/drawing/2014/main" id="{360D9E68-8ED7-5D53-CEA5-362C28669B62}"/>
              </a:ext>
            </a:extLst>
          </p:cNvPr>
          <p:cNvSpPr txBox="1"/>
          <p:nvPr/>
        </p:nvSpPr>
        <p:spPr>
          <a:xfrm>
            <a:off x="8512909" y="3871131"/>
            <a:ext cx="646331" cy="369332"/>
          </a:xfrm>
          <a:prstGeom prst="rect">
            <a:avLst/>
          </a:prstGeom>
          <a:noFill/>
        </p:spPr>
        <p:txBody>
          <a:bodyPr wrap="square" rtlCol="0">
            <a:spAutoFit/>
          </a:bodyPr>
          <a:lstStyle/>
          <a:p>
            <a:r>
              <a:rPr lang="en-US" dirty="0" err="1">
                <a:highlight>
                  <a:srgbClr val="FFFF00"/>
                </a:highlight>
              </a:rPr>
              <a:t>开售</a:t>
            </a:r>
            <a:endParaRPr lang="en-US" dirty="0">
              <a:highlight>
                <a:srgbClr val="FFFF00"/>
              </a:highlight>
            </a:endParaRPr>
          </a:p>
        </p:txBody>
      </p:sp>
      <p:sp>
        <p:nvSpPr>
          <p:cNvPr id="32" name="TextBox 31">
            <a:extLst>
              <a:ext uri="{FF2B5EF4-FFF2-40B4-BE49-F238E27FC236}">
                <a16:creationId xmlns:a16="http://schemas.microsoft.com/office/drawing/2014/main" id="{77DBCC37-D9A8-1F90-ADB4-3FE9545ED892}"/>
              </a:ext>
            </a:extLst>
          </p:cNvPr>
          <p:cNvSpPr txBox="1"/>
          <p:nvPr/>
        </p:nvSpPr>
        <p:spPr>
          <a:xfrm>
            <a:off x="8979046" y="4403304"/>
            <a:ext cx="646331" cy="369332"/>
          </a:xfrm>
          <a:prstGeom prst="rect">
            <a:avLst/>
          </a:prstGeom>
          <a:noFill/>
        </p:spPr>
        <p:txBody>
          <a:bodyPr wrap="none" rtlCol="0">
            <a:spAutoFit/>
          </a:bodyPr>
          <a:lstStyle/>
          <a:p>
            <a:r>
              <a:rPr lang="en-US" dirty="0" err="1">
                <a:highlight>
                  <a:srgbClr val="FFFF00"/>
                </a:highlight>
              </a:rPr>
              <a:t>最终</a:t>
            </a:r>
            <a:endParaRPr lang="en-US" dirty="0">
              <a:highlight>
                <a:srgbClr val="FFFF00"/>
              </a:highlight>
            </a:endParaRPr>
          </a:p>
        </p:txBody>
      </p:sp>
      <p:cxnSp>
        <p:nvCxnSpPr>
          <p:cNvPr id="34" name="Straight Arrow Connector 33">
            <a:extLst>
              <a:ext uri="{FF2B5EF4-FFF2-40B4-BE49-F238E27FC236}">
                <a16:creationId xmlns:a16="http://schemas.microsoft.com/office/drawing/2014/main" id="{C7395BBA-E500-2EA3-7AFB-1FAE8FEC293D}"/>
              </a:ext>
            </a:extLst>
          </p:cNvPr>
          <p:cNvCxnSpPr>
            <a:cxnSpLocks/>
          </p:cNvCxnSpPr>
          <p:nvPr/>
        </p:nvCxnSpPr>
        <p:spPr>
          <a:xfrm flipV="1">
            <a:off x="1768415" y="3041309"/>
            <a:ext cx="2617712" cy="204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Picture 36" descr="A screenshot of a computer&#10;&#10;AI-generated content may be incorrect.">
            <a:extLst>
              <a:ext uri="{FF2B5EF4-FFF2-40B4-BE49-F238E27FC236}">
                <a16:creationId xmlns:a16="http://schemas.microsoft.com/office/drawing/2014/main" id="{3F61CC3A-9FEC-C4DA-8BBD-F8B8D931A7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7549" y="5062772"/>
            <a:ext cx="3829557" cy="1470550"/>
          </a:xfrm>
          <a:prstGeom prst="rect">
            <a:avLst/>
          </a:prstGeom>
        </p:spPr>
      </p:pic>
      <p:pic>
        <p:nvPicPr>
          <p:cNvPr id="39" name="Picture 38" descr="A screenshot of a computer&#10;&#10;AI-generated content may be incorrect.">
            <a:extLst>
              <a:ext uri="{FF2B5EF4-FFF2-40B4-BE49-F238E27FC236}">
                <a16:creationId xmlns:a16="http://schemas.microsoft.com/office/drawing/2014/main" id="{7805F53C-101F-28F1-32B4-D34D1C4F0E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6480" y="4977598"/>
            <a:ext cx="3711881" cy="888028"/>
          </a:xfrm>
          <a:prstGeom prst="rect">
            <a:avLst/>
          </a:prstGeom>
        </p:spPr>
      </p:pic>
      <p:pic>
        <p:nvPicPr>
          <p:cNvPr id="41" name="Picture 40" descr="A screenshot of a document&#10;&#10;AI-generated content may be incorrect.">
            <a:extLst>
              <a:ext uri="{FF2B5EF4-FFF2-40B4-BE49-F238E27FC236}">
                <a16:creationId xmlns:a16="http://schemas.microsoft.com/office/drawing/2014/main" id="{BE7D71EC-F817-F898-3BAB-388B05FCD5D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08361" y="4698749"/>
            <a:ext cx="2078152" cy="2159251"/>
          </a:xfrm>
          <a:prstGeom prst="rect">
            <a:avLst/>
          </a:prstGeom>
        </p:spPr>
      </p:pic>
      <p:sp>
        <p:nvSpPr>
          <p:cNvPr id="42" name="TextBox 41">
            <a:extLst>
              <a:ext uri="{FF2B5EF4-FFF2-40B4-BE49-F238E27FC236}">
                <a16:creationId xmlns:a16="http://schemas.microsoft.com/office/drawing/2014/main" id="{96C34C54-DFD8-74C3-13D1-B0EA3F1C2B6E}"/>
              </a:ext>
            </a:extLst>
          </p:cNvPr>
          <p:cNvSpPr txBox="1"/>
          <p:nvPr/>
        </p:nvSpPr>
        <p:spPr>
          <a:xfrm>
            <a:off x="4677255" y="5992481"/>
            <a:ext cx="2185214" cy="369332"/>
          </a:xfrm>
          <a:prstGeom prst="rect">
            <a:avLst/>
          </a:prstGeom>
          <a:noFill/>
        </p:spPr>
        <p:txBody>
          <a:bodyPr wrap="none" rtlCol="0">
            <a:spAutoFit/>
          </a:bodyPr>
          <a:lstStyle/>
          <a:p>
            <a:r>
              <a:rPr lang="en-US" dirty="0" err="1">
                <a:highlight>
                  <a:srgbClr val="FFFF00"/>
                </a:highlight>
              </a:rPr>
              <a:t>要转单位</a:t>
            </a:r>
            <a:r>
              <a:rPr lang="zh-CN" altLang="en-US" dirty="0">
                <a:highlight>
                  <a:srgbClr val="FFFF00"/>
                </a:highlight>
              </a:rPr>
              <a:t>，除以</a:t>
            </a:r>
            <a:r>
              <a:rPr lang="en-US" altLang="zh-CN" dirty="0">
                <a:highlight>
                  <a:srgbClr val="FFFF00"/>
                </a:highlight>
              </a:rPr>
              <a:t>100</a:t>
            </a:r>
            <a:endParaRPr lang="en-US" dirty="0">
              <a:highlight>
                <a:srgbClr val="FFFF00"/>
              </a:highlight>
            </a:endParaRPr>
          </a:p>
        </p:txBody>
      </p:sp>
      <p:cxnSp>
        <p:nvCxnSpPr>
          <p:cNvPr id="44" name="Straight Arrow Connector 43">
            <a:extLst>
              <a:ext uri="{FF2B5EF4-FFF2-40B4-BE49-F238E27FC236}">
                <a16:creationId xmlns:a16="http://schemas.microsoft.com/office/drawing/2014/main" id="{64255F70-1228-72E2-7D04-9CA1087AC945}"/>
              </a:ext>
            </a:extLst>
          </p:cNvPr>
          <p:cNvCxnSpPr>
            <a:cxnSpLocks/>
          </p:cNvCxnSpPr>
          <p:nvPr/>
        </p:nvCxnSpPr>
        <p:spPr>
          <a:xfrm flipV="1">
            <a:off x="5769862" y="5421612"/>
            <a:ext cx="245044" cy="648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47EF518-9E7B-877A-6A96-F85CC3685224}"/>
              </a:ext>
            </a:extLst>
          </p:cNvPr>
          <p:cNvCxnSpPr>
            <a:cxnSpLocks/>
            <a:stCxn id="42" idx="0"/>
          </p:cNvCxnSpPr>
          <p:nvPr/>
        </p:nvCxnSpPr>
        <p:spPr>
          <a:xfrm flipV="1">
            <a:off x="5769862" y="4649284"/>
            <a:ext cx="49034" cy="1343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A71F7A0-D628-D055-B82D-CAAFD2BC1168}"/>
              </a:ext>
            </a:extLst>
          </p:cNvPr>
          <p:cNvCxnSpPr>
            <a:cxnSpLocks/>
          </p:cNvCxnSpPr>
          <p:nvPr/>
        </p:nvCxnSpPr>
        <p:spPr>
          <a:xfrm flipV="1">
            <a:off x="8361575" y="4649284"/>
            <a:ext cx="0" cy="2025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120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CA11-4DA0-9583-4F55-B7A7C5DE7D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14662F-0D41-DDA8-653A-B45DE970BC5F}"/>
              </a:ext>
            </a:extLst>
          </p:cNvPr>
          <p:cNvSpPr txBox="1"/>
          <p:nvPr/>
        </p:nvSpPr>
        <p:spPr>
          <a:xfrm>
            <a:off x="0" y="-575389"/>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a:cs typeface="+mn-ea"/>
                <a:sym typeface="+mn-lt"/>
                <a:hlinkClick r:id="rId4"/>
              </a:rPr>
              <a:t>http://</a:t>
            </a:r>
            <a:r>
              <a:rPr lang="en-US" sz="1200" dirty="0">
                <a:cs typeface="+mn-ea"/>
                <a:sym typeface="+mn-lt"/>
                <a:hlinkClick r:id="rId4"/>
              </a:rPr>
              <a:t>www.aastocks.com/tc/stocks/market/ipo/upcomingipo/company-summary</a:t>
            </a:r>
            <a:r>
              <a:rPr lang="en-US" sz="1200" dirty="0">
                <a:cs typeface="+mn-ea"/>
                <a:sym typeface="+mn-lt"/>
              </a:rPr>
              <a:t> </a:t>
            </a:r>
          </a:p>
        </p:txBody>
      </p:sp>
      <p:sp>
        <p:nvSpPr>
          <p:cNvPr id="17" name="Title 1">
            <a:extLst>
              <a:ext uri="{FF2B5EF4-FFF2-40B4-BE49-F238E27FC236}">
                <a16:creationId xmlns:a16="http://schemas.microsoft.com/office/drawing/2014/main" id="{CDA34327-DFB2-575C-0EA2-955ED6002D91}"/>
              </a:ext>
            </a:extLst>
          </p:cNvPr>
          <p:cNvSpPr>
            <a:spLocks noGrp="1"/>
          </p:cNvSpPr>
          <p:nvPr>
            <p:ph type="title"/>
          </p:nvPr>
        </p:nvSpPr>
        <p:spPr>
          <a:xfrm>
            <a:off x="381000" y="182880"/>
            <a:ext cx="7132320" cy="320040"/>
          </a:xfrm>
        </p:spPr>
        <p:txBody>
          <a:bodyPr>
            <a:normAutofit/>
          </a:bodyPr>
          <a:lstStyle/>
          <a:p>
            <a:r>
              <a:rPr lang="zh-CN" altLang="en-US" dirty="0">
                <a:latin typeface="+mn-lt"/>
                <a:ea typeface="+mn-ea"/>
                <a:cs typeface="+mn-ea"/>
                <a:sym typeface="+mn-lt"/>
              </a:rPr>
              <a:t>过去一周香港二级市场融资及新股交表情况概览</a:t>
            </a:r>
          </a:p>
        </p:txBody>
      </p:sp>
      <p:graphicFrame>
        <p:nvGraphicFramePr>
          <p:cNvPr id="19" name="Table 5">
            <a:extLst>
              <a:ext uri="{FF2B5EF4-FFF2-40B4-BE49-F238E27FC236}">
                <a16:creationId xmlns:a16="http://schemas.microsoft.com/office/drawing/2014/main" id="{E6DAB6B7-46AF-D15B-B913-EF058DD5E19E}"/>
              </a:ext>
            </a:extLst>
          </p:cNvPr>
          <p:cNvGraphicFramePr>
            <a:graphicFrameLocks noGrp="1"/>
          </p:cNvGraphicFramePr>
          <p:nvPr>
            <p:custDataLst>
              <p:tags r:id="rId1"/>
            </p:custDataLst>
            <p:extLst>
              <p:ext uri="{D42A27DB-BD31-4B8C-83A1-F6EECF244321}">
                <p14:modId xmlns:p14="http://schemas.microsoft.com/office/powerpoint/2010/main" val="1709557566"/>
              </p:ext>
            </p:extLst>
          </p:nvPr>
        </p:nvGraphicFramePr>
        <p:xfrm>
          <a:off x="388937" y="883652"/>
          <a:ext cx="9120505" cy="1775165"/>
        </p:xfrm>
        <a:graphic>
          <a:graphicData uri="http://schemas.openxmlformats.org/drawingml/2006/table">
            <a:tbl>
              <a:tblPr/>
              <a:tblGrid>
                <a:gridCol w="2190750">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1811655">
                  <a:extLst>
                    <a:ext uri="{9D8B030D-6E8A-4147-A177-3AD203B41FA5}">
                      <a16:colId xmlns:a16="http://schemas.microsoft.com/office/drawing/2014/main" val="20002"/>
                    </a:ext>
                  </a:extLst>
                </a:gridCol>
                <a:gridCol w="1393190">
                  <a:extLst>
                    <a:ext uri="{9D8B030D-6E8A-4147-A177-3AD203B41FA5}">
                      <a16:colId xmlns:a16="http://schemas.microsoft.com/office/drawing/2014/main" val="20003"/>
                    </a:ext>
                  </a:extLst>
                </a:gridCol>
                <a:gridCol w="2416810">
                  <a:extLst>
                    <a:ext uri="{9D8B030D-6E8A-4147-A177-3AD203B41FA5}">
                      <a16:colId xmlns:a16="http://schemas.microsoft.com/office/drawing/2014/main" val="20004"/>
                    </a:ext>
                  </a:extLst>
                </a:gridCol>
              </a:tblGrid>
              <a:tr h="32345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chemeClr val="bg1"/>
                          </a:solidFill>
                          <a:latin typeface="+mj-lt"/>
                          <a:ea typeface="+mn-ea"/>
                          <a:cs typeface="+mn-ea"/>
                          <a:sym typeface="+mn-lt"/>
                        </a:rPr>
                        <a:t>公司</a:t>
                      </a:r>
                      <a:endParaRPr lang="zh-HK" altLang="en-US" sz="1000" b="1" kern="1200" baseline="30000"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j-lt"/>
                          <a:ea typeface="+mn-ea"/>
                          <a:cs typeface="+mn-ea"/>
                          <a:sym typeface="+mn-lt"/>
                        </a:rPr>
                        <a:t>行业</a:t>
                      </a:r>
                      <a:endParaRPr lang="zh-HK" altLang="en-US" sz="1000" b="1"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项目提交</a:t>
                      </a:r>
                      <a:r>
                        <a:rPr lang="en-US" altLang="zh-CN" sz="1000" b="1" kern="1200" dirty="0">
                          <a:solidFill>
                            <a:schemeClr val="bg1"/>
                          </a:solidFill>
                          <a:latin typeface="+mj-lt"/>
                          <a:ea typeface="+mn-ea"/>
                          <a:cs typeface="+mn-ea"/>
                          <a:sym typeface="+mn-lt"/>
                        </a:rPr>
                        <a:t>A1</a:t>
                      </a:r>
                      <a:r>
                        <a:rPr lang="zh-CN" altLang="en-US" sz="1000" b="1" kern="1200" dirty="0">
                          <a:solidFill>
                            <a:schemeClr val="bg1"/>
                          </a:solidFill>
                          <a:latin typeface="+mj-lt"/>
                          <a:ea typeface="+mn-ea"/>
                          <a:cs typeface="+mn-ea"/>
                          <a:sym typeface="+mn-lt"/>
                        </a:rPr>
                        <a:t>时间</a:t>
                      </a:r>
                      <a:endParaRPr lang="zh-HK" altLang="en-US" sz="1000" b="1" kern="1200"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是否为再次递交</a:t>
                      </a:r>
                      <a:r>
                        <a:rPr lang="en-US" altLang="zh-CN" sz="1000" b="1" kern="1200" dirty="0">
                          <a:solidFill>
                            <a:schemeClr val="bg1"/>
                          </a:solidFill>
                          <a:latin typeface="+mj-lt"/>
                          <a:ea typeface="+mn-ea"/>
                          <a:cs typeface="+mn-ea"/>
                          <a:sym typeface="+mn-lt"/>
                        </a:rPr>
                        <a:t>A1</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市传融资规模</a:t>
                      </a:r>
                    </a:p>
                    <a:p>
                      <a:pPr algn="ctr"/>
                      <a:r>
                        <a:rPr lang="zh-CN" altLang="en-US" sz="1000" b="1" kern="1200" dirty="0">
                          <a:solidFill>
                            <a:schemeClr val="bg1"/>
                          </a:solidFill>
                          <a:latin typeface="+mj-lt"/>
                          <a:ea typeface="+mn-ea"/>
                          <a:cs typeface="+mn-ea"/>
                          <a:sym typeface="+mn-lt"/>
                        </a:rPr>
                        <a:t>（百万美元）</a:t>
                      </a:r>
                      <a:endParaRPr lang="en-US" altLang="zh-CN" sz="1000" b="1" kern="1200"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00"/>
                  </a:ext>
                </a:extLst>
              </a:tr>
              <a:tr h="241951">
                <a:tc>
                  <a:txBody>
                    <a:bodyPr/>
                    <a:lstStyle/>
                    <a:p>
                      <a:pPr algn="ctr" fontAlgn="b">
                        <a:buNone/>
                      </a:pPr>
                      <a:r>
                        <a:rPr lang="en-US" sz="1000" dirty="0"/>
                        <a:t>Merdeka</a:t>
                      </a:r>
                      <a:r>
                        <a:rPr lang="en-US" altLang="zh-CN" sz="1000" dirty="0"/>
                        <a:t>-S</a:t>
                      </a:r>
                      <a:r>
                        <a:rPr lang="en-US" altLang="zh-TW" sz="1000" b="0" baseline="30000" dirty="0"/>
                        <a:t>2</a:t>
                      </a:r>
                      <a:endParaRPr lang="en-US" altLang="zh-CN" sz="10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矿业</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否</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4022592"/>
                  </a:ext>
                </a:extLst>
              </a:tr>
              <a:tr h="241951">
                <a:tc>
                  <a:txBody>
                    <a:bodyPr/>
                    <a:lstStyle/>
                    <a:p>
                      <a:pPr algn="ctr" fontAlgn="b">
                        <a:buNone/>
                      </a:pPr>
                      <a:r>
                        <a:rPr lang="zh-TW" altLang="en-US" sz="1000" dirty="0"/>
                        <a:t>新元素药业</a:t>
                      </a:r>
                      <a:r>
                        <a:rPr lang="en-US" altLang="zh-CN" sz="1000" dirty="0"/>
                        <a:t>-B</a:t>
                      </a:r>
                      <a:r>
                        <a:rPr lang="en-US" sz="1000" b="0" baseline="30000" dirty="0"/>
                        <a:t>3</a:t>
                      </a:r>
                      <a:endParaRPr lang="en-US" altLang="zh-CN" sz="10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医疗健康</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1932898"/>
                  </a:ext>
                </a:extLst>
              </a:tr>
              <a:tr h="241951">
                <a:tc>
                  <a:txBody>
                    <a:bodyPr/>
                    <a:lstStyle/>
                    <a:p>
                      <a:pPr algn="ctr" fontAlgn="b">
                        <a:buNone/>
                      </a:pPr>
                      <a:r>
                        <a:rPr lang="zh-TW" altLang="en-US" sz="1000" dirty="0"/>
                        <a:t>英发睿能</a:t>
                      </a:r>
                      <a:r>
                        <a:rPr lang="en-US" altLang="zh-TW" sz="1000" b="0" baseline="30000" dirty="0"/>
                        <a:t>4</a:t>
                      </a:r>
                      <a:endParaRPr lang="zh-TW" altLang="en-US" sz="1000" b="0" i="0" u="none" strike="noStrike"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新能源</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19</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9170172"/>
                  </a:ext>
                </a:extLst>
              </a:tr>
              <a:tr h="241951">
                <a:tc>
                  <a:txBody>
                    <a:bodyPr/>
                    <a:lstStyle/>
                    <a:p>
                      <a:pPr algn="ctr" fontAlgn="b">
                        <a:buNone/>
                      </a:pPr>
                      <a:r>
                        <a:rPr lang="zh-TW" altLang="en-US" sz="1000" dirty="0"/>
                        <a:t>白鸽在线</a:t>
                      </a:r>
                      <a:r>
                        <a:rPr lang="en-US" altLang="zh-TW" sz="1000" baseline="30000" dirty="0"/>
                        <a:t>5</a:t>
                      </a:r>
                      <a:endParaRPr lang="en-US" sz="1000" b="0" i="0" u="none" strike="noStrike" baseline="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金融</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18</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07602636"/>
                  </a:ext>
                </a:extLst>
              </a:tr>
              <a:tr h="241951">
                <a:tc>
                  <a:txBody>
                    <a:bodyPr/>
                    <a:lstStyle/>
                    <a:p>
                      <a:pPr algn="ctr" fontAlgn="b">
                        <a:buNone/>
                      </a:pPr>
                      <a:r>
                        <a:rPr lang="zh-TW" altLang="en-US" sz="1000" dirty="0"/>
                        <a:t>斑马智能</a:t>
                      </a:r>
                      <a:r>
                        <a:rPr lang="en-US" altLang="zh-CN" sz="1000" baseline="30000" dirty="0"/>
                        <a:t>6</a:t>
                      </a:r>
                      <a:endParaRPr lang="en-US" sz="1000" b="0" i="0" u="none" strike="noStrike" baseline="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TMT</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18</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4410129"/>
                  </a:ext>
                </a:extLst>
              </a:tr>
              <a:tr h="241951">
                <a:tc>
                  <a:txBody>
                    <a:bodyPr/>
                    <a:lstStyle/>
                    <a:p>
                      <a:pPr algn="ctr" fontAlgn="b">
                        <a:buNone/>
                      </a:pPr>
                      <a:r>
                        <a:rPr lang="zh-TW" altLang="en-US" sz="1000" dirty="0"/>
                        <a:t>爱科百发</a:t>
                      </a:r>
                      <a:r>
                        <a:rPr lang="en-US" altLang="zh-CN" sz="1000" dirty="0"/>
                        <a:t>-B</a:t>
                      </a:r>
                      <a:r>
                        <a:rPr lang="en-US" altLang="zh-TW" sz="1000" baseline="30000" dirty="0"/>
                        <a:t>7</a:t>
                      </a:r>
                      <a:endParaRPr lang="en-US" sz="1000" b="0" i="0" u="none" strike="noStrike" baseline="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医疗健康</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17</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6958144"/>
                  </a:ext>
                </a:extLst>
              </a:tr>
            </a:tbl>
          </a:graphicData>
        </a:graphic>
      </p:graphicFrame>
      <p:sp>
        <p:nvSpPr>
          <p:cNvPr id="20" name="Rectangle 10">
            <a:extLst>
              <a:ext uri="{FF2B5EF4-FFF2-40B4-BE49-F238E27FC236}">
                <a16:creationId xmlns:a16="http://schemas.microsoft.com/office/drawing/2014/main" id="{7C5DFB09-A036-F1CF-38DA-C85734CFEC53}"/>
              </a:ext>
            </a:extLst>
          </p:cNvPr>
          <p:cNvSpPr/>
          <p:nvPr/>
        </p:nvSpPr>
        <p:spPr>
          <a:xfrm>
            <a:off x="377190" y="301371"/>
            <a:ext cx="9144000" cy="716915"/>
          </a:xfrm>
          <a:prstGeom prst="rect">
            <a:avLst/>
          </a:prstGeom>
        </p:spPr>
        <p:txBody>
          <a:bodyPr lIns="0" tIns="0" rIns="0" bIns="0" anchor="ctr">
            <a:noAutofit/>
          </a:bodyPr>
          <a:lstStyle/>
          <a:p>
            <a:r>
              <a:rPr lang="zh-CN" altLang="en-US" sz="1400" b="1" u="sng" dirty="0">
                <a:solidFill>
                  <a:schemeClr val="accent1"/>
                </a:solidFill>
                <a:cs typeface="+mn-ea"/>
                <a:sym typeface="+mn-lt"/>
              </a:rPr>
              <a:t>上周提交</a:t>
            </a:r>
            <a:r>
              <a:rPr lang="en-US" altLang="zh-CN" sz="1400" b="1" u="sng" dirty="0">
                <a:solidFill>
                  <a:schemeClr val="accent1"/>
                </a:solidFill>
                <a:cs typeface="+mn-ea"/>
                <a:sym typeface="+mn-lt"/>
              </a:rPr>
              <a:t>A1</a:t>
            </a:r>
            <a:r>
              <a:rPr lang="zh-CN" altLang="en-US" sz="1400" b="1" u="sng" dirty="0">
                <a:solidFill>
                  <a:schemeClr val="accent1"/>
                </a:solidFill>
                <a:cs typeface="+mn-ea"/>
                <a:sym typeface="+mn-lt"/>
              </a:rPr>
              <a:t>项目一览</a:t>
            </a:r>
            <a:r>
              <a:rPr lang="en-US" altLang="zh-CN" sz="1400" b="1" u="sng" baseline="30000" dirty="0">
                <a:solidFill>
                  <a:schemeClr val="accent1"/>
                </a:solidFill>
                <a:cs typeface="+mn-ea"/>
                <a:sym typeface="+mn-lt"/>
              </a:rPr>
              <a:t>1</a:t>
            </a:r>
            <a:endParaRPr lang="zh-CN" altLang="en-US" sz="1400" b="1" u="sng" dirty="0">
              <a:solidFill>
                <a:schemeClr val="accent1"/>
              </a:solidFill>
              <a:cs typeface="+mn-ea"/>
              <a:sym typeface="+mn-lt"/>
            </a:endParaRPr>
          </a:p>
        </p:txBody>
      </p:sp>
      <p:sp>
        <p:nvSpPr>
          <p:cNvPr id="6" name="灯片编号占位符 5">
            <a:extLst>
              <a:ext uri="{FF2B5EF4-FFF2-40B4-BE49-F238E27FC236}">
                <a16:creationId xmlns:a16="http://schemas.microsoft.com/office/drawing/2014/main" id="{45DB4790-4073-4EB3-8BDB-63325CFD0E97}"/>
              </a:ext>
            </a:extLst>
          </p:cNvPr>
          <p:cNvSpPr>
            <a:spLocks noGrp="1"/>
          </p:cNvSpPr>
          <p:nvPr>
            <p:ph type="sldNum" sz="quarter" idx="16"/>
          </p:nvPr>
        </p:nvSpPr>
        <p:spPr/>
        <p:txBody>
          <a:bodyPr/>
          <a:lstStyle/>
          <a:p>
            <a:fld id="{72E6F1C1-8568-433B-B05E-E21B84158B67}" type="slidenum">
              <a:rPr lang="en-US" smtClean="0"/>
              <a:t>11</a:t>
            </a:fld>
            <a:endParaRPr lang="en-US" dirty="0"/>
          </a:p>
        </p:txBody>
      </p:sp>
      <p:sp>
        <p:nvSpPr>
          <p:cNvPr id="4" name="Rectangle 2">
            <a:extLst>
              <a:ext uri="{FF2B5EF4-FFF2-40B4-BE49-F238E27FC236}">
                <a16:creationId xmlns:a16="http://schemas.microsoft.com/office/drawing/2014/main" id="{295862E9-8567-91D5-7EA2-C2DEF08F4E64}"/>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框 4">
            <a:extLst>
              <a:ext uri="{FF2B5EF4-FFF2-40B4-BE49-F238E27FC236}">
                <a16:creationId xmlns:a16="http://schemas.microsoft.com/office/drawing/2014/main" id="{D3608747-D413-432E-FB01-0F700AE1F656}"/>
              </a:ext>
            </a:extLst>
          </p:cNvPr>
          <p:cNvSpPr txBox="1"/>
          <p:nvPr/>
        </p:nvSpPr>
        <p:spPr>
          <a:xfrm>
            <a:off x="184731" y="5202412"/>
            <a:ext cx="9484210" cy="1354217"/>
          </a:xfrm>
          <a:prstGeom prst="rect">
            <a:avLst/>
          </a:prstGeom>
          <a:noFill/>
        </p:spPr>
        <p:txBody>
          <a:bodyPr wrap="square" rtlCol="0">
            <a:spAutoFit/>
          </a:bodyPr>
          <a:lstStyle/>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1:</a:t>
            </a:r>
            <a:r>
              <a:rPr lang="zh-CN" altLang="en-US" sz="800" b="1" dirty="0">
                <a:latin typeface="Arial" panose="020B0604020202020204" pitchFamily="34" charset="0"/>
                <a:cs typeface="Arial" panose="020B0604020202020204" pitchFamily="34" charset="0"/>
                <a:sym typeface="+mn-ea"/>
              </a:rPr>
              <a:t>  </a:t>
            </a:r>
            <a:r>
              <a:rPr lang="en-US" altLang="zh-CN" sz="800" dirty="0">
                <a:latin typeface="Arial" panose="020B0604020202020204" pitchFamily="34" charset="0"/>
                <a:cs typeface="Arial" panose="020B0604020202020204" pitchFamily="34" charset="0"/>
                <a:sym typeface="+mn-ea"/>
              </a:rPr>
              <a:t>	</a:t>
            </a:r>
            <a:r>
              <a:rPr lang="zh-CN" altLang="en-US" sz="800" dirty="0">
                <a:latin typeface="Arial" panose="020B0604020202020204" pitchFamily="34" charset="0"/>
                <a:cs typeface="Arial" panose="020B0604020202020204" pitchFamily="34" charset="0"/>
                <a:sym typeface="+mn-ea"/>
              </a:rPr>
              <a:t>资料来源于港交所网站，截至</a:t>
            </a:r>
            <a:r>
              <a:rPr lang="en-US" altLang="zh-CN" sz="800" dirty="0">
                <a:latin typeface="Arial" panose="020B0604020202020204" pitchFamily="34" charset="0"/>
                <a:cs typeface="Arial" panose="020B0604020202020204" pitchFamily="34" charset="0"/>
                <a:sym typeface="+mn-ea"/>
              </a:rPr>
              <a:t>2026</a:t>
            </a:r>
            <a:r>
              <a:rPr lang="zh-CN" altLang="en-US" sz="800" dirty="0">
                <a:latin typeface="Arial" panose="020B0604020202020204" pitchFamily="34" charset="0"/>
                <a:cs typeface="Arial" panose="020B0604020202020204" pitchFamily="34" charset="0"/>
                <a:sym typeface="+mn-ea"/>
              </a:rPr>
              <a:t>年</a:t>
            </a:r>
            <a:r>
              <a:rPr lang="en-US" altLang="zh-CN" sz="800" dirty="0">
                <a:latin typeface="Arial" panose="020B0604020202020204" pitchFamily="34" charset="0"/>
                <a:cs typeface="Arial" panose="020B0604020202020204" pitchFamily="34" charset="0"/>
                <a:sym typeface="+mn-ea"/>
              </a:rPr>
              <a:t>3</a:t>
            </a:r>
            <a:r>
              <a:rPr lang="zh-CN" altLang="en-US" sz="800" dirty="0">
                <a:latin typeface="Arial" panose="020B0604020202020204" pitchFamily="34" charset="0"/>
                <a:cs typeface="Arial" panose="020B0604020202020204" pitchFamily="34" charset="0"/>
                <a:sym typeface="+mn-ea"/>
              </a:rPr>
              <a:t>月</a:t>
            </a:r>
            <a:r>
              <a:rPr lang="en-US" altLang="zh-CN" sz="800" dirty="0">
                <a:latin typeface="Arial" panose="020B0604020202020204" pitchFamily="34" charset="0"/>
                <a:cs typeface="Arial" panose="020B0604020202020204" pitchFamily="34" charset="0"/>
                <a:sym typeface="+mn-ea"/>
              </a:rPr>
              <a:t>20</a:t>
            </a:r>
            <a:r>
              <a:rPr lang="zh-CN" altLang="en-US" sz="800" dirty="0">
                <a:latin typeface="Arial" panose="020B0604020202020204" pitchFamily="34" charset="0"/>
                <a:cs typeface="Arial" panose="020B0604020202020204" pitchFamily="34" charset="0"/>
                <a:sym typeface="+mn-ea"/>
              </a:rPr>
              <a:t>日，仅考虑主板项目。</a:t>
            </a:r>
            <a:endParaRPr lang="en-US" altLang="zh-CN" sz="800" dirty="0">
              <a:latin typeface="Arial" panose="020B0604020202020204" pitchFamily="34" charset="0"/>
              <a:cs typeface="Arial" panose="020B0604020202020204" pitchFamily="34" charset="0"/>
              <a:sym typeface="+mn-ea"/>
            </a:endParaRPr>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2</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en-US" sz="800" dirty="0"/>
              <a:t>Merdeka-S</a:t>
            </a:r>
            <a:r>
              <a:rPr lang="zh-TW" altLang="en-US" sz="800" dirty="0"/>
              <a:t>是上市矿业公司</a:t>
            </a:r>
            <a:r>
              <a:rPr lang="en-US" sz="800" dirty="0"/>
              <a:t>PT Merdeka Copper Gold</a:t>
            </a:r>
            <a:r>
              <a:rPr lang="zh-TW" altLang="en-US" sz="800" dirty="0"/>
              <a:t>的子公司，该公司得到了煤炭大亨</a:t>
            </a:r>
            <a:r>
              <a:rPr lang="en-US" sz="800" dirty="0"/>
              <a:t>Garibaldi </a:t>
            </a:r>
            <a:r>
              <a:rPr lang="en-US" sz="800" dirty="0" err="1"/>
              <a:t>Thohir</a:t>
            </a:r>
            <a:r>
              <a:rPr lang="zh-TW" altLang="en-US" sz="800" dirty="0"/>
              <a:t>等人的支持。该公司正在印尼苏拉威西岛开发一座矿山，并将利用</a:t>
            </a:r>
            <a:r>
              <a:rPr lang="en-US" sz="800" dirty="0"/>
              <a:t>IPO</a:t>
            </a:r>
            <a:r>
              <a:rPr lang="zh-TW" altLang="en-US" sz="800" dirty="0"/>
              <a:t>所得作为营运资金和偿还贷款。</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3</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新元素药业</a:t>
            </a:r>
            <a:r>
              <a:rPr lang="en-US" altLang="zh-CN" sz="800" dirty="0"/>
              <a:t>-B</a:t>
            </a:r>
            <a:r>
              <a:rPr lang="zh-TW" altLang="en-US" sz="800" dirty="0"/>
              <a:t>，成立于</a:t>
            </a:r>
            <a:r>
              <a:rPr lang="en-US" altLang="zh-TW" sz="800" dirty="0"/>
              <a:t>2012</a:t>
            </a:r>
            <a:r>
              <a:rPr lang="zh-TW" altLang="en-US" sz="800" dirty="0"/>
              <a:t>年，作为一家专注在代谢、炎症和心血管疾病领域开发具有全球竞争力和商业价值疗法的生物技术公司，涵盖痛风患者的全流程护理，全方位解决高尿酸血症、慢性痛风、急性痛风、痛风石溶解及与高尿酸血症有关的</a:t>
            </a:r>
            <a:r>
              <a:rPr lang="en-US" sz="800" dirty="0"/>
              <a:t>CKD</a:t>
            </a:r>
            <a:r>
              <a:rPr lang="zh-TW" altLang="en-US" sz="800" dirty="0"/>
              <a:t>等问题。</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4</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英发睿能，成立于</a:t>
            </a:r>
            <a:r>
              <a:rPr lang="en-US" altLang="zh-TW" sz="800" dirty="0"/>
              <a:t>2016</a:t>
            </a:r>
            <a:r>
              <a:rPr lang="zh-TW" altLang="en-US" sz="800" dirty="0"/>
              <a:t>年，作为全球领先的专业光伏电池片制造商，专注于光伏电池片的研发、生产和销售，产品覆盖</a:t>
            </a:r>
            <a:r>
              <a:rPr lang="en-US" sz="800" dirty="0"/>
              <a:t>P</a:t>
            </a:r>
            <a:r>
              <a:rPr lang="zh-TW" altLang="en-US" sz="800" dirty="0"/>
              <a:t>型和</a:t>
            </a:r>
            <a:r>
              <a:rPr lang="en-US" sz="800" dirty="0"/>
              <a:t>N</a:t>
            </a:r>
            <a:r>
              <a:rPr lang="zh-TW" altLang="en-US" sz="800" dirty="0"/>
              <a:t>型电池片。</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5</a:t>
            </a:r>
            <a:r>
              <a:rPr lang="zh-CN" altLang="en-US" sz="800" b="1" dirty="0">
                <a:latin typeface="Arial" panose="020B0604020202020204" pitchFamily="34" charset="0"/>
                <a:cs typeface="Arial" panose="020B0604020202020204" pitchFamily="34" charset="0"/>
                <a:sym typeface="+mn-ea"/>
              </a:rPr>
              <a:t>：</a:t>
            </a:r>
            <a:r>
              <a:rPr lang="zh-CN" altLang="en-US" sz="800" b="1" dirty="0">
                <a:latin typeface="Arial" panose="020B0604020202020204" pitchFamily="34" charset="0"/>
                <a:cs typeface="Arial" panose="020B0604020202020204" pitchFamily="34" charset="0"/>
              </a:rPr>
              <a:t> </a:t>
            </a:r>
            <a:r>
              <a:rPr lang="en-HK" altLang="zh-CN" sz="800" dirty="0">
                <a:latin typeface="Arial" panose="020B0604020202020204" pitchFamily="34" charset="0"/>
                <a:cs typeface="Arial" panose="020B0604020202020204" pitchFamily="34" charset="0"/>
              </a:rPr>
              <a:t>	</a:t>
            </a:r>
            <a:r>
              <a:rPr lang="zh-TW" altLang="en-US" sz="800" dirty="0"/>
              <a:t>白鸽在线，成立于</a:t>
            </a:r>
            <a:r>
              <a:rPr lang="en-US" altLang="zh-TW" sz="800" dirty="0"/>
              <a:t>2015</a:t>
            </a:r>
            <a:r>
              <a:rPr lang="zh-TW" altLang="en-US" sz="800" dirty="0"/>
              <a:t>年，作为一家保险科技公司，主要从事为场景合作伙伴及保险公司提供科技赋能的保险中介服务。</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6</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斑马智能，成立于</a:t>
            </a:r>
            <a:r>
              <a:rPr lang="en-US" altLang="zh-TW" sz="800" dirty="0"/>
              <a:t>2015</a:t>
            </a:r>
            <a:r>
              <a:rPr lang="zh-TW" altLang="en-US" sz="800" dirty="0"/>
              <a:t>年，作为智能座舱解决方案的全球先驱及领导者之一，致力于将汽车变成为能感知互动的智慧伙伴。</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7</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爱科百发</a:t>
            </a:r>
            <a:r>
              <a:rPr lang="en-US" altLang="zh-CN" sz="800" dirty="0"/>
              <a:t>-B</a:t>
            </a:r>
            <a:r>
              <a:rPr lang="zh-TW" altLang="en-US" sz="800" dirty="0"/>
              <a:t>，成立于</a:t>
            </a:r>
            <a:r>
              <a:rPr lang="en-US" altLang="zh-TW" sz="800" dirty="0"/>
              <a:t>2013</a:t>
            </a:r>
            <a:r>
              <a:rPr lang="zh-TW" altLang="en-US" sz="800" dirty="0"/>
              <a:t>年，作为一家生物制药公司，专注于发现和开发疗法，解决呼吸系统和儿科疾病的医疗需求。</a:t>
            </a:r>
            <a:endParaRPr lang="en-US" altLang="zh-TW" sz="800" dirty="0"/>
          </a:p>
        </p:txBody>
      </p:sp>
      <p:sp>
        <p:nvSpPr>
          <p:cNvPr id="2" name="TextBox 1">
            <a:extLst>
              <a:ext uri="{FF2B5EF4-FFF2-40B4-BE49-F238E27FC236}">
                <a16:creationId xmlns:a16="http://schemas.microsoft.com/office/drawing/2014/main" id="{34B08C7A-8C4B-6856-6267-34449C3BA2A9}"/>
              </a:ext>
            </a:extLst>
          </p:cNvPr>
          <p:cNvSpPr txBox="1"/>
          <p:nvPr/>
        </p:nvSpPr>
        <p:spPr>
          <a:xfrm>
            <a:off x="184731" y="2741017"/>
            <a:ext cx="3672800" cy="646331"/>
          </a:xfrm>
          <a:prstGeom prst="rect">
            <a:avLst/>
          </a:prstGeom>
          <a:noFill/>
        </p:spPr>
        <p:txBody>
          <a:bodyPr wrap="none" rtlCol="0">
            <a:spAutoFit/>
          </a:bodyPr>
          <a:lstStyle/>
          <a:p>
            <a:r>
              <a:rPr lang="en-US" dirty="0" err="1">
                <a:highlight>
                  <a:srgbClr val="FFFF00"/>
                </a:highlight>
              </a:rPr>
              <a:t>到hkex</a:t>
            </a:r>
            <a:r>
              <a:rPr lang="zh-CN" altLang="en-US" dirty="0">
                <a:highlight>
                  <a:srgbClr val="FFFF00"/>
                </a:highlight>
              </a:rPr>
              <a:t>，“新上市”，申清版本，</a:t>
            </a:r>
            <a:endParaRPr lang="en-US" altLang="zh-CN" dirty="0">
              <a:highlight>
                <a:srgbClr val="FFFF00"/>
              </a:highlight>
            </a:endParaRPr>
          </a:p>
          <a:p>
            <a:r>
              <a:rPr lang="en-US" dirty="0" err="1">
                <a:highlight>
                  <a:srgbClr val="FFFF00"/>
                </a:highlight>
              </a:rPr>
              <a:t>下载宗合索引</a:t>
            </a:r>
            <a:endParaRPr lang="en-US" dirty="0">
              <a:highlight>
                <a:srgbClr val="FFFF00"/>
              </a:highlight>
            </a:endParaRPr>
          </a:p>
        </p:txBody>
      </p:sp>
      <p:pic>
        <p:nvPicPr>
          <p:cNvPr id="8" name="Picture 7" descr="A blue and white rectangular object with text&#10;&#10;AI-generated content may be incorrect.">
            <a:extLst>
              <a:ext uri="{FF2B5EF4-FFF2-40B4-BE49-F238E27FC236}">
                <a16:creationId xmlns:a16="http://schemas.microsoft.com/office/drawing/2014/main" id="{5C935742-870F-4B4A-B0A8-16A9E42E5C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449" y="3387348"/>
            <a:ext cx="4733387" cy="996502"/>
          </a:xfrm>
          <a:prstGeom prst="rect">
            <a:avLst/>
          </a:prstGeom>
        </p:spPr>
      </p:pic>
      <p:pic>
        <p:nvPicPr>
          <p:cNvPr id="10" name="Picture 9" descr="A close-up of a person's hands&#10;&#10;AI-generated content may be incorrect.">
            <a:extLst>
              <a:ext uri="{FF2B5EF4-FFF2-40B4-BE49-F238E27FC236}">
                <a16:creationId xmlns:a16="http://schemas.microsoft.com/office/drawing/2014/main" id="{F9C47C83-C8FC-74F0-2734-728CA02EA4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68" y="4429463"/>
            <a:ext cx="4838468" cy="701077"/>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0E7CC747-0AA5-AB9A-B026-44D174B101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9922" y="1186573"/>
            <a:ext cx="4332198" cy="2082722"/>
          </a:xfrm>
          <a:prstGeom prst="rect">
            <a:avLst/>
          </a:prstGeom>
        </p:spPr>
      </p:pic>
      <p:sp>
        <p:nvSpPr>
          <p:cNvPr id="13" name="TextBox 12">
            <a:extLst>
              <a:ext uri="{FF2B5EF4-FFF2-40B4-BE49-F238E27FC236}">
                <a16:creationId xmlns:a16="http://schemas.microsoft.com/office/drawing/2014/main" id="{6BD3B4B1-B2BE-1E79-CE38-61F6F89051CB}"/>
              </a:ext>
            </a:extLst>
          </p:cNvPr>
          <p:cNvSpPr txBox="1"/>
          <p:nvPr/>
        </p:nvSpPr>
        <p:spPr>
          <a:xfrm>
            <a:off x="4926836" y="845710"/>
            <a:ext cx="1338828" cy="369332"/>
          </a:xfrm>
          <a:prstGeom prst="rect">
            <a:avLst/>
          </a:prstGeom>
          <a:noFill/>
        </p:spPr>
        <p:txBody>
          <a:bodyPr wrap="none" rtlCol="0">
            <a:spAutoFit/>
          </a:bodyPr>
          <a:lstStyle/>
          <a:p>
            <a:r>
              <a:rPr lang="en-US" dirty="0" err="1">
                <a:highlight>
                  <a:srgbClr val="FFFF00"/>
                </a:highlight>
              </a:rPr>
              <a:t>只要这周的</a:t>
            </a:r>
            <a:endParaRPr lang="en-US" dirty="0">
              <a:highlight>
                <a:srgbClr val="FFFF00"/>
              </a:highlight>
            </a:endParaRPr>
          </a:p>
        </p:txBody>
      </p:sp>
      <p:cxnSp>
        <p:nvCxnSpPr>
          <p:cNvPr id="15" name="Straight Connector 14">
            <a:extLst>
              <a:ext uri="{FF2B5EF4-FFF2-40B4-BE49-F238E27FC236}">
                <a16:creationId xmlns:a16="http://schemas.microsoft.com/office/drawing/2014/main" id="{E648254A-54D0-720B-F382-D0D23EFD29A5}"/>
              </a:ext>
            </a:extLst>
          </p:cNvPr>
          <p:cNvCxnSpPr>
            <a:cxnSpLocks/>
            <a:stCxn id="13" idx="2"/>
          </p:cNvCxnSpPr>
          <p:nvPr/>
        </p:nvCxnSpPr>
        <p:spPr>
          <a:xfrm>
            <a:off x="5596250" y="1215042"/>
            <a:ext cx="1329371" cy="292562"/>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A5D9E27-BCB6-8D2D-A7E2-A3CAEB12A87E}"/>
              </a:ext>
            </a:extLst>
          </p:cNvPr>
          <p:cNvSpPr txBox="1"/>
          <p:nvPr/>
        </p:nvSpPr>
        <p:spPr>
          <a:xfrm>
            <a:off x="1572060" y="6196612"/>
            <a:ext cx="3608680" cy="646331"/>
          </a:xfrm>
          <a:prstGeom prst="rect">
            <a:avLst/>
          </a:prstGeom>
          <a:noFill/>
        </p:spPr>
        <p:txBody>
          <a:bodyPr wrap="none" rtlCol="0">
            <a:spAutoFit/>
          </a:bodyPr>
          <a:lstStyle/>
          <a:p>
            <a:r>
              <a:rPr lang="en-US" dirty="0" err="1">
                <a:highlight>
                  <a:srgbClr val="FFFF00"/>
                </a:highlight>
              </a:rPr>
              <a:t>一样</a:t>
            </a:r>
            <a:r>
              <a:rPr lang="zh-CN" altLang="en-US" dirty="0">
                <a:highlight>
                  <a:srgbClr val="FFFF00"/>
                </a:highlight>
              </a:rPr>
              <a:t>，到瑞恩抄，先做</a:t>
            </a:r>
            <a:r>
              <a:rPr lang="en-US" altLang="zh-CN" dirty="0">
                <a:highlight>
                  <a:srgbClr val="FFFF00"/>
                </a:highlight>
              </a:rPr>
              <a:t>description</a:t>
            </a:r>
          </a:p>
          <a:p>
            <a:r>
              <a:rPr lang="en-US" dirty="0" err="1">
                <a:highlight>
                  <a:srgbClr val="FFFF00"/>
                </a:highlight>
              </a:rPr>
              <a:t>再做表</a:t>
            </a:r>
            <a:endParaRPr lang="en-US" dirty="0">
              <a:highlight>
                <a:srgbClr val="FFFF00"/>
              </a:highlight>
            </a:endParaRPr>
          </a:p>
        </p:txBody>
      </p:sp>
      <p:cxnSp>
        <p:nvCxnSpPr>
          <p:cNvPr id="22" name="Straight Connector 21">
            <a:extLst>
              <a:ext uri="{FF2B5EF4-FFF2-40B4-BE49-F238E27FC236}">
                <a16:creationId xmlns:a16="http://schemas.microsoft.com/office/drawing/2014/main" id="{99770EAE-94A1-60E1-2C99-FBB4BDDC2F97}"/>
              </a:ext>
            </a:extLst>
          </p:cNvPr>
          <p:cNvCxnSpPr>
            <a:cxnSpLocks/>
          </p:cNvCxnSpPr>
          <p:nvPr/>
        </p:nvCxnSpPr>
        <p:spPr>
          <a:xfrm flipH="1" flipV="1">
            <a:off x="1846782" y="5468589"/>
            <a:ext cx="286818" cy="8483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3CABA2C-2F6C-7E72-0DB9-A4A203659113}"/>
              </a:ext>
            </a:extLst>
          </p:cNvPr>
          <p:cNvSpPr txBox="1"/>
          <p:nvPr/>
        </p:nvSpPr>
        <p:spPr>
          <a:xfrm>
            <a:off x="4951780" y="3198570"/>
            <a:ext cx="3583032" cy="646331"/>
          </a:xfrm>
          <a:prstGeom prst="rect">
            <a:avLst/>
          </a:prstGeom>
          <a:noFill/>
        </p:spPr>
        <p:txBody>
          <a:bodyPr wrap="none" rtlCol="0">
            <a:spAutoFit/>
          </a:bodyPr>
          <a:lstStyle/>
          <a:p>
            <a:r>
              <a:rPr lang="en-US" dirty="0" err="1">
                <a:highlight>
                  <a:srgbClr val="FFFF00"/>
                </a:highlight>
              </a:rPr>
              <a:t>剔除phip</a:t>
            </a:r>
            <a:r>
              <a:rPr lang="en-US" dirty="0">
                <a:highlight>
                  <a:srgbClr val="FFFF00"/>
                </a:highlight>
              </a:rPr>
              <a:t>(post hearing of proof)</a:t>
            </a:r>
            <a:r>
              <a:rPr lang="zh-CN" altLang="en-US" dirty="0">
                <a:highlight>
                  <a:srgbClr val="FFFF00"/>
                </a:highlight>
              </a:rPr>
              <a:t>，</a:t>
            </a:r>
            <a:endParaRPr lang="en-US" altLang="zh-CN" dirty="0">
              <a:highlight>
                <a:srgbClr val="FFFF00"/>
              </a:highlight>
            </a:endParaRPr>
          </a:p>
          <a:p>
            <a:r>
              <a:rPr lang="zh-CN" altLang="en-US" dirty="0">
                <a:highlight>
                  <a:srgbClr val="FFFF00"/>
                </a:highlight>
              </a:rPr>
              <a:t>聆讯后补交</a:t>
            </a:r>
            <a:r>
              <a:rPr lang="en-US" altLang="zh-CN" dirty="0">
                <a:highlight>
                  <a:srgbClr val="FFFF00"/>
                </a:highlight>
              </a:rPr>
              <a:t>A1</a:t>
            </a:r>
            <a:r>
              <a:rPr lang="en-US" dirty="0">
                <a:highlight>
                  <a:srgbClr val="FFFF00"/>
                </a:highlight>
              </a:rPr>
              <a:t>的公司</a:t>
            </a:r>
          </a:p>
        </p:txBody>
      </p:sp>
      <p:pic>
        <p:nvPicPr>
          <p:cNvPr id="27" name="Picture 26">
            <a:extLst>
              <a:ext uri="{FF2B5EF4-FFF2-40B4-BE49-F238E27FC236}">
                <a16:creationId xmlns:a16="http://schemas.microsoft.com/office/drawing/2014/main" id="{AFFF6DD3-BA97-DB27-CC24-57932A68D3C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53117" y="3793944"/>
            <a:ext cx="3206101" cy="3074344"/>
          </a:xfrm>
          <a:prstGeom prst="rect">
            <a:avLst/>
          </a:prstGeom>
        </p:spPr>
      </p:pic>
      <p:sp>
        <p:nvSpPr>
          <p:cNvPr id="31" name="TextBox 30">
            <a:extLst>
              <a:ext uri="{FF2B5EF4-FFF2-40B4-BE49-F238E27FC236}">
                <a16:creationId xmlns:a16="http://schemas.microsoft.com/office/drawing/2014/main" id="{9E79C162-B268-43E8-FE0C-58F62538918C}"/>
              </a:ext>
            </a:extLst>
          </p:cNvPr>
          <p:cNvSpPr txBox="1"/>
          <p:nvPr/>
        </p:nvSpPr>
        <p:spPr>
          <a:xfrm>
            <a:off x="7039569" y="4833080"/>
            <a:ext cx="1569660" cy="369332"/>
          </a:xfrm>
          <a:prstGeom prst="rect">
            <a:avLst/>
          </a:prstGeom>
          <a:noFill/>
        </p:spPr>
        <p:txBody>
          <a:bodyPr wrap="none" rtlCol="0">
            <a:spAutoFit/>
          </a:bodyPr>
          <a:lstStyle/>
          <a:p>
            <a:r>
              <a:rPr lang="en-US" dirty="0" err="1">
                <a:highlight>
                  <a:srgbClr val="FFFF00"/>
                </a:highlight>
              </a:rPr>
              <a:t>这些公司不要</a:t>
            </a:r>
            <a:endParaRPr lang="en-US" dirty="0">
              <a:highlight>
                <a:srgbClr val="FFFF00"/>
              </a:highlight>
            </a:endParaRPr>
          </a:p>
        </p:txBody>
      </p:sp>
    </p:spTree>
    <p:extLst>
      <p:ext uri="{BB962C8B-B14F-4D97-AF65-F5344CB8AC3E}">
        <p14:creationId xmlns:p14="http://schemas.microsoft.com/office/powerpoint/2010/main" val="1061995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6561-8F0C-5B52-C5B7-A6C3E63A3F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A939FE-8A5E-2266-F769-B945BF815C02}"/>
              </a:ext>
            </a:extLst>
          </p:cNvPr>
          <p:cNvSpPr txBox="1"/>
          <p:nvPr/>
        </p:nvSpPr>
        <p:spPr>
          <a:xfrm>
            <a:off x="0" y="-575389"/>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a:cs typeface="+mn-ea"/>
                <a:sym typeface="+mn-lt"/>
                <a:hlinkClick r:id="rId4"/>
              </a:rPr>
              <a:t>http://</a:t>
            </a:r>
            <a:r>
              <a:rPr lang="en-US" sz="1200" dirty="0">
                <a:cs typeface="+mn-ea"/>
                <a:sym typeface="+mn-lt"/>
                <a:hlinkClick r:id="rId4"/>
              </a:rPr>
              <a:t>www.aastocks.com/tc/stocks/market/ipo/upcomingipo/company-summary</a:t>
            </a:r>
            <a:r>
              <a:rPr lang="en-US" sz="1200" dirty="0">
                <a:cs typeface="+mn-ea"/>
                <a:sym typeface="+mn-lt"/>
              </a:rPr>
              <a:t> </a:t>
            </a:r>
          </a:p>
        </p:txBody>
      </p:sp>
      <p:sp>
        <p:nvSpPr>
          <p:cNvPr id="17" name="Title 1">
            <a:extLst>
              <a:ext uri="{FF2B5EF4-FFF2-40B4-BE49-F238E27FC236}">
                <a16:creationId xmlns:a16="http://schemas.microsoft.com/office/drawing/2014/main" id="{5D1A178E-B0A7-DC20-B7EB-9FFE61ACD224}"/>
              </a:ext>
            </a:extLst>
          </p:cNvPr>
          <p:cNvSpPr>
            <a:spLocks noGrp="1"/>
          </p:cNvSpPr>
          <p:nvPr>
            <p:ph type="title"/>
          </p:nvPr>
        </p:nvSpPr>
        <p:spPr>
          <a:xfrm>
            <a:off x="381000" y="182880"/>
            <a:ext cx="7132320" cy="320040"/>
          </a:xfrm>
        </p:spPr>
        <p:txBody>
          <a:bodyPr>
            <a:normAutofit/>
          </a:bodyPr>
          <a:lstStyle/>
          <a:p>
            <a:r>
              <a:rPr lang="zh-CN" altLang="en-US" dirty="0">
                <a:latin typeface="+mn-lt"/>
                <a:ea typeface="+mn-ea"/>
                <a:cs typeface="+mn-ea"/>
                <a:sym typeface="+mn-lt"/>
              </a:rPr>
              <a:t>过去一周香港二级市场融资及新股交表情况概览</a:t>
            </a:r>
          </a:p>
        </p:txBody>
      </p:sp>
      <p:graphicFrame>
        <p:nvGraphicFramePr>
          <p:cNvPr id="19" name="Table 5">
            <a:extLst>
              <a:ext uri="{FF2B5EF4-FFF2-40B4-BE49-F238E27FC236}">
                <a16:creationId xmlns:a16="http://schemas.microsoft.com/office/drawing/2014/main" id="{E5F2A8CB-9C63-4D0C-3EFA-B61D44908086}"/>
              </a:ext>
            </a:extLst>
          </p:cNvPr>
          <p:cNvGraphicFramePr>
            <a:graphicFrameLocks noGrp="1"/>
          </p:cNvGraphicFramePr>
          <p:nvPr>
            <p:custDataLst>
              <p:tags r:id="rId1"/>
            </p:custDataLst>
            <p:extLst>
              <p:ext uri="{D42A27DB-BD31-4B8C-83A1-F6EECF244321}">
                <p14:modId xmlns:p14="http://schemas.microsoft.com/office/powerpoint/2010/main" val="2221856318"/>
              </p:ext>
            </p:extLst>
          </p:nvPr>
        </p:nvGraphicFramePr>
        <p:xfrm>
          <a:off x="388937" y="883652"/>
          <a:ext cx="9120505" cy="1775165"/>
        </p:xfrm>
        <a:graphic>
          <a:graphicData uri="http://schemas.openxmlformats.org/drawingml/2006/table">
            <a:tbl>
              <a:tblPr/>
              <a:tblGrid>
                <a:gridCol w="2190750">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1811655">
                  <a:extLst>
                    <a:ext uri="{9D8B030D-6E8A-4147-A177-3AD203B41FA5}">
                      <a16:colId xmlns:a16="http://schemas.microsoft.com/office/drawing/2014/main" val="20002"/>
                    </a:ext>
                  </a:extLst>
                </a:gridCol>
                <a:gridCol w="1393190">
                  <a:extLst>
                    <a:ext uri="{9D8B030D-6E8A-4147-A177-3AD203B41FA5}">
                      <a16:colId xmlns:a16="http://schemas.microsoft.com/office/drawing/2014/main" val="20003"/>
                    </a:ext>
                  </a:extLst>
                </a:gridCol>
                <a:gridCol w="2416810">
                  <a:extLst>
                    <a:ext uri="{9D8B030D-6E8A-4147-A177-3AD203B41FA5}">
                      <a16:colId xmlns:a16="http://schemas.microsoft.com/office/drawing/2014/main" val="20004"/>
                    </a:ext>
                  </a:extLst>
                </a:gridCol>
              </a:tblGrid>
              <a:tr h="32345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chemeClr val="bg1"/>
                          </a:solidFill>
                          <a:latin typeface="+mj-lt"/>
                          <a:ea typeface="+mn-ea"/>
                          <a:cs typeface="+mn-ea"/>
                          <a:sym typeface="+mn-lt"/>
                        </a:rPr>
                        <a:t>公司</a:t>
                      </a:r>
                      <a:endParaRPr lang="zh-HK" altLang="en-US" sz="1000" b="1" kern="1200" baseline="30000"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dirty="0">
                          <a:solidFill>
                            <a:schemeClr val="bg1"/>
                          </a:solidFill>
                          <a:latin typeface="+mj-lt"/>
                          <a:ea typeface="+mn-ea"/>
                          <a:cs typeface="+mn-ea"/>
                          <a:sym typeface="+mn-lt"/>
                        </a:rPr>
                        <a:t>行业</a:t>
                      </a:r>
                      <a:endParaRPr lang="zh-HK" altLang="en-US" sz="1000" b="1"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项目提交</a:t>
                      </a:r>
                      <a:r>
                        <a:rPr lang="en-US" altLang="zh-CN" sz="1000" b="1" kern="1200" dirty="0">
                          <a:solidFill>
                            <a:schemeClr val="bg1"/>
                          </a:solidFill>
                          <a:latin typeface="+mj-lt"/>
                          <a:ea typeface="+mn-ea"/>
                          <a:cs typeface="+mn-ea"/>
                          <a:sym typeface="+mn-lt"/>
                        </a:rPr>
                        <a:t>A1</a:t>
                      </a:r>
                      <a:r>
                        <a:rPr lang="zh-CN" altLang="en-US" sz="1000" b="1" kern="1200" dirty="0">
                          <a:solidFill>
                            <a:schemeClr val="bg1"/>
                          </a:solidFill>
                          <a:latin typeface="+mj-lt"/>
                          <a:ea typeface="+mn-ea"/>
                          <a:cs typeface="+mn-ea"/>
                          <a:sym typeface="+mn-lt"/>
                        </a:rPr>
                        <a:t>时间</a:t>
                      </a:r>
                      <a:endParaRPr lang="zh-HK" altLang="en-US" sz="1000" b="1" kern="1200"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是否为再次递交</a:t>
                      </a:r>
                      <a:r>
                        <a:rPr lang="en-US" altLang="zh-CN" sz="1000" b="1" kern="1200" dirty="0">
                          <a:solidFill>
                            <a:schemeClr val="bg1"/>
                          </a:solidFill>
                          <a:latin typeface="+mj-lt"/>
                          <a:ea typeface="+mn-ea"/>
                          <a:cs typeface="+mn-ea"/>
                          <a:sym typeface="+mn-lt"/>
                        </a:rPr>
                        <a:t>A1</a:t>
                      </a: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市传融资规模</a:t>
                      </a:r>
                    </a:p>
                    <a:p>
                      <a:pPr algn="ctr"/>
                      <a:r>
                        <a:rPr lang="zh-CN" altLang="en-US" sz="1000" b="1" kern="1200" dirty="0">
                          <a:solidFill>
                            <a:schemeClr val="bg1"/>
                          </a:solidFill>
                          <a:latin typeface="+mj-lt"/>
                          <a:ea typeface="+mn-ea"/>
                          <a:cs typeface="+mn-ea"/>
                          <a:sym typeface="+mn-lt"/>
                        </a:rPr>
                        <a:t>（百万美元）</a:t>
                      </a:r>
                      <a:endParaRPr lang="en-US" altLang="zh-CN" sz="1000" b="1" kern="1200" dirty="0">
                        <a:solidFill>
                          <a:schemeClr val="bg1"/>
                        </a:solidFill>
                        <a:latin typeface="+mj-lt"/>
                        <a:ea typeface="+mn-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00"/>
                  </a:ext>
                </a:extLst>
              </a:tr>
              <a:tr h="241951">
                <a:tc>
                  <a:txBody>
                    <a:bodyPr/>
                    <a:lstStyle/>
                    <a:p>
                      <a:pPr algn="ctr" fontAlgn="b">
                        <a:buNone/>
                      </a:pPr>
                      <a:r>
                        <a:rPr lang="zh-TW" altLang="en-US" sz="1000" dirty="0"/>
                        <a:t>思谋科技</a:t>
                      </a:r>
                      <a:r>
                        <a:rPr lang="en-US" altLang="zh-TW" sz="1000" baseline="30000" dirty="0"/>
                        <a:t>2</a:t>
                      </a:r>
                      <a:endParaRPr lang="en-US" sz="1000" b="0" i="0" u="none" strike="noStrike" baseline="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TMT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16</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否</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4022592"/>
                  </a:ext>
                </a:extLst>
              </a:tr>
              <a:tr h="241951">
                <a:tc>
                  <a:txBody>
                    <a:bodyPr/>
                    <a:lstStyle/>
                    <a:p>
                      <a:pPr algn="ctr" fontAlgn="b">
                        <a:buNone/>
                      </a:pPr>
                      <a:r>
                        <a:rPr lang="zh-TW" altLang="en-US" sz="1000" dirty="0"/>
                        <a:t>璞泰来</a:t>
                      </a:r>
                      <a:r>
                        <a:rPr lang="en-US" altLang="zh-TW" sz="1000" b="0" baseline="30000" dirty="0"/>
                        <a:t>3</a:t>
                      </a:r>
                      <a:endParaRPr lang="en-US" altLang="zh-CN" sz="10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000" dirty="0"/>
                        <a:t>新能源</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16</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否</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9436178"/>
                  </a:ext>
                </a:extLst>
              </a:tr>
              <a:tr h="241951">
                <a:tc>
                  <a:txBody>
                    <a:bodyPr/>
                    <a:lstStyle/>
                    <a:p>
                      <a:pPr algn="ctr" fontAlgn="b">
                        <a:buNone/>
                      </a:pPr>
                      <a:r>
                        <a:rPr lang="zh-TW" altLang="en-US" sz="1000" dirty="0"/>
                        <a:t>可孚医疗</a:t>
                      </a:r>
                      <a:r>
                        <a:rPr lang="en-US" altLang="zh-TW" sz="1000" b="0" baseline="30000" dirty="0"/>
                        <a:t>4</a:t>
                      </a:r>
                      <a:endParaRPr lang="en-US" altLang="zh-CN" sz="10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医疗健康</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16</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1932898"/>
                  </a:ext>
                </a:extLst>
              </a:tr>
              <a:tr h="241951">
                <a:tc>
                  <a:txBody>
                    <a:bodyPr/>
                    <a:lstStyle/>
                    <a:p>
                      <a:pPr algn="ctr" fontAlgn="b">
                        <a:buNone/>
                      </a:pPr>
                      <a:r>
                        <a:rPr lang="zh-TW" altLang="en-US" sz="1000" dirty="0"/>
                        <a:t>海清智元</a:t>
                      </a:r>
                      <a:r>
                        <a:rPr lang="en-US" altLang="zh-TW" sz="1000" b="0" baseline="30000" dirty="0"/>
                        <a:t>5</a:t>
                      </a:r>
                      <a:endParaRPr lang="zh-TW" altLang="en-US" sz="1000" b="0" i="0" u="none" strike="noStrike"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TMT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16</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9170172"/>
                  </a:ext>
                </a:extLst>
              </a:tr>
              <a:tr h="241951">
                <a:tc>
                  <a:txBody>
                    <a:bodyPr/>
                    <a:lstStyle/>
                    <a:p>
                      <a:pPr algn="ctr" fontAlgn="b">
                        <a:buNone/>
                      </a:pPr>
                      <a:r>
                        <a:rPr lang="zh-TW" altLang="en-US" sz="1000" dirty="0"/>
                        <a:t>华富洋供应链</a:t>
                      </a:r>
                      <a:r>
                        <a:rPr lang="en-US" altLang="zh-TW" sz="1000" baseline="30000" dirty="0"/>
                        <a:t>6</a:t>
                      </a:r>
                      <a:endParaRPr lang="en-US" sz="1000" b="0" i="0" u="none" strike="noStrike" baseline="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服务</a:t>
                      </a:r>
                      <a:endPar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15</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07602636"/>
                  </a:ext>
                </a:extLst>
              </a:tr>
              <a:tr h="241951">
                <a:tc>
                  <a:txBody>
                    <a:bodyPr/>
                    <a:lstStyle/>
                    <a:p>
                      <a:pPr algn="ctr" fontAlgn="b">
                        <a:buNone/>
                      </a:pPr>
                      <a:r>
                        <a:rPr lang="zh-TW" altLang="en-US" sz="1000" dirty="0"/>
                        <a:t>芯碁微装</a:t>
                      </a:r>
                      <a:r>
                        <a:rPr lang="en-US" altLang="zh-TW" sz="1000" baseline="30000" dirty="0"/>
                        <a:t>7</a:t>
                      </a:r>
                      <a:endParaRPr lang="en-US" sz="1000" b="0" i="0" u="none" strike="noStrike" baseline="0" dirty="0">
                        <a:solidFill>
                          <a:schemeClr val="tx1"/>
                        </a:solidFill>
                        <a:effectLst/>
                        <a:latin typeface="Arial" panose="020B0604020202020204" pitchFamily="34" charset="0"/>
                        <a:ea typeface="+mn-ea"/>
                        <a:cs typeface="Arial" panose="020B0604020202020204" pitchFamily="34" charset="0"/>
                      </a:endParaRPr>
                    </a:p>
                  </a:txBody>
                  <a:tcPr marL="4763" marR="4763" marT="4763" marB="0" anchor="ctr">
                    <a:lnL w="12700" cap="flat" cmpd="sng" algn="ctr">
                      <a:solidFill>
                        <a:srgbClr val="C0000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TMT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月</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15</a:t>
                      </a:r>
                      <a:r>
                        <a:rPr kumimoji="0" lang="zh-CN"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A3048"/>
                          </a:solidFill>
                          <a:effectLst/>
                          <a:uLnTx/>
                          <a:uFillTx/>
                          <a:latin typeface="Arial" panose="020B0604020202020204" pitchFamily="34" charset="0"/>
                          <a:ea typeface="+mn-ea"/>
                          <a:cs typeface="Arial" panose="020B0604020202020204" pitchFamily="34" charset="0"/>
                        </a:rPr>
                        <a:t>是</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未披露</a:t>
                      </a:r>
                    </a:p>
                  </a:txBody>
                  <a:tcPr marL="9525" marR="9525" marT="9525" marB="0" anchor="ctr">
                    <a:lnL w="952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6958144"/>
                  </a:ext>
                </a:extLst>
              </a:tr>
            </a:tbl>
          </a:graphicData>
        </a:graphic>
      </p:graphicFrame>
      <p:sp>
        <p:nvSpPr>
          <p:cNvPr id="20" name="Rectangle 10">
            <a:extLst>
              <a:ext uri="{FF2B5EF4-FFF2-40B4-BE49-F238E27FC236}">
                <a16:creationId xmlns:a16="http://schemas.microsoft.com/office/drawing/2014/main" id="{448BCE8A-8D45-D043-8071-7A4EC1F0DA60}"/>
              </a:ext>
            </a:extLst>
          </p:cNvPr>
          <p:cNvSpPr/>
          <p:nvPr/>
        </p:nvSpPr>
        <p:spPr>
          <a:xfrm>
            <a:off x="377190" y="301371"/>
            <a:ext cx="9144000" cy="716915"/>
          </a:xfrm>
          <a:prstGeom prst="rect">
            <a:avLst/>
          </a:prstGeom>
        </p:spPr>
        <p:txBody>
          <a:bodyPr lIns="0" tIns="0" rIns="0" bIns="0" anchor="ctr">
            <a:noAutofit/>
          </a:bodyPr>
          <a:lstStyle/>
          <a:p>
            <a:r>
              <a:rPr lang="zh-CN" altLang="en-US" sz="1400" b="1" u="sng" dirty="0">
                <a:solidFill>
                  <a:schemeClr val="accent1"/>
                </a:solidFill>
                <a:cs typeface="+mn-ea"/>
                <a:sym typeface="+mn-lt"/>
              </a:rPr>
              <a:t>上周提交</a:t>
            </a:r>
            <a:r>
              <a:rPr lang="en-US" altLang="zh-CN" sz="1400" b="1" u="sng" dirty="0">
                <a:solidFill>
                  <a:schemeClr val="accent1"/>
                </a:solidFill>
                <a:cs typeface="+mn-ea"/>
                <a:sym typeface="+mn-lt"/>
              </a:rPr>
              <a:t>A1</a:t>
            </a:r>
            <a:r>
              <a:rPr lang="zh-CN" altLang="en-US" sz="1400" b="1" u="sng" dirty="0">
                <a:solidFill>
                  <a:schemeClr val="accent1"/>
                </a:solidFill>
                <a:cs typeface="+mn-ea"/>
                <a:sym typeface="+mn-lt"/>
              </a:rPr>
              <a:t>项目一览</a:t>
            </a:r>
            <a:r>
              <a:rPr lang="en-US" altLang="zh-CN" sz="1400" b="1" u="sng" baseline="30000" dirty="0">
                <a:solidFill>
                  <a:schemeClr val="accent1"/>
                </a:solidFill>
                <a:cs typeface="+mn-ea"/>
                <a:sym typeface="+mn-lt"/>
              </a:rPr>
              <a:t>1</a:t>
            </a:r>
            <a:endParaRPr lang="zh-CN" altLang="en-US" sz="1400" b="1" u="sng" dirty="0">
              <a:solidFill>
                <a:schemeClr val="accent1"/>
              </a:solidFill>
              <a:cs typeface="+mn-ea"/>
              <a:sym typeface="+mn-lt"/>
            </a:endParaRPr>
          </a:p>
        </p:txBody>
      </p:sp>
      <p:sp>
        <p:nvSpPr>
          <p:cNvPr id="6" name="灯片编号占位符 5">
            <a:extLst>
              <a:ext uri="{FF2B5EF4-FFF2-40B4-BE49-F238E27FC236}">
                <a16:creationId xmlns:a16="http://schemas.microsoft.com/office/drawing/2014/main" id="{441BC55A-E8B0-0D1E-2C68-4AF4FF82C9B1}"/>
              </a:ext>
            </a:extLst>
          </p:cNvPr>
          <p:cNvSpPr>
            <a:spLocks noGrp="1"/>
          </p:cNvSpPr>
          <p:nvPr>
            <p:ph type="sldNum" sz="quarter" idx="16"/>
          </p:nvPr>
        </p:nvSpPr>
        <p:spPr/>
        <p:txBody>
          <a:bodyPr/>
          <a:lstStyle/>
          <a:p>
            <a:fld id="{72E6F1C1-8568-433B-B05E-E21B84158B67}" type="slidenum">
              <a:rPr lang="en-US" smtClean="0"/>
              <a:t>12</a:t>
            </a:fld>
            <a:endParaRPr lang="en-US" dirty="0"/>
          </a:p>
        </p:txBody>
      </p:sp>
      <p:sp>
        <p:nvSpPr>
          <p:cNvPr id="4" name="Rectangle 2">
            <a:extLst>
              <a:ext uri="{FF2B5EF4-FFF2-40B4-BE49-F238E27FC236}">
                <a16:creationId xmlns:a16="http://schemas.microsoft.com/office/drawing/2014/main" id="{F27B9D68-4688-4E26-B500-DE7B749F2569}"/>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框 4">
            <a:extLst>
              <a:ext uri="{FF2B5EF4-FFF2-40B4-BE49-F238E27FC236}">
                <a16:creationId xmlns:a16="http://schemas.microsoft.com/office/drawing/2014/main" id="{4C9F633D-1D26-0B55-3D41-186BFB5D3667}"/>
              </a:ext>
            </a:extLst>
          </p:cNvPr>
          <p:cNvSpPr txBox="1"/>
          <p:nvPr/>
        </p:nvSpPr>
        <p:spPr>
          <a:xfrm>
            <a:off x="207084" y="5079301"/>
            <a:ext cx="9484210" cy="1477328"/>
          </a:xfrm>
          <a:prstGeom prst="rect">
            <a:avLst/>
          </a:prstGeom>
          <a:noFill/>
        </p:spPr>
        <p:txBody>
          <a:bodyPr wrap="square" rtlCol="0">
            <a:spAutoFit/>
          </a:bodyPr>
          <a:lstStyle/>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1:</a:t>
            </a:r>
            <a:r>
              <a:rPr lang="zh-CN" altLang="en-US" sz="800" b="1" dirty="0">
                <a:latin typeface="Arial" panose="020B0604020202020204" pitchFamily="34" charset="0"/>
                <a:cs typeface="Arial" panose="020B0604020202020204" pitchFamily="34" charset="0"/>
                <a:sym typeface="+mn-ea"/>
              </a:rPr>
              <a:t>  </a:t>
            </a:r>
            <a:r>
              <a:rPr lang="en-US" altLang="zh-CN" sz="800" dirty="0">
                <a:latin typeface="Arial" panose="020B0604020202020204" pitchFamily="34" charset="0"/>
                <a:cs typeface="Arial" panose="020B0604020202020204" pitchFamily="34" charset="0"/>
                <a:sym typeface="+mn-ea"/>
              </a:rPr>
              <a:t>	</a:t>
            </a:r>
            <a:r>
              <a:rPr lang="zh-CN" altLang="en-US" sz="800" dirty="0">
                <a:latin typeface="Arial" panose="020B0604020202020204" pitchFamily="34" charset="0"/>
                <a:cs typeface="Arial" panose="020B0604020202020204" pitchFamily="34" charset="0"/>
                <a:sym typeface="+mn-ea"/>
              </a:rPr>
              <a:t>资料来源于港交所网站，截至</a:t>
            </a:r>
            <a:r>
              <a:rPr lang="en-US" altLang="zh-CN" sz="800" dirty="0">
                <a:latin typeface="Arial" panose="020B0604020202020204" pitchFamily="34" charset="0"/>
                <a:cs typeface="Arial" panose="020B0604020202020204" pitchFamily="34" charset="0"/>
                <a:sym typeface="+mn-ea"/>
              </a:rPr>
              <a:t>2026</a:t>
            </a:r>
            <a:r>
              <a:rPr lang="zh-CN" altLang="en-US" sz="800" dirty="0">
                <a:latin typeface="Arial" panose="020B0604020202020204" pitchFamily="34" charset="0"/>
                <a:cs typeface="Arial" panose="020B0604020202020204" pitchFamily="34" charset="0"/>
                <a:sym typeface="+mn-ea"/>
              </a:rPr>
              <a:t>年</a:t>
            </a:r>
            <a:r>
              <a:rPr lang="en-US" altLang="zh-CN" sz="800" dirty="0">
                <a:latin typeface="Arial" panose="020B0604020202020204" pitchFamily="34" charset="0"/>
                <a:cs typeface="Arial" panose="020B0604020202020204" pitchFamily="34" charset="0"/>
                <a:sym typeface="+mn-ea"/>
              </a:rPr>
              <a:t>3</a:t>
            </a:r>
            <a:r>
              <a:rPr lang="zh-CN" altLang="en-US" sz="800" dirty="0">
                <a:latin typeface="Arial" panose="020B0604020202020204" pitchFamily="34" charset="0"/>
                <a:cs typeface="Arial" panose="020B0604020202020204" pitchFamily="34" charset="0"/>
                <a:sym typeface="+mn-ea"/>
              </a:rPr>
              <a:t>月</a:t>
            </a:r>
            <a:r>
              <a:rPr lang="en-US" altLang="zh-CN" sz="800" dirty="0">
                <a:latin typeface="Arial" panose="020B0604020202020204" pitchFamily="34" charset="0"/>
                <a:cs typeface="Arial" panose="020B0604020202020204" pitchFamily="34" charset="0"/>
                <a:sym typeface="+mn-ea"/>
              </a:rPr>
              <a:t>20</a:t>
            </a:r>
            <a:r>
              <a:rPr lang="zh-CN" altLang="en-US" sz="800" dirty="0">
                <a:latin typeface="Arial" panose="020B0604020202020204" pitchFamily="34" charset="0"/>
                <a:cs typeface="Arial" panose="020B0604020202020204" pitchFamily="34" charset="0"/>
                <a:sym typeface="+mn-ea"/>
              </a:rPr>
              <a:t>日，仅考虑主板项目。</a:t>
            </a:r>
            <a:endParaRPr lang="en-US" altLang="zh-CN" sz="800" dirty="0">
              <a:latin typeface="Arial" panose="020B0604020202020204" pitchFamily="34" charset="0"/>
              <a:cs typeface="Arial" panose="020B0604020202020204" pitchFamily="34" charset="0"/>
              <a:sym typeface="+mn-ea"/>
            </a:endParaRPr>
          </a:p>
          <a:p>
            <a:pPr marL="361950" indent="-350838" defTabSz="361950">
              <a:spcAft>
                <a:spcPts val="200"/>
              </a:spcAft>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2:	</a:t>
            </a:r>
            <a:r>
              <a:rPr lang="zh-TW" altLang="en-US" sz="800" dirty="0"/>
              <a:t>思谋科技，成立于</a:t>
            </a:r>
            <a:r>
              <a:rPr lang="en-US" altLang="zh-TW" sz="800" dirty="0"/>
              <a:t>2019</a:t>
            </a:r>
            <a:r>
              <a:rPr lang="zh-TW" altLang="en-US" sz="800" dirty="0"/>
              <a:t>年，作为全球领先的</a:t>
            </a:r>
            <a:r>
              <a:rPr lang="en-US" sz="800" dirty="0"/>
              <a:t>AI</a:t>
            </a:r>
            <a:r>
              <a:rPr lang="zh-TW" altLang="en-US" sz="800" dirty="0"/>
              <a:t>公司，正在重新定义</a:t>
            </a:r>
            <a:r>
              <a:rPr lang="en-US" sz="800" dirty="0"/>
              <a:t>AI</a:t>
            </a:r>
            <a:r>
              <a:rPr lang="zh-TW" altLang="en-US" sz="800" dirty="0"/>
              <a:t>时代的工业自动化，公司主要提供工业</a:t>
            </a:r>
            <a:r>
              <a:rPr lang="en-US" sz="800" dirty="0"/>
              <a:t>AI</a:t>
            </a:r>
            <a:r>
              <a:rPr lang="zh-TW" altLang="en-US" sz="800" dirty="0"/>
              <a:t>智能体，包括机器人、边缘</a:t>
            </a:r>
            <a:r>
              <a:rPr lang="en-US" sz="800" dirty="0"/>
              <a:t>AI</a:t>
            </a:r>
            <a:r>
              <a:rPr lang="zh-TW" altLang="en-US" sz="800" dirty="0"/>
              <a:t>传感器及智能体软件系统。</a:t>
            </a:r>
            <a:endParaRPr lang="en-US" altLang="zh-CN" sz="800" dirty="0">
              <a:latin typeface="Arial" panose="020B0604020202020204" pitchFamily="34" charset="0"/>
              <a:cs typeface="Arial" panose="020B0604020202020204" pitchFamily="34" charset="0"/>
              <a:sym typeface="+mn-ea"/>
            </a:endParaRPr>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3</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璞泰来</a:t>
            </a:r>
            <a:r>
              <a:rPr lang="en-US" altLang="zh-TW" sz="800" dirty="0"/>
              <a:t>(603659.SH)</a:t>
            </a:r>
            <a:r>
              <a:rPr lang="zh-TW" altLang="en-US" sz="800" dirty="0"/>
              <a:t>，成立于</a:t>
            </a:r>
            <a:r>
              <a:rPr lang="en-US" altLang="zh-TW" sz="800" dirty="0"/>
              <a:t>2012</a:t>
            </a:r>
            <a:r>
              <a:rPr lang="zh-TW" altLang="en-US" sz="800" dirty="0"/>
              <a:t>年，作为新能源电池产业链上游领先的综合解决方案提供商，在新能源电池产业链上游进行垂直一体化的产业链布局，提供平台化的行业解决方案。</a:t>
            </a:r>
            <a:endParaRPr lang="en-US" altLang="zh-CN" sz="800" dirty="0">
              <a:latin typeface="Arial" panose="020B0604020202020204" pitchFamily="34" charset="0"/>
              <a:cs typeface="Arial" panose="020B0604020202020204" pitchFamily="34" charset="0"/>
              <a:sym typeface="+mn-ea"/>
            </a:endParaRPr>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4</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可孚医疗</a:t>
            </a:r>
            <a:r>
              <a:rPr lang="en-US" altLang="zh-TW" sz="800" dirty="0"/>
              <a:t>(301087.SZ)</a:t>
            </a:r>
            <a:r>
              <a:rPr lang="zh-TW" altLang="en-US" sz="800" dirty="0"/>
              <a:t>，成立于</a:t>
            </a:r>
            <a:r>
              <a:rPr lang="en-US" altLang="zh-TW" sz="800" dirty="0"/>
              <a:t>2007</a:t>
            </a:r>
            <a:r>
              <a:rPr lang="zh-TW" altLang="en-US" sz="800" dirty="0"/>
              <a:t>年，一直深耕家用医疗器械行业，始终致力于为追求优质及先进家用医疗器械的消费者及患者提供便捷解决方案，战略性聚焦五类具有强劲增长潜力和显著市场需的家用医疗器械，包括康复辅具类产品、医疗护理类产品、健康监测类产品、呼吸支持类产品、中医理疗类及其他类产品。</a:t>
            </a:r>
            <a:endParaRPr lang="en-US" altLang="zh-CN" sz="800" dirty="0">
              <a:latin typeface="Arial" panose="020B0604020202020204" pitchFamily="34" charset="0"/>
              <a:cs typeface="Arial" panose="020B0604020202020204" pitchFamily="34" charset="0"/>
              <a:sym typeface="+mn-ea"/>
            </a:endParaRPr>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5</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海清智元，成立于</a:t>
            </a:r>
            <a:r>
              <a:rPr lang="en-US" altLang="zh-TW" sz="800" dirty="0"/>
              <a:t>2013</a:t>
            </a:r>
            <a:r>
              <a:rPr lang="zh-TW" altLang="en-US" sz="800" dirty="0"/>
              <a:t>年，作为一家中国领先的多光谱</a:t>
            </a:r>
            <a:r>
              <a:rPr lang="en-US" sz="800" dirty="0"/>
              <a:t>AI</a:t>
            </a:r>
            <a:r>
              <a:rPr lang="zh-TW" altLang="en-US" sz="800" dirty="0"/>
              <a:t>技术企业，专门从事获取、处理及分析多个特定光谱波段中的光学信息，提供较可见光成像更完善的数据。</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6</a:t>
            </a:r>
            <a:r>
              <a:rPr lang="zh-CN" altLang="en-US" sz="800" b="1" dirty="0">
                <a:latin typeface="Arial" panose="020B0604020202020204" pitchFamily="34" charset="0"/>
                <a:cs typeface="Arial" panose="020B0604020202020204" pitchFamily="34" charset="0"/>
                <a:sym typeface="+mn-ea"/>
              </a:rPr>
              <a:t>：</a:t>
            </a:r>
            <a:r>
              <a:rPr lang="en-US" altLang="zh-CN" sz="800" dirty="0">
                <a:latin typeface="Arial" panose="020B0604020202020204" pitchFamily="34" charset="0"/>
                <a:cs typeface="Arial" panose="020B0604020202020204" pitchFamily="34" charset="0"/>
                <a:sym typeface="+mn-ea"/>
              </a:rPr>
              <a:t>	</a:t>
            </a:r>
            <a:r>
              <a:rPr lang="zh-TW" altLang="en-US" sz="800" dirty="0"/>
              <a:t>华富洋供应链，成立于</a:t>
            </a:r>
            <a:r>
              <a:rPr lang="en-US" altLang="zh-TW" sz="800" dirty="0"/>
              <a:t>2001</a:t>
            </a:r>
            <a:r>
              <a:rPr lang="zh-TW" altLang="en-US" sz="800" dirty="0"/>
              <a:t>年，作为一家总部位于中国的综合供应链解决方案提供商，专门为电子产品</a:t>
            </a:r>
            <a:r>
              <a:rPr lang="en-US" altLang="zh-TW" sz="800" dirty="0"/>
              <a:t>(</a:t>
            </a:r>
            <a:r>
              <a:rPr lang="zh-TW" altLang="en-US" sz="800" dirty="0"/>
              <a:t>尤其是各种复杂类型的集成电路</a:t>
            </a:r>
            <a:r>
              <a:rPr lang="en-US" altLang="zh-TW" sz="800" dirty="0"/>
              <a:t>)</a:t>
            </a:r>
            <a:r>
              <a:rPr lang="zh-TW" altLang="en-US" sz="800" dirty="0"/>
              <a:t>提供跨境供应链解决方案，主要专注于从客户的国际上游供货商进口电子产品至中国，客户遍布</a:t>
            </a:r>
            <a:r>
              <a:rPr lang="en-US" altLang="zh-TW" sz="800" dirty="0"/>
              <a:t>40</a:t>
            </a:r>
            <a:r>
              <a:rPr lang="zh-TW" altLang="en-US" sz="800" dirty="0"/>
              <a:t>多个垂直行业，包括物联网通信、半导体、智能机器人解决方案以及新能源领域下的行业。</a:t>
            </a:r>
            <a:endParaRPr lang="en-US" altLang="zh-TW" sz="800" dirty="0"/>
          </a:p>
          <a:p>
            <a:pPr marL="361950" indent="-350838" defTabSz="361950">
              <a:spcAft>
                <a:spcPts val="200"/>
              </a:spcAft>
              <a:buNone/>
            </a:pPr>
            <a:r>
              <a:rPr lang="zh-CN" altLang="en-US" sz="800" b="1" dirty="0">
                <a:latin typeface="Arial" panose="020B0604020202020204" pitchFamily="34" charset="0"/>
                <a:cs typeface="Arial" panose="020B0604020202020204" pitchFamily="34" charset="0"/>
                <a:sym typeface="+mn-ea"/>
              </a:rPr>
              <a:t>注</a:t>
            </a:r>
            <a:r>
              <a:rPr lang="en-US" altLang="zh-CN" sz="800" b="1" dirty="0">
                <a:latin typeface="Arial" panose="020B0604020202020204" pitchFamily="34" charset="0"/>
                <a:cs typeface="Arial" panose="020B0604020202020204" pitchFamily="34" charset="0"/>
                <a:sym typeface="+mn-ea"/>
              </a:rPr>
              <a:t>7</a:t>
            </a:r>
            <a:r>
              <a:rPr lang="zh-CN" altLang="en-US" sz="800" b="1" dirty="0">
                <a:latin typeface="Arial" panose="020B0604020202020204" pitchFamily="34" charset="0"/>
                <a:cs typeface="Arial" panose="020B0604020202020204" pitchFamily="34" charset="0"/>
                <a:sym typeface="+mn-ea"/>
              </a:rPr>
              <a:t>：</a:t>
            </a:r>
            <a:r>
              <a:rPr lang="zh-TW" altLang="en-US" sz="800" b="1" dirty="0"/>
              <a:t> </a:t>
            </a:r>
            <a:r>
              <a:rPr lang="en-US" altLang="zh-TW" sz="800" dirty="0"/>
              <a:t>	</a:t>
            </a:r>
            <a:r>
              <a:rPr lang="zh-TW" altLang="en-US" sz="800" dirty="0"/>
              <a:t>芯碁微装</a:t>
            </a:r>
            <a:r>
              <a:rPr lang="en-US" altLang="zh-TW" sz="800" dirty="0"/>
              <a:t>(688630.SH)</a:t>
            </a:r>
            <a:r>
              <a:rPr lang="zh-TW" altLang="en-US" sz="800" dirty="0"/>
              <a:t>，成立于</a:t>
            </a:r>
            <a:r>
              <a:rPr lang="en-US" altLang="zh-TW" sz="800" dirty="0"/>
              <a:t>2015</a:t>
            </a:r>
            <a:r>
              <a:rPr lang="zh-TW" altLang="en-US" sz="800" dirty="0"/>
              <a:t>年，作为全球最大的</a:t>
            </a:r>
            <a:r>
              <a:rPr lang="en-US" sz="800" dirty="0"/>
              <a:t>PCB</a:t>
            </a:r>
            <a:r>
              <a:rPr lang="zh-TW" altLang="en-US" sz="800" dirty="0"/>
              <a:t>直接成像设备供货商，为</a:t>
            </a:r>
            <a:r>
              <a:rPr lang="en-US" sz="800" dirty="0"/>
              <a:t>AI</a:t>
            </a:r>
            <a:r>
              <a:rPr lang="zh-TW" altLang="en-US" sz="800" dirty="0"/>
              <a:t>时代的先进信息技术产业提供核心设备，凭借在核心高精度微纳光刻技术研发以及将自有技术应用于各种创新应用的成熟能力，致力于为全球客户制造、销售及维护直接成像及直写光刻设备。</a:t>
            </a:r>
            <a:endParaRPr lang="en-US" altLang="zh-CN" sz="800" dirty="0">
              <a:latin typeface="Arial" panose="020B0604020202020204" pitchFamily="34" charset="0"/>
              <a:cs typeface="Arial" panose="020B0604020202020204" pitchFamily="34" charset="0"/>
              <a:sym typeface="+mn-ea"/>
            </a:endParaRPr>
          </a:p>
        </p:txBody>
      </p:sp>
      <p:sp>
        <p:nvSpPr>
          <p:cNvPr id="2" name="Frame 1">
            <a:extLst>
              <a:ext uri="{FF2B5EF4-FFF2-40B4-BE49-F238E27FC236}">
                <a16:creationId xmlns:a16="http://schemas.microsoft.com/office/drawing/2014/main" id="{441C0DF7-656C-DB3F-60DC-5819594084F5}"/>
              </a:ext>
            </a:extLst>
          </p:cNvPr>
          <p:cNvSpPr/>
          <p:nvPr/>
        </p:nvSpPr>
        <p:spPr>
          <a:xfrm>
            <a:off x="5871029" y="1114711"/>
            <a:ext cx="1088571" cy="167640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8CAFDCAB-0056-14E1-4508-6F8B321C9E8C}"/>
              </a:ext>
            </a:extLst>
          </p:cNvPr>
          <p:cNvSpPr txBox="1"/>
          <p:nvPr/>
        </p:nvSpPr>
        <p:spPr>
          <a:xfrm>
            <a:off x="2125720" y="3276553"/>
            <a:ext cx="6128601" cy="369332"/>
          </a:xfrm>
          <a:prstGeom prst="rect">
            <a:avLst/>
          </a:prstGeom>
          <a:noFill/>
        </p:spPr>
        <p:txBody>
          <a:bodyPr wrap="none" rtlCol="0">
            <a:spAutoFit/>
          </a:bodyPr>
          <a:lstStyle/>
          <a:p>
            <a:r>
              <a:rPr lang="en-US" dirty="0" err="1">
                <a:highlight>
                  <a:srgbClr val="FFFF00"/>
                </a:highlight>
              </a:rPr>
              <a:t>到Excel里Crtl+F搜之前有没有出现过</a:t>
            </a:r>
            <a:r>
              <a:rPr lang="en-US" dirty="0">
                <a:highlight>
                  <a:srgbClr val="FFFF00"/>
                </a:highlight>
              </a:rPr>
              <a:t>(</a:t>
            </a:r>
            <a:r>
              <a:rPr lang="zh-CN" altLang="en-US" dirty="0">
                <a:highlight>
                  <a:srgbClr val="FFFF00"/>
                </a:highlight>
              </a:rPr>
              <a:t>之前有没有交过表</a:t>
            </a:r>
            <a:r>
              <a:rPr lang="en-US" altLang="zh-CN" dirty="0">
                <a:highlight>
                  <a:srgbClr val="FFFF00"/>
                </a:highlight>
              </a:rPr>
              <a:t>)</a:t>
            </a:r>
            <a:endParaRPr lang="en-US" dirty="0">
              <a:highlight>
                <a:srgbClr val="FFFF00"/>
              </a:highlight>
            </a:endParaRPr>
          </a:p>
        </p:txBody>
      </p:sp>
      <p:cxnSp>
        <p:nvCxnSpPr>
          <p:cNvPr id="9" name="Straight Connector 8">
            <a:extLst>
              <a:ext uri="{FF2B5EF4-FFF2-40B4-BE49-F238E27FC236}">
                <a16:creationId xmlns:a16="http://schemas.microsoft.com/office/drawing/2014/main" id="{70870BE6-91D4-D5BF-4798-25AA06517B05}"/>
              </a:ext>
            </a:extLst>
          </p:cNvPr>
          <p:cNvCxnSpPr>
            <a:cxnSpLocks/>
            <a:stCxn id="5" idx="0"/>
          </p:cNvCxnSpPr>
          <p:nvPr/>
        </p:nvCxnSpPr>
        <p:spPr>
          <a:xfrm flipV="1">
            <a:off x="5190021" y="1787133"/>
            <a:ext cx="1155049" cy="1489420"/>
          </a:xfrm>
          <a:prstGeom prst="line">
            <a:avLst/>
          </a:prstGeom>
        </p:spPr>
        <p:style>
          <a:lnRef idx="1">
            <a:schemeClr val="accent1"/>
          </a:lnRef>
          <a:fillRef idx="0">
            <a:schemeClr val="accent1"/>
          </a:fillRef>
          <a:effectRef idx="0">
            <a:schemeClr val="accent1"/>
          </a:effectRef>
          <a:fontRef idx="minor">
            <a:schemeClr val="tx1"/>
          </a:fontRef>
        </p:style>
      </p:cxnSp>
      <p:sp>
        <p:nvSpPr>
          <p:cNvPr id="11" name="Frame 10">
            <a:extLst>
              <a:ext uri="{FF2B5EF4-FFF2-40B4-BE49-F238E27FC236}">
                <a16:creationId xmlns:a16="http://schemas.microsoft.com/office/drawing/2014/main" id="{AA242C39-B13B-78B1-C0AA-373D9D698E4E}"/>
              </a:ext>
            </a:extLst>
          </p:cNvPr>
          <p:cNvSpPr/>
          <p:nvPr/>
        </p:nvSpPr>
        <p:spPr>
          <a:xfrm>
            <a:off x="7673749" y="1079718"/>
            <a:ext cx="1161143" cy="1775165"/>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1422E14E-0C48-E725-A016-3E51A8A4F121}"/>
              </a:ext>
            </a:extLst>
          </p:cNvPr>
          <p:cNvSpPr txBox="1"/>
          <p:nvPr/>
        </p:nvSpPr>
        <p:spPr>
          <a:xfrm>
            <a:off x="7246211" y="4013200"/>
            <a:ext cx="1800493" cy="646331"/>
          </a:xfrm>
          <a:prstGeom prst="rect">
            <a:avLst/>
          </a:prstGeom>
          <a:noFill/>
        </p:spPr>
        <p:txBody>
          <a:bodyPr wrap="none" rtlCol="0">
            <a:spAutoFit/>
          </a:bodyPr>
          <a:lstStyle/>
          <a:p>
            <a:r>
              <a:rPr lang="en-US" dirty="0" err="1">
                <a:highlight>
                  <a:srgbClr val="FFFF00"/>
                </a:highlight>
              </a:rPr>
              <a:t>一律</a:t>
            </a:r>
            <a:r>
              <a:rPr lang="zh-CN" altLang="en-US" dirty="0">
                <a:highlight>
                  <a:srgbClr val="FFFF00"/>
                </a:highlight>
              </a:rPr>
              <a:t>“</a:t>
            </a:r>
            <a:r>
              <a:rPr lang="zh-CN" altLang="en-US" dirty="0">
                <a:highlight>
                  <a:srgbClr val="FFFF00"/>
                </a:highlight>
                <a:latin typeface="Arial" panose="020B0604020202020204" pitchFamily="34" charset="0"/>
                <a:cs typeface="Arial" panose="020B0604020202020204" pitchFamily="34" charset="0"/>
              </a:rPr>
              <a:t>未披露”</a:t>
            </a:r>
          </a:p>
          <a:p>
            <a:r>
              <a:rPr lang="en-US" dirty="0" err="1">
                <a:highlight>
                  <a:srgbClr val="FFFF00"/>
                </a:highlight>
              </a:rPr>
              <a:t>填空白位置的</a:t>
            </a:r>
            <a:endParaRPr lang="en-US" dirty="0">
              <a:highlight>
                <a:srgbClr val="FFFF00"/>
              </a:highlight>
            </a:endParaRPr>
          </a:p>
        </p:txBody>
      </p:sp>
      <p:cxnSp>
        <p:nvCxnSpPr>
          <p:cNvPr id="14" name="Straight Connector 13">
            <a:extLst>
              <a:ext uri="{FF2B5EF4-FFF2-40B4-BE49-F238E27FC236}">
                <a16:creationId xmlns:a16="http://schemas.microsoft.com/office/drawing/2014/main" id="{684FBCC9-B45B-AD1E-F2B7-B461DD2A371D}"/>
              </a:ext>
            </a:extLst>
          </p:cNvPr>
          <p:cNvCxnSpPr>
            <a:cxnSpLocks/>
            <a:stCxn id="12" idx="0"/>
            <a:endCxn id="11" idx="2"/>
          </p:cNvCxnSpPr>
          <p:nvPr/>
        </p:nvCxnSpPr>
        <p:spPr>
          <a:xfrm flipV="1">
            <a:off x="8146458" y="2854883"/>
            <a:ext cx="107863" cy="1158317"/>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948CE27-2D5C-3E54-E18B-49A7C4831502}"/>
              </a:ext>
            </a:extLst>
          </p:cNvPr>
          <p:cNvSpPr txBox="1"/>
          <p:nvPr/>
        </p:nvSpPr>
        <p:spPr>
          <a:xfrm>
            <a:off x="583043" y="2738738"/>
            <a:ext cx="2698175" cy="369332"/>
          </a:xfrm>
          <a:prstGeom prst="rect">
            <a:avLst/>
          </a:prstGeom>
          <a:noFill/>
        </p:spPr>
        <p:txBody>
          <a:bodyPr wrap="none" rtlCol="0">
            <a:spAutoFit/>
          </a:bodyPr>
          <a:lstStyle/>
          <a:p>
            <a:r>
              <a:rPr lang="en-US" dirty="0" err="1">
                <a:highlight>
                  <a:srgbClr val="FFFF00"/>
                </a:highlight>
              </a:rPr>
              <a:t>行业看description自己定</a:t>
            </a:r>
            <a:endParaRPr lang="en-US" dirty="0">
              <a:highlight>
                <a:srgbClr val="FFFF00"/>
              </a:highlight>
            </a:endParaRPr>
          </a:p>
        </p:txBody>
      </p:sp>
      <p:cxnSp>
        <p:nvCxnSpPr>
          <p:cNvPr id="22" name="Straight Connector 21">
            <a:extLst>
              <a:ext uri="{FF2B5EF4-FFF2-40B4-BE49-F238E27FC236}">
                <a16:creationId xmlns:a16="http://schemas.microsoft.com/office/drawing/2014/main" id="{0C5647A9-9539-0356-F482-1D34FA79618E}"/>
              </a:ext>
            </a:extLst>
          </p:cNvPr>
          <p:cNvCxnSpPr>
            <a:cxnSpLocks/>
            <a:stCxn id="18" idx="0"/>
          </p:cNvCxnSpPr>
          <p:nvPr/>
        </p:nvCxnSpPr>
        <p:spPr>
          <a:xfrm flipV="1">
            <a:off x="1932131" y="2025588"/>
            <a:ext cx="1081737" cy="7131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84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575389"/>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a:cs typeface="+mn-ea"/>
                <a:sym typeface="+mn-lt"/>
                <a:hlinkClick r:id="rId4"/>
              </a:rPr>
              <a:t>http://</a:t>
            </a:r>
            <a:r>
              <a:rPr lang="en-US" sz="1200" dirty="0">
                <a:cs typeface="+mn-ea"/>
                <a:sym typeface="+mn-lt"/>
                <a:hlinkClick r:id="rId4"/>
              </a:rPr>
              <a:t>www.aastocks.com/tc/stocks/market/ipo/upcomingipo/company-summary</a:t>
            </a:r>
            <a:r>
              <a:rPr lang="en-US" sz="1200" dirty="0">
                <a:cs typeface="+mn-ea"/>
                <a:sym typeface="+mn-lt"/>
              </a:rPr>
              <a:t> </a:t>
            </a:r>
          </a:p>
        </p:txBody>
      </p:sp>
      <p:sp>
        <p:nvSpPr>
          <p:cNvPr id="17" name="Title 1"/>
          <p:cNvSpPr>
            <a:spLocks noGrp="1"/>
          </p:cNvSpPr>
          <p:nvPr>
            <p:ph type="title"/>
          </p:nvPr>
        </p:nvSpPr>
        <p:spPr>
          <a:xfrm>
            <a:off x="381000" y="182880"/>
            <a:ext cx="7132320" cy="320040"/>
          </a:xfrm>
        </p:spPr>
        <p:txBody>
          <a:bodyPr>
            <a:normAutofit/>
          </a:bodyPr>
          <a:lstStyle/>
          <a:p>
            <a:r>
              <a:rPr lang="zh-CN" altLang="en-US" dirty="0">
                <a:latin typeface="+mn-lt"/>
                <a:ea typeface="+mn-ea"/>
                <a:cs typeface="+mn-ea"/>
                <a:sym typeface="+mn-lt"/>
              </a:rPr>
              <a:t>过去一周香港二级市场融资及新股交表情况概览（续）</a:t>
            </a:r>
          </a:p>
        </p:txBody>
      </p:sp>
      <p:sp>
        <p:nvSpPr>
          <p:cNvPr id="2" name="文本框 1"/>
          <p:cNvSpPr txBox="1"/>
          <p:nvPr/>
        </p:nvSpPr>
        <p:spPr>
          <a:xfrm>
            <a:off x="294772" y="661459"/>
            <a:ext cx="4791710" cy="276129"/>
          </a:xfrm>
          <a:prstGeom prst="rect">
            <a:avLst/>
          </a:prstGeom>
          <a:noFill/>
        </p:spPr>
        <p:txBody>
          <a:bodyPr wrap="square" rtlCol="0" anchor="t">
            <a:noAutofit/>
          </a:bodyPr>
          <a:lstStyle/>
          <a:p>
            <a:r>
              <a:rPr lang="zh-CN" altLang="en-US" sz="1400" b="1" u="sng" dirty="0">
                <a:solidFill>
                  <a:schemeClr val="accent1"/>
                </a:solidFill>
                <a:cs typeface="+mn-ea"/>
                <a:sym typeface="+mn-lt"/>
              </a:rPr>
              <a:t>上周港股市场配售项目一览</a:t>
            </a:r>
          </a:p>
        </p:txBody>
      </p:sp>
      <p:sp>
        <p:nvSpPr>
          <p:cNvPr id="8" name="Text Placeholder FN"/>
          <p:cNvSpPr txBox="1"/>
          <p:nvPr>
            <p:custDataLst>
              <p:tags r:id="rId1"/>
            </p:custDataLst>
          </p:nvPr>
        </p:nvSpPr>
        <p:spPr>
          <a:xfrm>
            <a:off x="381000" y="6237962"/>
            <a:ext cx="9097108" cy="296133"/>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zh-CN" altLang="en-US" sz="800" dirty="0">
                <a:solidFill>
                  <a:schemeClr val="tx1"/>
                </a:solidFill>
                <a:cs typeface="+mn-ea"/>
                <a:sym typeface="+mn-lt"/>
              </a:rPr>
              <a:t>资料来源：</a:t>
            </a:r>
            <a:r>
              <a:rPr lang="en-US" altLang="zh-CN" sz="800" b="0" dirty="0">
                <a:solidFill>
                  <a:schemeClr val="tx1"/>
                </a:solidFill>
                <a:cs typeface="+mn-ea"/>
                <a:sym typeface="+mn-lt"/>
              </a:rPr>
              <a:t>Dealogic</a:t>
            </a:r>
            <a:r>
              <a:rPr lang="zh-CN" altLang="en-US" sz="800" b="0" dirty="0">
                <a:solidFill>
                  <a:schemeClr val="tx1"/>
                </a:solidFill>
                <a:cs typeface="+mn-ea"/>
                <a:sym typeface="+mn-lt"/>
              </a:rPr>
              <a:t>（截至</a:t>
            </a:r>
            <a:r>
              <a:rPr lang="en-US" altLang="zh-CN" sz="800" b="0" dirty="0">
                <a:solidFill>
                  <a:schemeClr val="tx1"/>
                </a:solidFill>
                <a:cs typeface="+mn-ea"/>
                <a:sym typeface="+mn-lt"/>
              </a:rPr>
              <a:t>2026</a:t>
            </a:r>
            <a:r>
              <a:rPr lang="zh-CN" altLang="en-US" sz="800" b="0" dirty="0">
                <a:solidFill>
                  <a:schemeClr val="tx1"/>
                </a:solidFill>
                <a:cs typeface="+mn-ea"/>
                <a:sym typeface="+mn-lt"/>
              </a:rPr>
              <a:t>年</a:t>
            </a:r>
            <a:r>
              <a:rPr lang="en-US" altLang="zh-CN" sz="800" b="0" dirty="0">
                <a:solidFill>
                  <a:schemeClr val="tx1"/>
                </a:solidFill>
                <a:cs typeface="+mn-ea"/>
                <a:sym typeface="+mn-lt"/>
              </a:rPr>
              <a:t>3</a:t>
            </a:r>
            <a:r>
              <a:rPr lang="zh-CN" altLang="en-US" sz="800" b="0" dirty="0">
                <a:solidFill>
                  <a:schemeClr val="tx1"/>
                </a:solidFill>
                <a:cs typeface="+mn-ea"/>
                <a:sym typeface="+mn-lt"/>
              </a:rPr>
              <a:t>月</a:t>
            </a:r>
            <a:r>
              <a:rPr lang="en-US" altLang="zh-TW" sz="800" b="0" dirty="0">
                <a:solidFill>
                  <a:schemeClr val="tx1"/>
                </a:solidFill>
                <a:cs typeface="+mn-ea"/>
                <a:sym typeface="+mn-lt"/>
              </a:rPr>
              <a:t>20</a:t>
            </a:r>
            <a:r>
              <a:rPr lang="zh-CN" altLang="en-US" sz="800" b="0" dirty="0">
                <a:solidFill>
                  <a:schemeClr val="tx1"/>
                </a:solidFill>
                <a:cs typeface="+mn-ea"/>
                <a:sym typeface="+mn-lt"/>
              </a:rPr>
              <a:t>日），只包括集资规模为</a:t>
            </a:r>
            <a:r>
              <a:rPr lang="en-US" altLang="zh-CN" sz="800" b="0" dirty="0">
                <a:solidFill>
                  <a:schemeClr val="tx1"/>
                </a:solidFill>
                <a:cs typeface="+mn-ea"/>
                <a:sym typeface="+mn-lt"/>
              </a:rPr>
              <a:t>1,000</a:t>
            </a:r>
            <a:r>
              <a:rPr lang="zh-CN" altLang="en-US" sz="800" b="0" dirty="0">
                <a:solidFill>
                  <a:schemeClr val="tx1"/>
                </a:solidFill>
                <a:cs typeface="+mn-ea"/>
                <a:sym typeface="+mn-lt"/>
              </a:rPr>
              <a:t>万美元及以上的项目，不包括</a:t>
            </a:r>
            <a:r>
              <a:rPr lang="en-US" altLang="zh-CN" sz="800" b="0" dirty="0">
                <a:solidFill>
                  <a:schemeClr val="tx1"/>
                </a:solidFill>
                <a:cs typeface="+mn-ea"/>
                <a:sym typeface="+mn-lt"/>
              </a:rPr>
              <a:t>Rights Issue</a:t>
            </a:r>
          </a:p>
        </p:txBody>
      </p:sp>
      <p:sp>
        <p:nvSpPr>
          <p:cNvPr id="9" name="灯片编号占位符 8"/>
          <p:cNvSpPr>
            <a:spLocks noGrp="1"/>
          </p:cNvSpPr>
          <p:nvPr>
            <p:ph type="sldNum" sz="quarter" idx="16"/>
          </p:nvPr>
        </p:nvSpPr>
        <p:spPr/>
        <p:txBody>
          <a:bodyPr/>
          <a:lstStyle/>
          <a:p>
            <a:fld id="{72E6F1C1-8568-433B-B05E-E21B84158B67}" type="slidenum">
              <a:rPr lang="en-US" smtClean="0"/>
              <a:t>13</a:t>
            </a:fld>
            <a:endParaRPr lang="en-US" dirty="0"/>
          </a:p>
        </p:txBody>
      </p:sp>
      <p:graphicFrame>
        <p:nvGraphicFramePr>
          <p:cNvPr id="5" name="Content Placeholder 5">
            <a:extLst>
              <a:ext uri="{FF2B5EF4-FFF2-40B4-BE49-F238E27FC236}">
                <a16:creationId xmlns:a16="http://schemas.microsoft.com/office/drawing/2014/main" id="{706BC517-898F-F101-1051-291D489996E9}"/>
              </a:ext>
            </a:extLst>
          </p:cNvPr>
          <p:cNvGraphicFramePr/>
          <p:nvPr>
            <p:extLst>
              <p:ext uri="{D42A27DB-BD31-4B8C-83A1-F6EECF244321}">
                <p14:modId xmlns:p14="http://schemas.microsoft.com/office/powerpoint/2010/main" val="3222944476"/>
              </p:ext>
            </p:extLst>
          </p:nvPr>
        </p:nvGraphicFramePr>
        <p:xfrm>
          <a:off x="381002" y="1096127"/>
          <a:ext cx="9143998" cy="603563"/>
        </p:xfrm>
        <a:graphic>
          <a:graphicData uri="http://schemas.openxmlformats.org/drawingml/2006/table">
            <a:tbl>
              <a:tblPr/>
              <a:tblGrid>
                <a:gridCol w="750275">
                  <a:extLst>
                    <a:ext uri="{9D8B030D-6E8A-4147-A177-3AD203B41FA5}">
                      <a16:colId xmlns:a16="http://schemas.microsoft.com/office/drawing/2014/main" val="20000"/>
                    </a:ext>
                  </a:extLst>
                </a:gridCol>
                <a:gridCol w="1351904">
                  <a:extLst>
                    <a:ext uri="{9D8B030D-6E8A-4147-A177-3AD203B41FA5}">
                      <a16:colId xmlns:a16="http://schemas.microsoft.com/office/drawing/2014/main" val="20001"/>
                    </a:ext>
                  </a:extLst>
                </a:gridCol>
                <a:gridCol w="1010096">
                  <a:extLst>
                    <a:ext uri="{9D8B030D-6E8A-4147-A177-3AD203B41FA5}">
                      <a16:colId xmlns:a16="http://schemas.microsoft.com/office/drawing/2014/main" val="20002"/>
                    </a:ext>
                  </a:extLst>
                </a:gridCol>
                <a:gridCol w="1223416">
                  <a:extLst>
                    <a:ext uri="{9D8B030D-6E8A-4147-A177-3AD203B41FA5}">
                      <a16:colId xmlns:a16="http://schemas.microsoft.com/office/drawing/2014/main" val="20003"/>
                    </a:ext>
                  </a:extLst>
                </a:gridCol>
                <a:gridCol w="766092">
                  <a:extLst>
                    <a:ext uri="{9D8B030D-6E8A-4147-A177-3AD203B41FA5}">
                      <a16:colId xmlns:a16="http://schemas.microsoft.com/office/drawing/2014/main" val="20004"/>
                    </a:ext>
                  </a:extLst>
                </a:gridCol>
                <a:gridCol w="834844">
                  <a:extLst>
                    <a:ext uri="{9D8B030D-6E8A-4147-A177-3AD203B41FA5}">
                      <a16:colId xmlns:a16="http://schemas.microsoft.com/office/drawing/2014/main" val="20005"/>
                    </a:ext>
                  </a:extLst>
                </a:gridCol>
                <a:gridCol w="746449">
                  <a:extLst>
                    <a:ext uri="{9D8B030D-6E8A-4147-A177-3AD203B41FA5}">
                      <a16:colId xmlns:a16="http://schemas.microsoft.com/office/drawing/2014/main" val="20006"/>
                    </a:ext>
                  </a:extLst>
                </a:gridCol>
                <a:gridCol w="909258">
                  <a:extLst>
                    <a:ext uri="{9D8B030D-6E8A-4147-A177-3AD203B41FA5}">
                      <a16:colId xmlns:a16="http://schemas.microsoft.com/office/drawing/2014/main" val="20007"/>
                    </a:ext>
                  </a:extLst>
                </a:gridCol>
                <a:gridCol w="1551664">
                  <a:extLst>
                    <a:ext uri="{9D8B030D-6E8A-4147-A177-3AD203B41FA5}">
                      <a16:colId xmlns:a16="http://schemas.microsoft.com/office/drawing/2014/main" val="20008"/>
                    </a:ext>
                  </a:extLst>
                </a:gridCol>
              </a:tblGrid>
              <a:tr h="365963">
                <a:tc>
                  <a:txBody>
                    <a:bodyPr/>
                    <a:lstStyle/>
                    <a:p>
                      <a:pPr algn="ctr"/>
                      <a:r>
                        <a:rPr lang="zh-CN" altLang="en-US" sz="1000" b="1" dirty="0">
                          <a:solidFill>
                            <a:schemeClr val="bg1"/>
                          </a:solidFill>
                          <a:latin typeface="+mj-lt"/>
                          <a:ea typeface="+mn-ea"/>
                          <a:cs typeface="+mn-ea"/>
                          <a:sym typeface="+mn-lt"/>
                        </a:rPr>
                        <a:t>股票代码</a:t>
                      </a:r>
                      <a:endParaRPr lang="zh-HK" altLang="en-US" sz="1000" b="1" dirty="0">
                        <a:solidFill>
                          <a:schemeClr val="bg1"/>
                        </a:solidFill>
                        <a:latin typeface="+mj-lt"/>
                        <a:ea typeface="+mn-ea"/>
                        <a:cs typeface="+mn-ea"/>
                        <a:sym typeface="+mn-lt"/>
                      </a:endParaRPr>
                    </a:p>
                  </a:txBody>
                  <a:tcPr marL="0" marR="0" marT="0"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n-lt"/>
                          <a:ea typeface="+mn-ea"/>
                          <a:cs typeface="+mn-ea"/>
                          <a:sym typeface="+mn-lt"/>
                        </a:rPr>
                        <a:t>公司</a:t>
                      </a:r>
                      <a:endParaRPr lang="zh-HK" altLang="en-US" sz="1000" b="1" dirty="0">
                        <a:solidFill>
                          <a:schemeClr val="bg1"/>
                        </a:solidFill>
                        <a:latin typeface="+mn-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行业</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HK" altLang="en-US" sz="1000" b="1" kern="1200" dirty="0">
                          <a:solidFill>
                            <a:schemeClr val="bg1"/>
                          </a:solidFill>
                          <a:latin typeface="+mj-lt"/>
                          <a:ea typeface="+mn-ea"/>
                          <a:cs typeface="+mn-ea"/>
                          <a:sym typeface="+mn-lt"/>
                        </a:rPr>
                        <a:t>配售定价日期</a:t>
                      </a:r>
                    </a:p>
                  </a:txBody>
                  <a:tcPr marL="0" marR="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融资规模</a:t>
                      </a:r>
                      <a:endParaRPr lang="en-US" altLang="zh-CN" sz="1000" b="1" dirty="0">
                        <a:solidFill>
                          <a:schemeClr val="bg1"/>
                        </a:solidFill>
                        <a:latin typeface="+mj-lt"/>
                        <a:ea typeface="+mn-ea"/>
                        <a:cs typeface="+mn-ea"/>
                        <a:sym typeface="+mn-lt"/>
                      </a:endParaRPr>
                    </a:p>
                    <a:p>
                      <a:pPr algn="ctr"/>
                      <a:r>
                        <a:rPr lang="zh-CN" altLang="en-US" sz="1000" b="1" dirty="0">
                          <a:solidFill>
                            <a:schemeClr val="bg1"/>
                          </a:solidFill>
                          <a:latin typeface="+mj-lt"/>
                          <a:ea typeface="+mn-ea"/>
                          <a:cs typeface="+mn-ea"/>
                          <a:sym typeface="+mn-lt"/>
                        </a:rPr>
                        <a:t>（百万美元）</a:t>
                      </a:r>
                      <a:endParaRPr lang="zh-HK" altLang="en-US" sz="1000" b="1" dirty="0">
                        <a:solidFill>
                          <a:schemeClr val="bg1"/>
                        </a:solidFill>
                        <a:latin typeface="+mj-lt"/>
                        <a:ea typeface="+mn-ea"/>
                        <a:cs typeface="+mn-ea"/>
                        <a:sym typeface="+mn-lt"/>
                      </a:endParaRPr>
                    </a:p>
                  </a:txBody>
                  <a:tcPr marL="0" marR="0" marT="0"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配售价格</a:t>
                      </a:r>
                      <a:endParaRPr lang="en-US" altLang="zh-CN" sz="1000" b="1" dirty="0">
                        <a:solidFill>
                          <a:schemeClr val="bg1"/>
                        </a:solidFill>
                        <a:latin typeface="+mj-lt"/>
                        <a:ea typeface="+mn-ea"/>
                        <a:cs typeface="+mn-ea"/>
                        <a:sym typeface="+mn-lt"/>
                      </a:endParaRPr>
                    </a:p>
                    <a:p>
                      <a:pPr algn="ctr"/>
                      <a:r>
                        <a:rPr lang="zh-CN" altLang="en-US" sz="1000" b="1" dirty="0">
                          <a:solidFill>
                            <a:schemeClr val="bg1"/>
                          </a:solidFill>
                          <a:latin typeface="+mj-lt"/>
                          <a:ea typeface="+mn-ea"/>
                          <a:cs typeface="+mn-ea"/>
                          <a:sym typeface="+mn-lt"/>
                        </a:rPr>
                        <a:t>（港元）</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折让率</a:t>
                      </a:r>
                      <a:endParaRPr lang="en-US" altLang="zh-CN" sz="1000" b="1" kern="1200" dirty="0">
                        <a:solidFill>
                          <a:schemeClr val="bg1"/>
                        </a:solidFill>
                        <a:latin typeface="+mj-lt"/>
                        <a:ea typeface="+mn-ea"/>
                        <a:cs typeface="+mn-ea"/>
                        <a:sym typeface="+mn-lt"/>
                      </a:endParaRPr>
                    </a:p>
                    <a:p>
                      <a:pPr algn="ctr"/>
                      <a:r>
                        <a:rPr lang="zh-CN" altLang="en-US" sz="1000" b="1" kern="1200" dirty="0">
                          <a:solidFill>
                            <a:schemeClr val="bg1"/>
                          </a:solidFill>
                          <a:latin typeface="+mj-lt"/>
                          <a:ea typeface="+mn-ea"/>
                          <a:cs typeface="+mn-ea"/>
                          <a:sym typeface="+mn-lt"/>
                        </a:rPr>
                        <a:t>（</a:t>
                      </a:r>
                      <a:r>
                        <a:rPr lang="en-US" altLang="zh-CN" sz="1000" b="1" kern="1200" dirty="0">
                          <a:solidFill>
                            <a:schemeClr val="bg1"/>
                          </a:solidFill>
                          <a:latin typeface="+mj-lt"/>
                          <a:ea typeface="+mn-ea"/>
                          <a:cs typeface="+mn-ea"/>
                          <a:sym typeface="+mn-lt"/>
                        </a:rPr>
                        <a:t>%</a:t>
                      </a:r>
                      <a:r>
                        <a:rPr lang="zh-CN" altLang="en-US" sz="1000" b="1" dirty="0">
                          <a:solidFill>
                            <a:schemeClr val="bg1"/>
                          </a:solidFill>
                          <a:latin typeface="+mj-lt"/>
                          <a:ea typeface="+mn-ea"/>
                          <a:cs typeface="+mn-ea"/>
                          <a:sym typeface="+mn-lt"/>
                        </a:rPr>
                        <a:t>）</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最新收盘价</a:t>
                      </a:r>
                      <a:endParaRPr lang="en-US" altLang="zh-CN" sz="1000" b="1" dirty="0">
                        <a:solidFill>
                          <a:schemeClr val="bg1"/>
                        </a:solidFill>
                        <a:latin typeface="+mj-lt"/>
                        <a:ea typeface="+mn-ea"/>
                        <a:cs typeface="+mn-ea"/>
                        <a:sym typeface="+mn-lt"/>
                      </a:endParaRPr>
                    </a:p>
                    <a:p>
                      <a:pPr algn="ctr"/>
                      <a:r>
                        <a:rPr lang="zh-CN" altLang="en-US" sz="1000" b="1" dirty="0">
                          <a:solidFill>
                            <a:schemeClr val="bg1"/>
                          </a:solidFill>
                          <a:latin typeface="+mj-lt"/>
                          <a:ea typeface="+mn-ea"/>
                          <a:cs typeface="+mn-ea"/>
                          <a:sym typeface="+mn-lt"/>
                        </a:rPr>
                        <a:t>（港元）</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配售类型</a:t>
                      </a:r>
                    </a:p>
                  </a:txBody>
                  <a:tcPr marL="0" marR="0" marT="0"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237600">
                <a:tc>
                  <a:txBody>
                    <a:bodyPr/>
                    <a:lstStyle/>
                    <a:p>
                      <a:pPr algn="ctr" fontAlgn="b">
                        <a:buNone/>
                      </a:pPr>
                      <a:r>
                        <a:rPr lang="en-US" altLang="zh-TW" sz="1000" b="0" i="0" u="none" strike="noStrike" dirty="0">
                          <a:solidFill>
                            <a:srgbClr val="000000"/>
                          </a:solidFill>
                          <a:effectLst/>
                          <a:latin typeface="Arial" panose="020B0604020202020204" pitchFamily="34" charset="0"/>
                          <a:cs typeface="Arial" panose="020B0604020202020204" pitchFamily="34" charset="0"/>
                        </a:rPr>
                        <a:t>1888</a:t>
                      </a:r>
                      <a:r>
                        <a:rPr lang="en-US" altLang="zh-CN" sz="1000" b="0" i="0" u="none" strike="noStrike" dirty="0">
                          <a:solidFill>
                            <a:srgbClr val="000000"/>
                          </a:solidFill>
                          <a:effectLst/>
                          <a:latin typeface="Arial" panose="020B0604020202020204" pitchFamily="34" charset="0"/>
                          <a:cs typeface="Arial" panose="020B0604020202020204" pitchFamily="34" charset="0"/>
                        </a:rPr>
                        <a:t>.HK</a:t>
                      </a:r>
                      <a:endParaRPr lang="en-HK"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zh-CN" altLang="en-US" sz="1000" b="0" i="0" u="none" strike="noStrike" dirty="0">
                          <a:solidFill>
                            <a:srgbClr val="000000"/>
                          </a:solidFill>
                          <a:effectLst/>
                          <a:latin typeface="Arial" panose="020B0604020202020204" pitchFamily="34" charset="0"/>
                          <a:ea typeface="+mj-ea"/>
                          <a:cs typeface="Arial" panose="020B0604020202020204" pitchFamily="34" charset="0"/>
                        </a:rPr>
                        <a:t>建滔积层板</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工业</a:t>
                      </a:r>
                      <a:endPar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348.00</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21.00</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-8.70</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j-ea"/>
                          <a:cs typeface="Arial" panose="020B0604020202020204" pitchFamily="34" charset="0"/>
                        </a:rPr>
                        <a:t>20.54</a:t>
                      </a:r>
                      <a:endParaRPr lang="zh-CN" altLang="en-US" sz="1000" b="0" i="0" u="none" strike="noStrike" dirty="0">
                        <a:solidFill>
                          <a:srgbClr val="000000"/>
                        </a:solidFill>
                        <a:effectLst/>
                        <a:latin typeface="Arial" panose="020B0604020202020204" pitchFamily="34" charset="0"/>
                        <a:ea typeface="+mj-ea"/>
                        <a:cs typeface="Arial" panose="020B0604020202020204" pitchFamily="34" charset="0"/>
                      </a:endParaRP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减持</a:t>
                      </a:r>
                      <a:endParaRPr lang="en-US"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5443" marR="5443" marT="544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9370000"/>
                  </a:ext>
                </a:extLst>
              </a:tr>
            </a:tbl>
          </a:graphicData>
        </a:graphic>
      </p:graphicFrame>
      <p:sp>
        <p:nvSpPr>
          <p:cNvPr id="6" name="TextBox 5">
            <a:extLst>
              <a:ext uri="{FF2B5EF4-FFF2-40B4-BE49-F238E27FC236}">
                <a16:creationId xmlns:a16="http://schemas.microsoft.com/office/drawing/2014/main" id="{874C7171-0FD7-92C9-3765-E4DD014B32FD}"/>
              </a:ext>
            </a:extLst>
          </p:cNvPr>
          <p:cNvSpPr txBox="1"/>
          <p:nvPr/>
        </p:nvSpPr>
        <p:spPr>
          <a:xfrm>
            <a:off x="248712" y="1774273"/>
            <a:ext cx="5173211" cy="646331"/>
          </a:xfrm>
          <a:prstGeom prst="rect">
            <a:avLst/>
          </a:prstGeom>
          <a:noFill/>
        </p:spPr>
        <p:txBody>
          <a:bodyPr wrap="none" rtlCol="0">
            <a:spAutoFit/>
          </a:bodyPr>
          <a:lstStyle/>
          <a:p>
            <a:r>
              <a:rPr lang="en-US" altLang="zh-CN" dirty="0">
                <a:highlight>
                  <a:srgbClr val="FFFF00"/>
                </a:highlight>
              </a:rPr>
              <a:t>1.</a:t>
            </a:r>
            <a:r>
              <a:rPr lang="zh-CN" altLang="en-US" dirty="0">
                <a:highlight>
                  <a:srgbClr val="FFFF00"/>
                </a:highlight>
              </a:rPr>
              <a:t> 到</a:t>
            </a:r>
            <a:r>
              <a:rPr lang="en-US" altLang="zh-CN" dirty="0" err="1">
                <a:highlight>
                  <a:srgbClr val="FFFF00"/>
                </a:highlight>
              </a:rPr>
              <a:t>dealogic</a:t>
            </a:r>
            <a:r>
              <a:rPr lang="en-US" altLang="zh-CN" dirty="0">
                <a:highlight>
                  <a:srgbClr val="FFFF00"/>
                </a:highlight>
              </a:rPr>
              <a:t> cortex, </a:t>
            </a:r>
            <a:r>
              <a:rPr lang="zh-CN" altLang="en-US" dirty="0">
                <a:highlight>
                  <a:srgbClr val="FFFF00"/>
                </a:highlight>
              </a:rPr>
              <a:t>打开</a:t>
            </a:r>
            <a:r>
              <a:rPr lang="en-US" altLang="zh-CN" dirty="0">
                <a:highlight>
                  <a:srgbClr val="FFFF00"/>
                </a:highlight>
              </a:rPr>
              <a:t>designer(</a:t>
            </a:r>
            <a:r>
              <a:rPr lang="zh-CN" altLang="en-US" dirty="0">
                <a:highlight>
                  <a:srgbClr val="FFFF00"/>
                </a:highlight>
              </a:rPr>
              <a:t>只有</a:t>
            </a:r>
            <a:r>
              <a:rPr lang="en-US" altLang="zh-CN" dirty="0">
                <a:highlight>
                  <a:srgbClr val="FFFF00"/>
                </a:highlight>
              </a:rPr>
              <a:t>Windows</a:t>
            </a:r>
          </a:p>
          <a:p>
            <a:r>
              <a:rPr lang="en-US" dirty="0" err="1">
                <a:highlight>
                  <a:srgbClr val="FFFF00"/>
                </a:highlight>
              </a:rPr>
              <a:t>才能用Dealogic</a:t>
            </a:r>
            <a:r>
              <a:rPr lang="en-US" dirty="0">
                <a:highlight>
                  <a:srgbClr val="FFFF00"/>
                </a:highlight>
              </a:rPr>
              <a:t>, </a:t>
            </a:r>
            <a:r>
              <a:rPr lang="en-US" dirty="0" err="1">
                <a:highlight>
                  <a:srgbClr val="FFFF00"/>
                </a:highlight>
              </a:rPr>
              <a:t>Mac不能</a:t>
            </a:r>
            <a:r>
              <a:rPr lang="en-US" dirty="0">
                <a:highlight>
                  <a:srgbClr val="FFFF00"/>
                </a:highlight>
              </a:rPr>
              <a:t>)</a:t>
            </a:r>
          </a:p>
        </p:txBody>
      </p:sp>
      <p:pic>
        <p:nvPicPr>
          <p:cNvPr id="11" name="Picture 10" descr="A screenshot of a computer&#10;&#10;AI-generated content may be incorrect.">
            <a:extLst>
              <a:ext uri="{FF2B5EF4-FFF2-40B4-BE49-F238E27FC236}">
                <a16:creationId xmlns:a16="http://schemas.microsoft.com/office/drawing/2014/main" id="{F8E1F16A-9FD5-5D2C-FB05-86047CEC4F16}"/>
              </a:ext>
            </a:extLst>
          </p:cNvPr>
          <p:cNvPicPr>
            <a:picLocks noChangeAspect="1"/>
          </p:cNvPicPr>
          <p:nvPr/>
        </p:nvPicPr>
        <p:blipFill>
          <a:blip r:embed="rId5">
            <a:extLst>
              <a:ext uri="{28A0092B-C50C-407E-A947-70E740481C1C}">
                <a14:useLocalDpi xmlns:a14="http://schemas.microsoft.com/office/drawing/2010/main" val="0"/>
              </a:ext>
            </a:extLst>
          </a:blip>
          <a:srcRect l="57022" t="-70895" r="-57022" b="70895"/>
          <a:stretch>
            <a:fillRect/>
          </a:stretch>
        </p:blipFill>
        <p:spPr>
          <a:xfrm>
            <a:off x="426129" y="-1498608"/>
            <a:ext cx="9900514" cy="556904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B9A7040C-EF34-094A-7DF4-A00E281B31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892" y="4625859"/>
            <a:ext cx="3470836" cy="1952345"/>
          </a:xfrm>
          <a:prstGeom prst="rect">
            <a:avLst/>
          </a:prstGeom>
        </p:spPr>
      </p:pic>
      <p:sp>
        <p:nvSpPr>
          <p:cNvPr id="14" name="Frame 13">
            <a:extLst>
              <a:ext uri="{FF2B5EF4-FFF2-40B4-BE49-F238E27FC236}">
                <a16:creationId xmlns:a16="http://schemas.microsoft.com/office/drawing/2014/main" id="{A3C95B65-04D5-3948-3E7F-73A1B3222B9F}"/>
              </a:ext>
            </a:extLst>
          </p:cNvPr>
          <p:cNvSpPr/>
          <p:nvPr/>
        </p:nvSpPr>
        <p:spPr>
          <a:xfrm>
            <a:off x="2888245" y="2536375"/>
            <a:ext cx="920456" cy="466283"/>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DBCFC604-B618-2E6C-5309-4533243A4C21}"/>
              </a:ext>
            </a:extLst>
          </p:cNvPr>
          <p:cNvSpPr txBox="1"/>
          <p:nvPr/>
        </p:nvSpPr>
        <p:spPr>
          <a:xfrm>
            <a:off x="294772" y="4218499"/>
            <a:ext cx="5686172" cy="369332"/>
          </a:xfrm>
          <a:prstGeom prst="rect">
            <a:avLst/>
          </a:prstGeom>
          <a:noFill/>
        </p:spPr>
        <p:txBody>
          <a:bodyPr wrap="none" rtlCol="0">
            <a:spAutoFit/>
          </a:bodyPr>
          <a:lstStyle/>
          <a:p>
            <a:r>
              <a:rPr lang="en-US" dirty="0">
                <a:highlight>
                  <a:srgbClr val="FFFF00"/>
                </a:highlight>
              </a:rPr>
              <a:t>2. &gt;J&gt;FO min 10mn, “Open”, </a:t>
            </a:r>
            <a:r>
              <a:rPr lang="en-US" dirty="0" err="1">
                <a:highlight>
                  <a:srgbClr val="FFFF00"/>
                </a:highlight>
              </a:rPr>
              <a:t>什么都不用调</a:t>
            </a:r>
            <a:r>
              <a:rPr lang="zh-CN" altLang="en-US" dirty="0">
                <a:highlight>
                  <a:srgbClr val="FFFF00"/>
                </a:highlight>
              </a:rPr>
              <a:t>，按</a:t>
            </a:r>
            <a:r>
              <a:rPr lang="en-US" dirty="0">
                <a:highlight>
                  <a:srgbClr val="FFFF00"/>
                </a:highlight>
              </a:rPr>
              <a:t>Finish</a:t>
            </a:r>
          </a:p>
        </p:txBody>
      </p:sp>
      <p:cxnSp>
        <p:nvCxnSpPr>
          <p:cNvPr id="19" name="Straight Arrow Connector 18">
            <a:extLst>
              <a:ext uri="{FF2B5EF4-FFF2-40B4-BE49-F238E27FC236}">
                <a16:creationId xmlns:a16="http://schemas.microsoft.com/office/drawing/2014/main" id="{01CDB4FD-D9F7-7575-A166-510A950A019D}"/>
              </a:ext>
            </a:extLst>
          </p:cNvPr>
          <p:cNvCxnSpPr>
            <a:cxnSpLocks/>
          </p:cNvCxnSpPr>
          <p:nvPr/>
        </p:nvCxnSpPr>
        <p:spPr>
          <a:xfrm>
            <a:off x="1759789" y="4180936"/>
            <a:ext cx="1736785" cy="2205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screenshot of a computer&#10;&#10;AI-generated content may be incorrect.">
            <a:extLst>
              <a:ext uri="{FF2B5EF4-FFF2-40B4-BE49-F238E27FC236}">
                <a16:creationId xmlns:a16="http://schemas.microsoft.com/office/drawing/2014/main" id="{360361F3-BDCD-03BF-A638-1778FAC5C2B2}"/>
              </a:ext>
            </a:extLst>
          </p:cNvPr>
          <p:cNvPicPr>
            <a:picLocks noChangeAspect="1"/>
          </p:cNvPicPr>
          <p:nvPr/>
        </p:nvPicPr>
        <p:blipFill>
          <a:blip r:embed="rId6">
            <a:extLst>
              <a:ext uri="{28A0092B-C50C-407E-A947-70E740481C1C}">
                <a14:useLocalDpi xmlns:a14="http://schemas.microsoft.com/office/drawing/2010/main" val="0"/>
              </a:ext>
            </a:extLst>
          </a:blip>
          <a:srcRect l="4740" t="19677" r="80141" b="52225"/>
          <a:stretch>
            <a:fillRect/>
          </a:stretch>
        </p:blipFill>
        <p:spPr>
          <a:xfrm>
            <a:off x="6382728" y="2032480"/>
            <a:ext cx="1977188" cy="2066985"/>
          </a:xfrm>
          <a:prstGeom prst="rect">
            <a:avLst/>
          </a:prstGeom>
        </p:spPr>
      </p:pic>
      <p:sp>
        <p:nvSpPr>
          <p:cNvPr id="24" name="Frame 23">
            <a:extLst>
              <a:ext uri="{FF2B5EF4-FFF2-40B4-BE49-F238E27FC236}">
                <a16:creationId xmlns:a16="http://schemas.microsoft.com/office/drawing/2014/main" id="{6DFB97C1-5533-D839-498A-D2EF2101FCB1}"/>
              </a:ext>
            </a:extLst>
          </p:cNvPr>
          <p:cNvSpPr/>
          <p:nvPr/>
        </p:nvSpPr>
        <p:spPr>
          <a:xfrm>
            <a:off x="6789133" y="2490842"/>
            <a:ext cx="256674" cy="298070"/>
          </a:xfrm>
          <a:prstGeom prst="fram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215106F7-E7C2-85D3-4E24-837791226C8A}"/>
              </a:ext>
            </a:extLst>
          </p:cNvPr>
          <p:cNvSpPr txBox="1"/>
          <p:nvPr/>
        </p:nvSpPr>
        <p:spPr>
          <a:xfrm>
            <a:off x="5920339" y="1774753"/>
            <a:ext cx="2839239" cy="369332"/>
          </a:xfrm>
          <a:prstGeom prst="rect">
            <a:avLst/>
          </a:prstGeom>
          <a:noFill/>
        </p:spPr>
        <p:txBody>
          <a:bodyPr wrap="none" rtlCol="0">
            <a:spAutoFit/>
          </a:bodyPr>
          <a:lstStyle/>
          <a:p>
            <a:r>
              <a:rPr lang="en-US" dirty="0">
                <a:highlight>
                  <a:srgbClr val="FFFF00"/>
                </a:highlight>
              </a:rPr>
              <a:t>3. </a:t>
            </a:r>
            <a:r>
              <a:rPr lang="en-US" dirty="0" err="1">
                <a:highlight>
                  <a:srgbClr val="FFFF00"/>
                </a:highlight>
              </a:rPr>
              <a:t>按</a:t>
            </a:r>
            <a:r>
              <a:rPr lang="zh-CN" altLang="en-US" dirty="0">
                <a:highlight>
                  <a:srgbClr val="FFFF00"/>
                </a:highlight>
              </a:rPr>
              <a:t>“</a:t>
            </a:r>
            <a:r>
              <a:rPr lang="en-US" altLang="zh-CN" dirty="0">
                <a:highlight>
                  <a:srgbClr val="FFFF00"/>
                </a:highlight>
              </a:rPr>
              <a:t>X</a:t>
            </a:r>
            <a:r>
              <a:rPr lang="zh-CN" altLang="en-US" dirty="0">
                <a:highlight>
                  <a:srgbClr val="FFFF00"/>
                </a:highlight>
              </a:rPr>
              <a:t>”</a:t>
            </a:r>
            <a:r>
              <a:rPr lang="en-US" dirty="0">
                <a:highlight>
                  <a:srgbClr val="FFFF00"/>
                </a:highlight>
              </a:rPr>
              <a:t>Export to Excel</a:t>
            </a:r>
          </a:p>
        </p:txBody>
      </p:sp>
      <p:sp>
        <p:nvSpPr>
          <p:cNvPr id="26" name="TextBox 25">
            <a:extLst>
              <a:ext uri="{FF2B5EF4-FFF2-40B4-BE49-F238E27FC236}">
                <a16:creationId xmlns:a16="http://schemas.microsoft.com/office/drawing/2014/main" id="{C8ECFB55-574B-A05A-F373-8F38A4E8C8D0}"/>
              </a:ext>
            </a:extLst>
          </p:cNvPr>
          <p:cNvSpPr txBox="1"/>
          <p:nvPr/>
        </p:nvSpPr>
        <p:spPr>
          <a:xfrm>
            <a:off x="5657684" y="4695270"/>
            <a:ext cx="3719929" cy="1200329"/>
          </a:xfrm>
          <a:prstGeom prst="rect">
            <a:avLst/>
          </a:prstGeom>
          <a:noFill/>
        </p:spPr>
        <p:txBody>
          <a:bodyPr wrap="none" rtlCol="0">
            <a:spAutoFit/>
          </a:bodyPr>
          <a:lstStyle/>
          <a:p>
            <a:r>
              <a:rPr lang="en-US" dirty="0" err="1">
                <a:solidFill>
                  <a:srgbClr val="FF0000"/>
                </a:solidFill>
              </a:rPr>
              <a:t>每一个都要到hkex找有没有公告</a:t>
            </a:r>
            <a:r>
              <a:rPr lang="zh-CN" altLang="en-US" dirty="0">
                <a:solidFill>
                  <a:srgbClr val="FF0000"/>
                </a:solidFill>
              </a:rPr>
              <a:t>，</a:t>
            </a:r>
            <a:endParaRPr lang="en-US" altLang="zh-CN" dirty="0">
              <a:solidFill>
                <a:srgbClr val="FF0000"/>
              </a:solidFill>
            </a:endParaRPr>
          </a:p>
          <a:p>
            <a:r>
              <a:rPr lang="zh-CN" altLang="en-US" dirty="0">
                <a:solidFill>
                  <a:srgbClr val="FF0000"/>
                </a:solidFill>
              </a:rPr>
              <a:t>很多时候会没有，没有公告的不要</a:t>
            </a:r>
            <a:r>
              <a:rPr lang="en-US" altLang="zh-CN" dirty="0">
                <a:solidFill>
                  <a:srgbClr val="FF0000"/>
                </a:solidFill>
              </a:rPr>
              <a:t>,</a:t>
            </a:r>
          </a:p>
          <a:p>
            <a:r>
              <a:rPr lang="en-US" dirty="0" err="1">
                <a:solidFill>
                  <a:srgbClr val="FF0000"/>
                </a:solidFill>
              </a:rPr>
              <a:t>Dealogic会错</a:t>
            </a:r>
            <a:r>
              <a:rPr lang="zh-CN" altLang="en-US" dirty="0">
                <a:solidFill>
                  <a:srgbClr val="FF0000"/>
                </a:solidFill>
              </a:rPr>
              <a:t>，</a:t>
            </a:r>
            <a:r>
              <a:rPr lang="en-US" altLang="zh-CN" dirty="0">
                <a:solidFill>
                  <a:srgbClr val="FF0000"/>
                </a:solidFill>
              </a:rPr>
              <a:t>Rights offering</a:t>
            </a:r>
            <a:r>
              <a:rPr lang="zh-CN" altLang="en-US" dirty="0">
                <a:solidFill>
                  <a:srgbClr val="FF0000"/>
                </a:solidFill>
              </a:rPr>
              <a:t>的也</a:t>
            </a:r>
            <a:endParaRPr lang="en-US" altLang="zh-CN" dirty="0">
              <a:solidFill>
                <a:srgbClr val="FF0000"/>
              </a:solidFill>
            </a:endParaRPr>
          </a:p>
          <a:p>
            <a:r>
              <a:rPr lang="zh-CN" altLang="en-US" dirty="0">
                <a:solidFill>
                  <a:srgbClr val="FF0000"/>
                </a:solidFill>
              </a:rPr>
              <a:t>不要</a:t>
            </a:r>
            <a:endParaRPr lang="en-US" dirty="0">
              <a:solidFill>
                <a:srgbClr val="FF0000"/>
              </a:solidFill>
            </a:endParaRPr>
          </a:p>
        </p:txBody>
      </p:sp>
      <p:sp>
        <p:nvSpPr>
          <p:cNvPr id="27" name="Frame 26">
            <a:extLst>
              <a:ext uri="{FF2B5EF4-FFF2-40B4-BE49-F238E27FC236}">
                <a16:creationId xmlns:a16="http://schemas.microsoft.com/office/drawing/2014/main" id="{E4EE0533-2D96-B9EC-B7C6-3C55EB316D55}"/>
              </a:ext>
            </a:extLst>
          </p:cNvPr>
          <p:cNvSpPr/>
          <p:nvPr/>
        </p:nvSpPr>
        <p:spPr>
          <a:xfrm>
            <a:off x="294772" y="1397908"/>
            <a:ext cx="6751035" cy="301782"/>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ame 27">
            <a:extLst>
              <a:ext uri="{FF2B5EF4-FFF2-40B4-BE49-F238E27FC236}">
                <a16:creationId xmlns:a16="http://schemas.microsoft.com/office/drawing/2014/main" id="{07ABB3F5-06D3-228A-5C50-E6516CDD7266}"/>
              </a:ext>
            </a:extLst>
          </p:cNvPr>
          <p:cNvSpPr/>
          <p:nvPr/>
        </p:nvSpPr>
        <p:spPr>
          <a:xfrm>
            <a:off x="8359916" y="1397908"/>
            <a:ext cx="799324" cy="376365"/>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4FA0CD98-B071-FCDE-9CD0-D1AD2F6AF142}"/>
              </a:ext>
            </a:extLst>
          </p:cNvPr>
          <p:cNvSpPr txBox="1"/>
          <p:nvPr/>
        </p:nvSpPr>
        <p:spPr>
          <a:xfrm>
            <a:off x="2690627" y="560027"/>
            <a:ext cx="2172390" cy="369332"/>
          </a:xfrm>
          <a:prstGeom prst="rect">
            <a:avLst/>
          </a:prstGeom>
          <a:noFill/>
        </p:spPr>
        <p:txBody>
          <a:bodyPr wrap="none" rtlCol="0">
            <a:spAutoFit/>
          </a:bodyPr>
          <a:lstStyle/>
          <a:p>
            <a:r>
              <a:rPr lang="en-US" dirty="0" err="1">
                <a:highlight>
                  <a:srgbClr val="FFFF00"/>
                </a:highlight>
              </a:rPr>
              <a:t>抄Dealogic</a:t>
            </a:r>
            <a:r>
              <a:rPr lang="en-US" dirty="0">
                <a:highlight>
                  <a:srgbClr val="FFFF00"/>
                </a:highlight>
              </a:rPr>
              <a:t> </a:t>
            </a:r>
            <a:r>
              <a:rPr lang="en-US" dirty="0" err="1">
                <a:highlight>
                  <a:srgbClr val="FFFF00"/>
                </a:highlight>
              </a:rPr>
              <a:t>的Excel</a:t>
            </a:r>
            <a:endParaRPr lang="en-US" dirty="0">
              <a:highlight>
                <a:srgbClr val="FFFF00"/>
              </a:highlight>
            </a:endParaRPr>
          </a:p>
        </p:txBody>
      </p:sp>
      <p:cxnSp>
        <p:nvCxnSpPr>
          <p:cNvPr id="31" name="Straight Connector 30">
            <a:extLst>
              <a:ext uri="{FF2B5EF4-FFF2-40B4-BE49-F238E27FC236}">
                <a16:creationId xmlns:a16="http://schemas.microsoft.com/office/drawing/2014/main" id="{3D7AC36B-1770-3B53-F43D-B10F7C0557E2}"/>
              </a:ext>
            </a:extLst>
          </p:cNvPr>
          <p:cNvCxnSpPr>
            <a:cxnSpLocks/>
          </p:cNvCxnSpPr>
          <p:nvPr/>
        </p:nvCxnSpPr>
        <p:spPr>
          <a:xfrm flipH="1">
            <a:off x="3618323" y="937588"/>
            <a:ext cx="138411" cy="4603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DB8D110-AF56-4C93-9015-64CE7D1B022E}"/>
              </a:ext>
            </a:extLst>
          </p:cNvPr>
          <p:cNvSpPr txBox="1"/>
          <p:nvPr/>
        </p:nvSpPr>
        <p:spPr>
          <a:xfrm>
            <a:off x="7634739" y="677210"/>
            <a:ext cx="1890261" cy="369332"/>
          </a:xfrm>
          <a:prstGeom prst="rect">
            <a:avLst/>
          </a:prstGeom>
          <a:noFill/>
        </p:spPr>
        <p:txBody>
          <a:bodyPr wrap="none" rtlCol="0">
            <a:spAutoFit/>
          </a:bodyPr>
          <a:lstStyle/>
          <a:p>
            <a:r>
              <a:rPr lang="en-US" dirty="0" err="1">
                <a:highlight>
                  <a:srgbClr val="FFFF00"/>
                </a:highlight>
              </a:rPr>
              <a:t>看hkex公告判断</a:t>
            </a:r>
            <a:r>
              <a:rPr lang="en-US" dirty="0">
                <a:highlight>
                  <a:srgbClr val="FFFF00"/>
                </a:highlight>
              </a:rPr>
              <a:t> </a:t>
            </a:r>
          </a:p>
        </p:txBody>
      </p:sp>
      <p:cxnSp>
        <p:nvCxnSpPr>
          <p:cNvPr id="38" name="Straight Connector 37">
            <a:extLst>
              <a:ext uri="{FF2B5EF4-FFF2-40B4-BE49-F238E27FC236}">
                <a16:creationId xmlns:a16="http://schemas.microsoft.com/office/drawing/2014/main" id="{1069F82B-2D88-DC51-A4DC-CF5082B95247}"/>
              </a:ext>
            </a:extLst>
          </p:cNvPr>
          <p:cNvCxnSpPr>
            <a:cxnSpLocks/>
            <a:stCxn id="36" idx="2"/>
            <a:endCxn id="28" idx="0"/>
          </p:cNvCxnSpPr>
          <p:nvPr/>
        </p:nvCxnSpPr>
        <p:spPr>
          <a:xfrm>
            <a:off x="8579870" y="1046542"/>
            <a:ext cx="179708" cy="351366"/>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81FCBC5-28CC-76B6-0DDE-4AC70E092FA4}"/>
              </a:ext>
            </a:extLst>
          </p:cNvPr>
          <p:cNvCxnSpPr>
            <a:cxnSpLocks/>
          </p:cNvCxnSpPr>
          <p:nvPr/>
        </p:nvCxnSpPr>
        <p:spPr>
          <a:xfrm>
            <a:off x="6942118" y="861876"/>
            <a:ext cx="360476" cy="724214"/>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B34B90E-5D0F-D18E-E8D0-A1CE28FD1AD4}"/>
              </a:ext>
            </a:extLst>
          </p:cNvPr>
          <p:cNvSpPr txBox="1"/>
          <p:nvPr/>
        </p:nvSpPr>
        <p:spPr>
          <a:xfrm>
            <a:off x="5666289" y="546654"/>
            <a:ext cx="2031325" cy="369332"/>
          </a:xfrm>
          <a:prstGeom prst="rect">
            <a:avLst/>
          </a:prstGeom>
          <a:noFill/>
        </p:spPr>
        <p:txBody>
          <a:bodyPr wrap="none" rtlCol="0">
            <a:spAutoFit/>
          </a:bodyPr>
          <a:lstStyle/>
          <a:p>
            <a:r>
              <a:rPr lang="en-US" dirty="0" err="1">
                <a:highlight>
                  <a:srgbClr val="FFFF00"/>
                </a:highlight>
              </a:rPr>
              <a:t>自己到交易平台看</a:t>
            </a:r>
            <a:endParaRPr lang="en-US" dirty="0">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575389"/>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a:cs typeface="+mn-ea"/>
                <a:sym typeface="+mn-lt"/>
                <a:hlinkClick r:id="rId4"/>
              </a:rPr>
              <a:t>http://</a:t>
            </a:r>
            <a:r>
              <a:rPr lang="en-US" sz="1200" dirty="0">
                <a:cs typeface="+mn-ea"/>
                <a:sym typeface="+mn-lt"/>
                <a:hlinkClick r:id="rId4"/>
              </a:rPr>
              <a:t>www.aastocks.com/tc/stocks/market/ipo/upcomingipo/company-summary</a:t>
            </a:r>
            <a:r>
              <a:rPr lang="en-US" sz="1200" dirty="0">
                <a:cs typeface="+mn-ea"/>
                <a:sym typeface="+mn-lt"/>
              </a:rPr>
              <a:t> </a:t>
            </a:r>
          </a:p>
        </p:txBody>
      </p:sp>
      <p:sp>
        <p:nvSpPr>
          <p:cNvPr id="17" name="Title 1"/>
          <p:cNvSpPr>
            <a:spLocks noGrp="1"/>
          </p:cNvSpPr>
          <p:nvPr>
            <p:ph type="title"/>
          </p:nvPr>
        </p:nvSpPr>
        <p:spPr>
          <a:xfrm>
            <a:off x="381000" y="182880"/>
            <a:ext cx="7132320" cy="320040"/>
          </a:xfrm>
        </p:spPr>
        <p:txBody>
          <a:bodyPr>
            <a:normAutofit/>
          </a:bodyPr>
          <a:lstStyle/>
          <a:p>
            <a:r>
              <a:rPr lang="zh-CN" altLang="en-US" dirty="0">
                <a:latin typeface="+mn-lt"/>
                <a:ea typeface="+mn-ea"/>
                <a:cs typeface="+mn-ea"/>
                <a:sym typeface="+mn-lt"/>
              </a:rPr>
              <a:t>过去一周香港二级市场融资及新股交表情况概览（续）</a:t>
            </a:r>
          </a:p>
        </p:txBody>
      </p:sp>
      <p:sp>
        <p:nvSpPr>
          <p:cNvPr id="2" name="文本框 1"/>
          <p:cNvSpPr txBox="1"/>
          <p:nvPr/>
        </p:nvSpPr>
        <p:spPr>
          <a:xfrm>
            <a:off x="294772" y="661459"/>
            <a:ext cx="4791710" cy="276129"/>
          </a:xfrm>
          <a:prstGeom prst="rect">
            <a:avLst/>
          </a:prstGeom>
          <a:noFill/>
        </p:spPr>
        <p:txBody>
          <a:bodyPr wrap="square" rtlCol="0" anchor="t">
            <a:noAutofit/>
          </a:bodyPr>
          <a:lstStyle/>
          <a:p>
            <a:r>
              <a:rPr lang="zh-CN" altLang="en-US" sz="1400" b="1" u="sng" dirty="0">
                <a:solidFill>
                  <a:schemeClr val="accent1"/>
                </a:solidFill>
                <a:cs typeface="+mn-ea"/>
                <a:sym typeface="+mn-lt"/>
              </a:rPr>
              <a:t>上周港股市场配售项目一览</a:t>
            </a:r>
          </a:p>
        </p:txBody>
      </p:sp>
      <p:sp>
        <p:nvSpPr>
          <p:cNvPr id="8" name="Text Placeholder FN"/>
          <p:cNvSpPr txBox="1"/>
          <p:nvPr>
            <p:custDataLst>
              <p:tags r:id="rId1"/>
            </p:custDataLst>
          </p:nvPr>
        </p:nvSpPr>
        <p:spPr>
          <a:xfrm>
            <a:off x="381000" y="6237962"/>
            <a:ext cx="9097108" cy="296133"/>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zh-CN" altLang="en-US" sz="800" dirty="0">
                <a:solidFill>
                  <a:schemeClr val="tx1"/>
                </a:solidFill>
                <a:cs typeface="+mn-ea"/>
                <a:sym typeface="+mn-lt"/>
              </a:rPr>
              <a:t>资料来源：</a:t>
            </a:r>
            <a:r>
              <a:rPr lang="en-US" altLang="zh-CN" sz="800" b="0" dirty="0">
                <a:solidFill>
                  <a:schemeClr val="tx1"/>
                </a:solidFill>
                <a:cs typeface="+mn-ea"/>
                <a:sym typeface="+mn-lt"/>
              </a:rPr>
              <a:t>Dealogic</a:t>
            </a:r>
            <a:r>
              <a:rPr lang="zh-CN" altLang="en-US" sz="800" b="0" dirty="0">
                <a:solidFill>
                  <a:schemeClr val="tx1"/>
                </a:solidFill>
                <a:cs typeface="+mn-ea"/>
                <a:sym typeface="+mn-lt"/>
              </a:rPr>
              <a:t>（截至</a:t>
            </a:r>
            <a:r>
              <a:rPr lang="en-US" altLang="zh-CN" sz="800" b="0" dirty="0">
                <a:solidFill>
                  <a:schemeClr val="tx1"/>
                </a:solidFill>
                <a:cs typeface="+mn-ea"/>
                <a:sym typeface="+mn-lt"/>
              </a:rPr>
              <a:t>2026</a:t>
            </a:r>
            <a:r>
              <a:rPr lang="zh-CN" altLang="en-US" sz="800" b="0" dirty="0">
                <a:solidFill>
                  <a:schemeClr val="tx1"/>
                </a:solidFill>
                <a:cs typeface="+mn-ea"/>
                <a:sym typeface="+mn-lt"/>
              </a:rPr>
              <a:t>年</a:t>
            </a:r>
            <a:r>
              <a:rPr lang="en-US" altLang="zh-CN" sz="800" b="0" dirty="0">
                <a:solidFill>
                  <a:schemeClr val="tx1"/>
                </a:solidFill>
                <a:cs typeface="+mn-ea"/>
                <a:sym typeface="+mn-lt"/>
              </a:rPr>
              <a:t>3</a:t>
            </a:r>
            <a:r>
              <a:rPr lang="zh-CN" altLang="en-US" sz="800" b="0" dirty="0">
                <a:solidFill>
                  <a:schemeClr val="tx1"/>
                </a:solidFill>
                <a:cs typeface="+mn-ea"/>
                <a:sym typeface="+mn-lt"/>
              </a:rPr>
              <a:t>月</a:t>
            </a:r>
            <a:r>
              <a:rPr lang="en-US" altLang="zh-TW" sz="800" b="0" dirty="0">
                <a:solidFill>
                  <a:schemeClr val="tx1"/>
                </a:solidFill>
                <a:cs typeface="+mn-ea"/>
                <a:sym typeface="+mn-lt"/>
              </a:rPr>
              <a:t>20</a:t>
            </a:r>
            <a:r>
              <a:rPr lang="zh-CN" altLang="en-US" sz="800" b="0" dirty="0">
                <a:solidFill>
                  <a:schemeClr val="tx1"/>
                </a:solidFill>
                <a:cs typeface="+mn-ea"/>
                <a:sym typeface="+mn-lt"/>
              </a:rPr>
              <a:t>日），只包括集资规模为</a:t>
            </a:r>
            <a:r>
              <a:rPr lang="en-US" altLang="zh-CN" sz="800" b="0" dirty="0">
                <a:solidFill>
                  <a:schemeClr val="tx1"/>
                </a:solidFill>
                <a:cs typeface="+mn-ea"/>
                <a:sym typeface="+mn-lt"/>
              </a:rPr>
              <a:t>1,000</a:t>
            </a:r>
            <a:r>
              <a:rPr lang="zh-CN" altLang="en-US" sz="800" b="0" dirty="0">
                <a:solidFill>
                  <a:schemeClr val="tx1"/>
                </a:solidFill>
                <a:cs typeface="+mn-ea"/>
                <a:sym typeface="+mn-lt"/>
              </a:rPr>
              <a:t>万美元及以上的项目，不包括</a:t>
            </a:r>
            <a:r>
              <a:rPr lang="en-US" altLang="zh-CN" sz="800" b="0" dirty="0">
                <a:solidFill>
                  <a:schemeClr val="tx1"/>
                </a:solidFill>
                <a:cs typeface="+mn-ea"/>
                <a:sym typeface="+mn-lt"/>
              </a:rPr>
              <a:t>Rights Issue</a:t>
            </a:r>
          </a:p>
        </p:txBody>
      </p:sp>
      <p:sp>
        <p:nvSpPr>
          <p:cNvPr id="9" name="灯片编号占位符 8"/>
          <p:cNvSpPr>
            <a:spLocks noGrp="1"/>
          </p:cNvSpPr>
          <p:nvPr>
            <p:ph type="sldNum" sz="quarter" idx="16"/>
          </p:nvPr>
        </p:nvSpPr>
        <p:spPr/>
        <p:txBody>
          <a:bodyPr/>
          <a:lstStyle/>
          <a:p>
            <a:fld id="{72E6F1C1-8568-433B-B05E-E21B84158B67}" type="slidenum">
              <a:rPr lang="en-US" smtClean="0"/>
              <a:t>14</a:t>
            </a:fld>
            <a:endParaRPr lang="en-US" dirty="0"/>
          </a:p>
        </p:txBody>
      </p:sp>
      <p:graphicFrame>
        <p:nvGraphicFramePr>
          <p:cNvPr id="5" name="Content Placeholder 5">
            <a:extLst>
              <a:ext uri="{FF2B5EF4-FFF2-40B4-BE49-F238E27FC236}">
                <a16:creationId xmlns:a16="http://schemas.microsoft.com/office/drawing/2014/main" id="{706BC517-898F-F101-1051-291D489996E9}"/>
              </a:ext>
            </a:extLst>
          </p:cNvPr>
          <p:cNvGraphicFramePr/>
          <p:nvPr/>
        </p:nvGraphicFramePr>
        <p:xfrm>
          <a:off x="381002" y="1096127"/>
          <a:ext cx="9143998" cy="603563"/>
        </p:xfrm>
        <a:graphic>
          <a:graphicData uri="http://schemas.openxmlformats.org/drawingml/2006/table">
            <a:tbl>
              <a:tblPr/>
              <a:tblGrid>
                <a:gridCol w="750275">
                  <a:extLst>
                    <a:ext uri="{9D8B030D-6E8A-4147-A177-3AD203B41FA5}">
                      <a16:colId xmlns:a16="http://schemas.microsoft.com/office/drawing/2014/main" val="20000"/>
                    </a:ext>
                  </a:extLst>
                </a:gridCol>
                <a:gridCol w="1351904">
                  <a:extLst>
                    <a:ext uri="{9D8B030D-6E8A-4147-A177-3AD203B41FA5}">
                      <a16:colId xmlns:a16="http://schemas.microsoft.com/office/drawing/2014/main" val="20001"/>
                    </a:ext>
                  </a:extLst>
                </a:gridCol>
                <a:gridCol w="1010096">
                  <a:extLst>
                    <a:ext uri="{9D8B030D-6E8A-4147-A177-3AD203B41FA5}">
                      <a16:colId xmlns:a16="http://schemas.microsoft.com/office/drawing/2014/main" val="20002"/>
                    </a:ext>
                  </a:extLst>
                </a:gridCol>
                <a:gridCol w="1223416">
                  <a:extLst>
                    <a:ext uri="{9D8B030D-6E8A-4147-A177-3AD203B41FA5}">
                      <a16:colId xmlns:a16="http://schemas.microsoft.com/office/drawing/2014/main" val="20003"/>
                    </a:ext>
                  </a:extLst>
                </a:gridCol>
                <a:gridCol w="766092">
                  <a:extLst>
                    <a:ext uri="{9D8B030D-6E8A-4147-A177-3AD203B41FA5}">
                      <a16:colId xmlns:a16="http://schemas.microsoft.com/office/drawing/2014/main" val="20004"/>
                    </a:ext>
                  </a:extLst>
                </a:gridCol>
                <a:gridCol w="834844">
                  <a:extLst>
                    <a:ext uri="{9D8B030D-6E8A-4147-A177-3AD203B41FA5}">
                      <a16:colId xmlns:a16="http://schemas.microsoft.com/office/drawing/2014/main" val="20005"/>
                    </a:ext>
                  </a:extLst>
                </a:gridCol>
                <a:gridCol w="746449">
                  <a:extLst>
                    <a:ext uri="{9D8B030D-6E8A-4147-A177-3AD203B41FA5}">
                      <a16:colId xmlns:a16="http://schemas.microsoft.com/office/drawing/2014/main" val="20006"/>
                    </a:ext>
                  </a:extLst>
                </a:gridCol>
                <a:gridCol w="909258">
                  <a:extLst>
                    <a:ext uri="{9D8B030D-6E8A-4147-A177-3AD203B41FA5}">
                      <a16:colId xmlns:a16="http://schemas.microsoft.com/office/drawing/2014/main" val="20007"/>
                    </a:ext>
                  </a:extLst>
                </a:gridCol>
                <a:gridCol w="1551664">
                  <a:extLst>
                    <a:ext uri="{9D8B030D-6E8A-4147-A177-3AD203B41FA5}">
                      <a16:colId xmlns:a16="http://schemas.microsoft.com/office/drawing/2014/main" val="20008"/>
                    </a:ext>
                  </a:extLst>
                </a:gridCol>
              </a:tblGrid>
              <a:tr h="365963">
                <a:tc>
                  <a:txBody>
                    <a:bodyPr/>
                    <a:lstStyle/>
                    <a:p>
                      <a:pPr algn="ctr"/>
                      <a:r>
                        <a:rPr lang="zh-CN" altLang="en-US" sz="1000" b="1" dirty="0">
                          <a:solidFill>
                            <a:schemeClr val="bg1"/>
                          </a:solidFill>
                          <a:latin typeface="+mj-lt"/>
                          <a:ea typeface="+mn-ea"/>
                          <a:cs typeface="+mn-ea"/>
                          <a:sym typeface="+mn-lt"/>
                        </a:rPr>
                        <a:t>股票代码</a:t>
                      </a:r>
                      <a:endParaRPr lang="zh-HK" altLang="en-US" sz="1000" b="1" dirty="0">
                        <a:solidFill>
                          <a:schemeClr val="bg1"/>
                        </a:solidFill>
                        <a:latin typeface="+mj-lt"/>
                        <a:ea typeface="+mn-ea"/>
                        <a:cs typeface="+mn-ea"/>
                        <a:sym typeface="+mn-lt"/>
                      </a:endParaRPr>
                    </a:p>
                  </a:txBody>
                  <a:tcPr marL="0" marR="0" marT="0"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n-lt"/>
                          <a:ea typeface="+mn-ea"/>
                          <a:cs typeface="+mn-ea"/>
                          <a:sym typeface="+mn-lt"/>
                        </a:rPr>
                        <a:t>公司</a:t>
                      </a:r>
                      <a:endParaRPr lang="zh-HK" altLang="en-US" sz="1000" b="1" dirty="0">
                        <a:solidFill>
                          <a:schemeClr val="bg1"/>
                        </a:solidFill>
                        <a:latin typeface="+mn-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行业</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HK" altLang="en-US" sz="1000" b="1" kern="1200" dirty="0">
                          <a:solidFill>
                            <a:schemeClr val="bg1"/>
                          </a:solidFill>
                          <a:latin typeface="+mj-lt"/>
                          <a:ea typeface="+mn-ea"/>
                          <a:cs typeface="+mn-ea"/>
                          <a:sym typeface="+mn-lt"/>
                        </a:rPr>
                        <a:t>配售定价日期</a:t>
                      </a:r>
                    </a:p>
                  </a:txBody>
                  <a:tcPr marL="0" marR="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融资规模</a:t>
                      </a:r>
                      <a:endParaRPr lang="en-US" altLang="zh-CN" sz="1000" b="1" dirty="0">
                        <a:solidFill>
                          <a:schemeClr val="bg1"/>
                        </a:solidFill>
                        <a:latin typeface="+mj-lt"/>
                        <a:ea typeface="+mn-ea"/>
                        <a:cs typeface="+mn-ea"/>
                        <a:sym typeface="+mn-lt"/>
                      </a:endParaRPr>
                    </a:p>
                    <a:p>
                      <a:pPr algn="ctr"/>
                      <a:r>
                        <a:rPr lang="zh-CN" altLang="en-US" sz="1000" b="1" dirty="0">
                          <a:solidFill>
                            <a:schemeClr val="bg1"/>
                          </a:solidFill>
                          <a:latin typeface="+mj-lt"/>
                          <a:ea typeface="+mn-ea"/>
                          <a:cs typeface="+mn-ea"/>
                          <a:sym typeface="+mn-lt"/>
                        </a:rPr>
                        <a:t>（百万美元）</a:t>
                      </a:r>
                      <a:endParaRPr lang="zh-HK" altLang="en-US" sz="1000" b="1" dirty="0">
                        <a:solidFill>
                          <a:schemeClr val="bg1"/>
                        </a:solidFill>
                        <a:latin typeface="+mj-lt"/>
                        <a:ea typeface="+mn-ea"/>
                        <a:cs typeface="+mn-ea"/>
                        <a:sym typeface="+mn-lt"/>
                      </a:endParaRPr>
                    </a:p>
                  </a:txBody>
                  <a:tcPr marL="0" marR="0" marT="0"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配售价格</a:t>
                      </a:r>
                      <a:endParaRPr lang="en-US" altLang="zh-CN" sz="1000" b="1" dirty="0">
                        <a:solidFill>
                          <a:schemeClr val="bg1"/>
                        </a:solidFill>
                        <a:latin typeface="+mj-lt"/>
                        <a:ea typeface="+mn-ea"/>
                        <a:cs typeface="+mn-ea"/>
                        <a:sym typeface="+mn-lt"/>
                      </a:endParaRPr>
                    </a:p>
                    <a:p>
                      <a:pPr algn="ctr"/>
                      <a:r>
                        <a:rPr lang="zh-CN" altLang="en-US" sz="1000" b="1" dirty="0">
                          <a:solidFill>
                            <a:schemeClr val="bg1"/>
                          </a:solidFill>
                          <a:latin typeface="+mj-lt"/>
                          <a:ea typeface="+mn-ea"/>
                          <a:cs typeface="+mn-ea"/>
                          <a:sym typeface="+mn-lt"/>
                        </a:rPr>
                        <a:t>（港元）</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kern="1200" dirty="0">
                          <a:solidFill>
                            <a:schemeClr val="bg1"/>
                          </a:solidFill>
                          <a:latin typeface="+mj-lt"/>
                          <a:ea typeface="+mn-ea"/>
                          <a:cs typeface="+mn-ea"/>
                          <a:sym typeface="+mn-lt"/>
                        </a:rPr>
                        <a:t>折让率</a:t>
                      </a:r>
                      <a:endParaRPr lang="en-US" altLang="zh-CN" sz="1000" b="1" kern="1200" dirty="0">
                        <a:solidFill>
                          <a:schemeClr val="bg1"/>
                        </a:solidFill>
                        <a:latin typeface="+mj-lt"/>
                        <a:ea typeface="+mn-ea"/>
                        <a:cs typeface="+mn-ea"/>
                        <a:sym typeface="+mn-lt"/>
                      </a:endParaRPr>
                    </a:p>
                    <a:p>
                      <a:pPr algn="ctr"/>
                      <a:r>
                        <a:rPr lang="zh-CN" altLang="en-US" sz="1000" b="1" kern="1200" dirty="0">
                          <a:solidFill>
                            <a:schemeClr val="bg1"/>
                          </a:solidFill>
                          <a:latin typeface="+mj-lt"/>
                          <a:ea typeface="+mn-ea"/>
                          <a:cs typeface="+mn-ea"/>
                          <a:sym typeface="+mn-lt"/>
                        </a:rPr>
                        <a:t>（</a:t>
                      </a:r>
                      <a:r>
                        <a:rPr lang="en-US" altLang="zh-CN" sz="1000" b="1" kern="1200" dirty="0">
                          <a:solidFill>
                            <a:schemeClr val="bg1"/>
                          </a:solidFill>
                          <a:latin typeface="+mj-lt"/>
                          <a:ea typeface="+mn-ea"/>
                          <a:cs typeface="+mn-ea"/>
                          <a:sym typeface="+mn-lt"/>
                        </a:rPr>
                        <a:t>%</a:t>
                      </a:r>
                      <a:r>
                        <a:rPr lang="zh-CN" altLang="en-US" sz="1000" b="1" dirty="0">
                          <a:solidFill>
                            <a:schemeClr val="bg1"/>
                          </a:solidFill>
                          <a:latin typeface="+mj-lt"/>
                          <a:ea typeface="+mn-ea"/>
                          <a:cs typeface="+mn-ea"/>
                          <a:sym typeface="+mn-lt"/>
                        </a:rPr>
                        <a:t>）</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最新收盘价</a:t>
                      </a:r>
                      <a:endParaRPr lang="en-US" altLang="zh-CN" sz="1000" b="1" dirty="0">
                        <a:solidFill>
                          <a:schemeClr val="bg1"/>
                        </a:solidFill>
                        <a:latin typeface="+mj-lt"/>
                        <a:ea typeface="+mn-ea"/>
                        <a:cs typeface="+mn-ea"/>
                        <a:sym typeface="+mn-lt"/>
                      </a:endParaRPr>
                    </a:p>
                    <a:p>
                      <a:pPr algn="ctr"/>
                      <a:r>
                        <a:rPr lang="zh-CN" altLang="en-US" sz="1000" b="1" dirty="0">
                          <a:solidFill>
                            <a:schemeClr val="bg1"/>
                          </a:solidFill>
                          <a:latin typeface="+mj-lt"/>
                          <a:ea typeface="+mn-ea"/>
                          <a:cs typeface="+mn-ea"/>
                          <a:sym typeface="+mn-lt"/>
                        </a:rPr>
                        <a:t>（港元）</a:t>
                      </a:r>
                      <a:endParaRPr lang="zh-HK" altLang="en-US" sz="1000" b="1" dirty="0">
                        <a:solidFill>
                          <a:schemeClr val="bg1"/>
                        </a:solidFill>
                        <a:latin typeface="+mj-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j-lt"/>
                          <a:ea typeface="+mn-ea"/>
                          <a:cs typeface="+mn-ea"/>
                          <a:sym typeface="+mn-lt"/>
                        </a:rPr>
                        <a:t>配售类型</a:t>
                      </a:r>
                    </a:p>
                  </a:txBody>
                  <a:tcPr marL="0" marR="0" marT="0"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237600">
                <a:tc>
                  <a:txBody>
                    <a:bodyPr/>
                    <a:lstStyle/>
                    <a:p>
                      <a:pPr algn="ctr" fontAlgn="b">
                        <a:buNone/>
                      </a:pPr>
                      <a:r>
                        <a:rPr lang="en-US" altLang="zh-TW" sz="1000" b="0" i="0" u="none" strike="noStrike" dirty="0">
                          <a:solidFill>
                            <a:srgbClr val="000000"/>
                          </a:solidFill>
                          <a:effectLst/>
                          <a:latin typeface="Arial" panose="020B0604020202020204" pitchFamily="34" charset="0"/>
                          <a:cs typeface="Arial" panose="020B0604020202020204" pitchFamily="34" charset="0"/>
                        </a:rPr>
                        <a:t>1888</a:t>
                      </a:r>
                      <a:r>
                        <a:rPr lang="en-US" altLang="zh-CN" sz="1000" b="0" i="0" u="none" strike="noStrike" dirty="0">
                          <a:solidFill>
                            <a:srgbClr val="000000"/>
                          </a:solidFill>
                          <a:effectLst/>
                          <a:latin typeface="Arial" panose="020B0604020202020204" pitchFamily="34" charset="0"/>
                          <a:cs typeface="Arial" panose="020B0604020202020204" pitchFamily="34" charset="0"/>
                        </a:rPr>
                        <a:t>.HK</a:t>
                      </a:r>
                      <a:endParaRPr lang="en-HK"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zh-CN" altLang="en-US" sz="1000" b="0" i="0" u="none" strike="noStrike" dirty="0">
                          <a:solidFill>
                            <a:srgbClr val="000000"/>
                          </a:solidFill>
                          <a:effectLst/>
                          <a:latin typeface="Arial" panose="020B0604020202020204" pitchFamily="34" charset="0"/>
                          <a:ea typeface="+mj-ea"/>
                          <a:cs typeface="Arial" panose="020B0604020202020204" pitchFamily="34" charset="0"/>
                        </a:rPr>
                        <a:t>建滔积层板</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工业</a:t>
                      </a:r>
                      <a:endPar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mn-ea"/>
                          <a:cs typeface="Arial" panose="020B0604020202020204" pitchFamily="34" charset="0"/>
                        </a:rPr>
                        <a:t>18</a:t>
                      </a: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日</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348.00</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21.00</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-8.70</a:t>
                      </a: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j-ea"/>
                          <a:cs typeface="Arial" panose="020B0604020202020204" pitchFamily="34" charset="0"/>
                        </a:rPr>
                        <a:t>20.54</a:t>
                      </a:r>
                      <a:endParaRPr lang="zh-CN" altLang="en-US" sz="1000" b="0" i="0" u="none" strike="noStrike" dirty="0">
                        <a:solidFill>
                          <a:srgbClr val="000000"/>
                        </a:solidFill>
                        <a:effectLst/>
                        <a:latin typeface="Arial" panose="020B0604020202020204" pitchFamily="34" charset="0"/>
                        <a:ea typeface="+mj-ea"/>
                        <a:cs typeface="Arial" panose="020B0604020202020204" pitchFamily="34" charset="0"/>
                      </a:endParaRPr>
                    </a:p>
                  </a:txBody>
                  <a:tcPr marL="5443" marR="5443" marT="544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200" dirty="0">
                          <a:solidFill>
                            <a:srgbClr val="000000"/>
                          </a:solidFill>
                          <a:effectLst/>
                          <a:latin typeface="Arial" panose="020B0604020202020204" pitchFamily="34" charset="0"/>
                          <a:ea typeface="+mn-ea"/>
                          <a:cs typeface="Arial" panose="020B0604020202020204" pitchFamily="34" charset="0"/>
                        </a:rPr>
                        <a:t>旧股</a:t>
                      </a:r>
                      <a:endParaRPr lang="en-US" sz="10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5443" marR="5443" marT="544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9370000"/>
                  </a:ext>
                </a:extLst>
              </a:tr>
            </a:tbl>
          </a:graphicData>
        </a:graphic>
      </p:graphicFrame>
      <p:pic>
        <p:nvPicPr>
          <p:cNvPr id="6" name="Picture 5" descr="A screenshot of a phone&#10;&#10;AI-generated content may be incorrect.">
            <a:extLst>
              <a:ext uri="{FF2B5EF4-FFF2-40B4-BE49-F238E27FC236}">
                <a16:creationId xmlns:a16="http://schemas.microsoft.com/office/drawing/2014/main" id="{A70695C2-BAE1-E2C7-46FF-234104201E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2996371"/>
            <a:ext cx="3465820" cy="2985937"/>
          </a:xfrm>
          <a:prstGeom prst="rect">
            <a:avLst/>
          </a:prstGeom>
        </p:spPr>
      </p:pic>
      <p:pic>
        <p:nvPicPr>
          <p:cNvPr id="10" name="Picture 9" descr="A close up of a document&#10;&#10;AI-generated content may be incorrect.">
            <a:extLst>
              <a:ext uri="{FF2B5EF4-FFF2-40B4-BE49-F238E27FC236}">
                <a16:creationId xmlns:a16="http://schemas.microsoft.com/office/drawing/2014/main" id="{CBC98CFE-707D-91F3-109F-4439A73B0D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60668" y="2292897"/>
            <a:ext cx="5674317" cy="4496851"/>
          </a:xfrm>
          <a:prstGeom prst="rect">
            <a:avLst/>
          </a:prstGeom>
        </p:spPr>
      </p:pic>
      <p:sp>
        <p:nvSpPr>
          <p:cNvPr id="11" name="TextBox 10">
            <a:extLst>
              <a:ext uri="{FF2B5EF4-FFF2-40B4-BE49-F238E27FC236}">
                <a16:creationId xmlns:a16="http://schemas.microsoft.com/office/drawing/2014/main" id="{2D3CB54B-5363-2F75-46F7-34A010B6BD54}"/>
              </a:ext>
            </a:extLst>
          </p:cNvPr>
          <p:cNvSpPr txBox="1"/>
          <p:nvPr/>
        </p:nvSpPr>
        <p:spPr>
          <a:xfrm>
            <a:off x="551754" y="1858229"/>
            <a:ext cx="8926354" cy="646331"/>
          </a:xfrm>
          <a:prstGeom prst="rect">
            <a:avLst/>
          </a:prstGeom>
          <a:noFill/>
        </p:spPr>
        <p:txBody>
          <a:bodyPr wrap="none" rtlCol="0">
            <a:spAutoFit/>
          </a:bodyPr>
          <a:lstStyle/>
          <a:p>
            <a:r>
              <a:rPr lang="en-US" dirty="0">
                <a:hlinkClick r:id="rId7"/>
              </a:rPr>
              <a:t>https://www1.hkexnews.hk/listedco/listconews/sehk/2026/0318/2026031800116_c.pdf</a:t>
            </a:r>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3420F-8DDF-067C-58EE-E765FDFB6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88CAE-4D60-26F5-7C00-0B89B241D598}"/>
              </a:ext>
            </a:extLst>
          </p:cNvPr>
          <p:cNvSpPr>
            <a:spLocks noGrp="1"/>
          </p:cNvSpPr>
          <p:nvPr>
            <p:ph type="title"/>
          </p:nvPr>
        </p:nvSpPr>
        <p:spPr/>
        <p:txBody>
          <a:bodyPr>
            <a:normAutofit/>
          </a:bodyPr>
          <a:lstStyle/>
          <a:p>
            <a:r>
              <a:rPr lang="zh-CN" altLang="en-US" dirty="0">
                <a:latin typeface="+mn-lt"/>
                <a:ea typeface="+mn-ea"/>
                <a:cs typeface="+mn-ea"/>
                <a:sym typeface="+mn-lt"/>
              </a:rPr>
              <a:t>过去一个月香港新股市场统计</a:t>
            </a:r>
          </a:p>
        </p:txBody>
      </p:sp>
      <p:sp>
        <p:nvSpPr>
          <p:cNvPr id="3" name="TextBox 2">
            <a:extLst>
              <a:ext uri="{FF2B5EF4-FFF2-40B4-BE49-F238E27FC236}">
                <a16:creationId xmlns:a16="http://schemas.microsoft.com/office/drawing/2014/main" id="{AC9BF867-A3FD-62B9-B914-0FCDA1BC9D16}"/>
              </a:ext>
            </a:extLst>
          </p:cNvPr>
          <p:cNvSpPr txBox="1"/>
          <p:nvPr/>
        </p:nvSpPr>
        <p:spPr>
          <a:xfrm>
            <a:off x="76199" y="-559343"/>
            <a:ext cx="8448675" cy="461665"/>
          </a:xfrm>
          <a:prstGeom prst="rect">
            <a:avLst/>
          </a:prstGeom>
          <a:noFill/>
        </p:spPr>
        <p:txBody>
          <a:bodyPr wrap="square" rtlCol="0">
            <a:spAutoFit/>
          </a:bodyPr>
          <a:lstStyle/>
          <a:p>
            <a:r>
              <a:rPr lang="zh-CN" altLang="en-US" sz="1200" dirty="0">
                <a:cs typeface="+mn-ea"/>
                <a:sym typeface="+mn-lt"/>
              </a:rPr>
              <a:t>上周开始公开发售的新股项目</a:t>
            </a:r>
          </a:p>
          <a:p>
            <a:r>
              <a:rPr lang="en-US" sz="1200">
                <a:cs typeface="+mn-ea"/>
                <a:sym typeface="+mn-lt"/>
                <a:hlinkClick r:id="rId4"/>
              </a:rPr>
              <a:t>http://</a:t>
            </a:r>
            <a:r>
              <a:rPr lang="en-US" sz="1200" dirty="0">
                <a:cs typeface="+mn-ea"/>
                <a:sym typeface="+mn-lt"/>
                <a:hlinkClick r:id="rId4"/>
              </a:rPr>
              <a:t>www.aastocks.com/tc/stocks/market/ipo/upcomingipo/company-summary</a:t>
            </a:r>
            <a:r>
              <a:rPr lang="en-US" sz="1200" dirty="0">
                <a:cs typeface="+mn-ea"/>
                <a:sym typeface="+mn-lt"/>
              </a:rPr>
              <a:t> </a:t>
            </a:r>
          </a:p>
        </p:txBody>
      </p:sp>
      <p:sp>
        <p:nvSpPr>
          <p:cNvPr id="14" name="Rectangle 7">
            <a:extLst>
              <a:ext uri="{FF2B5EF4-FFF2-40B4-BE49-F238E27FC236}">
                <a16:creationId xmlns:a16="http://schemas.microsoft.com/office/drawing/2014/main" id="{AE62D358-B43C-F672-51F9-8DE5539E7E58}"/>
              </a:ext>
            </a:extLst>
          </p:cNvPr>
          <p:cNvSpPr/>
          <p:nvPr/>
        </p:nvSpPr>
        <p:spPr>
          <a:xfrm>
            <a:off x="395033" y="675756"/>
            <a:ext cx="9144000" cy="215444"/>
          </a:xfrm>
          <a:prstGeom prst="rect">
            <a:avLst/>
          </a:prstGeom>
        </p:spPr>
        <p:txBody>
          <a:bodyPr lIns="0" tIns="0" rIns="0" bIns="0" anchor="ctr">
            <a:spAutoFit/>
          </a:bodyPr>
          <a:lstStyle/>
          <a:p>
            <a:r>
              <a:rPr lang="zh-CN" altLang="en-US" sz="1400" b="1" u="sng" dirty="0">
                <a:solidFill>
                  <a:schemeClr val="accent1"/>
                </a:solidFill>
                <a:cs typeface="+mn-ea"/>
                <a:sym typeface="+mn-lt"/>
              </a:rPr>
              <a:t>过去一个月完成的新股项目交易额统计</a:t>
            </a:r>
          </a:p>
        </p:txBody>
      </p:sp>
      <p:sp>
        <p:nvSpPr>
          <p:cNvPr id="15" name="Text Placeholder FN">
            <a:extLst>
              <a:ext uri="{FF2B5EF4-FFF2-40B4-BE49-F238E27FC236}">
                <a16:creationId xmlns:a16="http://schemas.microsoft.com/office/drawing/2014/main" id="{1CF06B0D-906A-9504-BFC6-5098325730AE}"/>
              </a:ext>
            </a:extLst>
          </p:cNvPr>
          <p:cNvSpPr txBox="1"/>
          <p:nvPr/>
        </p:nvSpPr>
        <p:spPr>
          <a:xfrm>
            <a:off x="343281" y="6221726"/>
            <a:ext cx="9247505" cy="344805"/>
          </a:xfrm>
          <a:prstGeom prst="rect">
            <a:avLst/>
          </a:prstGeom>
        </p:spPr>
        <p:txBody>
          <a:bodyPr vert="horz" lIns="0" tIns="0" rIns="0" bIns="0" rtlCol="0" anchor="b" anchorCtr="0">
            <a:noAutofit/>
          </a:bodyPr>
          <a:lstStyle>
            <a:lvl1pPr marL="182880" indent="-182880" algn="l" defTabSz="914400" rtl="0" eaLnBrk="1" latinLnBrk="0" hangingPunct="1">
              <a:lnSpc>
                <a:spcPct val="100000"/>
              </a:lnSpc>
              <a:spcBef>
                <a:spcPts val="0"/>
              </a:spcBef>
              <a:spcAft>
                <a:spcPts val="0"/>
              </a:spcAft>
              <a:buClr>
                <a:srgbClr val="58595B"/>
              </a:buClr>
              <a:buFont typeface="+mj-lt"/>
              <a:buAutoNum type="arabicPeriod"/>
              <a:defRPr sz="900" b="1" kern="1200" baseline="0">
                <a:solidFill>
                  <a:srgbClr val="58595B"/>
                </a:solidFill>
                <a:latin typeface="+mn-lt"/>
                <a:ea typeface="+mn-ea"/>
                <a:cs typeface="+mn-cs"/>
              </a:defRPr>
            </a:lvl1pPr>
            <a:lvl2pPr marL="0" indent="0" algn="l" defTabSz="914400" rtl="0" eaLnBrk="1" latinLnBrk="0" hangingPunct="1">
              <a:lnSpc>
                <a:spcPct val="110000"/>
              </a:lnSpc>
              <a:spcBef>
                <a:spcPts val="0"/>
              </a:spcBef>
              <a:spcAft>
                <a:spcPts val="600"/>
              </a:spcAft>
              <a:buClr>
                <a:schemeClr val="accent2"/>
              </a:buClr>
              <a:buFont typeface="Arial" panose="020B0604020202020204" pitchFamily="34" charset="0"/>
              <a:buNone/>
              <a:defRPr sz="1600" kern="1200" baseline="0">
                <a:solidFill>
                  <a:schemeClr val="tx1"/>
                </a:solidFill>
                <a:latin typeface="+mn-lt"/>
                <a:ea typeface="+mn-ea"/>
                <a:cs typeface="+mn-cs"/>
              </a:defRPr>
            </a:lvl2pPr>
            <a:lvl3pPr marL="227330" indent="-227330" algn="l" defTabSz="914400" rtl="0" eaLnBrk="1" latinLnBrk="0" hangingPunct="1">
              <a:lnSpc>
                <a:spcPct val="11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462280" indent="-234950"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4pPr>
            <a:lvl5pPr marL="687705" indent="-225425" algn="l" defTabSz="914400" rtl="0" eaLnBrk="1" latinLnBrk="0" hangingPunct="1">
              <a:lnSpc>
                <a:spcPct val="110000"/>
              </a:lnSpc>
              <a:spcBef>
                <a:spcPts val="0"/>
              </a:spcBef>
              <a:spcAft>
                <a:spcPts val="0"/>
              </a:spcAft>
              <a:buClr>
                <a:schemeClr val="accent2"/>
              </a:buClr>
              <a:buFont typeface="Arial" panose="020B0604020202020204" pitchFamily="34" charset="0"/>
              <a:buChar char="•"/>
              <a:defRPr sz="16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200"/>
              </a:spcAft>
              <a:buNone/>
            </a:pPr>
            <a:r>
              <a:rPr lang="zh-CN" altLang="en-US" sz="800" dirty="0">
                <a:solidFill>
                  <a:schemeClr val="tx1"/>
                </a:solidFill>
                <a:cs typeface="+mn-ea"/>
                <a:sym typeface="+mn-lt"/>
              </a:rPr>
              <a:t>注：</a:t>
            </a:r>
            <a:r>
              <a:rPr lang="zh-CN" altLang="en-US" sz="800" b="0" dirty="0">
                <a:solidFill>
                  <a:schemeClr val="tx1"/>
                </a:solidFill>
                <a:cs typeface="+mn-ea"/>
                <a:sym typeface="+mn-lt"/>
              </a:rPr>
              <a:t>不包括创业板上市项目</a:t>
            </a:r>
            <a:endParaRPr lang="en-US" altLang="zh-CN" sz="800" b="0" dirty="0">
              <a:solidFill>
                <a:schemeClr val="tx1"/>
              </a:solidFill>
              <a:cs typeface="+mn-ea"/>
              <a:sym typeface="+mn-lt"/>
            </a:endParaRPr>
          </a:p>
          <a:p>
            <a:pPr marL="0" indent="0">
              <a:spcAft>
                <a:spcPts val="200"/>
              </a:spcAft>
              <a:buNone/>
            </a:pPr>
            <a:r>
              <a:rPr lang="zh-CN" altLang="en-US" sz="800" dirty="0">
                <a:solidFill>
                  <a:schemeClr val="tx1"/>
                </a:solidFill>
                <a:cs typeface="+mn-ea"/>
                <a:sym typeface="+mn-lt"/>
              </a:rPr>
              <a:t>资料来源：</a:t>
            </a:r>
            <a:r>
              <a:rPr lang="en-US" altLang="zh-CN" sz="800" b="0" dirty="0">
                <a:solidFill>
                  <a:schemeClr val="tx1"/>
                </a:solidFill>
                <a:cs typeface="+mn-ea"/>
                <a:sym typeface="+mn-lt"/>
              </a:rPr>
              <a:t>Dealogic</a:t>
            </a:r>
            <a:r>
              <a:rPr lang="zh-CN" altLang="en-US" sz="800" b="0" dirty="0">
                <a:solidFill>
                  <a:schemeClr val="tx1"/>
                </a:solidFill>
                <a:cs typeface="+mn-ea"/>
                <a:sym typeface="+mn-lt"/>
              </a:rPr>
              <a:t> 、</a:t>
            </a:r>
            <a:r>
              <a:rPr lang="en-US" altLang="zh-CN" sz="800" b="0" dirty="0">
                <a:solidFill>
                  <a:schemeClr val="tx1"/>
                </a:solidFill>
                <a:cs typeface="+mn-ea"/>
                <a:sym typeface="+mn-lt"/>
              </a:rPr>
              <a:t>Bloomberg</a:t>
            </a:r>
            <a:r>
              <a:rPr lang="zh-CN" altLang="en-US" sz="800" b="0" dirty="0">
                <a:solidFill>
                  <a:schemeClr val="tx1"/>
                </a:solidFill>
                <a:cs typeface="+mn-ea"/>
                <a:sym typeface="+mn-lt"/>
              </a:rPr>
              <a:t>、</a:t>
            </a:r>
            <a:r>
              <a:rPr lang="en-US" altLang="zh-CN" sz="800" b="0" dirty="0">
                <a:solidFill>
                  <a:schemeClr val="tx1"/>
                </a:solidFill>
                <a:cs typeface="+mn-ea"/>
                <a:sym typeface="+mn-lt"/>
              </a:rPr>
              <a:t>Wind</a:t>
            </a:r>
            <a:r>
              <a:rPr lang="zh-CN" altLang="en-US" sz="800" b="0" dirty="0">
                <a:solidFill>
                  <a:schemeClr val="tx1"/>
                </a:solidFill>
                <a:cs typeface="+mn-ea"/>
                <a:sym typeface="+mn-lt"/>
              </a:rPr>
              <a:t>、港交所网站（截至</a:t>
            </a:r>
            <a:r>
              <a:rPr lang="en-US" altLang="zh-CN" sz="800" b="0" dirty="0">
                <a:solidFill>
                  <a:schemeClr val="tx1"/>
                </a:solidFill>
                <a:cs typeface="+mn-ea"/>
                <a:sym typeface="+mn-lt"/>
              </a:rPr>
              <a:t>2026</a:t>
            </a:r>
            <a:r>
              <a:rPr lang="zh-CN" altLang="en-US" sz="800" b="0" dirty="0">
                <a:solidFill>
                  <a:schemeClr val="tx1"/>
                </a:solidFill>
                <a:cs typeface="+mn-ea"/>
                <a:sym typeface="+mn-lt"/>
              </a:rPr>
              <a:t>年</a:t>
            </a:r>
            <a:r>
              <a:rPr lang="en-US" altLang="zh-CN" sz="800" b="0" dirty="0">
                <a:solidFill>
                  <a:schemeClr val="tx1"/>
                </a:solidFill>
                <a:cs typeface="+mn-ea"/>
                <a:sym typeface="+mn-lt"/>
              </a:rPr>
              <a:t>3</a:t>
            </a:r>
            <a:r>
              <a:rPr lang="zh-CN" altLang="en-US" sz="800" b="0" dirty="0">
                <a:solidFill>
                  <a:schemeClr val="tx1"/>
                </a:solidFill>
                <a:cs typeface="+mn-ea"/>
                <a:sym typeface="+mn-lt"/>
              </a:rPr>
              <a:t>月</a:t>
            </a:r>
            <a:r>
              <a:rPr lang="en-US" altLang="zh-CN" sz="800" b="0" dirty="0">
                <a:solidFill>
                  <a:schemeClr val="tx1"/>
                </a:solidFill>
                <a:cs typeface="+mn-ea"/>
                <a:sym typeface="+mn-lt"/>
              </a:rPr>
              <a:t>20</a:t>
            </a:r>
            <a:r>
              <a:rPr lang="zh-CN" altLang="en-US" sz="800" b="0" dirty="0">
                <a:solidFill>
                  <a:schemeClr val="tx1"/>
                </a:solidFill>
                <a:cs typeface="+mn-ea"/>
                <a:sym typeface="+mn-lt"/>
              </a:rPr>
              <a:t>日） </a:t>
            </a:r>
          </a:p>
        </p:txBody>
      </p:sp>
      <p:graphicFrame>
        <p:nvGraphicFramePr>
          <p:cNvPr id="9" name="Content Placeholder 5">
            <a:extLst>
              <a:ext uri="{FF2B5EF4-FFF2-40B4-BE49-F238E27FC236}">
                <a16:creationId xmlns:a16="http://schemas.microsoft.com/office/drawing/2014/main" id="{4C6CFB75-0C9E-719B-CB36-48A1FA8D189D}"/>
              </a:ext>
            </a:extLst>
          </p:cNvPr>
          <p:cNvGraphicFramePr/>
          <p:nvPr>
            <p:custDataLst>
              <p:tags r:id="rId1"/>
            </p:custDataLst>
            <p:extLst>
              <p:ext uri="{D42A27DB-BD31-4B8C-83A1-F6EECF244321}">
                <p14:modId xmlns:p14="http://schemas.microsoft.com/office/powerpoint/2010/main" val="1881771918"/>
              </p:ext>
            </p:extLst>
          </p:nvPr>
        </p:nvGraphicFramePr>
        <p:xfrm>
          <a:off x="395033" y="1064036"/>
          <a:ext cx="9227071" cy="1516617"/>
        </p:xfrm>
        <a:graphic>
          <a:graphicData uri="http://schemas.openxmlformats.org/drawingml/2006/table">
            <a:tbl>
              <a:tblPr/>
              <a:tblGrid>
                <a:gridCol w="1724437">
                  <a:extLst>
                    <a:ext uri="{9D8B030D-6E8A-4147-A177-3AD203B41FA5}">
                      <a16:colId xmlns:a16="http://schemas.microsoft.com/office/drawing/2014/main" val="20000"/>
                    </a:ext>
                  </a:extLst>
                </a:gridCol>
                <a:gridCol w="587396">
                  <a:extLst>
                    <a:ext uri="{9D8B030D-6E8A-4147-A177-3AD203B41FA5}">
                      <a16:colId xmlns:a16="http://schemas.microsoft.com/office/drawing/2014/main" val="20001"/>
                    </a:ext>
                  </a:extLst>
                </a:gridCol>
                <a:gridCol w="1120140">
                  <a:extLst>
                    <a:ext uri="{9D8B030D-6E8A-4147-A177-3AD203B41FA5}">
                      <a16:colId xmlns:a16="http://schemas.microsoft.com/office/drawing/2014/main" val="20002"/>
                    </a:ext>
                  </a:extLst>
                </a:gridCol>
                <a:gridCol w="1158892">
                  <a:extLst>
                    <a:ext uri="{9D8B030D-6E8A-4147-A177-3AD203B41FA5}">
                      <a16:colId xmlns:a16="http://schemas.microsoft.com/office/drawing/2014/main" val="20003"/>
                    </a:ext>
                  </a:extLst>
                </a:gridCol>
                <a:gridCol w="1158892">
                  <a:extLst>
                    <a:ext uri="{9D8B030D-6E8A-4147-A177-3AD203B41FA5}">
                      <a16:colId xmlns:a16="http://schemas.microsoft.com/office/drawing/2014/main" val="20004"/>
                    </a:ext>
                  </a:extLst>
                </a:gridCol>
                <a:gridCol w="1159530">
                  <a:extLst>
                    <a:ext uri="{9D8B030D-6E8A-4147-A177-3AD203B41FA5}">
                      <a16:colId xmlns:a16="http://schemas.microsoft.com/office/drawing/2014/main" val="20005"/>
                    </a:ext>
                  </a:extLst>
                </a:gridCol>
                <a:gridCol w="1158892">
                  <a:extLst>
                    <a:ext uri="{9D8B030D-6E8A-4147-A177-3AD203B41FA5}">
                      <a16:colId xmlns:a16="http://schemas.microsoft.com/office/drawing/2014/main" val="20006"/>
                    </a:ext>
                  </a:extLst>
                </a:gridCol>
                <a:gridCol w="1158892">
                  <a:extLst>
                    <a:ext uri="{9D8B030D-6E8A-4147-A177-3AD203B41FA5}">
                      <a16:colId xmlns:a16="http://schemas.microsoft.com/office/drawing/2014/main" val="20007"/>
                    </a:ext>
                  </a:extLst>
                </a:gridCol>
              </a:tblGrid>
              <a:tr h="338780">
                <a:tc>
                  <a:txBody>
                    <a:bodyPr/>
                    <a:lstStyle/>
                    <a:p>
                      <a:pPr algn="ctr"/>
                      <a:r>
                        <a:rPr lang="zh-CN" altLang="en-US" sz="1000" b="1" dirty="0">
                          <a:solidFill>
                            <a:schemeClr val="bg1"/>
                          </a:solidFill>
                          <a:latin typeface="+mn-lt"/>
                          <a:ea typeface="+mj-ea"/>
                          <a:cs typeface="+mn-ea"/>
                          <a:sym typeface="+mn-lt"/>
                        </a:rPr>
                        <a:t>公司</a:t>
                      </a:r>
                      <a:endParaRPr lang="zh-HK" altLang="en-US" sz="1000" b="1" dirty="0">
                        <a:solidFill>
                          <a:schemeClr val="bg1"/>
                        </a:solidFill>
                        <a:latin typeface="+mn-lt"/>
                        <a:ea typeface="+mj-ea"/>
                        <a:cs typeface="+mn-ea"/>
                        <a:sym typeface="+mn-lt"/>
                      </a:endParaRPr>
                    </a:p>
                  </a:txBody>
                  <a:tcPr marL="0" marR="0" marT="0" marB="0" anchor="ctr">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n-lt"/>
                          <a:ea typeface="+mj-ea"/>
                          <a:cs typeface="+mn-ea"/>
                          <a:sym typeface="+mn-lt"/>
                        </a:rPr>
                        <a:t>行业</a:t>
                      </a:r>
                      <a:endParaRPr lang="zh-HK" altLang="en-US" sz="1000" b="1" dirty="0">
                        <a:solidFill>
                          <a:schemeClr val="bg1"/>
                        </a:solidFill>
                        <a:latin typeface="+mn-lt"/>
                        <a:ea typeface="+mj-ea"/>
                        <a:cs typeface="+mn-ea"/>
                        <a:sym typeface="+mn-lt"/>
                      </a:endParaRPr>
                    </a:p>
                  </a:txBody>
                  <a:tcPr marL="0" marR="0" marT="0"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kern="1200" dirty="0">
                          <a:solidFill>
                            <a:schemeClr val="bg1"/>
                          </a:solidFill>
                          <a:latin typeface="+mn-lt"/>
                          <a:ea typeface="+mj-ea"/>
                          <a:cs typeface="+mn-ea"/>
                          <a:sym typeface="+mn-lt"/>
                        </a:rPr>
                        <a:t>上市日期</a:t>
                      </a:r>
                    </a:p>
                  </a:txBody>
                  <a:tcPr marL="0" marR="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dirty="0">
                          <a:solidFill>
                            <a:schemeClr val="bg1"/>
                          </a:solidFill>
                          <a:latin typeface="+mn-lt"/>
                          <a:ea typeface="+mj-ea"/>
                          <a:cs typeface="+mn-ea"/>
                          <a:sym typeface="+mn-lt"/>
                        </a:rPr>
                        <a:t>发行价格</a:t>
                      </a:r>
                      <a:endParaRPr lang="en-US" altLang="zh-CN" sz="1000" b="1" dirty="0">
                        <a:solidFill>
                          <a:schemeClr val="bg1"/>
                        </a:solidFill>
                        <a:latin typeface="+mn-lt"/>
                        <a:ea typeface="+mj-ea"/>
                        <a:cs typeface="+mn-ea"/>
                        <a:sym typeface="+mn-lt"/>
                      </a:endParaRPr>
                    </a:p>
                    <a:p>
                      <a:pPr algn="ctr"/>
                      <a:r>
                        <a:rPr lang="zh-CN" altLang="en-US" sz="1000" b="1" dirty="0">
                          <a:solidFill>
                            <a:schemeClr val="bg1"/>
                          </a:solidFill>
                          <a:latin typeface="+mn-lt"/>
                          <a:ea typeface="+mj-ea"/>
                          <a:cs typeface="+mn-ea"/>
                          <a:sym typeface="+mn-lt"/>
                        </a:rPr>
                        <a:t>（港元）</a:t>
                      </a:r>
                      <a:endParaRPr lang="zh-HK" altLang="en-US" sz="1000" b="1" dirty="0">
                        <a:solidFill>
                          <a:schemeClr val="bg1"/>
                        </a:solidFill>
                        <a:latin typeface="+mn-lt"/>
                        <a:ea typeface="+mj-ea"/>
                        <a:cs typeface="+mn-ea"/>
                        <a:sym typeface="+mn-lt"/>
                      </a:endParaRPr>
                    </a:p>
                  </a:txBody>
                  <a:tcPr marL="0" marR="0" marT="0"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zh-CN" altLang="en-US" sz="1000" b="1" kern="1200" dirty="0">
                          <a:solidFill>
                            <a:schemeClr val="bg1"/>
                          </a:solidFill>
                          <a:latin typeface="+mn-lt"/>
                          <a:ea typeface="+mn-ea"/>
                          <a:cs typeface="+mn-ea"/>
                          <a:sym typeface="+mn-lt"/>
                        </a:rPr>
                        <a:t>融资规模</a:t>
                      </a:r>
                      <a:endParaRPr lang="en-US" altLang="zh-CN" sz="1000" b="1" kern="1200" dirty="0">
                        <a:solidFill>
                          <a:schemeClr val="bg1"/>
                        </a:solidFill>
                        <a:latin typeface="+mn-lt"/>
                        <a:ea typeface="+mn-ea"/>
                        <a:cs typeface="+mn-ea"/>
                        <a:sym typeface="+mn-lt"/>
                      </a:endParaRPr>
                    </a:p>
                    <a:p>
                      <a:pPr algn="ctr"/>
                      <a:r>
                        <a:rPr lang="zh-CN" altLang="en-US" sz="1000" b="1" kern="1200" dirty="0">
                          <a:solidFill>
                            <a:schemeClr val="bg1"/>
                          </a:solidFill>
                          <a:latin typeface="+mn-lt"/>
                          <a:ea typeface="+mn-ea"/>
                          <a:cs typeface="+mn-ea"/>
                          <a:sym typeface="+mn-lt"/>
                        </a:rPr>
                        <a:t>（亿港元）</a:t>
                      </a:r>
                      <a:endParaRPr lang="zh-HK" altLang="en-US" sz="1000" b="1" kern="1200" dirty="0">
                        <a:solidFill>
                          <a:schemeClr val="bg1"/>
                        </a:solidFill>
                        <a:latin typeface="+mn-lt"/>
                        <a:ea typeface="+mn-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j-ea"/>
                          <a:cs typeface="+mn-ea"/>
                          <a:sym typeface="+mn-lt"/>
                        </a:rPr>
                        <a:t>上市首日交易额</a:t>
                      </a:r>
                      <a:endParaRPr lang="en-US" altLang="zh-CN" sz="1000" b="1" dirty="0">
                        <a:solidFill>
                          <a:schemeClr val="bg1"/>
                        </a:solidFill>
                        <a:latin typeface="+mn-lt"/>
                        <a:ea typeface="+mj-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j-ea"/>
                          <a:cs typeface="+mn-ea"/>
                          <a:sym typeface="+mn-lt"/>
                        </a:rPr>
                        <a:t>（</a:t>
                      </a:r>
                      <a:r>
                        <a:rPr lang="zh-CN" altLang="en-US" sz="1000" b="1" kern="1200" dirty="0">
                          <a:solidFill>
                            <a:schemeClr val="bg1"/>
                          </a:solidFill>
                          <a:latin typeface="+mn-lt"/>
                          <a:ea typeface="+mn-ea"/>
                          <a:cs typeface="+mn-ea"/>
                          <a:sym typeface="+mn-lt"/>
                        </a:rPr>
                        <a:t>百万</a:t>
                      </a:r>
                      <a:r>
                        <a:rPr lang="zh-CN" altLang="en-US" sz="1000" b="1" dirty="0">
                          <a:solidFill>
                            <a:schemeClr val="bg1"/>
                          </a:solidFill>
                          <a:latin typeface="+mn-lt"/>
                          <a:ea typeface="+mj-ea"/>
                          <a:cs typeface="+mn-ea"/>
                          <a:sym typeface="+mn-lt"/>
                        </a:rPr>
                        <a:t>港元）</a:t>
                      </a:r>
                      <a:endParaRPr lang="zh-HK" altLang="en-US" sz="1000" b="1" dirty="0">
                        <a:solidFill>
                          <a:schemeClr val="bg1"/>
                        </a:solidFill>
                        <a:latin typeface="+mn-lt"/>
                        <a:ea typeface="+mj-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j-ea"/>
                          <a:cs typeface="+mn-ea"/>
                          <a:sym typeface="+mn-lt"/>
                        </a:rPr>
                        <a:t>过去</a:t>
                      </a:r>
                      <a:r>
                        <a:rPr lang="en-US" altLang="zh-CN" sz="1000" b="1" dirty="0">
                          <a:solidFill>
                            <a:schemeClr val="bg1"/>
                          </a:solidFill>
                          <a:latin typeface="+mn-lt"/>
                          <a:ea typeface="+mj-ea"/>
                          <a:cs typeface="+mn-ea"/>
                          <a:sym typeface="+mn-lt"/>
                        </a:rPr>
                        <a:t>5</a:t>
                      </a:r>
                      <a:r>
                        <a:rPr lang="zh-CN" altLang="en-US" sz="1000" b="1" dirty="0">
                          <a:solidFill>
                            <a:schemeClr val="bg1"/>
                          </a:solidFill>
                          <a:latin typeface="+mn-lt"/>
                          <a:ea typeface="+mj-ea"/>
                          <a:cs typeface="+mn-ea"/>
                          <a:sym typeface="+mn-lt"/>
                        </a:rPr>
                        <a:t>日平均交易额</a:t>
                      </a:r>
                      <a:endParaRPr lang="en-US" altLang="zh-CN" sz="1000" b="1" dirty="0">
                        <a:solidFill>
                          <a:schemeClr val="bg1"/>
                        </a:solidFill>
                        <a:latin typeface="+mn-lt"/>
                        <a:ea typeface="+mj-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dirty="0">
                          <a:solidFill>
                            <a:schemeClr val="bg1"/>
                          </a:solidFill>
                          <a:latin typeface="+mn-lt"/>
                          <a:ea typeface="+mj-ea"/>
                          <a:cs typeface="+mn-ea"/>
                          <a:sym typeface="+mn-lt"/>
                        </a:rPr>
                        <a:t>（百万港元）</a:t>
                      </a:r>
                      <a:endParaRPr lang="zh-HK" altLang="en-US" sz="1000" b="1" dirty="0">
                        <a:solidFill>
                          <a:schemeClr val="bg1"/>
                        </a:solidFill>
                        <a:latin typeface="+mn-lt"/>
                        <a:ea typeface="+mj-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chemeClr val="bg1"/>
                          </a:solidFill>
                          <a:latin typeface="+mn-lt"/>
                          <a:ea typeface="+mj-ea"/>
                          <a:cs typeface="+mn-ea"/>
                          <a:sym typeface="+mn-lt"/>
                        </a:rPr>
                        <a:t>上市至今股价表现</a:t>
                      </a:r>
                      <a:endParaRPr lang="en-US" altLang="zh-CN" sz="1000" b="1" kern="1200" dirty="0">
                        <a:solidFill>
                          <a:schemeClr val="bg1"/>
                        </a:solidFill>
                        <a:latin typeface="+mn-lt"/>
                        <a:ea typeface="+mj-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200" dirty="0">
                          <a:solidFill>
                            <a:schemeClr val="bg1"/>
                          </a:solidFill>
                          <a:latin typeface="+mn-lt"/>
                          <a:ea typeface="+mj-ea"/>
                          <a:cs typeface="+mn-ea"/>
                          <a:sym typeface="+mn-lt"/>
                        </a:rPr>
                        <a:t>（</a:t>
                      </a:r>
                      <a:r>
                        <a:rPr lang="en-US" altLang="zh-CN" sz="1000" b="1" kern="1200" dirty="0">
                          <a:solidFill>
                            <a:schemeClr val="bg1"/>
                          </a:solidFill>
                          <a:latin typeface="+mn-lt"/>
                          <a:ea typeface="+mj-ea"/>
                          <a:cs typeface="+mn-ea"/>
                          <a:sym typeface="+mn-lt"/>
                        </a:rPr>
                        <a:t>%</a:t>
                      </a:r>
                      <a:r>
                        <a:rPr lang="zh-CN" altLang="en-US" sz="1000" b="1" kern="1200" dirty="0">
                          <a:solidFill>
                            <a:schemeClr val="bg1"/>
                          </a:solidFill>
                          <a:latin typeface="+mn-lt"/>
                          <a:ea typeface="+mj-ea"/>
                          <a:cs typeface="+mn-ea"/>
                          <a:sym typeface="+mn-lt"/>
                        </a:rPr>
                        <a:t>）</a:t>
                      </a:r>
                      <a:endParaRPr lang="zh-HK" altLang="en-US" sz="1000" b="1" kern="1200" dirty="0">
                        <a:solidFill>
                          <a:schemeClr val="bg1"/>
                        </a:solidFill>
                        <a:latin typeface="+mn-lt"/>
                        <a:ea typeface="+mj-ea"/>
                        <a:cs typeface="+mn-ea"/>
                        <a:sym typeface="+mn-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216144">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广合科技</a:t>
                      </a:r>
                    </a:p>
                  </a:txBody>
                  <a:tcPr marL="0" marR="0" marT="0" marB="0" anchor="ctr">
                    <a:lnL w="12700" cap="flat" cmpd="sng" algn="ctr">
                      <a:solidFill>
                        <a:srgbClr val="C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20</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71.88</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33.1</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2,775.6</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HK" sz="1000" b="0" i="0" dirty="0">
                          <a:solidFill>
                            <a:schemeClr val="tx1"/>
                          </a:solidFill>
                          <a:latin typeface="Arial" panose="020B0604020202020204" pitchFamily="34" charset="0"/>
                          <a:ea typeface="KaiTi" panose="02010609060101010101" pitchFamily="49" charset="-122"/>
                          <a:cs typeface="Arial" panose="020B0604020202020204" pitchFamily="34" charset="0"/>
                        </a:rPr>
                        <a:t>NA</a:t>
                      </a:r>
                    </a:p>
                  </a:txBody>
                  <a:tcPr marL="13017" marR="13017" marT="13017"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HK" sz="1000" b="0" i="0" dirty="0">
                          <a:solidFill>
                            <a:srgbClr val="FF0000"/>
                          </a:solidFill>
                          <a:latin typeface="Arial" panose="020B0604020202020204" pitchFamily="34" charset="0"/>
                          <a:ea typeface="KaiTi" panose="02010609060101010101" pitchFamily="49" charset="-122"/>
                          <a:cs typeface="Arial" panose="020B0604020202020204" pitchFamily="34" charset="0"/>
                        </a:rPr>
                        <a:t>33.6%</a:t>
                      </a:r>
                    </a:p>
                  </a:txBody>
                  <a:tcPr marL="13017" marR="13017" marT="13017" marB="0" anchor="ctr">
                    <a:lnL w="317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992256"/>
                  </a:ext>
                </a:extLst>
              </a:tr>
              <a:tr h="216144">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美格智能</a:t>
                      </a:r>
                    </a:p>
                  </a:txBody>
                  <a:tcPr marL="0" marR="0" marT="0" marB="0" anchor="ctr">
                    <a:lnL w="12700" cap="flat" cmpd="sng" algn="ctr">
                      <a:solidFill>
                        <a:srgbClr val="C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28.86</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1.6</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286.4</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chemeClr val="tx1"/>
                          </a:solidFill>
                          <a:effectLst/>
                          <a:latin typeface="Arial" panose="020B0604020202020204" pitchFamily="34" charset="0"/>
                          <a:ea typeface="KaiTi" panose="02010609060101010101" pitchFamily="49" charset="-122"/>
                          <a:cs typeface="Arial" panose="020B0604020202020204" pitchFamily="34" charset="0"/>
                        </a:rPr>
                        <a:t>53.8</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HK" sz="1000" b="0" i="0" dirty="0">
                          <a:solidFill>
                            <a:srgbClr val="00B050"/>
                          </a:solidFill>
                          <a:latin typeface="Arial" panose="020B0604020202020204" pitchFamily="34" charset="0"/>
                          <a:ea typeface="KaiTi" panose="02010609060101010101" pitchFamily="49" charset="-122"/>
                          <a:cs typeface="Arial" panose="020B0604020202020204" pitchFamily="34" charset="0"/>
                        </a:rPr>
                        <a:t>-16.1%</a:t>
                      </a:r>
                    </a:p>
                  </a:txBody>
                  <a:tcPr marL="13017" marR="13017" marT="13017" marB="0" anchor="ctr">
                    <a:lnL w="317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7329266"/>
                  </a:ext>
                </a:extLst>
              </a:tr>
              <a:tr h="216144">
                <a:tc>
                  <a:txBody>
                    <a:bodyPr/>
                    <a:lstStyle/>
                    <a:p>
                      <a:pPr algn="ctr"/>
                      <a:r>
                        <a:rPr lang="zh-TW" altLang="en-US" sz="1000" kern="1200" dirty="0">
                          <a:solidFill>
                            <a:srgbClr val="C00000"/>
                          </a:solidFill>
                          <a:effectLst/>
                          <a:latin typeface="Arial" panose="020B0604020202020204" pitchFamily="34" charset="0"/>
                          <a:ea typeface="KaiTi" panose="02010609060101010101" pitchFamily="49" charset="-122"/>
                          <a:cs typeface="Arial" panose="020B0604020202020204" pitchFamily="34" charset="0"/>
                        </a:rPr>
                        <a:t>兆威机电</a:t>
                      </a:r>
                    </a:p>
                    <a:p>
                      <a:pPr algn="ctr"/>
                      <a:r>
                        <a:rPr lang="zh-TW" altLang="en-US" sz="1000" kern="1200" dirty="0">
                          <a:solidFill>
                            <a:srgbClr val="C00000"/>
                          </a:solidFill>
                          <a:effectLst/>
                          <a:latin typeface="Arial" panose="020B0604020202020204" pitchFamily="34" charset="0"/>
                          <a:ea typeface="KaiTi" panose="02010609060101010101" pitchFamily="49" charset="-122"/>
                          <a:cs typeface="Arial" panose="020B0604020202020204" pitchFamily="34" charset="0"/>
                        </a:rPr>
                        <a:t>（招证国际为牵头保荐人）</a:t>
                      </a:r>
                    </a:p>
                  </a:txBody>
                  <a:tcPr marL="0" marR="0" marT="0" marB="0" anchor="ctr">
                    <a:lnL w="12700" cap="flat" cmpd="sng" algn="ctr">
                      <a:solidFill>
                        <a:srgbClr val="C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9</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71.28</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19.1</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400.7</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53.5</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HK" sz="1000" b="0" i="0" dirty="0">
                          <a:solidFill>
                            <a:srgbClr val="00B050"/>
                          </a:solidFill>
                          <a:latin typeface="Arial" panose="020B0604020202020204" pitchFamily="34" charset="0"/>
                          <a:ea typeface="KaiTi" panose="02010609060101010101" pitchFamily="49" charset="-122"/>
                          <a:cs typeface="Arial" panose="020B0604020202020204" pitchFamily="34" charset="0"/>
                        </a:rPr>
                        <a:t>-1.0%</a:t>
                      </a:r>
                    </a:p>
                  </a:txBody>
                  <a:tcPr marL="13017" marR="13017" marT="13017" marB="0" anchor="ctr">
                    <a:lnL w="317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1620136"/>
                  </a:ext>
                </a:extLst>
              </a:tr>
              <a:tr h="216144">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优乐赛共享</a:t>
                      </a:r>
                    </a:p>
                  </a:txBody>
                  <a:tcPr marL="0" marR="0" marT="0" marB="0" anchor="ctr">
                    <a:lnL w="12700" cap="flat" cmpd="sng" algn="ctr">
                      <a:solidFill>
                        <a:srgbClr val="C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物流</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9</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11.00</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2.2</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186.6</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5.9</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HK" sz="1000" b="0" i="0" dirty="0">
                          <a:solidFill>
                            <a:srgbClr val="00B050"/>
                          </a:solidFill>
                          <a:latin typeface="Arial" panose="020B0604020202020204" pitchFamily="34" charset="0"/>
                          <a:ea typeface="KaiTi" panose="02010609060101010101" pitchFamily="49" charset="-122"/>
                          <a:cs typeface="Arial" panose="020B0604020202020204" pitchFamily="34" charset="0"/>
                        </a:rPr>
                        <a:t>-58.7%</a:t>
                      </a:r>
                    </a:p>
                  </a:txBody>
                  <a:tcPr marL="13017" marR="13017" marT="13017" marB="0" anchor="ctr">
                    <a:lnL w="317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496703"/>
                  </a:ext>
                </a:extLst>
              </a:tr>
              <a:tr h="224605">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埃斯顿</a:t>
                      </a:r>
                    </a:p>
                  </a:txBody>
                  <a:tcPr marL="0" marR="0" marT="0" marB="0" anchor="ctr">
                    <a:lnL w="12700" cap="flat" cmpd="sng" algn="ctr">
                      <a:solidFill>
                        <a:srgbClr val="C0000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9</a:t>
                      </a:r>
                      <a:r>
                        <a:rPr lang="zh-CN" altLang="en-US"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 15.36 </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ClrTx/>
                        <a:buSzTx/>
                        <a:buFontTx/>
                      </a:pPr>
                      <a:r>
                        <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en-US" altLang="zh-CN"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4.9</a:t>
                      </a:r>
                      <a:endParaRPr lang="zh-CN" alt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293.0</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00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11.4</a:t>
                      </a:r>
                    </a:p>
                  </a:txBody>
                  <a:tcPr marL="9525" marR="9525" marT="9525"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HK" sz="1000" b="0" i="0" dirty="0">
                          <a:solidFill>
                            <a:srgbClr val="00B050"/>
                          </a:solidFill>
                          <a:latin typeface="Arial" panose="020B0604020202020204" pitchFamily="34" charset="0"/>
                          <a:ea typeface="KaiTi" panose="02010609060101010101" pitchFamily="49" charset="-122"/>
                          <a:cs typeface="Arial" panose="020B0604020202020204" pitchFamily="34" charset="0"/>
                        </a:rPr>
                        <a:t>-19.3%</a:t>
                      </a:r>
                    </a:p>
                  </a:txBody>
                  <a:tcPr marL="13017" marR="13017" marT="13017" marB="0" anchor="ctr">
                    <a:lnL w="3175"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0844"/>
                  </a:ext>
                </a:extLst>
              </a:tr>
            </a:tbl>
          </a:graphicData>
        </a:graphic>
      </p:graphicFrame>
      <p:sp>
        <p:nvSpPr>
          <p:cNvPr id="7" name="灯片编号占位符 6">
            <a:extLst>
              <a:ext uri="{FF2B5EF4-FFF2-40B4-BE49-F238E27FC236}">
                <a16:creationId xmlns:a16="http://schemas.microsoft.com/office/drawing/2014/main" id="{0945BE3B-E09F-6C11-9CF0-215C01E982EE}"/>
              </a:ext>
            </a:extLst>
          </p:cNvPr>
          <p:cNvSpPr>
            <a:spLocks noGrp="1"/>
          </p:cNvSpPr>
          <p:nvPr>
            <p:ph type="sldNum" sz="quarter" idx="16"/>
          </p:nvPr>
        </p:nvSpPr>
        <p:spPr/>
        <p:txBody>
          <a:bodyPr/>
          <a:lstStyle/>
          <a:p>
            <a:fld id="{72E6F1C1-8568-433B-B05E-E21B84158B67}" type="slidenum">
              <a:rPr lang="en-US" smtClean="0"/>
              <a:t>15</a:t>
            </a:fld>
            <a:endParaRPr lang="en-US" dirty="0"/>
          </a:p>
        </p:txBody>
      </p:sp>
      <p:sp>
        <p:nvSpPr>
          <p:cNvPr id="4" name="Frame 3">
            <a:extLst>
              <a:ext uri="{FF2B5EF4-FFF2-40B4-BE49-F238E27FC236}">
                <a16:creationId xmlns:a16="http://schemas.microsoft.com/office/drawing/2014/main" id="{5F79040D-82C1-4E0D-E165-2CEEEE5EE490}"/>
              </a:ext>
            </a:extLst>
          </p:cNvPr>
          <p:cNvSpPr/>
          <p:nvPr/>
        </p:nvSpPr>
        <p:spPr>
          <a:xfrm>
            <a:off x="343281" y="1239552"/>
            <a:ext cx="5710047" cy="1472184"/>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6AFEAEA7-4F67-7664-536C-5325D6723434}"/>
              </a:ext>
            </a:extLst>
          </p:cNvPr>
          <p:cNvSpPr txBox="1"/>
          <p:nvPr/>
        </p:nvSpPr>
        <p:spPr>
          <a:xfrm>
            <a:off x="192024" y="2753489"/>
            <a:ext cx="2121093" cy="369332"/>
          </a:xfrm>
          <a:prstGeom prst="rect">
            <a:avLst/>
          </a:prstGeom>
          <a:noFill/>
        </p:spPr>
        <p:txBody>
          <a:bodyPr wrap="none" rtlCol="0">
            <a:spAutoFit/>
          </a:bodyPr>
          <a:lstStyle/>
          <a:p>
            <a:r>
              <a:rPr lang="en-US" dirty="0" err="1">
                <a:highlight>
                  <a:srgbClr val="FFFF00"/>
                </a:highlight>
              </a:rPr>
              <a:t>大表</a:t>
            </a:r>
            <a:r>
              <a:rPr lang="en-US" altLang="zh-CN" dirty="0">
                <a:highlight>
                  <a:srgbClr val="FFFF00"/>
                </a:highlight>
              </a:rPr>
              <a:t>/</a:t>
            </a:r>
            <a:r>
              <a:rPr lang="zh-CN" altLang="en-US" dirty="0">
                <a:highlight>
                  <a:srgbClr val="FFFF00"/>
                </a:highlight>
              </a:rPr>
              <a:t>上周周报</a:t>
            </a:r>
            <a:r>
              <a:rPr lang="en-US" altLang="zh-CN" dirty="0">
                <a:highlight>
                  <a:srgbClr val="FFFF00"/>
                </a:highlight>
              </a:rPr>
              <a:t>copy</a:t>
            </a:r>
            <a:endParaRPr lang="en-US" dirty="0">
              <a:highlight>
                <a:srgbClr val="FFFF00"/>
              </a:highlight>
            </a:endParaRPr>
          </a:p>
        </p:txBody>
      </p:sp>
      <p:sp>
        <p:nvSpPr>
          <p:cNvPr id="6" name="Frame 5">
            <a:extLst>
              <a:ext uri="{FF2B5EF4-FFF2-40B4-BE49-F238E27FC236}">
                <a16:creationId xmlns:a16="http://schemas.microsoft.com/office/drawing/2014/main" id="{FE5FD91E-851D-4D6B-BF24-CEE19ED5CDE9}"/>
              </a:ext>
            </a:extLst>
          </p:cNvPr>
          <p:cNvSpPr/>
          <p:nvPr/>
        </p:nvSpPr>
        <p:spPr>
          <a:xfrm>
            <a:off x="6228522" y="1239552"/>
            <a:ext cx="2179982" cy="158363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301D5739-6FF5-4B40-15D4-51B82DA8C646}"/>
              </a:ext>
            </a:extLst>
          </p:cNvPr>
          <p:cNvSpPr txBox="1"/>
          <p:nvPr/>
        </p:nvSpPr>
        <p:spPr>
          <a:xfrm>
            <a:off x="4794870" y="2831932"/>
            <a:ext cx="3890809" cy="923330"/>
          </a:xfrm>
          <a:prstGeom prst="rect">
            <a:avLst/>
          </a:prstGeom>
          <a:noFill/>
        </p:spPr>
        <p:txBody>
          <a:bodyPr wrap="none" rtlCol="0">
            <a:spAutoFit/>
          </a:bodyPr>
          <a:lstStyle/>
          <a:p>
            <a:r>
              <a:rPr lang="zh-TW" altLang="en-US" dirty="0">
                <a:highlight>
                  <a:srgbClr val="FFFF00"/>
                </a:highlight>
              </a:rPr>
              <a:t>在</a:t>
            </a:r>
            <a:r>
              <a:rPr lang="en-US" altLang="zh-TW" dirty="0" err="1">
                <a:highlight>
                  <a:srgbClr val="FFFF00"/>
                </a:highlight>
              </a:rPr>
              <a:t>iFinD</a:t>
            </a:r>
            <a:r>
              <a:rPr lang="zh-CN" altLang="en-US" dirty="0">
                <a:highlight>
                  <a:srgbClr val="FFFF00"/>
                </a:highlight>
              </a:rPr>
              <a:t> </a:t>
            </a:r>
            <a:r>
              <a:rPr lang="en-US" altLang="zh-CN" dirty="0">
                <a:highlight>
                  <a:srgbClr val="FFFF00"/>
                </a:highlight>
              </a:rPr>
              <a:t>Terminal</a:t>
            </a:r>
            <a:r>
              <a:rPr lang="zh-CN" altLang="en-US" dirty="0">
                <a:highlight>
                  <a:srgbClr val="FFFF00"/>
                </a:highlight>
              </a:rPr>
              <a:t>用</a:t>
            </a:r>
            <a:r>
              <a:rPr lang="en-US" altLang="zh-CN" dirty="0">
                <a:highlight>
                  <a:srgbClr val="FFFF00"/>
                </a:highlight>
              </a:rPr>
              <a:t>formula</a:t>
            </a:r>
            <a:r>
              <a:rPr lang="zh-CN" altLang="en-US" dirty="0">
                <a:highlight>
                  <a:srgbClr val="FFFF00"/>
                </a:highlight>
              </a:rPr>
              <a:t>拉，</a:t>
            </a:r>
            <a:endParaRPr lang="en-US" altLang="zh-CN" dirty="0">
              <a:highlight>
                <a:srgbClr val="FFFF00"/>
              </a:highlight>
            </a:endParaRPr>
          </a:p>
          <a:p>
            <a:r>
              <a:rPr lang="zh-CN" altLang="en-US" dirty="0">
                <a:highlight>
                  <a:srgbClr val="FFFF00"/>
                </a:highlight>
              </a:rPr>
              <a:t>用</a:t>
            </a:r>
            <a:r>
              <a:rPr lang="en-US" altLang="zh-CN" dirty="0">
                <a:highlight>
                  <a:srgbClr val="FFFF00"/>
                </a:highlight>
              </a:rPr>
              <a:t>excel plug-in, </a:t>
            </a:r>
            <a:r>
              <a:rPr lang="zh-CN" altLang="en-US" dirty="0">
                <a:highlight>
                  <a:srgbClr val="FFFF00"/>
                </a:highlight>
              </a:rPr>
              <a:t>公司帐户可能要找</a:t>
            </a:r>
            <a:r>
              <a:rPr lang="en-US" altLang="zh-CN" dirty="0">
                <a:highlight>
                  <a:srgbClr val="FFFF00"/>
                </a:highlight>
              </a:rPr>
              <a:t>IT</a:t>
            </a:r>
            <a:endParaRPr lang="en-US" altLang="zh-TW" dirty="0">
              <a:highlight>
                <a:srgbClr val="FFFF00"/>
              </a:highlight>
            </a:endParaRPr>
          </a:p>
          <a:p>
            <a:r>
              <a:rPr lang="zh-TW" altLang="en-US" dirty="0">
                <a:highlight>
                  <a:srgbClr val="FFFF00"/>
                </a:highlight>
              </a:rPr>
              <a:t>过去一个月香港新股市场统计</a:t>
            </a:r>
            <a:r>
              <a:rPr lang="en-US" altLang="zh-TW" dirty="0">
                <a:highlight>
                  <a:srgbClr val="FFFF00"/>
                </a:highlight>
              </a:rPr>
              <a:t>.xlsx</a:t>
            </a:r>
            <a:endParaRPr lang="en-US" dirty="0">
              <a:highlight>
                <a:srgbClr val="FFFF00"/>
              </a:highlight>
            </a:endParaRPr>
          </a:p>
        </p:txBody>
      </p:sp>
      <p:cxnSp>
        <p:nvCxnSpPr>
          <p:cNvPr id="11" name="Straight Connector 10">
            <a:extLst>
              <a:ext uri="{FF2B5EF4-FFF2-40B4-BE49-F238E27FC236}">
                <a16:creationId xmlns:a16="http://schemas.microsoft.com/office/drawing/2014/main" id="{0FEFDB6B-719E-14B6-4404-35AB22EEF64B}"/>
              </a:ext>
            </a:extLst>
          </p:cNvPr>
          <p:cNvCxnSpPr>
            <a:cxnSpLocks/>
            <a:stCxn id="8" idx="0"/>
          </p:cNvCxnSpPr>
          <p:nvPr/>
        </p:nvCxnSpPr>
        <p:spPr>
          <a:xfrm flipV="1">
            <a:off x="6740275" y="2391416"/>
            <a:ext cx="366983" cy="440516"/>
          </a:xfrm>
          <a:prstGeom prst="line">
            <a:avLst/>
          </a:prstGeom>
        </p:spPr>
        <p:style>
          <a:lnRef idx="1">
            <a:schemeClr val="accent1"/>
          </a:lnRef>
          <a:fillRef idx="0">
            <a:schemeClr val="accent1"/>
          </a:fillRef>
          <a:effectRef idx="0">
            <a:schemeClr val="accent1"/>
          </a:effectRef>
          <a:fontRef idx="minor">
            <a:schemeClr val="tx1"/>
          </a:fontRef>
        </p:style>
      </p:cxnSp>
      <p:pic>
        <p:nvPicPr>
          <p:cNvPr id="17" name="Picture 16" descr="A screenshot of a computer&#10;&#10;AI-generated content may be incorrect.">
            <a:extLst>
              <a:ext uri="{FF2B5EF4-FFF2-40B4-BE49-F238E27FC236}">
                <a16:creationId xmlns:a16="http://schemas.microsoft.com/office/drawing/2014/main" id="{56AA50EF-EF77-7C64-CE07-BDFD75C382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595" y="3704218"/>
            <a:ext cx="5046051" cy="3153782"/>
          </a:xfrm>
          <a:prstGeom prst="rect">
            <a:avLst/>
          </a:prstGeom>
        </p:spPr>
      </p:pic>
      <p:sp>
        <p:nvSpPr>
          <p:cNvPr id="18" name="TextBox 17">
            <a:extLst>
              <a:ext uri="{FF2B5EF4-FFF2-40B4-BE49-F238E27FC236}">
                <a16:creationId xmlns:a16="http://schemas.microsoft.com/office/drawing/2014/main" id="{C545F86F-74AC-5877-5F4F-285FCE226EF7}"/>
              </a:ext>
            </a:extLst>
          </p:cNvPr>
          <p:cNvSpPr txBox="1"/>
          <p:nvPr/>
        </p:nvSpPr>
        <p:spPr>
          <a:xfrm>
            <a:off x="9006290" y="3059668"/>
            <a:ext cx="646331" cy="369332"/>
          </a:xfrm>
          <a:prstGeom prst="rect">
            <a:avLst/>
          </a:prstGeom>
          <a:noFill/>
        </p:spPr>
        <p:txBody>
          <a:bodyPr wrap="none" rtlCol="0">
            <a:spAutoFit/>
          </a:bodyPr>
          <a:lstStyle/>
          <a:p>
            <a:r>
              <a:rPr lang="en-US" dirty="0" err="1">
                <a:highlight>
                  <a:srgbClr val="FFFF00"/>
                </a:highlight>
              </a:rPr>
              <a:t>大表</a:t>
            </a:r>
            <a:endParaRPr lang="en-US" dirty="0">
              <a:highlight>
                <a:srgbClr val="FFFF00"/>
              </a:highlight>
            </a:endParaRPr>
          </a:p>
        </p:txBody>
      </p:sp>
      <p:cxnSp>
        <p:nvCxnSpPr>
          <p:cNvPr id="20" name="Straight Connector 19">
            <a:extLst>
              <a:ext uri="{FF2B5EF4-FFF2-40B4-BE49-F238E27FC236}">
                <a16:creationId xmlns:a16="http://schemas.microsoft.com/office/drawing/2014/main" id="{277FB68B-6D34-0C3F-62BA-E14275E36EFD}"/>
              </a:ext>
            </a:extLst>
          </p:cNvPr>
          <p:cNvCxnSpPr>
            <a:cxnSpLocks/>
            <a:stCxn id="22" idx="2"/>
          </p:cNvCxnSpPr>
          <p:nvPr/>
        </p:nvCxnSpPr>
        <p:spPr>
          <a:xfrm>
            <a:off x="9057041" y="2753489"/>
            <a:ext cx="254082" cy="372859"/>
          </a:xfrm>
          <a:prstGeom prst="line">
            <a:avLst/>
          </a:prstGeom>
        </p:spPr>
        <p:style>
          <a:lnRef idx="1">
            <a:schemeClr val="accent1"/>
          </a:lnRef>
          <a:fillRef idx="0">
            <a:schemeClr val="accent1"/>
          </a:fillRef>
          <a:effectRef idx="0">
            <a:schemeClr val="accent1"/>
          </a:effectRef>
          <a:fontRef idx="minor">
            <a:schemeClr val="tx1"/>
          </a:fontRef>
        </p:style>
      </p:cxnSp>
      <p:sp>
        <p:nvSpPr>
          <p:cNvPr id="22" name="Frame 21">
            <a:extLst>
              <a:ext uri="{FF2B5EF4-FFF2-40B4-BE49-F238E27FC236}">
                <a16:creationId xmlns:a16="http://schemas.microsoft.com/office/drawing/2014/main" id="{C5480BC2-025D-7EF0-C973-37CEFFF7AB42}"/>
              </a:ext>
            </a:extLst>
          </p:cNvPr>
          <p:cNvSpPr/>
          <p:nvPr/>
        </p:nvSpPr>
        <p:spPr>
          <a:xfrm>
            <a:off x="8662074" y="1239552"/>
            <a:ext cx="789934" cy="1513937"/>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E80B8C23-8EDC-F41D-8159-B24CC7354EF0}"/>
              </a:ext>
            </a:extLst>
          </p:cNvPr>
          <p:cNvSpPr txBox="1"/>
          <p:nvPr/>
        </p:nvSpPr>
        <p:spPr>
          <a:xfrm>
            <a:off x="6463574" y="3971157"/>
            <a:ext cx="2941831" cy="646331"/>
          </a:xfrm>
          <a:prstGeom prst="rect">
            <a:avLst/>
          </a:prstGeom>
          <a:noFill/>
        </p:spPr>
        <p:txBody>
          <a:bodyPr wrap="none" rtlCol="0">
            <a:spAutoFit/>
          </a:bodyPr>
          <a:lstStyle/>
          <a:p>
            <a:r>
              <a:rPr lang="en-US" dirty="0">
                <a:highlight>
                  <a:srgbClr val="FFFF00"/>
                </a:highlight>
              </a:rPr>
              <a:t>上市不够</a:t>
            </a:r>
            <a:r>
              <a:rPr lang="en-US" altLang="zh-CN" dirty="0">
                <a:highlight>
                  <a:srgbClr val="FFFF00"/>
                </a:highlight>
              </a:rPr>
              <a:t>5</a:t>
            </a:r>
            <a:r>
              <a:rPr lang="zh-CN" altLang="en-US" dirty="0">
                <a:highlight>
                  <a:srgbClr val="FFFF00"/>
                </a:highlight>
              </a:rPr>
              <a:t>天的要填“</a:t>
            </a:r>
            <a:r>
              <a:rPr lang="en-US" altLang="zh-CN" dirty="0">
                <a:highlight>
                  <a:srgbClr val="FFFF00"/>
                </a:highlight>
              </a:rPr>
              <a:t>NA</a:t>
            </a:r>
            <a:r>
              <a:rPr lang="zh-CN" altLang="en-US" dirty="0">
                <a:highlight>
                  <a:srgbClr val="FFFF00"/>
                </a:highlight>
              </a:rPr>
              <a:t>”</a:t>
            </a:r>
            <a:endParaRPr lang="en-US" altLang="zh-CN" dirty="0">
              <a:highlight>
                <a:srgbClr val="FFFF00"/>
              </a:highlight>
            </a:endParaRPr>
          </a:p>
          <a:p>
            <a:r>
              <a:rPr lang="zh-CN" altLang="en-US" dirty="0">
                <a:highlight>
                  <a:srgbClr val="FFFF00"/>
                </a:highlight>
              </a:rPr>
              <a:t>不够数据</a:t>
            </a:r>
            <a:endParaRPr lang="en-US" dirty="0">
              <a:highlight>
                <a:srgbClr val="FFFF00"/>
              </a:highlight>
            </a:endParaRPr>
          </a:p>
        </p:txBody>
      </p:sp>
      <p:cxnSp>
        <p:nvCxnSpPr>
          <p:cNvPr id="26" name="Straight Arrow Connector 25">
            <a:extLst>
              <a:ext uri="{FF2B5EF4-FFF2-40B4-BE49-F238E27FC236}">
                <a16:creationId xmlns:a16="http://schemas.microsoft.com/office/drawing/2014/main" id="{F8992C5C-E72A-0AFF-3D12-AA3CD37890FB}"/>
              </a:ext>
            </a:extLst>
          </p:cNvPr>
          <p:cNvCxnSpPr>
            <a:cxnSpLocks/>
            <a:stCxn id="24" idx="0"/>
          </p:cNvCxnSpPr>
          <p:nvPr/>
        </p:nvCxnSpPr>
        <p:spPr>
          <a:xfrm flipH="1" flipV="1">
            <a:off x="7855527" y="1518583"/>
            <a:ext cx="78963" cy="2452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B6506E2-A732-AC51-6726-BC3D3A32BDC7}"/>
              </a:ext>
            </a:extLst>
          </p:cNvPr>
          <p:cNvSpPr txBox="1"/>
          <p:nvPr/>
        </p:nvSpPr>
        <p:spPr>
          <a:xfrm>
            <a:off x="6463574" y="4970085"/>
            <a:ext cx="1864613" cy="369332"/>
          </a:xfrm>
          <a:prstGeom prst="rect">
            <a:avLst/>
          </a:prstGeom>
          <a:noFill/>
        </p:spPr>
        <p:txBody>
          <a:bodyPr wrap="none" rtlCol="0">
            <a:spAutoFit/>
          </a:bodyPr>
          <a:lstStyle/>
          <a:p>
            <a:r>
              <a:rPr lang="en-US" dirty="0" err="1">
                <a:highlight>
                  <a:srgbClr val="FFFF00"/>
                </a:highlight>
              </a:rPr>
              <a:t>最后记得改字体</a:t>
            </a:r>
            <a:endParaRPr lang="en-US" dirty="0">
              <a:highlight>
                <a:srgbClr val="FFFF00"/>
              </a:highlight>
            </a:endParaRPr>
          </a:p>
        </p:txBody>
      </p:sp>
    </p:spTree>
    <p:extLst>
      <p:ext uri="{BB962C8B-B14F-4D97-AF65-F5344CB8AC3E}">
        <p14:creationId xmlns:p14="http://schemas.microsoft.com/office/powerpoint/2010/main" val="3326344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nvPr>
        </p:nvGraphicFramePr>
        <p:xfrm>
          <a:off x="220980" y="429895"/>
          <a:ext cx="9593580" cy="6217686"/>
        </p:xfrm>
        <a:graphic>
          <a:graphicData uri="http://schemas.openxmlformats.org/drawingml/2006/table">
            <a:tbl>
              <a:tblPr/>
              <a:tblGrid>
                <a:gridCol w="252095">
                  <a:extLst>
                    <a:ext uri="{9D8B030D-6E8A-4147-A177-3AD203B41FA5}">
                      <a16:colId xmlns:a16="http://schemas.microsoft.com/office/drawing/2014/main" val="20000"/>
                    </a:ext>
                  </a:extLst>
                </a:gridCol>
                <a:gridCol w="728345">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2765">
                  <a:extLst>
                    <a:ext uri="{9D8B030D-6E8A-4147-A177-3AD203B41FA5}">
                      <a16:colId xmlns:a16="http://schemas.microsoft.com/office/drawing/2014/main" val="20003"/>
                    </a:ext>
                  </a:extLst>
                </a:gridCol>
                <a:gridCol w="532765">
                  <a:extLst>
                    <a:ext uri="{9D8B030D-6E8A-4147-A177-3AD203B41FA5}">
                      <a16:colId xmlns:a16="http://schemas.microsoft.com/office/drawing/2014/main" val="20004"/>
                    </a:ext>
                  </a:extLst>
                </a:gridCol>
                <a:gridCol w="532765">
                  <a:extLst>
                    <a:ext uri="{9D8B030D-6E8A-4147-A177-3AD203B41FA5}">
                      <a16:colId xmlns:a16="http://schemas.microsoft.com/office/drawing/2014/main" val="20005"/>
                    </a:ext>
                  </a:extLst>
                </a:gridCol>
                <a:gridCol w="1074420">
                  <a:extLst>
                    <a:ext uri="{9D8B030D-6E8A-4147-A177-3AD203B41FA5}">
                      <a16:colId xmlns:a16="http://schemas.microsoft.com/office/drawing/2014/main" val="20006"/>
                    </a:ext>
                  </a:extLst>
                </a:gridCol>
                <a:gridCol w="699135">
                  <a:extLst>
                    <a:ext uri="{9D8B030D-6E8A-4147-A177-3AD203B41FA5}">
                      <a16:colId xmlns:a16="http://schemas.microsoft.com/office/drawing/2014/main" val="20007"/>
                    </a:ext>
                  </a:extLst>
                </a:gridCol>
                <a:gridCol w="657860">
                  <a:extLst>
                    <a:ext uri="{9D8B030D-6E8A-4147-A177-3AD203B41FA5}">
                      <a16:colId xmlns:a16="http://schemas.microsoft.com/office/drawing/2014/main" val="20008"/>
                    </a:ext>
                  </a:extLst>
                </a:gridCol>
                <a:gridCol w="600075">
                  <a:extLst>
                    <a:ext uri="{9D8B030D-6E8A-4147-A177-3AD203B41FA5}">
                      <a16:colId xmlns:a16="http://schemas.microsoft.com/office/drawing/2014/main" val="20009"/>
                    </a:ext>
                  </a:extLst>
                </a:gridCol>
                <a:gridCol w="647700">
                  <a:extLst>
                    <a:ext uri="{9D8B030D-6E8A-4147-A177-3AD203B41FA5}">
                      <a16:colId xmlns:a16="http://schemas.microsoft.com/office/drawing/2014/main" val="20010"/>
                    </a:ext>
                  </a:extLst>
                </a:gridCol>
                <a:gridCol w="647700">
                  <a:extLst>
                    <a:ext uri="{9D8B030D-6E8A-4147-A177-3AD203B41FA5}">
                      <a16:colId xmlns:a16="http://schemas.microsoft.com/office/drawing/2014/main" val="20011"/>
                    </a:ext>
                  </a:extLst>
                </a:gridCol>
                <a:gridCol w="697230">
                  <a:extLst>
                    <a:ext uri="{9D8B030D-6E8A-4147-A177-3AD203B41FA5}">
                      <a16:colId xmlns:a16="http://schemas.microsoft.com/office/drawing/2014/main" val="20012"/>
                    </a:ext>
                  </a:extLst>
                </a:gridCol>
                <a:gridCol w="485775">
                  <a:extLst>
                    <a:ext uri="{9D8B030D-6E8A-4147-A177-3AD203B41FA5}">
                      <a16:colId xmlns:a16="http://schemas.microsoft.com/office/drawing/2014/main" val="20013"/>
                    </a:ext>
                  </a:extLst>
                </a:gridCol>
                <a:gridCol w="485775">
                  <a:extLst>
                    <a:ext uri="{9D8B030D-6E8A-4147-A177-3AD203B41FA5}">
                      <a16:colId xmlns:a16="http://schemas.microsoft.com/office/drawing/2014/main" val="20014"/>
                    </a:ext>
                  </a:extLst>
                </a:gridCol>
                <a:gridCol w="485775">
                  <a:extLst>
                    <a:ext uri="{9D8B030D-6E8A-4147-A177-3AD203B41FA5}">
                      <a16:colId xmlns:a16="http://schemas.microsoft.com/office/drawing/2014/main" val="20015"/>
                    </a:ext>
                  </a:extLst>
                </a:gridCol>
              </a:tblGrid>
              <a:tr h="0">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HK"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chemeClr val="bg1"/>
                          </a:solidFill>
                          <a:effectLst/>
                          <a:latin typeface="Arial Regular" panose="020B0704020202020204" charset="0"/>
                          <a:ea typeface="楷体" charset="0"/>
                          <a:cs typeface="Arial" panose="020B0704020202020204" pitchFamily="34" charset="0"/>
                        </a:rPr>
                        <a:t>公司名称</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rgbClr val="FFFFFF"/>
                          </a:solidFill>
                          <a:effectLst/>
                          <a:latin typeface="Arial Regular" panose="020B0704020202020204" charset="0"/>
                          <a:ea typeface="楷体" charset="0"/>
                          <a:cs typeface="Arial" panose="020B0704020202020204" pitchFamily="34" charset="0"/>
                        </a:rPr>
                        <a:t>股票代号</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rgbClr val="FFFFFF"/>
                          </a:solidFill>
                          <a:effectLst/>
                          <a:latin typeface="Arial Regular" panose="020B0704020202020204" charset="0"/>
                          <a:ea typeface="楷体" charset="0"/>
                          <a:cs typeface="Arial" panose="020B0704020202020204" pitchFamily="34" charset="0"/>
                        </a:rPr>
                        <a:t>上市日期</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rgbClr val="FFFFFF"/>
                          </a:solidFill>
                          <a:effectLst/>
                          <a:latin typeface="Arial Regular" panose="020B0704020202020204" charset="0"/>
                          <a:ea typeface="楷体" charset="0"/>
                          <a:cs typeface="Arial" panose="020B0704020202020204" pitchFamily="34" charset="0"/>
                        </a:rPr>
                        <a:t>行业</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t>发行规模</a:t>
                      </a:r>
                      <a:b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br>
                      <a: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t>（亿港元）</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超额分配</a:t>
                      </a:r>
                      <a:r>
                        <a:rPr lang="en-US" altLang="zh-CN" sz="530" b="1" i="0" u="sng" strike="noStrike" kern="1200" baseline="30000" dirty="0">
                          <a:solidFill>
                            <a:srgbClr val="FFFFFF"/>
                          </a:solidFill>
                          <a:effectLst/>
                          <a:latin typeface="Arial Regular" panose="020B0704020202020204" charset="0"/>
                          <a:ea typeface="楷体" charset="0"/>
                          <a:cs typeface="Arial Regular" panose="020B0704020202020204" charset="0"/>
                        </a:rPr>
                        <a:t>2</a:t>
                      </a:r>
                      <a:endPar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endParaRP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公开发售比例</a:t>
                      </a:r>
                      <a:r>
                        <a:rPr lang="en-US" altLang="zh-CN" sz="530" b="1" i="0" u="sng" strike="noStrike" kern="1200" baseline="30000" dirty="0">
                          <a:solidFill>
                            <a:srgbClr val="FFFFFF"/>
                          </a:solidFill>
                          <a:effectLst/>
                          <a:latin typeface="Arial Regular" panose="020B0704020202020204" charset="0"/>
                          <a:ea typeface="楷体" charset="0"/>
                          <a:cs typeface="Arial Regular" panose="020B0704020202020204" charset="0"/>
                        </a:rPr>
                        <a:t>3</a:t>
                      </a:r>
                      <a:endPar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endParaRP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t>香港公开发售</a:t>
                      </a:r>
                      <a:b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br>
                      <a: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t>认购倍数</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t>国际配售</a:t>
                      </a:r>
                      <a:b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br>
                      <a:r>
                        <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rPr>
                        <a:t>认购倍数</a:t>
                      </a:r>
                      <a:r>
                        <a:rPr lang="en-US" altLang="zh-CN" sz="530" b="1" i="0" u="sng" strike="noStrike" kern="1200" baseline="30000" dirty="0">
                          <a:solidFill>
                            <a:srgbClr val="FFFFFF"/>
                          </a:solidFill>
                          <a:effectLst/>
                          <a:latin typeface="Arial Regular" panose="020B0704020202020204" charset="0"/>
                          <a:ea typeface="楷体" charset="0"/>
                          <a:cs typeface="Arial Regular" panose="020B0704020202020204" charset="0"/>
                        </a:rPr>
                        <a:t>4</a:t>
                      </a:r>
                      <a:endParaRPr lang="zh-CN" altLang="en-US" sz="530" b="1" i="0" u="sng" strike="noStrike" baseline="0" dirty="0">
                        <a:solidFill>
                          <a:srgbClr val="FFFFFF"/>
                        </a:solidFill>
                        <a:effectLst/>
                        <a:latin typeface="Arial Regular" panose="020B0704020202020204" charset="0"/>
                        <a:ea typeface="楷体" charset="0"/>
                        <a:cs typeface="Arial Regular" panose="020B0704020202020204" charset="0"/>
                      </a:endParaRP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基础发行比例</a:t>
                      </a:r>
                      <a:endPar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endParaRPr>
                    </a:p>
                    <a:p>
                      <a:pPr marL="0" algn="ctr" defTabSz="685800" rtl="0" eaLnBrk="1" fontAlgn="ctr" latinLnBrk="0" hangingPunct="1"/>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基石占比</a:t>
                      </a:r>
                      <a:r>
                        <a:rPr lang="en-US" altLang="zh-CN" sz="530" b="1" i="0" u="sng" strike="noStrike" kern="1200" baseline="30000" dirty="0">
                          <a:solidFill>
                            <a:srgbClr val="FFFFFF"/>
                          </a:solidFill>
                          <a:effectLst/>
                          <a:latin typeface="Arial Regular" panose="020B0704020202020204" charset="0"/>
                          <a:ea typeface="楷体" charset="0"/>
                          <a:cs typeface="Arial Regular" panose="020B0704020202020204" charset="0"/>
                        </a:rPr>
                        <a:t>5</a:t>
                      </a:r>
                      <a:endPar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endParaRPr>
                    </a:p>
                    <a:p>
                      <a:pPr marL="0" algn="ctr" defTabSz="685800" rtl="0" eaLnBrk="1" fontAlgn="ctr" latinLnBrk="0" hangingPunct="1"/>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rPr>
                        <a:t>H</a:t>
                      </a:r>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股相对</a:t>
                      </a:r>
                      <a:r>
                        <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rPr>
                        <a:t>A</a:t>
                      </a:r>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股</a:t>
                      </a:r>
                      <a:endPar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endParaRPr>
                    </a:p>
                    <a:p>
                      <a:pPr marL="0" algn="ctr" defTabSz="685800" rtl="0" eaLnBrk="1" fontAlgn="ctr" latinLnBrk="0" hangingPunct="1"/>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折价率（</a:t>
                      </a:r>
                      <a:r>
                        <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zh-CN" altLang="en-US"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en-US" altLang="zh-CN" sz="530" b="1" i="0" u="sng" strike="noStrike" kern="1200" baseline="30000" dirty="0">
                          <a:solidFill>
                            <a:srgbClr val="FFFFFF"/>
                          </a:solidFill>
                          <a:effectLst/>
                          <a:latin typeface="Arial Regular" panose="020B0704020202020204" charset="0"/>
                          <a:ea typeface="楷体" charset="0"/>
                          <a:cs typeface="Arial Regular" panose="020B0704020202020204" charset="0"/>
                        </a:rPr>
                        <a:t>6</a:t>
                      </a:r>
                      <a:endParaRPr lang="zh-CN" altLang="en-US" sz="530" b="1" i="0" u="sng" strike="noStrike" kern="1200" baseline="30000" dirty="0">
                        <a:solidFill>
                          <a:srgbClr val="FFFFFF"/>
                        </a:solidFill>
                        <a:effectLst/>
                        <a:latin typeface="Arial Regular" panose="020B0704020202020204" charset="0"/>
                        <a:ea typeface="楷体" charset="0"/>
                        <a:cs typeface="Arial Regular" panose="020B0704020202020204" charset="0"/>
                      </a:endParaRP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3">
                  <a:txBody>
                    <a:bodyPr/>
                    <a:lstStyle/>
                    <a:p>
                      <a:pPr algn="ctr" fontAlgn="ctr"/>
                      <a:r>
                        <a:rPr lang="zh-CN" altLang="en-US" sz="530" b="1" i="0" u="sng" strike="noStrike" baseline="0" dirty="0">
                          <a:solidFill>
                            <a:schemeClr val="bg1"/>
                          </a:solidFill>
                          <a:effectLst/>
                          <a:latin typeface="Arial Regular" panose="020B0704020202020204" charset="0"/>
                          <a:ea typeface="楷体" charset="0"/>
                          <a:cs typeface="Arial" panose="020B0704020202020204" pitchFamily="34" charset="0"/>
                        </a:rPr>
                        <a:t>后市表现</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marL="6139" marR="6139" marT="6139" marB="0" anchor="ctr">
                    <a:lnL w="12700" cap="flat" cmpd="sng" algn="ctr">
                      <a:solidFill>
                        <a:schemeClr val="bg1">
                          <a:lumMod val="85000"/>
                        </a:schemeClr>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tc hMerge="1">
                  <a:txBody>
                    <a:bodyPr/>
                    <a:lstStyle/>
                    <a:p>
                      <a:endParaRPr lang="en-US"/>
                    </a:p>
                  </a:txBody>
                  <a:tcPr marL="6139" marR="6139" marT="6139"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6764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zh-CN" altLang="en-US" sz="530" b="1" i="0" u="sng" strike="noStrike" baseline="0" dirty="0">
                          <a:solidFill>
                            <a:schemeClr val="bg1"/>
                          </a:solidFill>
                          <a:effectLst/>
                          <a:latin typeface="Arial Regular" panose="020B0704020202020204" charset="0"/>
                          <a:ea typeface="楷体" charset="0"/>
                          <a:cs typeface="Arial Regular" panose="020B0704020202020204" charset="0"/>
                        </a:rPr>
                        <a:t>首日</a:t>
                      </a:r>
                      <a:endParaRPr lang="en-US" altLang="zh-CN" sz="530" b="1" i="0" u="sng" strike="noStrike" baseline="0" dirty="0">
                        <a:solidFill>
                          <a:schemeClr val="bg1"/>
                        </a:solidFill>
                        <a:effectLst/>
                        <a:latin typeface="Arial Regular" panose="020B0704020202020204" charset="0"/>
                        <a:ea typeface="楷体" charset="0"/>
                        <a:cs typeface="Arial Regular" panose="020B0704020202020204" charset="0"/>
                      </a:endParaRPr>
                    </a:p>
                    <a:p>
                      <a:pPr algn="ctr" fontAlgn="ctr"/>
                      <a:r>
                        <a:rPr lang="zh-CN" altLang="en-US" sz="530" b="1" i="0" u="sng" strike="noStrike" baseline="0" dirty="0">
                          <a:solidFill>
                            <a:schemeClr val="bg1"/>
                          </a:solidFill>
                          <a:effectLst/>
                          <a:latin typeface="Arial Regular" panose="020B0704020202020204" charset="0"/>
                          <a:ea typeface="楷体" charset="0"/>
                          <a:cs typeface="Arial Regular" panose="020B0704020202020204" charset="0"/>
                        </a:rPr>
                        <a:t> </a:t>
                      </a:r>
                      <a:r>
                        <a:rPr lang="en-US" altLang="zh-CN" sz="530" b="1" i="0" u="sng" strike="noStrike" baseline="0" dirty="0">
                          <a:solidFill>
                            <a:schemeClr val="bg1"/>
                          </a:solidFill>
                          <a:effectLst/>
                          <a:latin typeface="Arial Regular" panose="020B0704020202020204" charset="0"/>
                          <a:ea typeface="楷体" charset="0"/>
                          <a:cs typeface="Arial Regular" panose="020B0704020202020204" charset="0"/>
                        </a:rPr>
                        <a:t>(</a:t>
                      </a:r>
                      <a:r>
                        <a:rPr lang="en-US" altLang="zh-CN" sz="530" b="1" i="0" u="sng" strike="noStrike" kern="1200" baseline="0" dirty="0">
                          <a:solidFill>
                            <a:srgbClr val="FFFFFF"/>
                          </a:solidFill>
                          <a:effectLst/>
                          <a:latin typeface="Arial Regular" panose="020B0704020202020204" charset="0"/>
                          <a:ea typeface="楷体" charset="0"/>
                          <a:cs typeface="Arial Regular" panose="020B0704020202020204" charset="0"/>
                        </a:rPr>
                        <a:t>%</a:t>
                      </a:r>
                      <a:r>
                        <a:rPr lang="en-US" altLang="zh-CN" sz="530" b="1" i="0" u="sng" strike="noStrike" baseline="0" dirty="0">
                          <a:solidFill>
                            <a:schemeClr val="bg1"/>
                          </a:solidFill>
                          <a:effectLst/>
                          <a:latin typeface="Arial Regular" panose="020B0704020202020204" charset="0"/>
                          <a:ea typeface="楷体" charset="0"/>
                          <a:cs typeface="Arial Regular" panose="020B0704020202020204" charset="0"/>
                        </a:rPr>
                        <a:t>)</a:t>
                      </a:r>
                      <a:endParaRPr lang="zh-CN" altLang="en-US" sz="530" b="1" i="0" u="sng" strike="noStrike" baseline="0" dirty="0">
                        <a:solidFill>
                          <a:schemeClr val="bg1"/>
                        </a:solidFill>
                        <a:effectLst/>
                        <a:latin typeface="Arial Regular" panose="020B0704020202020204" charset="0"/>
                        <a:ea typeface="楷体" charset="0"/>
                        <a:cs typeface="Arial Regular" panose="020B0704020202020204" charset="0"/>
                      </a:endParaRP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1" i="0" u="sng" strike="noStrike" kern="1200" baseline="0" dirty="0">
                          <a:solidFill>
                            <a:schemeClr val="bg1"/>
                          </a:solidFill>
                          <a:effectLst/>
                          <a:latin typeface="Arial Regular" panose="020B0704020202020204" charset="0"/>
                          <a:ea typeface="楷体" charset="0"/>
                          <a:cs typeface="Arial Regular" panose="020B0704020202020204" charset="0"/>
                        </a:rPr>
                        <a:t>首月</a:t>
                      </a:r>
                      <a:endParaRPr lang="en-US" altLang="zh-CN" sz="530" b="1" i="0" u="sng" strike="noStrike" kern="1200" baseline="0" dirty="0">
                        <a:solidFill>
                          <a:schemeClr val="bg1"/>
                        </a:solidFill>
                        <a:effectLst/>
                        <a:latin typeface="Arial Regular" panose="020B0704020202020204" charset="0"/>
                        <a:ea typeface="楷体" charset="0"/>
                        <a:cs typeface="Arial Regular" panose="020B070402020202020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530" b="1" i="0" u="sng" strike="noStrike" kern="1200" cap="none" spc="0" normalizeH="0" baseline="0" noProof="0" dirty="0">
                          <a:ln>
                            <a:noFill/>
                          </a:ln>
                          <a:solidFill>
                            <a:prstClr val="white"/>
                          </a:solidFill>
                          <a:effectLst/>
                          <a:uLnTx/>
                          <a:uFillTx/>
                          <a:latin typeface="Arial Regular" panose="020B0704020202020204" charset="0"/>
                          <a:ea typeface="楷体" charset="0"/>
                          <a:cs typeface="Arial Regular" panose="020B0704020202020204" charset="0"/>
                        </a:rPr>
                        <a:t> </a:t>
                      </a:r>
                      <a:r>
                        <a:rPr lang="en-US" altLang="zh-CN" sz="530" b="1" i="0" u="sng" strike="noStrike" kern="1200" baseline="0" noProof="0" dirty="0">
                          <a:solidFill>
                            <a:srgbClr val="FFFFFF"/>
                          </a:solidFill>
                          <a:effectLst/>
                          <a:latin typeface="Arial Regular" panose="020B0704020202020204" charset="0"/>
                          <a:ea typeface="楷体" charset="0"/>
                          <a:cs typeface="Arial Regular" panose="020B070402020202020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1" i="0" u="sng" strike="noStrike" baseline="0" dirty="0">
                          <a:solidFill>
                            <a:schemeClr val="bg1"/>
                          </a:solidFill>
                          <a:effectLst/>
                          <a:latin typeface="Arial Regular" panose="020B0704020202020204" charset="0"/>
                          <a:ea typeface="楷体" charset="0"/>
                          <a:cs typeface="Arial Regular" panose="020B0704020202020204" charset="0"/>
                        </a:rPr>
                        <a:t>至今</a:t>
                      </a:r>
                      <a:endParaRPr lang="en-US" altLang="zh-CN" sz="530" b="1" i="0" u="sng" strike="noStrike" baseline="0" dirty="0">
                        <a:solidFill>
                          <a:schemeClr val="bg1"/>
                        </a:solidFill>
                        <a:effectLst/>
                        <a:latin typeface="Arial Regular" panose="020B0704020202020204" charset="0"/>
                        <a:ea typeface="楷体" charset="0"/>
                        <a:cs typeface="Arial Regular" panose="020B070402020202020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530" b="1" i="0" u="sng" strike="noStrike" kern="1200" cap="none" spc="0" normalizeH="0" baseline="0" noProof="0" dirty="0">
                          <a:ln>
                            <a:noFill/>
                          </a:ln>
                          <a:solidFill>
                            <a:prstClr val="white"/>
                          </a:solidFill>
                          <a:effectLst/>
                          <a:uLnTx/>
                          <a:uFillTx/>
                          <a:latin typeface="Arial Regular" panose="020B0704020202020204" charset="0"/>
                          <a:ea typeface="楷体" charset="0"/>
                          <a:cs typeface="Arial Regular" panose="020B0704020202020204" charset="0"/>
                        </a:rPr>
                        <a:t> </a:t>
                      </a:r>
                      <a:r>
                        <a:rPr kumimoji="0" lang="en-US" altLang="zh-CN" sz="530" b="1" i="0" u="sng" strike="noStrike" kern="1200" cap="none" spc="0" normalizeH="0" baseline="0" noProof="0" dirty="0">
                          <a:ln>
                            <a:noFill/>
                          </a:ln>
                          <a:solidFill>
                            <a:prstClr val="white"/>
                          </a:solidFill>
                          <a:effectLst/>
                          <a:uLnTx/>
                          <a:uFillTx/>
                          <a:latin typeface="Arial Regular" panose="020B0704020202020204" charset="0"/>
                          <a:ea typeface="楷体" charset="0"/>
                          <a:cs typeface="Arial Regular" panose="020B0704020202020204" charset="0"/>
                        </a:rPr>
                        <a:t>(</a:t>
                      </a:r>
                      <a:r>
                        <a:rPr lang="en-US" altLang="zh-CN" sz="530" b="1" i="0" u="sng" strike="noStrike" kern="1200" baseline="0" noProof="0" dirty="0">
                          <a:solidFill>
                            <a:srgbClr val="FFFFFF"/>
                          </a:solidFill>
                          <a:effectLst/>
                          <a:latin typeface="Arial Regular" panose="020B0704020202020204" charset="0"/>
                          <a:ea typeface="楷体" charset="0"/>
                          <a:cs typeface="Arial Regular" panose="020B0704020202020204" charset="0"/>
                        </a:rPr>
                        <a:t>%</a:t>
                      </a:r>
                      <a:r>
                        <a:rPr kumimoji="0" lang="en-US" altLang="zh-CN" sz="530" b="1" i="0" u="sng" strike="noStrike" kern="1200" cap="none" spc="0" normalizeH="0" baseline="0" noProof="0" dirty="0">
                          <a:ln>
                            <a:noFill/>
                          </a:ln>
                          <a:solidFill>
                            <a:prstClr val="white"/>
                          </a:solidFill>
                          <a:effectLst/>
                          <a:uLnTx/>
                          <a:uFillTx/>
                          <a:latin typeface="Arial Regular" panose="020B0704020202020204" charset="0"/>
                          <a:ea typeface="楷体" charset="0"/>
                          <a:cs typeface="Arial Regular" panose="020B070402020202020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0">
                <a:tc>
                  <a:txBody>
                    <a:bodyPr/>
                    <a:lstStyle/>
                    <a:p>
                      <a:pPr algn="ctr" fontAlgn="ctr">
                        <a:buClrTx/>
                        <a:buSzTx/>
                        <a:buFontTx/>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dirty="0">
                          <a:solidFill>
                            <a:srgbClr val="000000"/>
                          </a:solidFill>
                          <a:effectLst/>
                          <a:latin typeface="Arial Regular" panose="020B0704020202020204" charset="0"/>
                          <a:ea typeface="楷体" charset="0"/>
                          <a:cs typeface="Arial" panose="020B0704020202020204" pitchFamily="34" charset="0"/>
                        </a:rPr>
                        <a:t>广合科技</a:t>
                      </a:r>
                    </a:p>
                  </a:txBody>
                  <a:tcPr marL="13017" marR="13017" marT="13017"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dirty="0">
                          <a:solidFill>
                            <a:srgbClr val="000000"/>
                          </a:solidFill>
                          <a:effectLst/>
                          <a:latin typeface="Arial Regular" panose="020B0704020202020204" charset="0"/>
                          <a:ea typeface="楷体" charset="0"/>
                          <a:cs typeface="Arial Regular" panose="020B0704020202020204" charset="0"/>
                        </a:rPr>
                        <a:t>1989</a:t>
                      </a:r>
                    </a:p>
                  </a:txBody>
                  <a:tcPr marL="13017" marR="13017" marT="13017"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dirty="0">
                          <a:solidFill>
                            <a:srgbClr val="000000"/>
                          </a:solidFill>
                          <a:effectLst/>
                          <a:latin typeface="Arial Regular" panose="020B0704020202020204" charset="0"/>
                          <a:ea typeface="楷体" charset="0"/>
                          <a:cs typeface="Arial Regular" panose="020B0704020202020204" charset="0"/>
                        </a:rPr>
                        <a:t>3月20日</a:t>
                      </a:r>
                    </a:p>
                  </a:txBody>
                  <a:tcPr marL="13017" marR="13017" marT="13017"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buNone/>
                      </a:pPr>
                      <a:r>
                        <a:rPr lang="zh-CN" altLang="en-US" sz="530" b="0" i="0" strike="noStrike" dirty="0">
                          <a:solidFill>
                            <a:srgbClr val="000000"/>
                          </a:solidFill>
                          <a:effectLst/>
                          <a:latin typeface="Arial Regular" panose="020B0704020202020204" charset="0"/>
                          <a:ea typeface="楷体" charset="0"/>
                          <a:cs typeface="Arial Regular" panose="020B0704020202020204" charset="0"/>
                        </a:rPr>
                        <a:t>TMT</a:t>
                      </a:r>
                      <a:endParaRPr lang="zh-CN" alt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dirty="0">
                          <a:solidFill>
                            <a:srgbClr val="000000"/>
                          </a:solidFill>
                          <a:effectLst/>
                          <a:latin typeface="Arial Regular" panose="020B0704020202020204" charset="0"/>
                          <a:ea typeface="楷体" charset="0"/>
                          <a:cs typeface="Arial Regular" panose="020B0704020202020204" charset="0"/>
                        </a:rPr>
                        <a:t>33.1</a:t>
                      </a:r>
                    </a:p>
                  </a:txBody>
                  <a:tcPr marL="13017" marR="13017" marT="13017"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zh-CN" altLang="en-US" sz="530" b="0" dirty="0">
                          <a:solidFill>
                            <a:srgbClr val="DAB866"/>
                          </a:solidFill>
                          <a:effectLst/>
                          <a:latin typeface="Arial Regular" panose="020B0704020202020204" charset="0"/>
                          <a:ea typeface="楷体" charset="0"/>
                          <a:cs typeface="Arial" panose="020B0704020202020204" pitchFamily="34" charset="0"/>
                          <a:sym typeface="+mn-ea"/>
                        </a:rPr>
                        <a:t>未设超额分配权</a:t>
                      </a:r>
                      <a:endPar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sym typeface="+mn-ea"/>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buNone/>
                      </a:pPr>
                      <a:r>
                        <a:rPr lang="zh-CN" altLang="en-US" sz="530" b="0" dirty="0">
                          <a:solidFill>
                            <a:srgbClr val="000000"/>
                          </a:solidFill>
                          <a:effectLst/>
                          <a:latin typeface="Arial Regular" panose="020B0704020202020204" charset="0"/>
                          <a:ea typeface="楷体" charset="0"/>
                          <a:cs typeface="Arial Regular" panose="020B0704020202020204" charset="0"/>
                          <a:sym typeface="+mn-ea"/>
                        </a:rPr>
                        <a:t>固定10%</a:t>
                      </a:r>
                      <a:endParaRPr lang="zh-CN" altLang="en-US" sz="530" b="0" i="0" u="none" strike="noStrike" dirty="0">
                        <a:solidFill>
                          <a:srgbClr val="000000"/>
                        </a:solidFill>
                        <a:effectLst/>
                        <a:latin typeface="Arial Regular" panose="020B0704020202020204" charset="0"/>
                        <a:ea typeface="楷体" charset="0"/>
                        <a:cs typeface="Arial Regular" panose="020B0704020202020204" charset="0"/>
                        <a:sym typeface="+mn-ea"/>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dirty="0">
                          <a:solidFill>
                            <a:srgbClr val="000000"/>
                          </a:solidFill>
                          <a:effectLst/>
                          <a:latin typeface="Arial Regular" panose="020B0704020202020204" charset="0"/>
                          <a:ea typeface="楷体" charset="0"/>
                          <a:cs typeface="Arial Regular" panose="020B0704020202020204" charset="0"/>
                        </a:rPr>
                        <a:t>1,070.7x</a:t>
                      </a:r>
                    </a:p>
                  </a:txBody>
                  <a:tcPr marL="13017" marR="13017" marT="13017"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dirty="0">
                          <a:solidFill>
                            <a:srgbClr val="000000"/>
                          </a:solidFill>
                          <a:effectLst/>
                          <a:latin typeface="Arial Regular" panose="020B0704020202020204" charset="0"/>
                          <a:ea typeface="楷体" charset="0"/>
                          <a:cs typeface="Arial Regular" panose="020B0704020202020204" charset="0"/>
                        </a:rPr>
                        <a:t>14.64x</a:t>
                      </a:r>
                    </a:p>
                  </a:txBody>
                  <a:tcPr marL="13017" marR="13017" marT="13017"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buNone/>
                      </a:pPr>
                      <a:r>
                        <a:rPr lang="en-US" altLang="en-US" sz="530" b="0" i="0" u="none" strike="noStrike" dirty="0">
                          <a:solidFill>
                            <a:srgbClr val="000000"/>
                          </a:solidFill>
                          <a:effectLst/>
                          <a:latin typeface="Arial Regular" panose="020B0704020202020204" charset="0"/>
                          <a:ea typeface="楷体" charset="0"/>
                          <a:cs typeface="Arial Regular" panose="020B0704020202020204" charset="0"/>
                        </a:rPr>
                        <a:t>9.7%</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buNone/>
                      </a:pPr>
                      <a:r>
                        <a:rPr lang="en-US" altLang="en-US" sz="530" b="0" i="0" u="none" strike="noStrike" dirty="0">
                          <a:solidFill>
                            <a:srgbClr val="000000"/>
                          </a:solidFill>
                          <a:effectLst/>
                          <a:latin typeface="Arial Regular" panose="020B0704020202020204" charset="0"/>
                          <a:ea typeface="楷体" charset="0"/>
                          <a:cs typeface="Arial Regular" panose="020B0704020202020204" charset="0"/>
                        </a:rPr>
                        <a:t>44.9%</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-47.2%</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33.6%</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a:solidFill>
                            <a:schemeClr val="tx1">
                              <a:lumMod val="50000"/>
                              <a:lumOff val="50000"/>
                            </a:schemeClr>
                          </a:solidFill>
                          <a:effectLst/>
                          <a:latin typeface="Arial Regular" panose="020B0704020202020204" charset="0"/>
                          <a:ea typeface="楷体" charset="0"/>
                          <a:cs typeface="Arial Regular" panose="020B0704020202020204" charset="0"/>
                        </a:rPr>
                        <a:t>n.a.</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dirty="0">
                          <a:solidFill>
                            <a:srgbClr val="FF0000"/>
                          </a:solidFill>
                          <a:latin typeface="Arial Regular" panose="020B0704020202020204" charset="0"/>
                          <a:ea typeface="楷体" charset="0"/>
                          <a:cs typeface="Arial Regular" panose="020B0704020202020204" charset="0"/>
                        </a:rPr>
                        <a:t>33.6%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ctr" fontAlgn="ctr">
                        <a:buClrTx/>
                        <a:buSzTx/>
                        <a:buFontTx/>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美格智能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3268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3月10日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1</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1.6</a:t>
                      </a:r>
                      <a:endParaRPr lang="zh-CN" alt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530" dirty="0">
                          <a:solidFill>
                            <a:srgbClr val="DAB866"/>
                          </a:solidFill>
                          <a:effectLst/>
                          <a:latin typeface="Arial Regular" panose="020B0704020202020204" charset="0"/>
                          <a:ea typeface="楷体" charset="0"/>
                          <a:cs typeface="Arial" panose="020B0704020202020204" pitchFamily="34" charset="0"/>
                          <a:sym typeface="+mn-ea"/>
                        </a:rPr>
                        <a:t>未设超额分配权</a:t>
                      </a:r>
                      <a:endPar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174.1x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4.50x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13.3%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45.4%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-44.6%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err="1">
                          <a:solidFill>
                            <a:schemeClr val="tx1">
                              <a:lumMod val="50000"/>
                              <a:lumOff val="50000"/>
                            </a:schemeClr>
                          </a:solidFill>
                          <a:effectLst/>
                          <a:latin typeface="Arial Regular" panose="020B0704020202020204" charset="0"/>
                          <a:ea typeface="楷体" charset="0"/>
                          <a:cs typeface="Arial Regular" panose="020B0704020202020204" charset="0"/>
                        </a:rPr>
                        <a:t>n.a.</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-16.1%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0">
                <a:tc>
                  <a:txBody>
                    <a:bodyPr/>
                    <a:lstStyle/>
                    <a:p>
                      <a:pPr algn="ctr" fontAlgn="ctr">
                        <a:buClrTx/>
                        <a:buSzTx/>
                        <a:buFontTx/>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兆威机电</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2692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3月9日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1,536.8x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13.40x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34.2%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000000"/>
                          </a:solidFill>
                          <a:effectLst/>
                          <a:latin typeface="Arial Regular" panose="020B0704020202020204" charset="0"/>
                          <a:ea typeface="楷体" charset="0"/>
                          <a:cs typeface="Arial Regular" panose="020B0704020202020204" charset="0"/>
                        </a:rPr>
                        <a:t>-46.0%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2.4%</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err="1">
                          <a:solidFill>
                            <a:schemeClr val="tx1">
                              <a:lumMod val="50000"/>
                              <a:lumOff val="50000"/>
                            </a:schemeClr>
                          </a:solidFill>
                          <a:effectLst/>
                          <a:latin typeface="Arial Regular" panose="020B0704020202020204" charset="0"/>
                          <a:ea typeface="楷体" charset="0"/>
                          <a:cs typeface="Arial Regular" panose="020B0704020202020204" charset="0"/>
                        </a:rPr>
                        <a:t>n.a.</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dirty="0">
                          <a:solidFill>
                            <a:srgbClr val="00B050"/>
                          </a:solidFill>
                          <a:latin typeface="Arial Regular" panose="020B0704020202020204" charset="0"/>
                          <a:ea typeface="楷体" charset="0"/>
                          <a:cs typeface="Arial Regular" panose="020B0704020202020204" charset="0"/>
                        </a:rPr>
                        <a:t>-1.0%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algn="ctr" fontAlgn="ctr">
                        <a:buClrTx/>
                        <a:buSzTx/>
                        <a:buFontTx/>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优乐赛共享</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2649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3月9日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物流</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5,297.2x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4.20x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22.5%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-43.6%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err="1">
                          <a:solidFill>
                            <a:schemeClr val="tx1">
                              <a:lumMod val="50000"/>
                              <a:lumOff val="50000"/>
                            </a:schemeClr>
                          </a:solidFill>
                          <a:effectLst/>
                          <a:latin typeface="Arial Regular" panose="020B0704020202020204" charset="0"/>
                          <a:ea typeface="楷体" charset="0"/>
                          <a:cs typeface="Arial Regular" panose="020B0704020202020204" charset="0"/>
                        </a:rPr>
                        <a:t>n.a.</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-58.7%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埃斯顿</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2715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3月9日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1</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a:t>
                      </a:r>
                      <a:endParaRPr lang="zh-CN" alt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19.7x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3.34x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530" b="0" i="0" u="none" strike="noStrike" dirty="0">
                          <a:solidFill>
                            <a:srgbClr val="000000"/>
                          </a:solidFill>
                          <a:effectLst/>
                          <a:latin typeface="Arial Regular" panose="020B0704020202020204" charset="0"/>
                          <a:ea typeface="楷体" charset="0"/>
                          <a:cs typeface="Arial Regular" panose="020B0704020202020204" charset="0"/>
                        </a:rPr>
                        <a:t>35.2%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-16.0%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err="1">
                          <a:solidFill>
                            <a:schemeClr val="tx1">
                              <a:lumMod val="50000"/>
                              <a:lumOff val="50000"/>
                            </a:schemeClr>
                          </a:solidFill>
                          <a:effectLst/>
                          <a:latin typeface="Arial Regular" panose="020B0704020202020204" charset="0"/>
                          <a:ea typeface="楷体" charset="0"/>
                          <a:cs typeface="Arial Regular" panose="020B0704020202020204" charset="0"/>
                        </a:rPr>
                        <a:t>n.a.</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dirty="0">
                          <a:solidFill>
                            <a:srgbClr val="00B050"/>
                          </a:solidFill>
                          <a:latin typeface="Arial Regular" panose="020B0704020202020204" charset="0"/>
                          <a:ea typeface="楷体" charset="0"/>
                          <a:cs typeface="Arial Regular" panose="020B0704020202020204" charset="0"/>
                        </a:rPr>
                        <a:t>-19.3%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沃尔核材</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9981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569.6x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8.19x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34.5%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-35.7%</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-9.2%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海致科技</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2706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13</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DAB866"/>
                          </a:solidFill>
                          <a:effectLst/>
                          <a:latin typeface="Arial Regular" panose="020B0704020202020204" charset="0"/>
                          <a:ea typeface="楷体" charset="0"/>
                          <a:cs typeface="Arial" panose="020B07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5,065.1x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8.39x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15.4%</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242.2%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210.6%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195.6%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08"/>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先导智能</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470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49.3</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79.5x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10.47x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6.4%</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43.5%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0.0%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-5.2%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-7.4%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乐欣户外</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2720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消费</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3,654.2x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2.94x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37.6%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102.3%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98.9%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125.5%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0"/>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爱芯元智</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600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29.6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104.8x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6.80x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17.9%</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48.8%</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0.0%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-3.4%</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-18.8%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澜起科技</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6809</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81.0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707.3x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37.67x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49.8%</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-43.9%</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63.7%</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76.5%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卓正医疗</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2677</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b">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2.9</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2,730.7x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5.79x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31.6%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13.4%</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0.3%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3"/>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牧原股份</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2714</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消费</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106.8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5.9x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8.62x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14.7%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14.6%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4"/>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大族数控</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3200</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b">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48.3</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446.4x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21.07x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-45.6%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14.8%</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17.4%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5"/>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国恩科技</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2768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化工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DAB866"/>
                          </a:solidFill>
                          <a:effectLst/>
                          <a:latin typeface="Arial Regular" panose="020B0704020202020204" charset="0"/>
                          <a:ea typeface="楷体" charset="0"/>
                          <a:cs typeface="Arial" panose="020B0704020202020204" pitchFamily="34" charset="0"/>
                        </a:rPr>
                        <a:t>未设超额分配权</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2,251.9x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10.03x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11.6%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31.7%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35.8%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6"/>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东鹏饮料</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9980</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b">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消费</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101.4</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57.5x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15.60x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-7.7%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-15.3%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7"/>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鸣鸣很忙</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1768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1,899.5</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44.44x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41.4%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69.1%</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79.3%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69.1%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8"/>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龙旗科技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9611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15.2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1,149.8x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9.02x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27.2%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-45.9%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-23.9%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9"/>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红星冷链</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1641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物流</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2,309.3x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1.65x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23.7%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0.3%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-32.8%</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-43.7%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0"/>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兆易创新</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3986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542.2x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18.52x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37.5%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128.4%</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159.3%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1"/>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豪威集团</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501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9.3x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9.73x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 </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16.2%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-4.2%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-14.9%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2"/>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瑞博生物</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 – B</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6938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18.3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101.1x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16.70x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41.6%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18.3%</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-1.6%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3"/>
                  </a:ext>
                </a:extLst>
              </a:tr>
              <a:tr h="0">
                <a:tc>
                  <a:txBody>
                    <a:bodyPr/>
                    <a:lstStyle/>
                    <a:p>
                      <a:pPr algn="ctr" fontAlgn="ctr">
                        <a:buNone/>
                      </a:pPr>
                      <a:r>
                        <a:rPr lang="en-US" altLang="zh-CN" sz="530" b="0" i="1" u="none" strike="noStrike">
                          <a:solidFill>
                            <a:srgbClr val="000000"/>
                          </a:solidFill>
                          <a:effectLst/>
                          <a:latin typeface="Arial Regular" panose="020B0704020202020204" charset="0"/>
                          <a:ea typeface="楷体" charset="0"/>
                          <a:cs typeface="Arial Regular" panose="020B0704020202020204" charset="0"/>
                        </a:rPr>
                        <a:t>23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金浔资源</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3636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矿业</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143.5x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12.78x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26.0%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25.5%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-26.5%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4"/>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MiniMax</a:t>
                      </a:r>
                      <a:r>
                        <a:rPr lang="en-US" sz="530" b="0" i="0" u="none" strike="noStrike" dirty="0">
                          <a:solidFill>
                            <a:srgbClr val="000000"/>
                          </a:solidFill>
                          <a:effectLst/>
                          <a:latin typeface="Arial Regular" panose="020B0704020202020204" charset="0"/>
                          <a:ea typeface="楷体" charset="0"/>
                          <a:cs typeface="Arial Regular" panose="020B0704020202020204" charset="0"/>
                        </a:rPr>
                        <a:t> – WP</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48.2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回拨至</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1,837.2x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36.76x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56.5%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109.1%</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212.1%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511.5%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5"/>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智譜</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8</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回拨至</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1,159.5x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15.28x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8.5%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68.6%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36.5%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138.2%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442.6%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6"/>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天数智芯</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9903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414.2x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10.68x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43.0%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8.4%</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14.2%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102.9%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7"/>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精锋医疗</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 – B</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2675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1,091.9x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25.18x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48.7%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a:ln>
                            <a:noFill/>
                          </a:ln>
                          <a:solidFill>
                            <a:srgbClr val="000000"/>
                          </a:solidFill>
                          <a:effectLst/>
                          <a:uLnTx/>
                          <a:uFillTx/>
                          <a:latin typeface="Arial Regular" panose="020B0704020202020204" charset="0"/>
                          <a:ea typeface="楷体" charset="0"/>
                          <a:cs typeface="Arial Regular" panose="020B0704020202020204" charset="0"/>
                        </a:rPr>
                        <a:t>-</a:t>
                      </a:r>
                      <a:endPar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30.9%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37.7%</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26.2%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8"/>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壁仞科技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6082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55.8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回拨至</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2,347.5x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25.95x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51.9%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75.8%</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a:solidFill>
                            <a:srgbClr val="FF0000"/>
                          </a:solidFill>
                          <a:effectLst/>
                          <a:latin typeface="Arial Regular" panose="020B0704020202020204" charset="0"/>
                          <a:ea typeface="楷体" charset="0"/>
                          <a:cs typeface="Arial Regular" panose="020B0704020202020204" charset="0"/>
                        </a:rPr>
                        <a:t>67.3%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61.3%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9"/>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美联股份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2671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30</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工业</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146.3x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1.48x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20.4%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29.5%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7.6%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-38.0%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-43.0%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0"/>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迅策</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3317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30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7.2x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3.10x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206.3%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1"/>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英矽智能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3696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30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1,427.4x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26.27x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17.0%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24.7%</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161.5%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128.3%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2"/>
                  </a:ext>
                </a:extLst>
              </a:tr>
              <a:tr h="0">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五一视界</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6651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30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回拨至</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256.0x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2.60x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29.9%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196.7%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80.3%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3"/>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林清轩</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2657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30</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1,235.8x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19.79x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44.4%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9.3%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7.6%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-6.7%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4"/>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卧安机器人</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6600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30</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16.4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254.5x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8.90x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000000"/>
                          </a:solidFill>
                          <a:effectLst/>
                          <a:uLnTx/>
                          <a:uFillTx/>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0.1%</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112.7%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57.2%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5"/>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轻松健康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2661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1,421.5x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2.90x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18.1%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158.8%</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344.4%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542.4%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6"/>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诺比侃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188.7x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2.08x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363.8%</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381.0%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-28.7%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7"/>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翰思艾泰</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 – B</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3378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3,074.1x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5.78x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-46.3%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-46.6%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-26.6%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8"/>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华芢生物</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 – B</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2396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792.0x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6.05x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-29.3%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-72.3%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-80.2%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39"/>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印象大红袍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2695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3,397.5x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1.91x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-35.3%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-35.3%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-45.3%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0"/>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南华期货股份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2691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金融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重新分配至</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0.99x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-24.2%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-11.4%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41"/>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明基医院</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2581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6.3x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1.28x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-49.5%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-56.3%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-61.9%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2"/>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智汇矿业</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2546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19</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矿业</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DAB866"/>
                          </a:solidFill>
                          <a:effectLst/>
                          <a:latin typeface="Arial Regular" panose="020B0704020202020204" charset="0"/>
                          <a:ea typeface="楷体" charset="0"/>
                          <a:cs typeface="Arial" panose="020B07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5,248.2x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2.68x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40.8%</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90.7%</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123.5%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228.6%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43"/>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希迪智驾</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3881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19</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14.2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2867A0"/>
                          </a:solidFill>
                          <a:effectLst/>
                          <a:latin typeface="Arial Regular" panose="020B0704020202020204" charset="0"/>
                          <a:ea typeface="楷体" charset="0"/>
                          <a:cs typeface="Arial Regular" panose="020B0704020202020204" charset="0"/>
                        </a:rPr>
                        <a:t>部分超额分配（</a:t>
                      </a:r>
                      <a:r>
                        <a:rPr lang="en-US" altLang="zh-CN" sz="530" b="0" i="0" u="none" strike="noStrike">
                          <a:solidFill>
                            <a:srgbClr val="2867A0"/>
                          </a:solidFill>
                          <a:effectLst/>
                          <a:latin typeface="Arial Regular" panose="020B0704020202020204" charset="0"/>
                          <a:ea typeface="楷体" charset="0"/>
                          <a:cs typeface="Arial Regular" panose="020B0704020202020204" charset="0"/>
                        </a:rPr>
                        <a:t>10.0%</a:t>
                      </a:r>
                      <a:r>
                        <a:rPr lang="zh-CN" altLang="en-US" sz="530" b="0" i="0" u="none" strike="noStrike">
                          <a:solidFill>
                            <a:srgbClr val="2867A0"/>
                          </a:solidFill>
                          <a:effectLst/>
                          <a:latin typeface="Arial Regular" panose="020B0704020202020204" charset="0"/>
                          <a:ea typeface="楷体" charset="0"/>
                          <a:cs typeface="Arial Regular" panose="020B070402020202020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22.6x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2.10x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12.4%</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38.4%</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-13.7%</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-0.8%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-91.4%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4"/>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HashKey Holdings</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3887</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17</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金融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16.1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393.7x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5.46x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8.7%</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36.3%</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-0.1%</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-26.6%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45"/>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果下科技</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2655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16</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新能源</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7.8</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1,890.7x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3.63x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117.9%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Regular" panose="020B0704020202020204" charset="0"/>
                          <a:ea typeface="楷体" charset="0"/>
                          <a:cs typeface="Arial Regular" panose="020B0704020202020204" charset="0"/>
                        </a:rPr>
                        <a:t>198.3%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148.8%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6"/>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京东工业</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7618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工业</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60.5x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7.88x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44.5%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0.0%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-1.1%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-12.4%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47"/>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宝济药业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 </a:t>
                      </a: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 </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B</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3,526.3x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6.59x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11.6%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20.1%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138.8%</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199.3%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255.0%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8"/>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卓越睿新</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2687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8</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教育</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4,813.4x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2.33x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87.3%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136.7%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89.9%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49"/>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纳芯微</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2676</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22.1</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25.3x</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2.65x</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11.8%</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49.2%</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-29.4%</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-4.3%</a:t>
                      </a:r>
                    </a:p>
                  </a:txBody>
                  <a:tcPr marL="9525" marR="9525" marT="9525"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24.7%</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4.1%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50"/>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50</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天域半导体</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2658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17.4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60.6x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2.47x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7.7%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-30.2%</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-17.4%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-21.5%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51"/>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51</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遇见小面</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2408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消费</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426.0x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4.99x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13.7%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-27.8%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-37.8%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-33.7%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52"/>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52</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乐摩科技</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消费 </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7,324.3x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6.78x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36.3%</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-7.5%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-56.4%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53"/>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53</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金岩高新</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2693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12</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3</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矿业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2867A0"/>
                          </a:solidFill>
                          <a:effectLst/>
                          <a:latin typeface="Arial Regular" panose="020B0704020202020204" charset="0"/>
                          <a:ea typeface="楷体" charset="0"/>
                          <a:cs typeface="Arial Regular" panose="020B0704020202020204" charset="0"/>
                        </a:rPr>
                        <a:t>部分超额分配（</a:t>
                      </a:r>
                      <a:r>
                        <a:rPr lang="en-US" altLang="zh-CN" sz="530" b="0" i="0" u="none" strike="noStrike" dirty="0">
                          <a:solidFill>
                            <a:srgbClr val="2867A0"/>
                          </a:solidFill>
                          <a:effectLst/>
                          <a:latin typeface="Arial Regular" panose="020B0704020202020204" charset="0"/>
                          <a:ea typeface="楷体" charset="0"/>
                          <a:cs typeface="Arial Regular" panose="020B0704020202020204" charset="0"/>
                        </a:rPr>
                        <a:t>6.1%</a:t>
                      </a:r>
                      <a:r>
                        <a:rPr lang="zh-CN" altLang="en-US" sz="530" b="0" i="0" u="none" strike="noStrike" dirty="0">
                          <a:solidFill>
                            <a:srgbClr val="2867A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6,876.2x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2.01x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43.0%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2.2%</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-37.9%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-42.1%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54"/>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54</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海伟股份</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9609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材料</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5,426.3x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6.11x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22.3%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42.7%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-23.0%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-25.6%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-40.3%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55"/>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55</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量化派</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2685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27</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消费</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a:solidFill>
                            <a:srgbClr val="2867A0"/>
                          </a:solidFill>
                          <a:effectLst/>
                          <a:latin typeface="Arial Regular" panose="020B0704020202020204" charset="0"/>
                          <a:ea typeface="楷体" charset="0"/>
                          <a:cs typeface="Arial Regular" panose="020B0704020202020204" charset="0"/>
                        </a:rPr>
                        <a:t>部分超额分配（</a:t>
                      </a:r>
                      <a:r>
                        <a:rPr lang="en-US" altLang="zh-CN" sz="530" b="0" i="0" u="none" strike="noStrike">
                          <a:solidFill>
                            <a:srgbClr val="2867A0"/>
                          </a:solidFill>
                          <a:effectLst/>
                          <a:latin typeface="Arial Regular" panose="020B0704020202020204" charset="0"/>
                          <a:ea typeface="楷体" charset="0"/>
                          <a:cs typeface="Arial Regular" panose="020B0704020202020204" charset="0"/>
                        </a:rPr>
                        <a:t>13.1%</a:t>
                      </a:r>
                      <a:r>
                        <a:rPr lang="zh-CN" altLang="en-US" sz="530" b="0" i="0" u="none" strike="noStrike">
                          <a:solidFill>
                            <a:srgbClr val="2867A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9,366.3x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15.07x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88.8%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169.4%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136.1%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56"/>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56</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创新实业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2788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24</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金属</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63.2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447.2x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19.85x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49.7%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32.8%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78.9%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132.0%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57"/>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57</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rPr>
                        <a:t>中伟新材</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2579</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17</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panose="020B0704020202020204" pitchFamily="34" charset="0"/>
                        </a:rPr>
                        <a:t>化工</a:t>
                      </a:r>
                      <a:endPar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35.4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FF0000"/>
                          </a:solidFill>
                          <a:effectLst/>
                          <a:latin typeface="Arial Regular" panose="020B0704020202020204" charset="0"/>
                          <a:ea typeface="楷体" charset="0"/>
                          <a:cs typeface="Arial" panose="020B0704020202020204" pitchFamily="34" charset="0"/>
                        </a:rPr>
                        <a:t>满超额分配</a:t>
                      </a:r>
                      <a:endPar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27.9x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4.08x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10.0%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46.6%</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 -36.3%</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-0.1%</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-20.9%</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58"/>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58</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rPr>
                        <a:t>乐舒适</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2698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panose="020B0704020202020204" pitchFamily="34" charset="0"/>
                        </a:rPr>
                        <a:t>消费</a:t>
                      </a:r>
                      <a:endPar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23.8</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FF0000"/>
                          </a:solidFill>
                          <a:effectLst/>
                          <a:latin typeface="Arial Regular" panose="020B0704020202020204" charset="0"/>
                          <a:ea typeface="楷体" charset="0"/>
                          <a:cs typeface="Arial" panose="020B0704020202020204" pitchFamily="34" charset="0"/>
                        </a:rPr>
                        <a:t>满超额分配</a:t>
                      </a:r>
                      <a:endPar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1,813.8x</a:t>
                      </a:r>
                      <a:endParaRPr 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34.33x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15.0%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45.3%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26.0%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noProof="0" dirty="0">
                          <a:solidFill>
                            <a:srgbClr val="FF0000"/>
                          </a:solidFill>
                          <a:effectLst/>
                          <a:latin typeface="Arial Regular" panose="020B0704020202020204" charset="0"/>
                          <a:ea typeface="楷体" charset="0"/>
                          <a:cs typeface="Arial Regular" panose="020B0704020202020204" charset="0"/>
                        </a:rPr>
                        <a:t>19.1%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13.8%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59"/>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59</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rPr>
                        <a:t>旺山旺水 </a:t>
                      </a: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 B</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2630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panose="020B0704020202020204" pitchFamily="34" charset="0"/>
                        </a:rPr>
                        <a:t>医疗健康</a:t>
                      </a:r>
                      <a:endPar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5.9</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B050"/>
                          </a:solidFill>
                          <a:effectLst/>
                          <a:latin typeface="Arial Regular" panose="020B0704020202020204" charset="0"/>
                          <a:ea typeface="楷体" charset="0"/>
                          <a:cs typeface="Arial" panose="020B0704020202020204" pitchFamily="34" charset="0"/>
                        </a:rPr>
                        <a:t>无超额分配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6,238.4x</a:t>
                      </a:r>
                      <a:endParaRPr 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16.87x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10.5%</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145.7%</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131.0%</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277.6%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60"/>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60</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rPr>
                        <a:t>小马智行 </a:t>
                      </a: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 W</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2026</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67.1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a:solidFill>
                            <a:srgbClr val="FF0000"/>
                          </a:solidFill>
                          <a:effectLst/>
                          <a:latin typeface="Arial Regular" panose="020B0704020202020204" charset="0"/>
                          <a:ea typeface="楷体" charset="0"/>
                          <a:cs typeface="Arial" panose="020B0704020202020204" pitchFamily="34" charset="0"/>
                        </a:rPr>
                        <a:t>满超额分配</a:t>
                      </a:r>
                      <a:endPar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15.9x</a:t>
                      </a:r>
                      <a:endParaRPr 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7.72x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11.3%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13.9%</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-9.3%</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-16.5%</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-40.5%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61"/>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61</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rPr>
                        <a:t>文远知行 </a:t>
                      </a: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 W</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800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FF0000"/>
                          </a:solidFill>
                          <a:effectLst/>
                          <a:latin typeface="Arial Regular" panose="020B0704020202020204" charset="0"/>
                          <a:ea typeface="楷体" charset="0"/>
                          <a:cs typeface="Arial" panose="020B0704020202020204" pitchFamily="34" charset="0"/>
                        </a:rPr>
                        <a:t>满超额分配</a:t>
                      </a:r>
                      <a:endPar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rPr>
                        <a:t>回拨至</a:t>
                      </a: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20%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73.4x</a:t>
                      </a:r>
                      <a:endParaRPr 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9.85x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8.6%</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-10.0%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-8.8%</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-40.5%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62"/>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62</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rPr>
                        <a:t>均胜电子</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699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6</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TMT</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34.1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147.7x</a:t>
                      </a:r>
                      <a:endParaRPr 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9.78x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24.4%</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-35.0%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-8.0%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-20.8%</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-31.2%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63"/>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63</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Regular" panose="020B0704020202020204" charset="0"/>
                          <a:ea typeface="楷体" charset="0"/>
                          <a:cs typeface="Arial" panose="020B0704020202020204" pitchFamily="34" charset="0"/>
                        </a:rPr>
                        <a:t>赛力斯</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9927</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5</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panose="020B0704020202020204" pitchFamily="34" charset="0"/>
                        </a:rPr>
                        <a:t>汽车</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142.8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Regular" panose="020B0704020202020204" charset="0"/>
                          <a:ea typeface="楷体" charset="0"/>
                          <a:cs typeface="Arial Regular" panose="020B0704020202020204" charset="0"/>
                        </a:rPr>
                        <a:t>132.7x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8.61x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6.2%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45.0%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-21.3%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r>
                        <a:rPr lang="en-US" altLang="zh-CN" sz="530" b="0" i="0" u="none" strike="noStrike">
                          <a:solidFill>
                            <a:srgbClr val="00B050"/>
                          </a:solidFill>
                          <a:effectLst/>
                          <a:latin typeface="Arial Regular" panose="020B0704020202020204" charset="0"/>
                          <a:ea typeface="楷体" charset="0"/>
                          <a:cs typeface="Arial Regular" panose="020B0704020202020204" charset="0"/>
                        </a:rPr>
                        <a:t>0.0%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B050"/>
                          </a:solidFill>
                          <a:effectLst/>
                          <a:latin typeface="Arial Regular" panose="020B0704020202020204" charset="0"/>
                          <a:ea typeface="楷体" charset="0"/>
                          <a:cs typeface="Arial Regular" panose="020B0704020202020204" charset="0"/>
                        </a:rPr>
                        <a:t>-12.9%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-31.3%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64"/>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64</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明略科技 </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 W</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2718</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11</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3</a:t>
                      </a: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日</a:t>
                      </a:r>
                      <a:endParaRPr lang="zh-CN" alt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Regular" panose="020B0704020202020204" charset="0"/>
                          <a:ea typeface="楷体" charset="0"/>
                          <a:cs typeface="Arial Regular" panose="020B0704020202020204" charset="0"/>
                        </a:rPr>
                        <a:t>TMT</a:t>
                      </a:r>
                      <a:endParaRPr lang="en-US"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10.2</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FF0000"/>
                          </a:solidFill>
                          <a:effectLst/>
                          <a:latin typeface="Arial Regular" panose="020B0704020202020204" charset="0"/>
                          <a:ea typeface="楷体" charset="0"/>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10%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Regular" panose="020B0704020202020204" charset="0"/>
                          <a:ea typeface="楷体" charset="0"/>
                          <a:cs typeface="Arial Regular" panose="020B0704020202020204" charset="0"/>
                        </a:rPr>
                        <a:t>4,452.9x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13.93x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Regular" panose="020B0704020202020204" charset="0"/>
                          <a:ea typeface="楷体" charset="0"/>
                          <a:cs typeface="Arial Regular" panose="020B0704020202020204" charset="0"/>
                        </a:rPr>
                        <a:t>5.0%</a:t>
                      </a:r>
                      <a:endPar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45.1%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106.1%</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49.6%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57.4%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65"/>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65</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滴普科技</a:t>
                      </a:r>
                      <a:endPar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1384</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TMT</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7.1</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530" b="0" i="0" u="none" strike="noStrike">
                          <a:solidFill>
                            <a:srgbClr val="DAB866"/>
                          </a:solidFill>
                          <a:effectLst/>
                          <a:latin typeface="Arial Regular" panose="020B0704020202020204" charset="0"/>
                          <a:ea typeface="楷体" charset="0"/>
                          <a:cs typeface="Arial" panose="020B0704020202020204" pitchFamily="34" charset="0"/>
                        </a:rPr>
                        <a:t>未设超额分配权</a:t>
                      </a:r>
                      <a:endPar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回拨至</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20%</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7,569.8x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16.61x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8.2%</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150.6%</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168.2%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r>
                        <a:rPr lang="en-US" altLang="zh-HK" sz="500" b="0" i="0">
                          <a:solidFill>
                            <a:srgbClr val="FF0000"/>
                          </a:solidFill>
                          <a:latin typeface="Arial Regular" panose="020B0704020202020204" charset="0"/>
                          <a:ea typeface="楷体" charset="0"/>
                          <a:cs typeface="Arial Regular" panose="020B0704020202020204" charset="0"/>
                        </a:rPr>
                        <a:t>36.5%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66"/>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66</a:t>
                      </a:r>
                    </a:p>
                  </a:txBody>
                  <a:tcPr marL="6350" marR="6350" marT="635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rPr>
                        <a:t>三一重工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6031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28</a:t>
                      </a: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机械</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134.5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530" b="0" i="0" u="none" strike="noStrike">
                          <a:solidFill>
                            <a:srgbClr val="FF0000"/>
                          </a:solidFill>
                          <a:effectLst/>
                          <a:latin typeface="Arial Regular" panose="020B0704020202020204" charset="0"/>
                          <a:ea typeface="楷体" charset="0"/>
                          <a:cs typeface="Arial" panose="020B0704020202020204" pitchFamily="34" charset="0"/>
                        </a:rPr>
                        <a:t>满超额分配</a:t>
                      </a:r>
                      <a:endParaRPr lang="zh-CN" altLang="en-US" sz="530" b="0" i="0" u="none" strike="noStrike" dirty="0">
                        <a:solidFill>
                          <a:srgbClr val="FF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530" b="0" i="0" u="none" strike="noStrike" dirty="0" err="1">
                          <a:solidFill>
                            <a:srgbClr val="000000"/>
                          </a:solidFill>
                          <a:effectLst/>
                          <a:latin typeface="Arial Regular" panose="020B0704020202020204" charset="0"/>
                          <a:ea typeface="楷体" charset="0"/>
                          <a:cs typeface="Arial Regular" panose="020B0704020202020204" charset="0"/>
                        </a:rPr>
                        <a:t>52.9x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13.96x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6.9%</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43.9%</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CN" sz="530" b="0" i="0" u="none" strike="noStrike">
                          <a:solidFill>
                            <a:srgbClr val="FF0000"/>
                          </a:solidFill>
                          <a:effectLst/>
                          <a:latin typeface="Arial Regular" panose="020B0704020202020204" charset="0"/>
                          <a:ea typeface="楷体" charset="0"/>
                          <a:cs typeface="Arial Regular" panose="020B0704020202020204" charset="0"/>
                        </a:rPr>
                        <a:t>2.8%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530" b="0" i="0" u="none" strike="noStrike">
                          <a:solidFill>
                            <a:srgbClr val="00B050"/>
                          </a:solidFill>
                          <a:effectLst/>
                          <a:latin typeface="Arial Regular" panose="020B0704020202020204" charset="0"/>
                          <a:ea typeface="楷体" charset="0"/>
                          <a:cs typeface="Arial Regular" panose="020B0704020202020204" charset="0"/>
                        </a:rPr>
                        <a:t>-0.7%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HK" sz="500" b="0" i="0" dirty="0">
                          <a:solidFill>
                            <a:srgbClr val="808080"/>
                          </a:solidFill>
                          <a:latin typeface="Arial Regular" panose="020B0704020202020204" charset="0"/>
                          <a:ea typeface="楷体" charset="0"/>
                          <a:cs typeface="Arial Regular" panose="020B0704020202020204" charset="0"/>
                        </a:rPr>
                        <a:t>0.0%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67"/>
                  </a:ext>
                </a:extLst>
              </a:tr>
            </a:tbl>
          </a:graphicData>
        </a:graphic>
      </p:graphicFrame>
      <p:sp>
        <p:nvSpPr>
          <p:cNvPr id="4" name="Title 2"/>
          <p:cNvSpPr txBox="1"/>
          <p:nvPr/>
        </p:nvSpPr>
        <p:spPr>
          <a:xfrm>
            <a:off x="220712" y="129599"/>
            <a:ext cx="7563843" cy="263439"/>
          </a:xfrm>
          <a:prstGeom prst="rect">
            <a:avLst/>
          </a:prstGeom>
        </p:spPr>
        <p:txBody>
          <a:bodyPr/>
          <a:lstStyle>
            <a:lvl1pPr algn="l" defTabSz="685800" rtl="0" eaLnBrk="1" latinLnBrk="0" hangingPunct="1">
              <a:lnSpc>
                <a:spcPct val="90000"/>
              </a:lnSpc>
              <a:spcBef>
                <a:spcPct val="0"/>
              </a:spcBef>
              <a:buNone/>
              <a:defRPr sz="2000" b="1" kern="1200" baseline="0">
                <a:solidFill>
                  <a:schemeClr val="accent1"/>
                </a:solidFill>
                <a:latin typeface="Arial" panose="020B0704020202020204" pitchFamily="34" charset="0"/>
                <a:ea typeface="+mj-ea"/>
                <a:cs typeface="Arial" panose="020B0704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过去</a:t>
            </a:r>
            <a:r>
              <a:rPr kumimoji="0" lang="en-US" altLang="zh-CN"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12</a:t>
            </a:r>
            <a:r>
              <a:rPr kumimoji="0" lang="zh-CN" altLang="en-US"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个月</a:t>
            </a:r>
            <a:r>
              <a:rPr kumimoji="0" lang="zh-TW" altLang="en-US"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香港</a:t>
            </a:r>
            <a:r>
              <a:rPr kumimoji="0" lang="en-US" altLang="zh-TW"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IPO</a:t>
            </a:r>
            <a:r>
              <a:rPr kumimoji="0" lang="zh-CN" altLang="en-US"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发行及</a:t>
            </a:r>
            <a:r>
              <a:rPr kumimoji="0" lang="zh-TW" altLang="en-US" sz="20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认购情况</a:t>
            </a:r>
            <a:r>
              <a:rPr kumimoji="0" lang="en-US" altLang="zh-TW" sz="2000" b="1" i="0" u="none" strike="noStrike" kern="1200" cap="none" spc="0" normalizeH="0" baseline="3000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1</a:t>
            </a:r>
          </a:p>
        </p:txBody>
      </p:sp>
      <p:sp>
        <p:nvSpPr>
          <p:cNvPr id="3" name="object 27"/>
          <p:cNvSpPr txBox="1"/>
          <p:nvPr/>
        </p:nvSpPr>
        <p:spPr>
          <a:xfrm>
            <a:off x="220712" y="6739493"/>
            <a:ext cx="3234804" cy="87630"/>
          </a:xfrm>
          <a:prstGeom prst="rect">
            <a:avLst/>
          </a:prstGeom>
        </p:spPr>
        <p:txBody>
          <a:bodyPr vert="horz" wrap="square" lIns="0" tIns="10808" rIns="0" bIns="0" rtlCol="0">
            <a:spAutoFit/>
          </a:bodyPr>
          <a:lstStyle/>
          <a:p>
            <a:pPr marL="10795" marR="0" lvl="0" indent="0" algn="l" defTabSz="914400" rtl="0" eaLnBrk="1" fontAlgn="auto" latinLnBrk="0" hangingPunct="1">
              <a:lnSpc>
                <a:spcPct val="100000"/>
              </a:lnSpc>
              <a:spcBef>
                <a:spcPts val="85"/>
              </a:spcBef>
              <a:spcAft>
                <a:spcPts val="0"/>
              </a:spcAft>
              <a:buClrTx/>
              <a:buSzTx/>
              <a:buFontTx/>
              <a:buNone/>
              <a:defRPr/>
            </a:pP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数据来源：彭博、</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Dealogic,</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记录过去</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12</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个月在香港主板上市的</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IPO</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，按上市日期排序，股价表现截至</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2026</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年</a:t>
            </a:r>
            <a:r>
              <a:rPr lang="en-US" altLang="zh-CN" sz="500" i="1" spc="-5" dirty="0">
                <a:solidFill>
                  <a:prstClr val="black"/>
                </a:solidFill>
                <a:latin typeface="Arial" panose="020B0704020202020204" pitchFamily="34" charset="0"/>
                <a:ea typeface="华文楷体" panose="02010600040101010101" charset="-122"/>
              </a:rPr>
              <a:t>3</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月</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20</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日  </a:t>
            </a:r>
            <a:endPar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endParaRPr>
          </a:p>
        </p:txBody>
      </p:sp>
      <p:sp>
        <p:nvSpPr>
          <p:cNvPr id="5" name="文本框 4"/>
          <p:cNvSpPr txBox="1"/>
          <p:nvPr/>
        </p:nvSpPr>
        <p:spPr>
          <a:xfrm>
            <a:off x="3455516" y="6660312"/>
            <a:ext cx="6197039" cy="246221"/>
          </a:xfrm>
          <a:prstGeom prst="rect">
            <a:avLst/>
          </a:prstGeom>
          <a:noFill/>
        </p:spPr>
        <p:txBody>
          <a:bodyPr wrap="square">
            <a:spAutoFit/>
          </a:bodyPr>
          <a:lstStyle/>
          <a:p>
            <a:pPr marL="10795" lvl="0">
              <a:spcBef>
                <a:spcPts val="85"/>
              </a:spcBef>
              <a:defRPr/>
            </a:pPr>
            <a:r>
              <a:rPr lang="zh-CN" altLang="en-US" sz="500" i="1" spc="-5" dirty="0">
                <a:solidFill>
                  <a:prstClr val="black"/>
                </a:solidFill>
                <a:latin typeface="Arial" panose="020B0704020202020204" pitchFamily="34" charset="0"/>
                <a:ea typeface="华文楷体" panose="02010600040101010101" charset="-122"/>
              </a:rPr>
              <a:t>注</a:t>
            </a:r>
            <a:r>
              <a:rPr lang="en-US" altLang="zh-CN" sz="500" i="1" spc="-5" dirty="0">
                <a:solidFill>
                  <a:prstClr val="black"/>
                </a:solidFill>
                <a:latin typeface="Arial" panose="020B0704020202020204" pitchFamily="34" charset="0"/>
                <a:ea typeface="华文楷体" panose="02010600040101010101" charset="-122"/>
              </a:rPr>
              <a:t>1.</a:t>
            </a:r>
            <a:r>
              <a:rPr lang="zh-CN" altLang="en-US" sz="500" i="1" spc="-5" dirty="0">
                <a:solidFill>
                  <a:prstClr val="black"/>
                </a:solidFill>
                <a:latin typeface="Arial" panose="020B0704020202020204" pitchFamily="34" charset="0"/>
                <a:ea typeface="华文楷体" panose="02010600040101010101" charset="-122"/>
              </a:rPr>
              <a:t>仅统计主板上市公司，不包括以介绍形式上市、</a:t>
            </a:r>
            <a:r>
              <a:rPr lang="en-US" altLang="zh-CN" sz="500" i="1" spc="-5" dirty="0">
                <a:solidFill>
                  <a:prstClr val="black"/>
                </a:solidFill>
                <a:latin typeface="Arial" panose="020B0704020202020204" pitchFamily="34" charset="0"/>
                <a:ea typeface="华文楷体" panose="02010600040101010101" charset="-122"/>
              </a:rPr>
              <a:t>GEM</a:t>
            </a:r>
            <a:r>
              <a:rPr lang="zh-CN" altLang="en-US" sz="500" i="1" spc="-5" dirty="0">
                <a:solidFill>
                  <a:prstClr val="black"/>
                </a:solidFill>
                <a:latin typeface="Arial" panose="020B0704020202020204" pitchFamily="34" charset="0"/>
                <a:ea typeface="华文楷体" panose="02010600040101010101" charset="-122"/>
              </a:rPr>
              <a:t>转主板，以及</a:t>
            </a:r>
            <a:r>
              <a:rPr lang="en-US" altLang="zh-CN" sz="500" i="1" spc="-5" dirty="0">
                <a:solidFill>
                  <a:prstClr val="black"/>
                </a:solidFill>
                <a:latin typeface="Arial" panose="020B0704020202020204" pitchFamily="34" charset="0"/>
                <a:ea typeface="华文楷体" panose="02010600040101010101" charset="-122"/>
              </a:rPr>
              <a:t>SPAC</a:t>
            </a:r>
            <a:r>
              <a:rPr lang="zh-CN" altLang="en-US" sz="500" i="1" spc="-5" dirty="0">
                <a:solidFill>
                  <a:prstClr val="black"/>
                </a:solidFill>
                <a:latin typeface="Arial" panose="020B0704020202020204" pitchFamily="34" charset="0"/>
                <a:ea typeface="华文楷体" panose="02010600040101010101" charset="-122"/>
              </a:rPr>
              <a:t>公司 ；注</a:t>
            </a:r>
            <a:r>
              <a:rPr lang="en-US" altLang="zh-CN" sz="500" i="1" spc="-5" dirty="0">
                <a:solidFill>
                  <a:prstClr val="black"/>
                </a:solidFill>
                <a:latin typeface="Arial" panose="020B0704020202020204" pitchFamily="34" charset="0"/>
                <a:ea typeface="华文楷体" panose="02010600040101010101" charset="-122"/>
              </a:rPr>
              <a:t>2. </a:t>
            </a:r>
            <a:r>
              <a:rPr lang="zh-CN" altLang="en-US" sz="500" i="1" spc="-5" dirty="0">
                <a:solidFill>
                  <a:prstClr val="black"/>
                </a:solidFill>
                <a:latin typeface="Arial" panose="020B0704020202020204" pitchFamily="34" charset="0"/>
                <a:ea typeface="华文楷体" panose="02010600040101010101" charset="-122"/>
              </a:rPr>
              <a:t>无超额分配指发行人已授权超额分配权，而实际中并未超额发售；</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注</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3. </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假设发售量调整权和超额配股权未获行使；注</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4. </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为准确反映各项目国际配售认购情况，保留两位小数；注</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5.</a:t>
            </a:r>
            <a:r>
              <a:rPr lang="zh-CN" altLang="en-US" sz="500" i="1" spc="-5" dirty="0">
                <a:solidFill>
                  <a:prstClr val="black"/>
                </a:solidFill>
                <a:latin typeface="Arial" panose="020B0704020202020204" pitchFamily="34" charset="0"/>
                <a:ea typeface="华文楷体" panose="02010600040101010101" charset="-122"/>
              </a:rPr>
              <a:t>假设超额配股权未获行使；  注</a:t>
            </a:r>
            <a:r>
              <a:rPr lang="en-US" altLang="zh-CN" sz="500" i="1" spc="-5" dirty="0">
                <a:solidFill>
                  <a:prstClr val="black"/>
                </a:solidFill>
                <a:latin typeface="Arial" panose="020B0704020202020204" pitchFamily="34" charset="0"/>
                <a:ea typeface="华文楷体" panose="02010600040101010101" charset="-122"/>
              </a:rPr>
              <a:t>6. </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仅针对</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A+H</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上市公司，为</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H</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股</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IPO</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定价日相较于</a:t>
            </a:r>
            <a:r>
              <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A</a:t>
            </a:r>
            <a:r>
              <a:rPr kumimoji="0" lang="zh-CN" altLang="en-US"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股折价率</a:t>
            </a:r>
            <a:endParaRPr kumimoji="0" lang="en-US" altLang="zh-CN" sz="5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endParaRPr>
          </a:p>
        </p:txBody>
      </p:sp>
      <p:cxnSp>
        <p:nvCxnSpPr>
          <p:cNvPr id="6" name="直接连接符 5"/>
          <p:cNvCxnSpPr/>
          <p:nvPr/>
        </p:nvCxnSpPr>
        <p:spPr>
          <a:xfrm>
            <a:off x="-552450" y="7541732"/>
            <a:ext cx="1011682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7078980" y="7692390"/>
            <a:ext cx="3302000" cy="368300"/>
          </a:xfrm>
          <a:prstGeom prst="rect">
            <a:avLst/>
          </a:prstGeom>
          <a:noFill/>
        </p:spPr>
        <p:txBody>
          <a:bodyPr wrap="square" rtlCol="0">
            <a:spAutoFit/>
          </a:bodyPr>
          <a:lstStyle/>
          <a:p>
            <a:endParaRPr lang="zh-CN" altLang="en-US"/>
          </a:p>
        </p:txBody>
      </p:sp>
      <p:sp>
        <p:nvSpPr>
          <p:cNvPr id="2" name="TextBox 1">
            <a:extLst>
              <a:ext uri="{FF2B5EF4-FFF2-40B4-BE49-F238E27FC236}">
                <a16:creationId xmlns:a16="http://schemas.microsoft.com/office/drawing/2014/main" id="{A9EFFAD2-85F2-6739-FEF4-FCF062351511}"/>
              </a:ext>
            </a:extLst>
          </p:cNvPr>
          <p:cNvSpPr txBox="1"/>
          <p:nvPr/>
        </p:nvSpPr>
        <p:spPr>
          <a:xfrm>
            <a:off x="3643034" y="2270357"/>
            <a:ext cx="2749471" cy="1631216"/>
          </a:xfrm>
          <a:prstGeom prst="rect">
            <a:avLst/>
          </a:prstGeom>
          <a:noFill/>
        </p:spPr>
        <p:txBody>
          <a:bodyPr wrap="none" rtlCol="0">
            <a:spAutoFit/>
          </a:bodyPr>
          <a:lstStyle/>
          <a:p>
            <a:r>
              <a:rPr lang="en-US" sz="10000" dirty="0" err="1">
                <a:highlight>
                  <a:srgbClr val="FFFF00"/>
                </a:highlight>
              </a:rPr>
              <a:t>大表</a:t>
            </a:r>
            <a:endParaRPr lang="en-US" sz="10000" dirty="0">
              <a:highlight>
                <a:srgbClr val="FFFF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nvPr>
        </p:nvGraphicFramePr>
        <p:xfrm>
          <a:off x="251460" y="497502"/>
          <a:ext cx="9373983" cy="6156186"/>
        </p:xfrm>
        <a:graphic>
          <a:graphicData uri="http://schemas.openxmlformats.org/drawingml/2006/table">
            <a:tbl>
              <a:tblPr/>
              <a:tblGrid>
                <a:gridCol w="246952">
                  <a:extLst>
                    <a:ext uri="{9D8B030D-6E8A-4147-A177-3AD203B41FA5}">
                      <a16:colId xmlns:a16="http://schemas.microsoft.com/office/drawing/2014/main" val="20000"/>
                    </a:ext>
                  </a:extLst>
                </a:gridCol>
                <a:gridCol w="713481">
                  <a:extLst>
                    <a:ext uri="{9D8B030D-6E8A-4147-A177-3AD203B41FA5}">
                      <a16:colId xmlns:a16="http://schemas.microsoft.com/office/drawing/2014/main" val="20001"/>
                    </a:ext>
                  </a:extLst>
                </a:gridCol>
                <a:gridCol w="521896">
                  <a:extLst>
                    <a:ext uri="{9D8B030D-6E8A-4147-A177-3AD203B41FA5}">
                      <a16:colId xmlns:a16="http://schemas.microsoft.com/office/drawing/2014/main" val="20002"/>
                    </a:ext>
                  </a:extLst>
                </a:gridCol>
                <a:gridCol w="521896">
                  <a:extLst>
                    <a:ext uri="{9D8B030D-6E8A-4147-A177-3AD203B41FA5}">
                      <a16:colId xmlns:a16="http://schemas.microsoft.com/office/drawing/2014/main" val="20003"/>
                    </a:ext>
                  </a:extLst>
                </a:gridCol>
                <a:gridCol w="521896">
                  <a:extLst>
                    <a:ext uri="{9D8B030D-6E8A-4147-A177-3AD203B41FA5}">
                      <a16:colId xmlns:a16="http://schemas.microsoft.com/office/drawing/2014/main" val="20004"/>
                    </a:ext>
                  </a:extLst>
                </a:gridCol>
                <a:gridCol w="521896">
                  <a:extLst>
                    <a:ext uri="{9D8B030D-6E8A-4147-A177-3AD203B41FA5}">
                      <a16:colId xmlns:a16="http://schemas.microsoft.com/office/drawing/2014/main" val="20005"/>
                    </a:ext>
                  </a:extLst>
                </a:gridCol>
                <a:gridCol w="1079187">
                  <a:extLst>
                    <a:ext uri="{9D8B030D-6E8A-4147-A177-3AD203B41FA5}">
                      <a16:colId xmlns:a16="http://schemas.microsoft.com/office/drawing/2014/main" val="20006"/>
                    </a:ext>
                  </a:extLst>
                </a:gridCol>
                <a:gridCol w="677309">
                  <a:extLst>
                    <a:ext uri="{9D8B030D-6E8A-4147-A177-3AD203B41FA5}">
                      <a16:colId xmlns:a16="http://schemas.microsoft.com/office/drawing/2014/main" val="20007"/>
                    </a:ext>
                  </a:extLst>
                </a:gridCol>
                <a:gridCol w="631145">
                  <a:extLst>
                    <a:ext uri="{9D8B030D-6E8A-4147-A177-3AD203B41FA5}">
                      <a16:colId xmlns:a16="http://schemas.microsoft.com/office/drawing/2014/main" val="20008"/>
                    </a:ext>
                  </a:extLst>
                </a:gridCol>
                <a:gridCol w="581835">
                  <a:extLst>
                    <a:ext uri="{9D8B030D-6E8A-4147-A177-3AD203B41FA5}">
                      <a16:colId xmlns:a16="http://schemas.microsoft.com/office/drawing/2014/main" val="20009"/>
                    </a:ext>
                  </a:extLst>
                </a:gridCol>
                <a:gridCol w="630096">
                  <a:extLst>
                    <a:ext uri="{9D8B030D-6E8A-4147-A177-3AD203B41FA5}">
                      <a16:colId xmlns:a16="http://schemas.microsoft.com/office/drawing/2014/main" val="20010"/>
                    </a:ext>
                  </a:extLst>
                </a:gridCol>
                <a:gridCol w="630096">
                  <a:extLst>
                    <a:ext uri="{9D8B030D-6E8A-4147-A177-3AD203B41FA5}">
                      <a16:colId xmlns:a16="http://schemas.microsoft.com/office/drawing/2014/main" val="20011"/>
                    </a:ext>
                  </a:extLst>
                </a:gridCol>
                <a:gridCol w="682698">
                  <a:extLst>
                    <a:ext uri="{9D8B030D-6E8A-4147-A177-3AD203B41FA5}">
                      <a16:colId xmlns:a16="http://schemas.microsoft.com/office/drawing/2014/main" val="20012"/>
                    </a:ext>
                  </a:extLst>
                </a:gridCol>
                <a:gridCol w="461962">
                  <a:extLst>
                    <a:ext uri="{9D8B030D-6E8A-4147-A177-3AD203B41FA5}">
                      <a16:colId xmlns:a16="http://schemas.microsoft.com/office/drawing/2014/main" val="20013"/>
                    </a:ext>
                  </a:extLst>
                </a:gridCol>
                <a:gridCol w="475819">
                  <a:extLst>
                    <a:ext uri="{9D8B030D-6E8A-4147-A177-3AD203B41FA5}">
                      <a16:colId xmlns:a16="http://schemas.microsoft.com/office/drawing/2014/main" val="20014"/>
                    </a:ext>
                  </a:extLst>
                </a:gridCol>
                <a:gridCol w="475819">
                  <a:extLst>
                    <a:ext uri="{9D8B030D-6E8A-4147-A177-3AD203B41FA5}">
                      <a16:colId xmlns:a16="http://schemas.microsoft.com/office/drawing/2014/main" val="20015"/>
                    </a:ext>
                  </a:extLst>
                </a:gridCol>
              </a:tblGrid>
              <a:tr h="0">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HK"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p>
                  </a:txBody>
                  <a:tcPr marL="4783" marR="4783" marT="4783"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chemeClr val="bg1"/>
                          </a:solidFill>
                          <a:effectLst/>
                          <a:latin typeface="Arial" panose="020B0704020202020204" pitchFamily="34" charset="0"/>
                          <a:ea typeface="+mn-ea"/>
                          <a:cs typeface="Arial" panose="020B0704020202020204" pitchFamily="34" charset="0"/>
                        </a:rPr>
                        <a:t>公司名称</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rgbClr val="FFFFFF"/>
                          </a:solidFill>
                          <a:effectLst/>
                          <a:latin typeface="Arial" panose="020B0704020202020204" pitchFamily="34" charset="0"/>
                          <a:ea typeface="+mn-ea"/>
                          <a:cs typeface="Arial" panose="020B0704020202020204" pitchFamily="34" charset="0"/>
                        </a:rPr>
                        <a:t>股票代号</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rgbClr val="FFFFFF"/>
                          </a:solidFill>
                          <a:effectLst/>
                          <a:latin typeface="Arial" panose="020B0704020202020204" pitchFamily="34" charset="0"/>
                          <a:ea typeface="+mn-ea"/>
                          <a:cs typeface="Arial" panose="020B0704020202020204" pitchFamily="34" charset="0"/>
                        </a:rPr>
                        <a:t>上市日期</a:t>
                      </a:r>
                      <a:endParaRPr lang="en-US" altLang="zh-HK" sz="530" b="1" i="0" u="sng" strike="noStrike" baseline="0" dirty="0">
                        <a:solidFill>
                          <a:srgbClr val="FFFFFF"/>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530" b="1" i="0" u="sng" strike="noStrike" baseline="0" dirty="0">
                          <a:solidFill>
                            <a:srgbClr val="FFFFFF"/>
                          </a:solidFill>
                          <a:effectLst/>
                          <a:latin typeface="Arial" panose="020B0704020202020204" pitchFamily="34" charset="0"/>
                          <a:ea typeface="+mn-ea"/>
                          <a:cs typeface="Arial" panose="020B0704020202020204" pitchFamily="34" charset="0"/>
                        </a:rPr>
                        <a:t>行业</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t>发行规模</a:t>
                      </a:r>
                      <a:b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br>
                      <a: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t>（亿港元）</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超额分配</a:t>
                      </a:r>
                      <a:r>
                        <a:rPr lang="en-US" altLang="zh-CN" sz="530" b="1" i="0" u="sng" strike="noStrike" kern="1200" baseline="30000" dirty="0">
                          <a:solidFill>
                            <a:srgbClr val="FFFFFF"/>
                          </a:solidFill>
                          <a:effectLst/>
                          <a:latin typeface="Arial" panose="020B0704020202020204" pitchFamily="34" charset="0"/>
                          <a:ea typeface="+mn-ea"/>
                          <a:cs typeface="Arial" panose="020B0704020202020204" pitchFamily="34" charset="0"/>
                        </a:rPr>
                        <a:t>2</a:t>
                      </a:r>
                      <a:endPar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公开发售比例</a:t>
                      </a:r>
                      <a:r>
                        <a:rPr lang="en-US" altLang="zh-CN" sz="530" b="1" i="0" u="sng" strike="noStrike" kern="1200" baseline="30000" dirty="0">
                          <a:solidFill>
                            <a:srgbClr val="FFFFFF"/>
                          </a:solidFill>
                          <a:effectLst/>
                          <a:latin typeface="Arial" panose="020B0704020202020204" pitchFamily="34" charset="0"/>
                          <a:ea typeface="+mn-ea"/>
                          <a:cs typeface="Arial" panose="020B0704020202020204" pitchFamily="34" charset="0"/>
                        </a:rPr>
                        <a:t>3</a:t>
                      </a:r>
                      <a:endPar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t>香港公开发售</a:t>
                      </a:r>
                      <a:b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br>
                      <a: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t>认购倍数</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t>国际配售</a:t>
                      </a:r>
                      <a:b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br>
                      <a:r>
                        <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rPr>
                        <a:t>认购倍数</a:t>
                      </a:r>
                      <a:r>
                        <a:rPr lang="en-US" altLang="zh-CN" sz="530" b="1" i="0" u="sng" strike="noStrike" kern="1200" baseline="30000" dirty="0">
                          <a:solidFill>
                            <a:srgbClr val="FFFFFF"/>
                          </a:solidFill>
                          <a:effectLst/>
                          <a:latin typeface="Arial" panose="020B0704020202020204" pitchFamily="34" charset="0"/>
                          <a:ea typeface="+mn-ea"/>
                          <a:cs typeface="Arial" panose="020B0704020202020204" pitchFamily="34" charset="0"/>
                        </a:rPr>
                        <a:t>4</a:t>
                      </a:r>
                      <a:endParaRPr lang="zh-CN" altLang="en-US" sz="530" b="1" i="0" u="sng" strike="noStrike" baseline="0" dirty="0">
                        <a:solidFill>
                          <a:srgbClr val="FFFFFF"/>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基础发行比例</a:t>
                      </a:r>
                      <a:endPar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endParaRPr>
                    </a:p>
                    <a:p>
                      <a:pPr marL="0" algn="ctr" defTabSz="685800" rtl="0" eaLnBrk="1" fontAlgn="ctr" latinLnBrk="0" hangingPunct="1"/>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基石占比</a:t>
                      </a:r>
                      <a:r>
                        <a:rPr lang="en-US" altLang="zh-CN" sz="530" b="1" i="0" u="sng" strike="noStrike" kern="1200" baseline="30000" dirty="0">
                          <a:solidFill>
                            <a:srgbClr val="FFFFFF"/>
                          </a:solidFill>
                          <a:effectLst/>
                          <a:latin typeface="Arial" panose="020B0704020202020204" pitchFamily="34" charset="0"/>
                          <a:ea typeface="+mn-ea"/>
                          <a:cs typeface="Arial" panose="020B0704020202020204" pitchFamily="34" charset="0"/>
                        </a:rPr>
                        <a:t>5</a:t>
                      </a:r>
                      <a:endPar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endParaRPr>
                    </a:p>
                    <a:p>
                      <a:pPr marL="0" algn="ctr" defTabSz="685800" rtl="0" eaLnBrk="1" fontAlgn="ctr" latinLnBrk="0" hangingPunct="1"/>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rPr>
                        <a:t>H</a:t>
                      </a:r>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股相对</a:t>
                      </a:r>
                      <a:r>
                        <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rPr>
                        <a:t>A</a:t>
                      </a:r>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股</a:t>
                      </a:r>
                      <a:endPar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endParaRPr>
                    </a:p>
                    <a:p>
                      <a:pPr marL="0" algn="ctr" defTabSz="685800" rtl="0" eaLnBrk="1" fontAlgn="ctr" latinLnBrk="0" hangingPunct="1"/>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折价率（</a:t>
                      </a:r>
                      <a:r>
                        <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zh-CN" altLang="en-US"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en-US" altLang="zh-CN" sz="530" b="1" i="0" u="sng" strike="noStrike" kern="1200" baseline="30000" dirty="0">
                          <a:solidFill>
                            <a:srgbClr val="FFFFFF"/>
                          </a:solidFill>
                          <a:effectLst/>
                          <a:latin typeface="Arial" panose="020B0704020202020204" pitchFamily="34" charset="0"/>
                          <a:ea typeface="+mn-ea"/>
                          <a:cs typeface="Arial" panose="020B0704020202020204" pitchFamily="34" charset="0"/>
                        </a:rPr>
                        <a:t>6</a:t>
                      </a:r>
                      <a:endParaRPr lang="zh-CN" altLang="en-US" sz="530" b="1" i="0" u="sng" strike="noStrike" kern="1200" baseline="30000" dirty="0">
                        <a:solidFill>
                          <a:srgbClr val="FFFFFF"/>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3">
                  <a:txBody>
                    <a:bodyPr/>
                    <a:lstStyle/>
                    <a:p>
                      <a:pPr algn="ctr" fontAlgn="ctr"/>
                      <a:r>
                        <a:rPr lang="zh-CN" altLang="en-US" sz="530" b="1" i="0" u="sng" strike="noStrike" baseline="0" dirty="0">
                          <a:solidFill>
                            <a:schemeClr val="bg1"/>
                          </a:solidFill>
                          <a:effectLst/>
                          <a:latin typeface="Arial" panose="020B0704020202020204" pitchFamily="34" charset="0"/>
                          <a:ea typeface="+mn-ea"/>
                          <a:cs typeface="Arial" panose="020B0704020202020204" pitchFamily="34" charset="0"/>
                        </a:rPr>
                        <a:t>后市表现</a:t>
                      </a:r>
                    </a:p>
                  </a:txBody>
                  <a:tcPr marL="6138" marR="6138" marT="6138" marB="0" anchor="ctr">
                    <a:lnL>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marL="6139" marR="6139" marT="6139" marB="0" anchor="ctr">
                    <a:lnL w="12700" cap="flat" cmpd="sng" algn="ctr">
                      <a:solidFill>
                        <a:schemeClr val="bg1">
                          <a:lumMod val="85000"/>
                        </a:schemeClr>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tc hMerge="1">
                  <a:txBody>
                    <a:bodyPr/>
                    <a:lstStyle/>
                    <a:p>
                      <a:endParaRPr lang="en-US"/>
                    </a:p>
                  </a:txBody>
                  <a:tcPr marL="6139" marR="6139" marT="6139"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zh-CN" altLang="en-US" sz="530" b="1" i="0" u="sng" strike="noStrike" baseline="0" dirty="0">
                          <a:solidFill>
                            <a:schemeClr val="bg1"/>
                          </a:solidFill>
                          <a:effectLst/>
                          <a:latin typeface="Arial" panose="020B0704020202020204" pitchFamily="34" charset="0"/>
                          <a:ea typeface="+mn-ea"/>
                          <a:cs typeface="Arial" panose="020B0704020202020204" pitchFamily="34" charset="0"/>
                        </a:rPr>
                        <a:t>首日</a:t>
                      </a:r>
                      <a:endParaRPr lang="en-US" altLang="zh-CN" sz="530" b="1" i="0" u="sng" strike="noStrike" baseline="0" dirty="0">
                        <a:solidFill>
                          <a:schemeClr val="bg1"/>
                        </a:solidFill>
                        <a:effectLst/>
                        <a:latin typeface="Arial" panose="020B0704020202020204" pitchFamily="34" charset="0"/>
                        <a:ea typeface="+mn-ea"/>
                        <a:cs typeface="Arial" panose="020B0704020202020204" pitchFamily="34" charset="0"/>
                      </a:endParaRPr>
                    </a:p>
                    <a:p>
                      <a:pPr algn="ctr" fontAlgn="ctr"/>
                      <a:r>
                        <a:rPr lang="zh-CN" altLang="en-US" sz="530" b="1" i="0" u="sng" strike="noStrike" baseline="0" dirty="0">
                          <a:solidFill>
                            <a:schemeClr val="bg1"/>
                          </a:solidFill>
                          <a:effectLst/>
                          <a:latin typeface="Arial" panose="020B0704020202020204" pitchFamily="34" charset="0"/>
                          <a:ea typeface="+mn-ea"/>
                          <a:cs typeface="Arial" panose="020B0704020202020204" pitchFamily="34" charset="0"/>
                        </a:rPr>
                        <a:t> </a:t>
                      </a:r>
                      <a:r>
                        <a:rPr lang="en-US" altLang="zh-CN" sz="530" b="1" i="0" u="sng" strike="noStrike" baseline="0" dirty="0">
                          <a:solidFill>
                            <a:schemeClr val="bg1"/>
                          </a:solidFill>
                          <a:effectLst/>
                          <a:latin typeface="Arial" panose="020B0704020202020204" pitchFamily="34" charset="0"/>
                          <a:ea typeface="+mn-ea"/>
                          <a:cs typeface="Arial" panose="020B0704020202020204" pitchFamily="34" charset="0"/>
                        </a:rPr>
                        <a:t>(</a:t>
                      </a:r>
                      <a:r>
                        <a:rPr lang="en-US" altLang="zh-CN" sz="530" b="1" i="0" u="sng" strike="noStrike" kern="1200" baseline="0" dirty="0">
                          <a:solidFill>
                            <a:srgbClr val="FFFFFF"/>
                          </a:solidFill>
                          <a:effectLst/>
                          <a:latin typeface="Arial" panose="020B0704020202020204" pitchFamily="34" charset="0"/>
                          <a:ea typeface="+mn-ea"/>
                          <a:cs typeface="Arial" panose="020B0704020202020204" pitchFamily="34" charset="0"/>
                        </a:rPr>
                        <a:t>%</a:t>
                      </a:r>
                      <a:r>
                        <a:rPr lang="en-US" altLang="zh-CN" sz="530" b="1" i="0" u="sng" strike="noStrike" baseline="0" dirty="0">
                          <a:solidFill>
                            <a:schemeClr val="bg1"/>
                          </a:solidFill>
                          <a:effectLst/>
                          <a:latin typeface="Arial" panose="020B0704020202020204" pitchFamily="34" charset="0"/>
                          <a:ea typeface="+mn-ea"/>
                          <a:cs typeface="Arial" panose="020B0704020202020204" pitchFamily="34" charset="0"/>
                        </a:rPr>
                        <a:t>)</a:t>
                      </a:r>
                      <a:endParaRPr lang="zh-CN" altLang="en-US" sz="530" b="1" i="0" u="sng" strike="noStrike" baseline="0" dirty="0">
                        <a:solidFill>
                          <a:schemeClr val="bg1"/>
                        </a:solidFill>
                        <a:effectLst/>
                        <a:latin typeface="Arial" panose="020B0704020202020204" pitchFamily="34" charset="0"/>
                        <a:ea typeface="+mn-ea"/>
                        <a:cs typeface="Arial" panose="020B0704020202020204" pitchFamily="34" charset="0"/>
                      </a:endParaRPr>
                    </a:p>
                  </a:txBody>
                  <a:tcPr marL="6138" marR="6138" marT="6138"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1" i="0" u="sng" strike="noStrike" kern="1200" baseline="0" dirty="0">
                          <a:solidFill>
                            <a:schemeClr val="bg1"/>
                          </a:solidFill>
                          <a:effectLst/>
                          <a:latin typeface="Arial" panose="020B0704020202020204" pitchFamily="34" charset="0"/>
                          <a:ea typeface="+mn-ea"/>
                          <a:cs typeface="Arial" panose="020B0704020202020204" pitchFamily="34" charset="0"/>
                        </a:rPr>
                        <a:t>首月</a:t>
                      </a:r>
                      <a:endParaRPr lang="en-US" altLang="zh-CN" sz="530" b="1" i="0" u="sng" strike="noStrike" kern="1200" baseline="0" dirty="0">
                        <a:solidFill>
                          <a:schemeClr val="bg1"/>
                        </a:solidFill>
                        <a:effectLst/>
                        <a:latin typeface="Arial" panose="020B0704020202020204" pitchFamily="34" charset="0"/>
                        <a:ea typeface="+mn-ea"/>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530" b="1" i="0" u="sng" strike="noStrike" kern="1200" cap="none" spc="0" normalizeH="0" baseline="0" noProof="0" dirty="0">
                          <a:ln>
                            <a:noFill/>
                          </a:ln>
                          <a:solidFill>
                            <a:prstClr val="white"/>
                          </a:solidFill>
                          <a:effectLst/>
                          <a:uLnTx/>
                          <a:uFillTx/>
                          <a:latin typeface="Arial" panose="020B0704020202020204" pitchFamily="34" charset="0"/>
                          <a:ea typeface="+mn-ea"/>
                          <a:cs typeface="Arial" panose="020B0704020202020204" pitchFamily="34" charset="0"/>
                        </a:rPr>
                        <a:t> </a:t>
                      </a:r>
                      <a:r>
                        <a:rPr lang="en-US" altLang="zh-CN" sz="530" b="1" i="0" u="sng" strike="noStrike" kern="1200" baseline="0" noProof="0" dirty="0">
                          <a:solidFill>
                            <a:srgbClr val="FFFFFF"/>
                          </a:solidFill>
                          <a:effectLst/>
                          <a:latin typeface="Arial" panose="020B0704020202020204" pitchFamily="34" charset="0"/>
                          <a:ea typeface="+mn-ea"/>
                          <a:cs typeface="Arial" panose="020B0704020202020204" pitchFamily="34" charset="0"/>
                        </a:rPr>
                        <a:t>(%)</a:t>
                      </a:r>
                    </a:p>
                  </a:txBody>
                  <a:tcPr marL="6138" marR="6138" marT="6138"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1" i="0" u="sng" strike="noStrike" baseline="0" dirty="0">
                          <a:solidFill>
                            <a:schemeClr val="bg1"/>
                          </a:solidFill>
                          <a:effectLst/>
                          <a:latin typeface="Arial" panose="020B0704020202020204" pitchFamily="34" charset="0"/>
                          <a:ea typeface="+mn-ea"/>
                          <a:cs typeface="Arial" panose="020B0704020202020204" pitchFamily="34" charset="0"/>
                        </a:rPr>
                        <a:t>至今</a:t>
                      </a:r>
                      <a:endParaRPr lang="en-US" altLang="zh-CN" sz="530" b="1" i="0" u="sng" strike="noStrike" baseline="0" dirty="0">
                        <a:solidFill>
                          <a:schemeClr val="bg1"/>
                        </a:solidFill>
                        <a:effectLst/>
                        <a:latin typeface="Arial" panose="020B0704020202020204" pitchFamily="34" charset="0"/>
                        <a:ea typeface="+mn-ea"/>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530" b="1" i="0" u="sng" strike="noStrike" kern="1200" cap="none" spc="0" normalizeH="0" baseline="0" noProof="0" dirty="0">
                          <a:ln>
                            <a:noFill/>
                          </a:ln>
                          <a:solidFill>
                            <a:prstClr val="white"/>
                          </a:solidFill>
                          <a:effectLst/>
                          <a:uLnTx/>
                          <a:uFillTx/>
                          <a:latin typeface="Arial" panose="020B0704020202020204" pitchFamily="34" charset="0"/>
                          <a:ea typeface="+mn-ea"/>
                          <a:cs typeface="Arial" panose="020B0704020202020204" pitchFamily="34" charset="0"/>
                        </a:rPr>
                        <a:t> </a:t>
                      </a:r>
                      <a:r>
                        <a:rPr kumimoji="0" lang="en-US" altLang="zh-CN" sz="530" b="1" i="0" u="sng" strike="noStrike" kern="1200" cap="none" spc="0" normalizeH="0" baseline="0" noProof="0" dirty="0">
                          <a:ln>
                            <a:noFill/>
                          </a:ln>
                          <a:solidFill>
                            <a:prstClr val="white"/>
                          </a:solidFill>
                          <a:effectLst/>
                          <a:uLnTx/>
                          <a:uFillTx/>
                          <a:latin typeface="Arial" panose="020B0704020202020204" pitchFamily="34" charset="0"/>
                          <a:ea typeface="+mn-ea"/>
                          <a:cs typeface="Arial" panose="020B0704020202020204" pitchFamily="34" charset="0"/>
                        </a:rPr>
                        <a:t>(</a:t>
                      </a:r>
                      <a:r>
                        <a:rPr lang="en-US" altLang="zh-CN" sz="530" b="1" i="0" u="sng" strike="noStrike" kern="1200" baseline="0" noProof="0" dirty="0">
                          <a:solidFill>
                            <a:srgbClr val="FFFFFF"/>
                          </a:solidFill>
                          <a:effectLst/>
                          <a:latin typeface="Arial" panose="020B0704020202020204" pitchFamily="34" charset="0"/>
                          <a:ea typeface="+mn-ea"/>
                          <a:cs typeface="Arial" panose="020B0704020202020204" pitchFamily="34" charset="0"/>
                        </a:rPr>
                        <a:t>%</a:t>
                      </a:r>
                      <a:r>
                        <a:rPr kumimoji="0" lang="en-US" altLang="zh-CN" sz="530" b="1" i="0" u="sng" strike="noStrike" kern="1200" cap="none" spc="0" normalizeH="0" baseline="0" noProof="0" dirty="0">
                          <a:ln>
                            <a:noFill/>
                          </a:ln>
                          <a:solidFill>
                            <a:prstClr val="white"/>
                          </a:solidFill>
                          <a:effectLst/>
                          <a:uLnTx/>
                          <a:uFillTx/>
                          <a:latin typeface="Arial" panose="020B0704020202020204" pitchFamily="34" charset="0"/>
                          <a:ea typeface="+mn-ea"/>
                          <a:cs typeface="Arial" panose="020B0704020202020204" pitchFamily="34" charset="0"/>
                        </a:rPr>
                        <a:t>)</a:t>
                      </a:r>
                    </a:p>
                  </a:txBody>
                  <a:tcPr marL="6138" marR="6138" marT="6138" marB="0" anchor="ctr">
                    <a:lnL>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0">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67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八马茶业</a:t>
                      </a:r>
                      <a:endParaRPr lang="zh-CN" altLang="en-US" sz="530" b="0" i="0" u="none" strike="noStrike" dirty="0">
                        <a:solidFill>
                          <a:srgbClr val="000000"/>
                        </a:solidFill>
                        <a:effectLst/>
                        <a:latin typeface="Arial Regular" panose="020B0704020202020204" charset="0"/>
                        <a:ea typeface="楷体" charset="0"/>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6980</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10</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月</a:t>
                      </a:r>
                      <a:r>
                        <a:rPr lang="en-US" altLang="zh-CN" sz="530" b="0" i="0" u="none" strike="noStrike">
                          <a:solidFill>
                            <a:srgbClr val="000000"/>
                          </a:solidFill>
                          <a:effectLst/>
                          <a:latin typeface="Arial Regular" panose="020B0704020202020204" charset="0"/>
                          <a:ea typeface="楷体" charset="0"/>
                          <a:cs typeface="Arial Regular" panose="020B0704020202020204" charset="0"/>
                        </a:rPr>
                        <a:t>28</a:t>
                      </a:r>
                      <a:r>
                        <a:rPr lang="zh-CN" altLang="en-US" sz="530" b="0" i="0" u="none" strike="noStrike">
                          <a:solidFill>
                            <a:srgbClr val="000000"/>
                          </a:solidFill>
                          <a:effectLst/>
                          <a:latin typeface="Arial Regular" panose="020B0704020202020204" charset="0"/>
                          <a:ea typeface="楷体" charset="0"/>
                          <a:cs typeface="Arial Regular" panose="020B0704020202020204" charset="0"/>
                        </a:rPr>
                        <a:t>日</a:t>
                      </a:r>
                      <a:endParaRPr lang="zh-CN" alt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zh-CN" altLang="en-US" sz="530" b="0" i="0" u="none" strike="noStrike">
                          <a:solidFill>
                            <a:srgbClr val="000000"/>
                          </a:solidFill>
                          <a:effectLst/>
                          <a:latin typeface="Arial Regular" panose="020B0704020202020204" charset="0"/>
                          <a:ea typeface="楷体" charset="0"/>
                          <a:cs typeface="Arial" panose="020B0704020202020204" pitchFamily="34" charset="0"/>
                        </a:rPr>
                        <a:t>消费</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4.5</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zh-CN" altLang="en-US" sz="530" b="0" i="0" u="none" strike="noStrike" dirty="0">
                          <a:solidFill>
                            <a:srgbClr val="DAB866"/>
                          </a:solidFill>
                          <a:effectLst/>
                          <a:latin typeface="Arial Regular" panose="020B0704020202020204" charset="0"/>
                          <a:ea typeface="楷体" charset="0"/>
                          <a:cs typeface="Arial" panose="020B0704020202020204" pitchFamily="34" charset="0"/>
                        </a:rPr>
                        <a:t>未设超额分配权</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zh-CN" altLang="en-US" sz="530" b="0" i="0" u="none" strike="noStrike" dirty="0">
                          <a:solidFill>
                            <a:srgbClr val="000000"/>
                          </a:solidFill>
                          <a:effectLst/>
                          <a:latin typeface="Arial Regular" panose="020B0704020202020204" charset="0"/>
                          <a:ea typeface="楷体" charset="0"/>
                          <a:cs typeface="Arial Regular" panose="020B0704020202020204" charset="0"/>
                        </a:rPr>
                        <a:t>固定</a:t>
                      </a: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2,680.0x</a:t>
                      </a:r>
                      <a:endParaRPr lang="en-US"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sz="530" b="0" i="0" u="none" strike="noStrike">
                          <a:solidFill>
                            <a:srgbClr val="000000"/>
                          </a:solidFill>
                          <a:effectLst/>
                          <a:latin typeface="Arial Regular" panose="020B0704020202020204" charset="0"/>
                          <a:ea typeface="楷体" charset="0"/>
                          <a:cs typeface="Arial Regular" panose="020B0704020202020204" charset="0"/>
                        </a:rPr>
                        <a:t>13.58x</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dirty="0">
                          <a:solidFill>
                            <a:srgbClr val="000000"/>
                          </a:solidFill>
                          <a:effectLst/>
                          <a:latin typeface="Arial Regular" panose="020B0704020202020204" charset="0"/>
                          <a:ea typeface="楷体" charset="0"/>
                          <a:cs typeface="Arial Regular" panose="020B0704020202020204" charset="0"/>
                        </a:rPr>
                        <a:t>10.6%</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a:t>
                      </a:r>
                      <a:endParaRPr lang="en-US" altLang="zh-CN" sz="530" b="0" i="0" u="none" strike="noStrike" dirty="0">
                        <a:solidFill>
                          <a:srgbClr val="000000"/>
                        </a:solidFill>
                        <a:effectLst/>
                        <a:latin typeface="Arial Regular" panose="020B0704020202020204" charset="0"/>
                        <a:ea typeface="楷体" charset="0"/>
                        <a:cs typeface="Arial Regular" panose="020B070402020202020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a:solidFill>
                            <a:srgbClr val="000000"/>
                          </a:solidFill>
                          <a:effectLst/>
                          <a:latin typeface="Arial Regular" panose="020B0704020202020204" charset="0"/>
                          <a:ea typeface="楷体" charset="0"/>
                          <a:cs typeface="Arial Regular" panose="020B0704020202020204" charset="0"/>
                        </a:rPr>
                        <a:t>-</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86.7%</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buNone/>
                      </a:pPr>
                      <a:r>
                        <a:rPr lang="en-US" altLang="zh-CN" sz="530" b="0" i="0" u="none" strike="noStrike" dirty="0">
                          <a:solidFill>
                            <a:srgbClr val="FF0000"/>
                          </a:solidFill>
                          <a:effectLst/>
                          <a:latin typeface="Arial Regular" panose="020B0704020202020204" charset="0"/>
                          <a:ea typeface="楷体" charset="0"/>
                          <a:cs typeface="Arial Regular" panose="020B0704020202020204" charset="0"/>
                        </a:rPr>
                        <a:t>3.4%</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ctr" fontAlgn="ctr"/>
                      <a:r>
                        <a:rPr lang="en-US" altLang="zh-HK" sz="500" b="0" i="0">
                          <a:solidFill>
                            <a:srgbClr val="00B050"/>
                          </a:solidFill>
                          <a:latin typeface="Arial Regular" panose="020B0704020202020204" charset="0"/>
                          <a:ea typeface="楷体" charset="0"/>
                          <a:cs typeface="Arial Regular" panose="020B0704020202020204" charset="0"/>
                        </a:rPr>
                        <a:t>-50.0%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剑桥科技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6166</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TMT</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46.2</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338.7x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16.50x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20.0%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48.9%</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-45.6%</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33.9%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20.5%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9.9%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广和通</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638</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22</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29.0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551.0x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9.16x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15.0%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43.0%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-30.8%</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-11.7%</a:t>
                      </a:r>
                      <a:endParaRPr lang="en-US" altLang="zh-CN"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-27.9%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-43.2%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聚水潭</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6687</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21</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20.9</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panose="020B0704020202020204" pitchFamily="34" charset="0"/>
                          <a:ea typeface="+mn-ea"/>
                          <a:cs typeface="Arial" panose="020B0704020202020204" pitchFamily="34" charset="0"/>
                        </a:rPr>
                        <a:t>1,953.0x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22.89x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16.0%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48.5%</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23.9%</a:t>
                      </a:r>
                      <a:endParaRPr lang="en-US" altLang="zh-CN"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-17.8%</a:t>
                      </a:r>
                      <a:endParaRPr lang="en-US" altLang="zh-CN"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-37.3%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海西新药</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2637</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医疗健康</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9.9</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3,165.1</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6.30</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14.6%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17.2%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20.6%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50.5%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58.9%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云迹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2670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回拨至</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5,657.2x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18.62x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19.7%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107.6%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轩竹生物 </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 </a:t>
                      </a:r>
                      <a:r>
                        <a:rPr lang="en-US" sz="530" b="0" i="0" u="none" strike="noStrike" dirty="0">
                          <a:solidFill>
                            <a:srgbClr val="000000"/>
                          </a:solidFill>
                          <a:effectLst/>
                          <a:latin typeface="Arial" panose="020B0704020202020204" pitchFamily="34" charset="0"/>
                          <a:ea typeface="+mn-ea"/>
                          <a:cs typeface="Arial" panose="020B0704020202020204" pitchFamily="34" charset="0"/>
                        </a:rPr>
                        <a:t>B</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2575</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医疗健康</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7.8</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4,908.3x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10.15x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13.0%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126.7%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451.3%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270.7%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挚达科技</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2650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新能源</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4.0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B050"/>
                          </a:solidFill>
                          <a:effectLst/>
                          <a:latin typeface="Arial" panose="020B0704020202020204" pitchFamily="34" charset="0"/>
                          <a:ea typeface="+mn-ea"/>
                          <a:cs typeface="Arial" panose="020B0704020202020204" pitchFamily="34" charset="0"/>
                        </a:rPr>
                        <a:t>无超额分配</a:t>
                      </a:r>
                      <a:endParaRPr lang="zh-CN" altLang="en-US"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panose="020B0704020202020204" pitchFamily="34" charset="0"/>
                          <a:ea typeface="+mn-ea"/>
                          <a:cs typeface="Arial" panose="020B0704020202020204" pitchFamily="34" charset="0"/>
                        </a:rPr>
                        <a:t>5,440.8x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panose="020B0704020202020204" pitchFamily="34" charset="0"/>
                          <a:ea typeface="+mn-ea"/>
                          <a:cs typeface="Arial" panose="020B0704020202020204" pitchFamily="34" charset="0"/>
                        </a:rPr>
                        <a:t>2.37x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10.0%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FF0000"/>
                          </a:solidFill>
                          <a:effectLst/>
                          <a:latin typeface="Arial" panose="020B0704020202020204" pitchFamily="34" charset="0"/>
                          <a:ea typeface="+mn-ea"/>
                          <a:cs typeface="Arial" panose="020B0704020202020204" pitchFamily="34" charset="0"/>
                        </a:rPr>
                        <a:t>192.1%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172.0%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-59.7%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长风药业</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2652</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医疗健康</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6.1</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DAB866"/>
                          </a:solidFill>
                          <a:effectLst/>
                          <a:latin typeface="Arial" panose="020B0704020202020204" pitchFamily="34" charset="0"/>
                          <a:ea typeface="+mn-ea"/>
                          <a:cs typeface="Arial" panose="020B0704020202020204" pitchFamily="34" charset="0"/>
                        </a:rPr>
                        <a:t>未设超额分配权</a:t>
                      </a:r>
                      <a:endParaRPr lang="zh-CN" altLang="en-US" sz="530" b="0" i="0" u="none" strike="noStrike" dirty="0">
                        <a:solidFill>
                          <a:srgbClr val="DAB866"/>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panose="020B0704020202020204" pitchFamily="34" charset="0"/>
                          <a:ea typeface="+mn-ea"/>
                          <a:cs typeface="Arial" panose="020B0704020202020204" pitchFamily="34" charset="0"/>
                        </a:rPr>
                        <a:t>6,697.8x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panose="020B0704020202020204" pitchFamily="34" charset="0"/>
                          <a:ea typeface="+mn-ea"/>
                          <a:cs typeface="Arial" panose="020B0704020202020204" pitchFamily="34" charset="0"/>
                        </a:rPr>
                        <a:t>12.74x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530" b="0" i="0" u="none" strike="noStrike" kern="1200" dirty="0">
                          <a:solidFill>
                            <a:srgbClr val="FF0000"/>
                          </a:solidFill>
                          <a:effectLst/>
                          <a:latin typeface="Arial" panose="020B0704020202020204" pitchFamily="34" charset="0"/>
                          <a:ea typeface="+mn-ea"/>
                          <a:cs typeface="Arial" panose="020B0704020202020204" pitchFamily="34" charset="0"/>
                        </a:rPr>
                        <a:t>161.0%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89.8%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63.5%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博泰车联</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2889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10.7</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529.8x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3.72x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7.0%</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43.6%</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53.6%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76.7%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25.0%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西普尼</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2583</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3.1</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2,505.9x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3.90x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258.1%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440.5%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273.0%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紫金黄金国际</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2259</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黄金</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287.3</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240.7x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20.38x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12.6%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49.9%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68.5%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85.5%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146.0%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3"/>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奇瑞汽车</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9973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汽车</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104.2</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308.2x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11.61x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5.2%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3.8%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kern="1200" dirty="0">
                          <a:solidFill>
                            <a:srgbClr val="FF0000"/>
                          </a:solidFill>
                          <a:effectLst/>
                          <a:latin typeface="Arial" panose="020B0704020202020204" pitchFamily="34" charset="0"/>
                          <a:ea typeface="+mn-ea"/>
                          <a:cs typeface="Arial" panose="020B0704020202020204" pitchFamily="34" charset="0"/>
                        </a:rPr>
                        <a:t>7.6%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-10.1%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4"/>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不同集团</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6090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23</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消费</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7.8</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B050"/>
                          </a:solidFill>
                          <a:effectLst/>
                          <a:latin typeface="Arial" panose="020B0704020202020204" pitchFamily="34" charset="0"/>
                          <a:ea typeface="+mn-ea"/>
                          <a:cs typeface="Arial" panose="020B0704020202020204" pitchFamily="34" charset="0"/>
                        </a:rPr>
                        <a:t>无超额分配</a:t>
                      </a:r>
                      <a:endParaRPr lang="zh-CN" altLang="en-US"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3,317.5x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7.37x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12.1%</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15.0%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44.0%</a:t>
                      </a:r>
                      <a:endParaRPr lang="en-US" altLang="zh-CN"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kern="1200">
                          <a:solidFill>
                            <a:srgbClr val="FF0000"/>
                          </a:solidFill>
                          <a:effectLst/>
                          <a:latin typeface="Arial" panose="020B0704020202020204" pitchFamily="34" charset="0"/>
                          <a:ea typeface="+mn-ea"/>
                          <a:cs typeface="Arial" panose="020B0704020202020204" pitchFamily="34" charset="0"/>
                        </a:rPr>
                        <a:t>35.4%</a:t>
                      </a:r>
                      <a:endParaRPr lang="en-US" altLang="zh-CN" sz="530" b="0" i="0" u="none" strike="noStrike" kern="1200"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11.2%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劲方医药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 </a:t>
                      </a:r>
                      <a:r>
                        <a:rPr lang="en-US" sz="530" b="0" i="0" u="none" strike="noStrike" dirty="0">
                          <a:solidFill>
                            <a:srgbClr val="000000"/>
                          </a:solidFill>
                          <a:effectLst/>
                          <a:latin typeface="Arial" panose="020B0704020202020204" pitchFamily="34" charset="0"/>
                          <a:ea typeface="+mn-ea"/>
                          <a:cs typeface="Arial" panose="020B0704020202020204" pitchFamily="34" charset="0"/>
                        </a:rPr>
                        <a:t>B</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2595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19</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18.2</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2,662.8x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39.05x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42.8%</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106.5%</a:t>
                      </a:r>
                      <a:endParaRPr lang="en-US" altLang="zh-CN"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kern="1200">
                          <a:solidFill>
                            <a:srgbClr val="FF0000"/>
                          </a:solidFill>
                          <a:effectLst/>
                          <a:latin typeface="Arial" panose="020B0704020202020204" pitchFamily="34" charset="0"/>
                          <a:ea typeface="+mn-ea"/>
                          <a:cs typeface="Arial" panose="020B0704020202020204" pitchFamily="34" charset="0"/>
                        </a:rPr>
                        <a:t>56.0%</a:t>
                      </a:r>
                      <a:endParaRPr lang="en-US" altLang="zh-CN" sz="530" b="0" i="0" u="none" strike="noStrike" kern="1200"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41.9%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6"/>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健康</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2656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医疗健康</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4.0</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751.8x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1.92x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10.0%</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137.3%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226.5%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664.5%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83</a:t>
                      </a:r>
                    </a:p>
                  </a:txBody>
                  <a:tcPr marL="6350" marR="6350" marT="6350" marB="0" anchor="ctr">
                    <a:lnL w="635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禾赛 </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 </a:t>
                      </a:r>
                      <a:r>
                        <a:rPr lang="en-US" sz="530" b="0" i="0" u="none" strike="noStrike">
                          <a:solidFill>
                            <a:srgbClr val="000000"/>
                          </a:solidFill>
                          <a:effectLst/>
                          <a:latin typeface="Arial" panose="020B0704020202020204" pitchFamily="34" charset="0"/>
                          <a:ea typeface="+mn-ea"/>
                          <a:cs typeface="Arial" panose="020B0704020202020204" pitchFamily="34" charset="0"/>
                        </a:rPr>
                        <a:t>W</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2525</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16</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47.8</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5443" marR="5443" marT="5443"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168.7x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14.09x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14.4%</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27.7%</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10.0%</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-14.7%</a:t>
                      </a:r>
                      <a:endParaRPr lang="en-US" altLang="zh-CN"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-15.9%</a:t>
                      </a:r>
                    </a:p>
                  </a:txBody>
                  <a:tcPr marL="13017" marR="13017" marT="13017" marB="0"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8"/>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大行科工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2543</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消费</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3.9</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5443" marR="5443" marT="5443"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GB" sz="530" b="0" i="0" u="none" strike="noStrike">
                          <a:solidFill>
                            <a:srgbClr val="000000"/>
                          </a:solidFill>
                          <a:effectLst/>
                          <a:latin typeface="Arial" panose="020B0704020202020204" pitchFamily="34" charset="0"/>
                          <a:ea typeface="+mn-ea"/>
                          <a:cs typeface="Arial" panose="020B0704020202020204" pitchFamily="34" charset="0"/>
                        </a:rPr>
                        <a:t>7,558.4x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GB" sz="530" b="0" i="0" u="none" strike="noStrike">
                          <a:solidFill>
                            <a:srgbClr val="000000"/>
                          </a:solidFill>
                          <a:effectLst/>
                          <a:latin typeface="Arial" panose="020B0704020202020204" pitchFamily="34" charset="0"/>
                          <a:ea typeface="+mn-ea"/>
                          <a:cs typeface="Arial" panose="020B0704020202020204" pitchFamily="34" charset="0"/>
                        </a:rPr>
                        <a:t>21.65x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25.4%</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14.9%</a:t>
                      </a:r>
                      <a:endParaRPr lang="en-US" altLang="zh-CN"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2.7%</a:t>
                      </a:r>
                    </a:p>
                  </a:txBody>
                  <a:tcPr marL="6350" marR="6350" marT="6350" marB="0" anchor="ctr">
                    <a:lnL>
                      <a:noFill/>
                    </a:lnL>
                    <a:lnR>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-41.3%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85</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奥克斯电气</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2580</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家庭电器</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41.5</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9144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回拨至</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panose="020B0704020202020204" pitchFamily="34" charset="0"/>
                          <a:ea typeface="+mn-ea"/>
                          <a:cs typeface="Arial" panose="020B0704020202020204" pitchFamily="34" charset="0"/>
                        </a:rPr>
                        <a:t>557.2x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8.30x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15.0%</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23.5%</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-5.4%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-20.5%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-43.9%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0"/>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86</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佳鑫国际资源</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3858</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金属</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13.8</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dirty="0" err="1">
                          <a:solidFill>
                            <a:srgbClr val="000000"/>
                          </a:solidFill>
                          <a:effectLst/>
                          <a:latin typeface="Arial" panose="020B0704020202020204" pitchFamily="34" charset="0"/>
                          <a:ea typeface="+mn-ea"/>
                          <a:cs typeface="Arial" panose="020B0704020202020204" pitchFamily="34" charset="0"/>
                        </a:rPr>
                        <a:t>2,041.6x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21.11x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27.7%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50.0%</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177.8%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146.3%</a:t>
                      </a:r>
                      <a:endParaRPr lang="en-US" altLang="zh-CN"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969.6%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21"/>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87</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双登股份</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6960</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储能电池</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9.8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3,876.3x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18.75x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15.8%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28.1%</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31.3%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19.9%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-9.0%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2"/>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88</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天岳先进</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2631</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23.5</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kern="1200"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回拨至</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35%</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a:solidFill>
                            <a:srgbClr val="000000"/>
                          </a:solidFill>
                          <a:effectLst/>
                          <a:latin typeface="Arial" panose="020B0704020202020204" pitchFamily="34" charset="0"/>
                          <a:ea typeface="+mn-ea"/>
                          <a:cs typeface="Arial" panose="020B0704020202020204" pitchFamily="34" charset="0"/>
                        </a:rPr>
                        <a:t>2,809.</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2</a:t>
                      </a:r>
                      <a:r>
                        <a:rPr lang="en-US" sz="530" b="0" i="0" u="none" strike="noStrike" kern="1200">
                          <a:solidFill>
                            <a:srgbClr val="000000"/>
                          </a:solidFill>
                          <a:effectLst/>
                          <a:latin typeface="Arial" panose="020B0704020202020204" pitchFamily="34" charset="0"/>
                          <a:ea typeface="+mn-ea"/>
                          <a:cs typeface="Arial" panose="020B0704020202020204" pitchFamily="34" charset="0"/>
                        </a:rPr>
                        <a:t>x</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9.04x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36.2%</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6.4%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45.6%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15.1%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3"/>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89</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银诺医药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 </a:t>
                      </a:r>
                      <a:r>
                        <a:rPr lang="en-US" sz="530" b="0" i="0" u="none" strike="noStrike" dirty="0">
                          <a:solidFill>
                            <a:srgbClr val="000000"/>
                          </a:solidFill>
                          <a:effectLst/>
                          <a:latin typeface="Arial" panose="020B0704020202020204" pitchFamily="34" charset="0"/>
                          <a:ea typeface="+mn-ea"/>
                          <a:cs typeface="Arial" panose="020B0704020202020204" pitchFamily="34" charset="0"/>
                        </a:rPr>
                        <a:t>B</a:t>
                      </a: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2591</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6.8</a:t>
                      </a:r>
                    </a:p>
                  </a:txBody>
                  <a:tcPr marL="5443" marR="5443" marT="5443"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固定</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10%</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5,341.7x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10.67x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8.0%</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11.5%</a:t>
                      </a: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206.5%</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137.4%</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15.6%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4"/>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90</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中慧生物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 </a:t>
                      </a: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B</a:t>
                      </a: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2627</a:t>
                      </a: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11</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医疗健康</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4.3</a:t>
                      </a:r>
                    </a:p>
                  </a:txBody>
                  <a:tcPr marL="5443" marR="5443" marT="5443"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DAB866"/>
                          </a:solidFill>
                          <a:effectLst/>
                          <a:latin typeface="Arial" panose="020B0704020202020204" pitchFamily="34" charset="0"/>
                          <a:ea typeface="+mn-ea"/>
                          <a:cs typeface="Arial" panose="020B0704020202020204" pitchFamily="34" charset="0"/>
                        </a:rPr>
                        <a:t>未设超额分配权</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4,007.6x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0.99x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8.5%</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23.4%</a:t>
                      </a: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158.0%</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530" b="0" i="0" u="none" strike="noStrike" kern="1200" cap="none" spc="0" normalizeH="0" baseline="0" noProof="0" dirty="0">
                          <a:ln>
                            <a:noFill/>
                          </a:ln>
                          <a:solidFill>
                            <a:srgbClr val="FF0000"/>
                          </a:solidFill>
                          <a:effectLst/>
                          <a:uLnTx/>
                          <a:uFillTx/>
                          <a:latin typeface="Arial" panose="020B0704020202020204" pitchFamily="34" charset="0"/>
                          <a:ea typeface="+mn-ea"/>
                          <a:cs typeface="Arial" panose="020B0704020202020204" pitchFamily="34" charset="0"/>
                        </a:rPr>
                        <a:t>265.0%</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202.9%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25"/>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91</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维立志博</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 – B</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9887</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医疗健康</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14.8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3,494.8x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40.78x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42.0%</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91.7%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94.3%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85.7%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6"/>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峰岹科技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1304</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GB" sz="530" b="0" i="0" u="none" strike="noStrike">
                          <a:solidFill>
                            <a:srgbClr val="000000"/>
                          </a:solidFill>
                          <a:effectLst/>
                          <a:latin typeface="Arial" panose="020B0704020202020204" pitchFamily="34" charset="0"/>
                          <a:ea typeface="+mn-ea"/>
                          <a:cs typeface="Arial" panose="020B0704020202020204" pitchFamily="34" charset="0"/>
                        </a:rPr>
                        <a:t>TMT</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26.0</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138.3x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8.61x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18.9%</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56.2%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-38.9%</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26.4%</a:t>
                      </a:r>
                      <a:endParaRPr 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-14.6%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27"/>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蓝思科技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6613</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GB" sz="530" b="0" i="0" u="none" strike="noStrike">
                          <a:solidFill>
                            <a:srgbClr val="000000"/>
                          </a:solidFill>
                          <a:effectLst/>
                          <a:latin typeface="Arial" panose="020B0704020202020204" pitchFamily="34" charset="0"/>
                          <a:ea typeface="+mn-ea"/>
                          <a:cs typeface="Arial" panose="020B0704020202020204" pitchFamily="34" charset="0"/>
                        </a:rPr>
                        <a:t>TMT</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54.8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462.8x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16.68x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5.7%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31.5%</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rtl="0"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-27.6%</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13.4%</a:t>
                      </a:r>
                      <a:endParaRPr 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18.7%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8"/>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讯众通信</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2597</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GB" sz="530" b="0" i="0" u="none" strike="noStrike">
                          <a:solidFill>
                            <a:srgbClr val="000000"/>
                          </a:solidFill>
                          <a:effectLst/>
                          <a:latin typeface="Arial" panose="020B0704020202020204" pitchFamily="34" charset="0"/>
                          <a:ea typeface="+mn-ea"/>
                          <a:cs typeface="Arial" panose="020B0704020202020204" pitchFamily="34" charset="0"/>
                        </a:rPr>
                        <a:t>TMT</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4.1</a:t>
                      </a:r>
                    </a:p>
                  </a:txBody>
                  <a:tcPr marL="5443" marR="5443" marT="5443"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530" b="0" i="0" u="none" strike="noStrike">
                          <a:solidFill>
                            <a:srgbClr val="00B050"/>
                          </a:solidFill>
                          <a:effectLst/>
                          <a:latin typeface="Arial" panose="020B0704020202020204" pitchFamily="34" charset="0"/>
                          <a:ea typeface="+mn-ea"/>
                          <a:cs typeface="Arial" panose="020B0704020202020204" pitchFamily="34" charset="0"/>
                        </a:rPr>
                        <a:t>无超额分配</a:t>
                      </a:r>
                      <a:endParaRPr lang="zh-CN" altLang="en-US"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12.8x</a:t>
                      </a:r>
                    </a:p>
                  </a:txBody>
                  <a:tcPr marL="7620" marR="7620" marT="762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1.01x</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35.0%</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0.2%</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0.7%</a:t>
                      </a:r>
                      <a:endParaRPr 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121.4%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29"/>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95</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大众口腔</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2651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医疗健康</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2.2</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00B050"/>
                          </a:solidFill>
                          <a:effectLst/>
                          <a:latin typeface="Arial" panose="020B0704020202020204" pitchFamily="34" charset="0"/>
                          <a:ea typeface="+mn-ea"/>
                          <a:cs typeface="Arial" panose="020B0704020202020204" pitchFamily="34" charset="0"/>
                        </a:rPr>
                        <a:t>无超额分配</a:t>
                      </a:r>
                      <a:endParaRPr lang="zh-CN" altLang="en-US" sz="530" b="0" i="0" u="none" strike="noStrike" dirty="0">
                        <a:solidFill>
                          <a:srgbClr val="00B05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108.3x</a:t>
                      </a:r>
                    </a:p>
                  </a:txBody>
                  <a:tcPr marL="7620" marR="7620" marT="762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0.96x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22.0%</a:t>
                      </a:r>
                      <a:endParaRPr lang="en-US" altLang="zh-CN" sz="530" b="0" i="0" u="none" strike="noStrike" dirty="0">
                        <a:solidFill>
                          <a:schemeClr val="tx1"/>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3.5%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B050"/>
                          </a:solidFill>
                          <a:effectLst/>
                          <a:latin typeface="Arial" panose="020B0704020202020204" pitchFamily="34" charset="0"/>
                          <a:ea typeface="+mn-ea"/>
                          <a:cs typeface="Arial" panose="020B0704020202020204" pitchFamily="34" charset="0"/>
                        </a:rPr>
                        <a:t>-28.6%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-51.8%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30"/>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96</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极智嘉</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2590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机械</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29.9</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133.6x</a:t>
                      </a:r>
                    </a:p>
                  </a:txBody>
                  <a:tcPr marL="7620" marR="7620" marT="762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30.17x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13.3%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30.4%</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5.4%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10.7%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10.3%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31"/>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97</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富卫集团</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1828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保险</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36.6</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2.3x</a:t>
                      </a:r>
                    </a:p>
                  </a:txBody>
                  <a:tcPr marL="7620" marR="7620" marT="762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2.32x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7.6%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56.2%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0.3%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-17.5%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32"/>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98</a:t>
                      </a:r>
                    </a:p>
                  </a:txBody>
                  <a:tcPr marL="6350" marR="6350" marT="635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安井食品</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2648</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4</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零售</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24.0</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44.2x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5.85x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12.0%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29.4%</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530" b="0" i="0" u="none" strike="noStrike" kern="1200">
                          <a:solidFill>
                            <a:srgbClr val="000000"/>
                          </a:solidFill>
                          <a:effectLst/>
                          <a:latin typeface="Arial" panose="020B0704020202020204" pitchFamily="34" charset="0"/>
                          <a:ea typeface="+mn-ea"/>
                          <a:cs typeface="Arial" panose="020B0704020202020204" pitchFamily="34" charset="0"/>
                        </a:rPr>
                        <a:t>-31.8%</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-5.0%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808080"/>
                          </a:solidFill>
                          <a:effectLst/>
                          <a:latin typeface="Arial" panose="020B0704020202020204" pitchFamily="34" charset="0"/>
                          <a:ea typeface="+mn-ea"/>
                          <a:cs typeface="Arial" panose="020B0704020202020204" pitchFamily="34" charset="0"/>
                        </a:rPr>
                        <a:t>0.0%</a:t>
                      </a:r>
                      <a:endParaRPr lang="en-US" sz="530" b="0" i="0" u="none" strike="noStrike" dirty="0">
                        <a:solidFill>
                          <a:srgbClr val="80808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15.8%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33"/>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99</a:t>
                      </a:r>
                    </a:p>
                  </a:txBody>
                  <a:tcPr marL="6350" marR="6350" marT="635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拨康视云 </a:t>
                      </a: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 </a:t>
                      </a:r>
                      <a:r>
                        <a:rPr lang="en-US" sz="530" b="0" i="0" u="none" strike="noStrike">
                          <a:solidFill>
                            <a:srgbClr val="000000"/>
                          </a:solidFill>
                          <a:effectLst/>
                          <a:latin typeface="Arial" panose="020B0704020202020204" pitchFamily="34" charset="0"/>
                          <a:ea typeface="+mn-ea"/>
                          <a:cs typeface="Arial" panose="020B0704020202020204" pitchFamily="34" charset="0"/>
                        </a:rPr>
                        <a:t>B</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2592</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医疗健康</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6.1</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78.8x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0.89x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7.2%</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29.3%</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-38.6%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-49.5%</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-81.5%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34"/>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100</a:t>
                      </a:r>
                    </a:p>
                  </a:txBody>
                  <a:tcPr marL="6350" marR="6350" marT="635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泰德医药</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3880</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5.1</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301.2x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2.43x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11.9%</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15.3%</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0.7%</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15.5%</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-28.8%</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35"/>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101</a:t>
                      </a:r>
                    </a:p>
                  </a:txBody>
                  <a:tcPr marL="6350" marR="6350" marT="635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云知声</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9678</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TMT</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3.7</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91.7x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1.70x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2.5%</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29.7%</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44.6%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184.9%</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36.2%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36"/>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102</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IFBH</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6603</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日</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000000"/>
                          </a:solidFill>
                          <a:effectLst/>
                          <a:latin typeface="Arial" panose="020B0704020202020204" pitchFamily="34" charset="0"/>
                          <a:ea typeface="+mn-ea"/>
                          <a:cs typeface="Arial" panose="020B0704020202020204" pitchFamily="34" charset="0"/>
                        </a:rPr>
                        <a:t>零售</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13.3</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endParaRPr lang="zh-CN" altLang="en-US" sz="530" b="0" i="0" u="none" strike="noStrike" dirty="0">
                        <a:solidFill>
                          <a:srgbClr val="FF0000"/>
                        </a:solidFill>
                        <a:effectLst/>
                        <a:latin typeface="Arial" panose="020B0704020202020204" pitchFamily="34" charset="0"/>
                        <a:ea typeface="+mn-ea"/>
                        <a:cs typeface="Arial" panose="020B07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2,682.4x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22.93x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26.7%</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sz="530" b="0" i="0" u="none" strike="noStrike" kern="1200">
                          <a:solidFill>
                            <a:srgbClr val="000000"/>
                          </a:solidFill>
                          <a:effectLst/>
                          <a:latin typeface="Arial" panose="020B0704020202020204" pitchFamily="34" charset="0"/>
                          <a:ea typeface="+mn-ea"/>
                          <a:cs typeface="Arial" panose="020B0704020202020204" pitchFamily="34" charset="0"/>
                        </a:rPr>
                        <a:t>-</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42.1%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33.6%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-57.3%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7"/>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103</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周六福珠宝</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6168</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消费</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14.9</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711.1x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13.55x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14.1%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51.0%</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61.3%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-10.4%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38"/>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104</a:t>
                      </a:r>
                    </a:p>
                  </a:txBody>
                  <a:tcPr marL="6350" marR="6350" marT="635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颖通控股</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6883</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零售</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9.6</a:t>
                      </a:r>
                    </a:p>
                  </a:txBody>
                  <a:tcPr marL="5443" marR="5443" marT="544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35.8x</a:t>
                      </a:r>
                    </a:p>
                  </a:txBody>
                  <a:tcPr marL="7620" marR="7620" marT="762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3.50x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-16.7%</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B050"/>
                          </a:solidFill>
                          <a:effectLst/>
                          <a:latin typeface="Arial" panose="020B0704020202020204" pitchFamily="34" charset="0"/>
                          <a:ea typeface="+mn-ea"/>
                          <a:cs typeface="Arial" panose="020B0704020202020204" pitchFamily="34" charset="0"/>
                        </a:rPr>
                        <a:t>-29.5%</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-29.5%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39"/>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105</a:t>
                      </a:r>
                    </a:p>
                  </a:txBody>
                  <a:tcPr marL="6350" marR="6350" marT="635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圣贝拉</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2508</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医疗健康</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8.0</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193.0x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15.59x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19.6%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51.8%</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33.7%</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9.0%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-23.3%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40"/>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106</a:t>
                      </a:r>
                    </a:p>
                  </a:txBody>
                  <a:tcPr marL="6350" marR="6350" marT="635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曹操出行</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530" b="0" i="0" u="none" strike="noStrike">
                          <a:solidFill>
                            <a:srgbClr val="000000"/>
                          </a:solidFill>
                          <a:effectLst/>
                          <a:latin typeface="Arial" panose="020B0704020202020204" pitchFamily="34" charset="0"/>
                          <a:ea typeface="+mn-ea"/>
                          <a:cs typeface="Arial" panose="020B0704020202020204" pitchFamily="34" charset="0"/>
                        </a:rPr>
                        <a:t>2643</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TMT</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18.5</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21.0x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2.78x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8.1%</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51.3%</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-14.2%</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-3.6%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-28.6%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extLst>
                  <a:ext uri="{0D108BD9-81ED-4DB2-BD59-A6C34878D82A}">
                    <a16:rowId xmlns:a16="http://schemas.microsoft.com/office/drawing/2014/main" val="10041"/>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107</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香江电器</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2619</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消费</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852.4x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1.08x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44.0%</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-11.9%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-16.1%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-39.5%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2"/>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108</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佰泽医疗</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2609</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5.6</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25.9x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0.98x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10.1%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26.5%</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42.2%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57.1%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-24.4%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3"/>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109</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药捷</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安康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 </a:t>
                      </a: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B</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2617</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3,419.9x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0.97x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3.9%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530" b="0" i="0" u="none" strike="noStrike" dirty="0">
                          <a:solidFill>
                            <a:srgbClr val="000000"/>
                          </a:solidFill>
                          <a:effectLst/>
                          <a:latin typeface="Arial" panose="020B0704020202020204" pitchFamily="34" charset="0"/>
                          <a:ea typeface="+mn-ea"/>
                          <a:cs typeface="Arial" panose="020B0704020202020204" pitchFamily="34" charset="0"/>
                        </a:rPr>
                        <a:t>64.1%</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78.7%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138.8%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421.7%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4"/>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110</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三花智控</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2050</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23</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制造</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107.4</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747.9x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23.57x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47.2%</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rtl="0" fontAlgn="ctr"/>
                      <a:r>
                        <a:rPr lang="en-US" sz="530" b="0" i="0" u="none" strike="noStrike" kern="1200" dirty="0">
                          <a:solidFill>
                            <a:srgbClr val="000000"/>
                          </a:solidFill>
                          <a:effectLst/>
                          <a:latin typeface="Arial" panose="020B0704020202020204" pitchFamily="34" charset="0"/>
                          <a:ea typeface="+mn-ea"/>
                          <a:cs typeface="Arial" panose="020B0704020202020204" pitchFamily="34" charset="0"/>
                        </a:rPr>
                        <a:t>-21.0%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-0.1%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26.5%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32.5%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5"/>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111</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海天味业</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3288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19</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消费</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105.7</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918.2x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22.93x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4.8%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-17.2%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0.6%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-1.7%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-4.7%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6"/>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112</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元光科技</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2605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2.4</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274.4x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2.49x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-30.3%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-37.8%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-84.7%</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7"/>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113</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容大合众</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9881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TMT</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1.8</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276.0x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0.96x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19.4%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43.6%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42.0%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3.0%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125.4%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8"/>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114</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新琪安集团</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2573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6</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10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化学品</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149.4x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0.93x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11.0%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28.2%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-34.6%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-78.9%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9"/>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115</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手回集团</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2621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30</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保险</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2867A0"/>
                          </a:solidFill>
                          <a:effectLst/>
                          <a:latin typeface="Arial" panose="020B0704020202020204" pitchFamily="34" charset="0"/>
                          <a:ea typeface="+mn-ea"/>
                          <a:cs typeface="Arial" panose="020B0704020202020204" pitchFamily="34" charset="0"/>
                        </a:rPr>
                        <a:t>部分超额分配（</a:t>
                      </a:r>
                      <a:r>
                        <a:rPr lang="en-US" altLang="zh-CN" sz="530" b="0" i="0" u="none" strike="noStrike">
                          <a:solidFill>
                            <a:srgbClr val="2867A0"/>
                          </a:solidFill>
                          <a:effectLst/>
                          <a:latin typeface="Arial" panose="020B0704020202020204" pitchFamily="34" charset="0"/>
                          <a:ea typeface="+mn-ea"/>
                          <a:cs typeface="Arial" panose="020B0704020202020204" pitchFamily="34" charset="0"/>
                        </a:rPr>
                        <a:t>10.0%</a:t>
                      </a:r>
                      <a:r>
                        <a:rPr lang="zh-CN" altLang="en-US" sz="530" b="0" i="0" u="none" strike="noStrike">
                          <a:solidFill>
                            <a:srgbClr val="2867A0"/>
                          </a:solidFill>
                          <a:effectLst/>
                          <a:latin typeface="Arial" panose="020B0704020202020204" pitchFamily="34" charset="0"/>
                          <a:ea typeface="+mn-ea"/>
                          <a:cs typeface="Arial" panose="020B0704020202020204" pitchFamily="34" charset="0"/>
                        </a:rPr>
                        <a:t>）</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990.0x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1.13x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10.8%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24.9%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-18.2%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-39.5%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-58.5%</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50"/>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116</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派格生物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 B</a:t>
                      </a:r>
                      <a:endPar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kern="1200">
                          <a:solidFill>
                            <a:srgbClr val="000000"/>
                          </a:solidFill>
                          <a:effectLst/>
                          <a:latin typeface="Arial" panose="020B0704020202020204" pitchFamily="34" charset="0"/>
                          <a:ea typeface="+mn-ea"/>
                          <a:cs typeface="Arial" panose="020B0704020202020204" pitchFamily="34" charset="0"/>
                        </a:rPr>
                        <a:t>2565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27</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3.0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743.8x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1.13x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49.7%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00B050"/>
                          </a:solidFill>
                          <a:effectLst/>
                          <a:latin typeface="Arial" panose="020B0704020202020204" pitchFamily="34" charset="0"/>
                          <a:ea typeface="+mn-ea"/>
                          <a:cs typeface="Arial" panose="020B0704020202020204" pitchFamily="34" charset="0"/>
                        </a:rPr>
                        <a:t>-25.9%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-36.0%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281.4%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51"/>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117</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吉宏科技</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2603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27</a:t>
                      </a: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印刷包装</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5.2</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49.4x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1.62x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29.8%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39.1%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FF0000"/>
                          </a:solidFill>
                          <a:effectLst/>
                          <a:latin typeface="Arial" panose="020B0704020202020204" pitchFamily="34" charset="0"/>
                          <a:ea typeface="+mn-ea"/>
                          <a:cs typeface="Arial" panose="020B0704020202020204" pitchFamily="34" charset="0"/>
                        </a:rPr>
                        <a:t>53.9%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87.9%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52"/>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118</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GB" sz="530" b="0" i="0" u="none" strike="noStrike" dirty="0">
                          <a:solidFill>
                            <a:srgbClr val="000000"/>
                          </a:solidFill>
                          <a:effectLst/>
                          <a:latin typeface="Arial" panose="020B0704020202020204" pitchFamily="34" charset="0"/>
                          <a:ea typeface="+mn-ea"/>
                          <a:cs typeface="Arial" panose="020B0704020202020204" pitchFamily="34" charset="0"/>
                        </a:rPr>
                        <a:t>MIRXES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r>
                        <a:rPr lang="en-GB" sz="530" b="0" i="0" u="none" strike="noStrike" dirty="0">
                          <a:solidFill>
                            <a:srgbClr val="000000"/>
                          </a:solidFill>
                          <a:effectLst/>
                          <a:latin typeface="Arial" panose="020B0704020202020204" pitchFamily="34" charset="0"/>
                          <a:ea typeface="+mn-ea"/>
                          <a:cs typeface="Arial" panose="020B0704020202020204" pitchFamily="34" charset="0"/>
                        </a:rPr>
                        <a:t> B</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2629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10.9</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DAB866"/>
                          </a:solidFill>
                          <a:effectLst/>
                          <a:latin typeface="Arial" panose="020B0704020202020204" pitchFamily="34" charset="0"/>
                          <a:ea typeface="+mn-ea"/>
                          <a:cs typeface="Arial" panose="020B07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25.5x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0.98x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16.9%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28.8%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44.4%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-43.9%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53"/>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119</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恒瑞医药</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1276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113.7</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454.9x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17.09x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3.4%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41.8%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-24.1%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25.2%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26.8%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47.0%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54"/>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120</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宁德时代</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3750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20</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电池</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410.1</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151.2x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15.17x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3.0%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57.1%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16.4%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14.0%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165.4%</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55"/>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121</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绿茶集团</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6831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16</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消费</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12.1</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317.5x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7.20x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26.3%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00B050"/>
                          </a:solidFill>
                          <a:effectLst/>
                          <a:latin typeface="Arial" panose="020B0704020202020204" pitchFamily="34" charset="0"/>
                          <a:ea typeface="+mn-ea"/>
                          <a:cs typeface="Arial" panose="020B0704020202020204" pitchFamily="34" charset="0"/>
                        </a:rPr>
                        <a:t>-12.5%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-11.3%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7.1%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56"/>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122</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沪上阿姨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2589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消费</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3.1</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3,617.0x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2.57x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40.0%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10.5%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-32.1%</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57"/>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123</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钧达新能源</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2865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8</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新能源</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14.1</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3.5x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1.08x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21.7%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34.8%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-47.9%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20.1%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5.6%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60.9%</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58"/>
                  </a:ext>
                </a:extLst>
              </a:tr>
              <a:tr h="0">
                <a:tc>
                  <a:txBody>
                    <a:bodyPr/>
                    <a:lstStyle/>
                    <a:p>
                      <a:pPr algn="ctr" fontAlgn="ctr">
                        <a:buNone/>
                      </a:pPr>
                      <a:r>
                        <a:rPr lang="en-US" altLang="zh-CN" sz="530" b="0" i="0" u="none" strike="noStrike">
                          <a:solidFill>
                            <a:srgbClr val="000000"/>
                          </a:solidFill>
                          <a:effectLst/>
                          <a:latin typeface="Arial" panose="020B0704020202020204" pitchFamily="34" charset="0"/>
                          <a:ea typeface="+mn-ea"/>
                          <a:cs typeface="Arial" panose="020B0704020202020204" pitchFamily="34" charset="0"/>
                        </a:rPr>
                        <a:t>124</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博雷顿科技</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1333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7</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机械</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2.3</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198.7x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a:solidFill>
                            <a:srgbClr val="000000"/>
                          </a:solidFill>
                          <a:effectLst/>
                          <a:latin typeface="Arial" panose="020B0704020202020204" pitchFamily="34" charset="0"/>
                          <a:ea typeface="+mn-ea"/>
                          <a:cs typeface="Arial" panose="020B0704020202020204" pitchFamily="34" charset="0"/>
                        </a:rPr>
                        <a:t>0.92x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3.4%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27.0%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rgbClr val="FF0000"/>
                          </a:solidFill>
                          <a:effectLst/>
                          <a:latin typeface="Arial" panose="020B0704020202020204" pitchFamily="34" charset="0"/>
                          <a:ea typeface="+mn-ea"/>
                          <a:cs typeface="Arial" panose="020B0704020202020204" pitchFamily="34" charset="0"/>
                        </a:rPr>
                        <a:t>38.3%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75.0%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8.3%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59"/>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125</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映恩生物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 </a:t>
                      </a:r>
                      <a:r>
                        <a:rPr lang="en-GB" altLang="zh-CN" sz="530" b="0" i="0" u="none" strike="noStrike" dirty="0">
                          <a:solidFill>
                            <a:srgbClr val="000000"/>
                          </a:solidFill>
                          <a:effectLst/>
                          <a:latin typeface="Arial" panose="020B0704020202020204" pitchFamily="34" charset="0"/>
                          <a:ea typeface="+mn-ea"/>
                          <a:cs typeface="Arial" panose="020B0704020202020204" pitchFamily="34" charset="0"/>
                        </a:rPr>
                        <a:t>B</a:t>
                      </a:r>
                      <a:endParaRPr lang="zh-CN" alt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9606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18.9</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0000"/>
                          </a:solidFill>
                          <a:effectLst/>
                          <a:latin typeface="Arial" panose="020B0704020202020204" pitchFamily="34" charset="0"/>
                          <a:ea typeface="+mn-ea"/>
                          <a:cs typeface="Arial" panose="020B0704020202020204" pitchFamily="34" charset="0"/>
                        </a:rPr>
                        <a:t>115.1x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13.52x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22.6%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33.9%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dirty="0">
                          <a:solidFill>
                            <a:srgbClr val="FF0000"/>
                          </a:solidFill>
                          <a:effectLst/>
                          <a:latin typeface="Arial" panose="020B0704020202020204" pitchFamily="34" charset="0"/>
                          <a:ea typeface="+mn-ea"/>
                          <a:cs typeface="Arial" panose="020B0704020202020204" pitchFamily="34" charset="0"/>
                        </a:rPr>
                        <a:t>116.7%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95.6%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196.2%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60"/>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126</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正力新能</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3677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4</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14</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电池</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10.1</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3.5x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1.1</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a:t>
                      </a:r>
                      <a:r>
                        <a:rPr lang="en-US" sz="530" b="0" i="0" u="none" strike="noStrike" dirty="0">
                          <a:solidFill>
                            <a:srgbClr val="000000"/>
                          </a:solidFill>
                          <a:effectLst/>
                          <a:latin typeface="Arial" panose="020B0704020202020204" pitchFamily="34" charset="0"/>
                          <a:ea typeface="+mn-ea"/>
                          <a:cs typeface="Arial" panose="020B0704020202020204" pitchFamily="34" charset="0"/>
                        </a:rPr>
                        <a:t>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4.8%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61.8%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12.0%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61"/>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127</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江苏宏信</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2625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31</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零售</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1.3</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47.0x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dirty="0">
                          <a:solidFill>
                            <a:srgbClr val="000000"/>
                          </a:solidFill>
                          <a:effectLst/>
                          <a:latin typeface="Arial" panose="020B0704020202020204" pitchFamily="34" charset="0"/>
                          <a:ea typeface="+mn-ea"/>
                          <a:cs typeface="Arial" panose="020B0704020202020204" pitchFamily="34" charset="0"/>
                        </a:rPr>
                        <a:t>0.93x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808080"/>
                          </a:solidFill>
                          <a:effectLst/>
                          <a:latin typeface="Arial" panose="020B0704020202020204" pitchFamily="34" charset="0"/>
                          <a:ea typeface="+mn-ea"/>
                          <a:cs typeface="Arial" panose="020B0704020202020204" pitchFamily="34" charset="0"/>
                        </a:rPr>
                        <a:t>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11.6%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80.0%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62"/>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128</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b"/>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舒宝国际</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b"/>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2569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27</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消费</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1.3</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530" b="0" i="0" u="none" strike="noStrike" dirty="0">
                          <a:solidFill>
                            <a:srgbClr val="00B050"/>
                          </a:solidFill>
                          <a:effectLst/>
                          <a:latin typeface="Arial" panose="020B0704020202020204" pitchFamily="34" charset="0"/>
                          <a:ea typeface="+mn-ea"/>
                          <a:cs typeface="Arial" panose="020B07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167.1x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1.02x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31.4%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530" b="0" i="0" u="none" strike="noStrike" dirty="0">
                          <a:solidFill>
                            <a:srgbClr val="FF0000"/>
                          </a:solidFill>
                          <a:effectLst/>
                          <a:latin typeface="Arial" panose="020B0704020202020204" pitchFamily="34" charset="0"/>
                          <a:ea typeface="+mn-ea"/>
                          <a:cs typeface="Arial" panose="020B0704020202020204" pitchFamily="34" charset="0"/>
                        </a:rPr>
                        <a:t>31.4%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100.0%</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63"/>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129</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b"/>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南山铝业国际</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b"/>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2610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金属</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23.8</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0000"/>
                          </a:solidFill>
                          <a:effectLst/>
                          <a:latin typeface="Arial" panose="020B0704020202020204" pitchFamily="34" charset="0"/>
                          <a:ea typeface="+mn-ea"/>
                          <a:cs typeface="Arial" panose="020B0704020202020204" pitchFamily="34" charset="0"/>
                        </a:rPr>
                        <a:t>3.9x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1.67x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15.2%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36.5%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-5.1%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buNone/>
                      </a:pPr>
                      <a:r>
                        <a:rPr lang="en-US" sz="530" b="0" i="0" u="none" strike="noStrike">
                          <a:solidFill>
                            <a:srgbClr val="00B050"/>
                          </a:solidFill>
                          <a:effectLst/>
                          <a:latin typeface="Arial" panose="020B0704020202020204" pitchFamily="34" charset="0"/>
                          <a:ea typeface="+mn-ea"/>
                          <a:cs typeface="Arial" panose="020B0704020202020204" pitchFamily="34" charset="0"/>
                        </a:rPr>
                        <a:t>-8.6%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tc>
                  <a:txBody>
                    <a:bodyPr/>
                    <a:lstStyle/>
                    <a:p>
                      <a:pPr algn="ctr" fontAlgn="ctr"/>
                      <a:r>
                        <a:rPr lang="en-US" altLang="zh-HK" sz="500" b="0" i="0">
                          <a:solidFill>
                            <a:srgbClr val="FF0000"/>
                          </a:solidFill>
                          <a:latin typeface="Arial Regular" panose="020B0704020202020204" charset="0"/>
                          <a:ea typeface="宋体"/>
                          <a:cs typeface="Arial Regular" panose="020B0704020202020204" charset="0"/>
                        </a:rPr>
                        <a:t>116.2%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64"/>
                  </a:ext>
                </a:extLst>
              </a:tr>
              <a:tr h="0">
                <a:tc>
                  <a:txBody>
                    <a:bodyPr/>
                    <a:lstStyle/>
                    <a:p>
                      <a:pPr algn="ctr" fontAlgn="ctr">
                        <a:buNone/>
                      </a:pP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130</a:t>
                      </a:r>
                    </a:p>
                  </a:txBody>
                  <a:tcPr marL="6350" marR="6350" marT="635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维昇药业 </a:t>
                      </a:r>
                      <a:r>
                        <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rPr>
                        <a:t>–</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 </a:t>
                      </a:r>
                      <a:r>
                        <a:rPr lang="en-GB" sz="530" b="0" i="0" u="none" strike="noStrike" dirty="0">
                          <a:solidFill>
                            <a:srgbClr val="000000"/>
                          </a:solidFill>
                          <a:effectLst/>
                          <a:latin typeface="Arial" panose="020B0704020202020204" pitchFamily="34" charset="0"/>
                          <a:ea typeface="+mn-ea"/>
                          <a:cs typeface="Arial" panose="020B0704020202020204" pitchFamily="34" charset="0"/>
                        </a:rPr>
                        <a:t>B</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2561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3</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月</a:t>
                      </a: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21</a:t>
                      </a: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000000"/>
                          </a:solidFill>
                          <a:effectLst/>
                          <a:latin typeface="Arial" panose="020B0704020202020204" pitchFamily="34" charset="0"/>
                          <a:ea typeface="+mn-ea"/>
                          <a:cs typeface="Arial" panose="020B07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a:solidFill>
                            <a:schemeClr val="tx1"/>
                          </a:solidFill>
                          <a:effectLst/>
                          <a:latin typeface="Arial" panose="020B0704020202020204" pitchFamily="34" charset="0"/>
                          <a:ea typeface="+mn-ea"/>
                          <a:cs typeface="Arial" panose="020B0704020202020204" pitchFamily="34" charset="0"/>
                        </a:rPr>
                        <a:t>7.8</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530" b="0" i="0" u="none" strike="noStrike" dirty="0">
                          <a:solidFill>
                            <a:srgbClr val="FF0000"/>
                          </a:solidFill>
                          <a:effectLst/>
                          <a:latin typeface="Arial" panose="020B0704020202020204" pitchFamily="34" charset="0"/>
                          <a:ea typeface="+mn-ea"/>
                          <a:cs typeface="Arial" panose="020B07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530" b="0" i="0" u="none" strike="noStrike" kern="1200" dirty="0">
                          <a:solidFill>
                            <a:srgbClr val="000000"/>
                          </a:solidFill>
                          <a:effectLst/>
                          <a:latin typeface="Arial" panose="020B0704020202020204" pitchFamily="34" charset="0"/>
                          <a:ea typeface="+mn-ea"/>
                          <a:cs typeface="Arial" panose="020B0704020202020204" pitchFamily="34" charset="0"/>
                        </a:rPr>
                        <a:t>不适用</a:t>
                      </a:r>
                      <a:endParaRPr lang="en-US" altLang="zh-CN" sz="530" b="0" i="0" u="none" strike="noStrike" kern="1200"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err="1">
                          <a:solidFill>
                            <a:srgbClr val="000000"/>
                          </a:solidFill>
                          <a:effectLst/>
                          <a:latin typeface="Arial" panose="020B0704020202020204" pitchFamily="34" charset="0"/>
                          <a:ea typeface="+mn-ea"/>
                          <a:cs typeface="Arial" panose="020B0704020202020204" pitchFamily="34" charset="0"/>
                        </a:rPr>
                        <a:t>72.6x</a:t>
                      </a:r>
                      <a:endParaRPr lang="en-US"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GB" sz="530" b="0" i="0" u="none" strike="noStrike" dirty="0" err="1">
                          <a:solidFill>
                            <a:srgbClr val="000000"/>
                          </a:solidFill>
                          <a:effectLst/>
                          <a:latin typeface="Arial" panose="020B0704020202020204" pitchFamily="34" charset="0"/>
                          <a:ea typeface="+mn-ea"/>
                          <a:cs typeface="Arial" panose="020B0704020202020204" pitchFamily="34" charset="0"/>
                        </a:rPr>
                        <a:t>1.65x</a:t>
                      </a:r>
                      <a:endParaRPr lang="en-GB"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530" b="0" i="0" u="none" strike="noStrike" dirty="0">
                          <a:solidFill>
                            <a:schemeClr val="tx1"/>
                          </a:solidFill>
                          <a:effectLst/>
                          <a:latin typeface="Arial" panose="020B0704020202020204" pitchFamily="34" charset="0"/>
                          <a:ea typeface="+mn-ea"/>
                          <a:cs typeface="Arial" panose="020B0704020202020204" pitchFamily="34" charset="0"/>
                        </a:rPr>
                        <a:t>10.0%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78.5%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rtl="0" fontAlgn="ctr"/>
                      <a:r>
                        <a:rPr lang="en-US" altLang="zh-CN" sz="530" b="0" i="0" u="none" strike="noStrike" dirty="0">
                          <a:solidFill>
                            <a:srgbClr val="000000"/>
                          </a:solidFill>
                          <a:effectLst/>
                          <a:latin typeface="Arial" panose="020B0704020202020204" pitchFamily="34" charset="0"/>
                          <a:ea typeface="+mn-ea"/>
                          <a:cs typeface="Arial" panose="020B07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530" b="0" i="0" u="none" strike="noStrike">
                          <a:solidFill>
                            <a:srgbClr val="808080"/>
                          </a:solidFill>
                          <a:effectLst/>
                          <a:latin typeface="Arial" panose="020B0704020202020204" pitchFamily="34" charset="0"/>
                          <a:ea typeface="+mn-ea"/>
                          <a:cs typeface="Arial" panose="020B0704020202020204" pitchFamily="34" charset="0"/>
                        </a:rPr>
                        <a:t>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530" b="0" i="0" u="none" strike="noStrike" dirty="0">
                          <a:solidFill>
                            <a:srgbClr val="00B050"/>
                          </a:solidFill>
                          <a:effectLst/>
                          <a:latin typeface="Arial" panose="020B0704020202020204" pitchFamily="34" charset="0"/>
                          <a:ea typeface="+mn-ea"/>
                          <a:cs typeface="Arial" panose="020B0704020202020204" pitchFamily="34" charset="0"/>
                        </a:rPr>
                        <a:t>-35.6%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HK" sz="500" b="0" i="0">
                          <a:solidFill>
                            <a:srgbClr val="00B050"/>
                          </a:solidFill>
                          <a:latin typeface="Arial Regular" panose="020B0704020202020204" charset="0"/>
                          <a:ea typeface="宋体"/>
                          <a:cs typeface="Arial Regular" panose="020B0704020202020204" charset="0"/>
                        </a:rPr>
                        <a:t>-62.2%</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extLst>
                  <a:ext uri="{0D108BD9-81ED-4DB2-BD59-A6C34878D82A}">
                    <a16:rowId xmlns:a16="http://schemas.microsoft.com/office/drawing/2014/main" val="10065"/>
                  </a:ext>
                </a:extLst>
              </a:tr>
              <a:tr h="0">
                <a:tc>
                  <a:txBody>
                    <a:bodyPr/>
                    <a:lstStyle/>
                    <a:p>
                      <a:pPr algn="ctr" fontAlgn="ctr">
                        <a:buNone/>
                      </a:pP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1" i="0" u="none" strike="noStrike" baseline="0" dirty="0">
                        <a:solidFill>
                          <a:srgbClr val="000000"/>
                        </a:solidFill>
                        <a:effectLst/>
                        <a:latin typeface="Arial" panose="020B0704020202020204" pitchFamily="34" charset="0"/>
                        <a:ea typeface="+mn-ea"/>
                        <a:cs typeface="Arial" panose="020B07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1" i="0" u="none" strike="noStrike" baseline="0" dirty="0">
                        <a:solidFill>
                          <a:srgbClr val="000000"/>
                        </a:solidFill>
                        <a:effectLst/>
                        <a:latin typeface="Arial" panose="020B0704020202020204" pitchFamily="34" charset="0"/>
                        <a:ea typeface="+mn-ea"/>
                        <a:cs typeface="Arial" panose="020B07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HK" altLang="en-US" sz="530" b="1" i="0" u="none" strike="noStrike" baseline="0" dirty="0">
                          <a:solidFill>
                            <a:srgbClr val="000000"/>
                          </a:solidFill>
                          <a:effectLst/>
                          <a:latin typeface="Arial" panose="020B0704020202020204" pitchFamily="34" charset="0"/>
                          <a:ea typeface="+mn-ea"/>
                          <a:cs typeface="Arial" panose="020B0704020202020204" pitchFamily="34" charset="0"/>
                          <a:sym typeface="Arial" panose="020B0704020202020204" pitchFamily="34" charset="0"/>
                        </a:rPr>
                        <a:t>平均</a:t>
                      </a: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550" b="1" i="0" u="none" strike="noStrike" dirty="0">
                          <a:solidFill>
                            <a:srgbClr val="000000"/>
                          </a:solidFill>
                          <a:effectLst/>
                          <a:latin typeface="Arial" panose="020B0704020202020204" pitchFamily="34" charset="0"/>
                          <a:ea typeface="宋体" pitchFamily="2" charset="-122"/>
                          <a:cs typeface="Arial" panose="020B0704020202020204" pitchFamily="34" charset="0"/>
                        </a:rPr>
                        <a:t>1,579.3x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50" b="1" i="0" u="none" strike="noStrike" dirty="0">
                          <a:solidFill>
                            <a:srgbClr val="000000"/>
                          </a:solidFill>
                          <a:effectLst/>
                          <a:latin typeface="Arial" panose="020B0704020202020204" pitchFamily="34" charset="0"/>
                          <a:ea typeface="宋体" pitchFamily="2" charset="-122"/>
                          <a:cs typeface="Arial" panose="020B0704020202020204" pitchFamily="34" charset="0"/>
                        </a:rPr>
                        <a:t>9.8x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u="none" strike="noStrike" dirty="0">
                          <a:solidFill>
                            <a:schemeClr val="tx1"/>
                          </a:solidFill>
                          <a:effectLst/>
                          <a:latin typeface="Arial" panose="020B0704020202020204" pitchFamily="34" charset="0"/>
                          <a:ea typeface="宋体" pitchFamily="2" charset="-122"/>
                          <a:cs typeface="Arial" panose="020B0704020202020204" pitchFamily="34" charset="0"/>
                        </a:rPr>
                        <a:t>12.9%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u="none" strike="noStrike" dirty="0">
                          <a:solidFill>
                            <a:schemeClr val="tx1"/>
                          </a:solidFill>
                          <a:effectLst/>
                          <a:latin typeface="Arial" panose="020B0704020202020204" pitchFamily="34" charset="0"/>
                          <a:ea typeface="宋体" pitchFamily="2" charset="-122"/>
                          <a:cs typeface="Arial" panose="020B0704020202020204" pitchFamily="34" charset="0"/>
                        </a:rPr>
                        <a:t>38.2%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u="none" strike="noStrike" dirty="0">
                          <a:solidFill>
                            <a:schemeClr val="tx1"/>
                          </a:solidFill>
                          <a:effectLst/>
                          <a:latin typeface="Arial" panose="020B0704020202020204" pitchFamily="34" charset="0"/>
                          <a:ea typeface="宋体" pitchFamily="2" charset="-122"/>
                          <a:cs typeface="Arial" panose="020B0704020202020204" pitchFamily="34" charset="0"/>
                        </a:rPr>
                        <a:t>-33.4%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30" b="1" i="0" dirty="0">
                          <a:solidFill>
                            <a:srgbClr val="FF0000"/>
                          </a:solidFill>
                          <a:effectLst/>
                          <a:latin typeface="Arial Bold" panose="020B0704020202020204" charset="0"/>
                          <a:cs typeface="Arial Bold" panose="020B0704020202020204" charset="0"/>
                        </a:rPr>
                        <a:t>36.7%</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30" b="1" i="0" dirty="0">
                          <a:solidFill>
                            <a:srgbClr val="FF0000"/>
                          </a:solidFill>
                          <a:effectLst/>
                          <a:latin typeface="Arial Bold" panose="020B0704020202020204" charset="0"/>
                          <a:cs typeface="Arial Bold" panose="020B0704020202020204" charset="0"/>
                        </a:rPr>
                        <a:t>48.7%</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30" b="1" i="0" dirty="0">
                          <a:solidFill>
                            <a:srgbClr val="FF0000"/>
                          </a:solidFill>
                          <a:effectLst/>
                          <a:latin typeface="Arial Bold" panose="020B0704020202020204" charset="0"/>
                          <a:cs typeface="Arial Bold" panose="020B0704020202020204" charset="0"/>
                        </a:rPr>
                        <a:t>54.3%</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extLst>
                  <a:ext uri="{0D108BD9-81ED-4DB2-BD59-A6C34878D82A}">
                    <a16:rowId xmlns:a16="http://schemas.microsoft.com/office/drawing/2014/main" val="10066"/>
                  </a:ext>
                </a:extLst>
              </a:tr>
              <a:tr h="0">
                <a:tc>
                  <a:txBody>
                    <a:bodyPr/>
                    <a:lstStyle/>
                    <a:p>
                      <a:pPr algn="ctr" fontAlgn="ctr">
                        <a:buNone/>
                      </a:pPr>
                      <a:endParaRPr lang="en-US" altLang="zh-CN" sz="530" b="0" i="0" u="none" strike="noStrike" dirty="0">
                        <a:solidFill>
                          <a:srgbClr val="000000"/>
                        </a:solidFill>
                        <a:effectLst/>
                        <a:latin typeface="Arial" panose="020B0704020202020204" pitchFamily="34" charset="0"/>
                        <a:ea typeface="+mn-ea"/>
                        <a:cs typeface="Arial" panose="020B0704020202020204" pitchFamily="34" charset="0"/>
                      </a:endParaRP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0" i="0" u="none" strike="noStrike" baseline="0" dirty="0">
                        <a:solidFill>
                          <a:srgbClr val="000000"/>
                        </a:solidFill>
                        <a:effectLst/>
                        <a:latin typeface="Arial" panose="020B0704020202020204" pitchFamily="34" charset="0"/>
                        <a:ea typeface="+mn-ea"/>
                        <a:cs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1" i="0" u="none" strike="noStrike" baseline="0" dirty="0">
                        <a:solidFill>
                          <a:srgbClr val="000000"/>
                        </a:solidFill>
                        <a:effectLst/>
                        <a:latin typeface="Arial" panose="020B0704020202020204" pitchFamily="34" charset="0"/>
                        <a:ea typeface="+mn-ea"/>
                        <a:cs typeface="Arial" panose="020B07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530" b="1" i="0" u="none" strike="noStrike" baseline="0" dirty="0">
                        <a:solidFill>
                          <a:srgbClr val="000000"/>
                        </a:solidFill>
                        <a:effectLst/>
                        <a:latin typeface="Arial" panose="020B0704020202020204" pitchFamily="34" charset="0"/>
                        <a:ea typeface="+mn-ea"/>
                        <a:cs typeface="Arial" panose="020B07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HK" altLang="en-US" sz="530" b="1" i="0" u="none" strike="noStrike" baseline="0" dirty="0">
                          <a:solidFill>
                            <a:srgbClr val="000000"/>
                          </a:solidFill>
                          <a:effectLst/>
                          <a:latin typeface="Arial" panose="020B0704020202020204" pitchFamily="34" charset="0"/>
                          <a:ea typeface="+mn-ea"/>
                          <a:cs typeface="Arial" panose="020B0704020202020204" pitchFamily="34" charset="0"/>
                          <a:sym typeface="Arial" panose="020B0704020202020204" pitchFamily="34" charset="0"/>
                        </a:rPr>
                        <a:t>中位数</a:t>
                      </a: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550" b="1" i="0" dirty="0">
                          <a:solidFill>
                            <a:schemeClr val="tx1"/>
                          </a:solidFill>
                          <a:effectLst/>
                          <a:latin typeface="Arial" panose="020B0704020202020204" pitchFamily="34" charset="0"/>
                          <a:ea typeface="宋体" pitchFamily="2" charset="-122"/>
                          <a:cs typeface="Arial" panose="020B0704020202020204" pitchFamily="34" charset="0"/>
                        </a:rPr>
                        <a:t>462.8x</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dirty="0">
                          <a:solidFill>
                            <a:schemeClr val="tx1"/>
                          </a:solidFill>
                          <a:effectLst/>
                          <a:latin typeface="Arial" panose="020B0704020202020204" pitchFamily="34" charset="0"/>
                          <a:ea typeface="宋体" pitchFamily="2" charset="-122"/>
                          <a:cs typeface="Arial" panose="020B0704020202020204" pitchFamily="34" charset="0"/>
                        </a:rPr>
                        <a:t>7.4x</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dirty="0">
                          <a:solidFill>
                            <a:schemeClr val="tx1"/>
                          </a:solidFill>
                          <a:effectLst/>
                          <a:latin typeface="Arial" panose="020B0704020202020204" pitchFamily="34" charset="0"/>
                          <a:ea typeface="宋体" pitchFamily="2" charset="-122"/>
                          <a:cs typeface="Arial" panose="020B0704020202020204" pitchFamily="34" charset="0"/>
                        </a:rPr>
                        <a:t>10.7%</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dirty="0">
                          <a:solidFill>
                            <a:schemeClr val="tx1"/>
                          </a:solidFill>
                          <a:effectLst/>
                          <a:latin typeface="Arial" panose="020B0704020202020204" pitchFamily="34" charset="0"/>
                          <a:ea typeface="宋体" pitchFamily="2" charset="-122"/>
                          <a:cs typeface="Arial" panose="020B0704020202020204" pitchFamily="34" charset="0"/>
                        </a:rPr>
                        <a:t>42.2%</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altLang="zh-CN" sz="550" b="1" i="0" dirty="0">
                          <a:solidFill>
                            <a:schemeClr val="tx1"/>
                          </a:solidFill>
                          <a:effectLst/>
                          <a:latin typeface="Arial" panose="020B0704020202020204" pitchFamily="34" charset="0"/>
                          <a:ea typeface="宋体" pitchFamily="2" charset="-122"/>
                          <a:cs typeface="Arial" panose="020B0704020202020204" pitchFamily="34" charset="0"/>
                        </a:rPr>
                        <a:t>-35.7%</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30" b="1" i="0" dirty="0">
                          <a:solidFill>
                            <a:srgbClr val="FF0000"/>
                          </a:solidFill>
                          <a:effectLst/>
                          <a:latin typeface="Arial Bold" panose="020B0704020202020204" charset="0"/>
                          <a:cs typeface="Arial Bold" panose="020B0704020202020204" charset="0"/>
                        </a:rPr>
                        <a:t>15.5%</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30" b="1" i="0" dirty="0">
                          <a:solidFill>
                            <a:srgbClr val="FF0000"/>
                          </a:solidFill>
                          <a:effectLst/>
                          <a:latin typeface="Arial Bold" panose="020B0704020202020204" charset="0"/>
                          <a:cs typeface="Arial Bold" panose="020B0704020202020204" charset="0"/>
                        </a:rPr>
                        <a:t>14.2%</a:t>
                      </a:r>
                    </a:p>
                  </a:txBody>
                  <a:tcPr marL="13017" marR="13017" marT="13017"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r>
                        <a:rPr lang="en-US" sz="530" b="1" i="0" dirty="0">
                          <a:solidFill>
                            <a:srgbClr val="FF0000"/>
                          </a:solidFill>
                          <a:effectLst/>
                          <a:latin typeface="Arial Bold" panose="020B0704020202020204" charset="0"/>
                          <a:cs typeface="Arial Bold" panose="020B0704020202020204" charset="0"/>
                        </a:rPr>
                        <a:t>2.6%</a:t>
                      </a:r>
                    </a:p>
                  </a:txBody>
                  <a:tcPr marL="13017" marR="13017" marT="13017"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extLst>
                  <a:ext uri="{0D108BD9-81ED-4DB2-BD59-A6C34878D82A}">
                    <a16:rowId xmlns:a16="http://schemas.microsoft.com/office/drawing/2014/main" val="10067"/>
                  </a:ext>
                </a:extLst>
              </a:tr>
            </a:tbl>
          </a:graphicData>
        </a:graphic>
      </p:graphicFrame>
      <p:sp>
        <p:nvSpPr>
          <p:cNvPr id="4" name="Title 2"/>
          <p:cNvSpPr txBox="1"/>
          <p:nvPr/>
        </p:nvSpPr>
        <p:spPr>
          <a:xfrm>
            <a:off x="220712" y="129599"/>
            <a:ext cx="7563843" cy="263439"/>
          </a:xfrm>
          <a:prstGeom prst="rect">
            <a:avLst/>
          </a:prstGeom>
        </p:spPr>
        <p:txBody>
          <a:bodyPr/>
          <a:lstStyle>
            <a:lvl1pPr algn="l" defTabSz="685800" rtl="0" eaLnBrk="1" latinLnBrk="0" hangingPunct="1">
              <a:lnSpc>
                <a:spcPct val="90000"/>
              </a:lnSpc>
              <a:spcBef>
                <a:spcPct val="0"/>
              </a:spcBef>
              <a:buNone/>
              <a:defRPr sz="2000" b="1" kern="1200" baseline="0">
                <a:solidFill>
                  <a:schemeClr val="accent1"/>
                </a:solidFill>
                <a:latin typeface="Arial" panose="020B0704020202020204" pitchFamily="34" charset="0"/>
                <a:ea typeface="+mj-ea"/>
                <a:cs typeface="Arial" panose="020B0704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过去</a:t>
            </a:r>
            <a:r>
              <a:rPr kumimoji="0" lang="en-US" altLang="zh-CN"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12</a:t>
            </a:r>
            <a:r>
              <a:rPr kumimoji="0" lang="zh-CN" altLang="en-US"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个月</a:t>
            </a:r>
            <a:r>
              <a:rPr kumimoji="0" lang="zh-TW" altLang="en-US"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香港</a:t>
            </a:r>
            <a:r>
              <a:rPr kumimoji="0" lang="en-US" altLang="zh-TW"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IPO</a:t>
            </a:r>
            <a:r>
              <a:rPr kumimoji="0" lang="zh-CN" altLang="en-US"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发行及</a:t>
            </a:r>
            <a:r>
              <a:rPr kumimoji="0" lang="zh-TW" altLang="en-US" sz="20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认购情况（续）</a:t>
            </a:r>
            <a:r>
              <a:rPr kumimoji="0" lang="en-US" altLang="zh-TW" sz="2000" b="1" i="0" u="none" strike="noStrike" kern="1200" cap="none" spc="0" normalizeH="0" baseline="3000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1</a:t>
            </a:r>
          </a:p>
        </p:txBody>
      </p:sp>
      <p:sp>
        <p:nvSpPr>
          <p:cNvPr id="3" name="object 27"/>
          <p:cNvSpPr txBox="1"/>
          <p:nvPr/>
        </p:nvSpPr>
        <p:spPr>
          <a:xfrm>
            <a:off x="220712" y="6637634"/>
            <a:ext cx="9733064" cy="309245"/>
          </a:xfrm>
          <a:prstGeom prst="rect">
            <a:avLst/>
          </a:prstGeom>
        </p:spPr>
        <p:txBody>
          <a:bodyPr vert="horz" wrap="square" lIns="0" tIns="10808" rIns="0" bIns="0" rtlCol="0">
            <a:spAutoFit/>
          </a:bodyPr>
          <a:lstStyle/>
          <a:p>
            <a:pPr marL="10795" lvl="0">
              <a:spcBef>
                <a:spcPts val="85"/>
              </a:spcBef>
              <a:defRPr/>
            </a:pP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数据来源：彭博、</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Dealogic,</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记录过去</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12</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个月在香港主板上市的</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，按上市日期排序，股价表现截至</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2026</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年</a:t>
            </a:r>
            <a:r>
              <a:rPr lang="en-US" altLang="zh-CN" sz="600" i="1" spc="-5" dirty="0">
                <a:solidFill>
                  <a:prstClr val="black"/>
                </a:solidFill>
                <a:latin typeface="Arial" panose="020B0704020202020204"/>
                <a:ea typeface="楷体" panose="02010609060101010101" pitchFamily="49" charset="-122"/>
              </a:rPr>
              <a:t>3</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月</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20</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日</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     </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1.</a:t>
            </a:r>
            <a:r>
              <a:rPr lang="zh-CN" altLang="en-US" sz="600" i="1" spc="-5" dirty="0">
                <a:solidFill>
                  <a:prstClr val="black"/>
                </a:solidFill>
                <a:ea typeface="楷体" panose="02010609060101010101" pitchFamily="49" charset="-122"/>
              </a:rPr>
              <a:t>仅统计主板上市公司，不包括以介绍形式上市、</a:t>
            </a:r>
            <a:r>
              <a:rPr lang="en-US" altLang="zh-CN" sz="600" i="1" spc="-5" dirty="0">
                <a:solidFill>
                  <a:prstClr val="black"/>
                </a:solidFill>
                <a:ea typeface="楷体" panose="02010609060101010101" pitchFamily="49" charset="-122"/>
              </a:rPr>
              <a:t>GEM</a:t>
            </a:r>
            <a:r>
              <a:rPr lang="zh-CN" altLang="en-US" sz="600" i="1" spc="-5" dirty="0">
                <a:solidFill>
                  <a:prstClr val="black"/>
                </a:solidFill>
                <a:ea typeface="楷体" panose="02010609060101010101" pitchFamily="49" charset="-122"/>
              </a:rPr>
              <a:t>转主板，以及</a:t>
            </a:r>
            <a:r>
              <a:rPr lang="en-US" altLang="zh-CN" sz="600" i="1" spc="-5" dirty="0">
                <a:solidFill>
                  <a:prstClr val="black"/>
                </a:solidFill>
                <a:ea typeface="楷体" panose="02010609060101010101" pitchFamily="49" charset="-122"/>
              </a:rPr>
              <a:t>SPAC</a:t>
            </a:r>
            <a:r>
              <a:rPr lang="zh-CN" altLang="en-US" sz="600" i="1" spc="-5" dirty="0">
                <a:solidFill>
                  <a:prstClr val="black"/>
                </a:solidFill>
                <a:ea typeface="楷体" panose="02010609060101010101" pitchFamily="49" charset="-122"/>
              </a:rPr>
              <a:t>公司     </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2. </a:t>
            </a:r>
            <a:r>
              <a:rPr kumimoji="0" lang="zh-CN" alt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rPr>
              <a:t>无超额分配指发行人已授权超额分配权，而实际中并未超额发售 </a:t>
            </a:r>
            <a:endParaRPr kumimoji="0" lang="en-US" altLang="zh-CN"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endParaRPr>
          </a:p>
          <a:p>
            <a:pPr marL="10795">
              <a:spcBef>
                <a:spcPts val="85"/>
              </a:spcBef>
              <a:defRPr/>
            </a:pP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3.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假设发售量调整权和超额配股权未获行使      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4.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为准确反映各项目国际配售认购情况，保留两位小数</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	</a:t>
            </a:r>
            <a:r>
              <a:rPr lang="zh-CN" altLang="en-US" sz="600" i="1" spc="-5" dirty="0">
                <a:solidFill>
                  <a:prstClr val="black"/>
                </a:solidFill>
                <a:latin typeface="Arial" panose="020B0704020202020204" pitchFamily="34" charset="0"/>
                <a:ea typeface="华文楷体" panose="02010600040101010101" charset="-122"/>
              </a:rPr>
              <a:t>注</a:t>
            </a:r>
            <a:r>
              <a:rPr lang="en-US" altLang="zh-CN" sz="600" i="1" spc="-5" dirty="0">
                <a:solidFill>
                  <a:prstClr val="black"/>
                </a:solidFill>
                <a:latin typeface="Arial" panose="020B0704020202020204" pitchFamily="34" charset="0"/>
                <a:ea typeface="华文楷体" panose="02010600040101010101" charset="-122"/>
              </a:rPr>
              <a:t>5.</a:t>
            </a:r>
            <a:r>
              <a:rPr lang="zh-CN" altLang="en-US" sz="600" i="1" spc="-5" dirty="0">
                <a:solidFill>
                  <a:prstClr val="black"/>
                </a:solidFill>
                <a:latin typeface="Arial" panose="020B0704020202020204" pitchFamily="34" charset="0"/>
                <a:ea typeface="华文楷体" panose="02010600040101010101" charset="-122"/>
              </a:rPr>
              <a:t>假设超额配股权未获行使；</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     注</a:t>
            </a:r>
            <a:r>
              <a:rPr lang="en-US" altLang="zh-CN" sz="600" i="1" spc="-5" dirty="0">
                <a:solidFill>
                  <a:prstClr val="black"/>
                </a:solidFill>
                <a:latin typeface="Arial" panose="020B0704020202020204" pitchFamily="34" charset="0"/>
                <a:ea typeface="华文楷体" panose="02010600040101010101" charset="-122"/>
              </a:rPr>
              <a:t>6</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仅针对</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A+H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上市公司，为</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股</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定价日相较于</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A</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华文楷体" panose="02010600040101010101" charset="-122"/>
                <a:cs typeface="+mn-cs"/>
              </a:rPr>
              <a:t>股折价率                            </a:t>
            </a:r>
            <a:r>
              <a:rPr lang="zh-CN" altLang="en-US" sz="600" i="1" spc="-5" dirty="0">
                <a:solidFill>
                  <a:srgbClr val="C00000"/>
                </a:solidFill>
                <a:latin typeface="Arial" panose="020B0704020202020204" pitchFamily="34" charset="0"/>
                <a:ea typeface="华文楷体" panose="02010600040101010101" charset="-122"/>
              </a:rPr>
              <a:t>红线分割部分为港交所新规实施后启动招股的项目</a:t>
            </a:r>
            <a:endParaRPr lang="en-US" altLang="zh-CN" sz="600" i="1" spc="-5" dirty="0">
              <a:solidFill>
                <a:prstClr val="black"/>
              </a:solidFill>
              <a:latin typeface="Arial" panose="020B0704020202020204" pitchFamily="34" charset="0"/>
              <a:ea typeface="华文楷体" panose="02010600040101010101" charset="-122"/>
            </a:endParaRPr>
          </a:p>
          <a:p>
            <a:pPr marL="10795" lvl="0">
              <a:spcBef>
                <a:spcPts val="85"/>
              </a:spcBef>
              <a:defRPr/>
            </a:pPr>
            <a:endParaRPr kumimoji="0" lang="en-US" sz="600" b="0" i="1" u="none" strike="noStrike" kern="1200" cap="none" spc="-5" normalizeH="0" baseline="0" noProof="0" dirty="0">
              <a:ln>
                <a:noFill/>
              </a:ln>
              <a:solidFill>
                <a:prstClr val="black"/>
              </a:solidFill>
              <a:effectLst/>
              <a:uLnTx/>
              <a:uFillTx/>
              <a:latin typeface="Arial" panose="020B0704020202020204"/>
              <a:ea typeface="楷体" panose="02010609060101010101" pitchFamily="49" charset="-122"/>
              <a:cs typeface="+mn-cs"/>
            </a:endParaRPr>
          </a:p>
        </p:txBody>
      </p:sp>
      <p:sp>
        <p:nvSpPr>
          <p:cNvPr id="2" name="TextBox 1">
            <a:extLst>
              <a:ext uri="{FF2B5EF4-FFF2-40B4-BE49-F238E27FC236}">
                <a16:creationId xmlns:a16="http://schemas.microsoft.com/office/drawing/2014/main" id="{02A5CCE5-8DE4-B2E1-EF9A-E9C155533985}"/>
              </a:ext>
            </a:extLst>
          </p:cNvPr>
          <p:cNvSpPr txBox="1"/>
          <p:nvPr/>
        </p:nvSpPr>
        <p:spPr>
          <a:xfrm>
            <a:off x="3643034" y="2270357"/>
            <a:ext cx="2749471" cy="1631216"/>
          </a:xfrm>
          <a:prstGeom prst="rect">
            <a:avLst/>
          </a:prstGeom>
          <a:noFill/>
        </p:spPr>
        <p:txBody>
          <a:bodyPr wrap="none" rtlCol="0">
            <a:spAutoFit/>
          </a:bodyPr>
          <a:lstStyle/>
          <a:p>
            <a:r>
              <a:rPr lang="en-US" sz="10000" dirty="0" err="1">
                <a:highlight>
                  <a:srgbClr val="FFFF00"/>
                </a:highlight>
              </a:rPr>
              <a:t>大表</a:t>
            </a:r>
            <a:endParaRPr lang="en-US" sz="10000" dirty="0">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0667" y="323850"/>
            <a:ext cx="7132320" cy="320040"/>
          </a:xfrm>
        </p:spPr>
        <p:txBody>
          <a:bodyPr/>
          <a:lstStyle/>
          <a:p>
            <a:r>
              <a:rPr lang="zh-CN" altLang="en-US" dirty="0">
                <a:latin typeface="楷体" panose="02010609060101010101" pitchFamily="49" charset="-122"/>
                <a:ea typeface="楷体" panose="02010609060101010101" pitchFamily="49" charset="-122"/>
                <a:cs typeface="楷体" panose="02010609060101010101" pitchFamily="49" charset="-122"/>
                <a:sym typeface="Arial" panose="020B0604020202020204" pitchFamily="34" charset="0"/>
              </a:rPr>
              <a:t>港股通入选门槛最新情况</a:t>
            </a:r>
            <a:endParaRPr dirty="0">
              <a:latin typeface="楷体" panose="02010609060101010101" pitchFamily="49" charset="-122"/>
              <a:ea typeface="楷体" panose="02010609060101010101" pitchFamily="49" charset="-122"/>
              <a:cs typeface="楷体" panose="02010609060101010101" pitchFamily="49" charset="-122"/>
              <a:sym typeface="Arial" panose="020B0604020202020204" pitchFamily="34" charset="0"/>
            </a:endParaRPr>
          </a:p>
        </p:txBody>
      </p:sp>
      <p:grpSp>
        <p:nvGrpSpPr>
          <p:cNvPr id="15" name="组合 14"/>
          <p:cNvGrpSpPr/>
          <p:nvPr>
            <p:custDataLst>
              <p:tags r:id="rId1"/>
            </p:custDataLst>
          </p:nvPr>
        </p:nvGrpSpPr>
        <p:grpSpPr>
          <a:xfrm>
            <a:off x="471805" y="949960"/>
            <a:ext cx="8756650" cy="2579370"/>
            <a:chOff x="776" y="3340"/>
            <a:chExt cx="13790" cy="3170"/>
          </a:xfrm>
        </p:grpSpPr>
        <p:sp>
          <p:nvSpPr>
            <p:cNvPr id="16" name="直角三角形 10"/>
            <p:cNvSpPr/>
            <p:nvPr>
              <p:custDataLst>
                <p:tags r:id="rId7"/>
              </p:custDataLst>
            </p:nvPr>
          </p:nvSpPr>
          <p:spPr>
            <a:xfrm flipH="1" flipV="1">
              <a:off x="776" y="3709"/>
              <a:ext cx="90" cy="113"/>
            </a:xfrm>
            <a:prstGeom prst="rtTriangle">
              <a:avLst/>
            </a:prstGeom>
            <a:solidFill>
              <a:srgbClr val="945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50" b="0"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cs"/>
              </a:endParaRPr>
            </a:p>
          </p:txBody>
        </p:sp>
        <p:sp>
          <p:nvSpPr>
            <p:cNvPr id="17" name="矩形: 圆角 7"/>
            <p:cNvSpPr/>
            <p:nvPr>
              <p:custDataLst>
                <p:tags r:id="rId8"/>
              </p:custDataLst>
            </p:nvPr>
          </p:nvSpPr>
          <p:spPr>
            <a:xfrm>
              <a:off x="865" y="3619"/>
              <a:ext cx="13701" cy="2891"/>
            </a:xfrm>
            <a:prstGeom prst="roundRect">
              <a:avLst>
                <a:gd name="adj" fmla="val 5234"/>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53951" tIns="615743" rIns="318265" bIns="383630"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50" b="0" i="0" u="none" strike="noStrike" kern="0" cap="none" spc="0" normalizeH="0" baseline="0" noProof="0" dirty="0">
                  <a:ln>
                    <a:noFill/>
                    <a:prstDash val="sysDot"/>
                  </a:ln>
                  <a:noFill/>
                  <a:effectLst/>
                  <a:uLnTx/>
                  <a:uFillTx/>
                  <a:latin typeface="楷体" panose="02010609060101010101" pitchFamily="49" charset="-122"/>
                  <a:ea typeface="楷体" panose="02010609060101010101" pitchFamily="49" charset="-122"/>
                  <a:cs typeface="+mn-cs"/>
                  <a:sym typeface="+mn-ea"/>
                </a:rPr>
                <a:t>单击此处添加文本具体内容，简明扼要地阐述您的观点。根据需要可酌情增减文字，以便观者准确地理解您传达的思想。单击此处添加文本具体内容，简明扼要地阐述您的观点。根据需要可增减文字，以便观者理解您传达的思想。单击此处添加文本内容。</a:t>
              </a:r>
            </a:p>
          </p:txBody>
        </p:sp>
        <p:sp>
          <p:nvSpPr>
            <p:cNvPr id="18" name="矩形: 单圆角 12"/>
            <p:cNvSpPr/>
            <p:nvPr>
              <p:custDataLst>
                <p:tags r:id="rId9"/>
              </p:custDataLst>
            </p:nvPr>
          </p:nvSpPr>
          <p:spPr>
            <a:xfrm>
              <a:off x="776" y="3340"/>
              <a:ext cx="10204" cy="367"/>
            </a:xfrm>
            <a:prstGeom prst="round1Rect">
              <a:avLst/>
            </a:prstGeom>
            <a:solidFill>
              <a:srgbClr val="C00000"/>
            </a:soli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numCol="1" spcCol="0" rtlCol="0" fromWordArt="0" anchor="ctr" anchorCtr="0" forceAA="0" compatLnSpc="1">
              <a:noAutofit/>
            </a:bodyPr>
            <a:lstStyle/>
            <a:p>
              <a:pPr marL="179705" marR="0" lvl="0" indent="0" algn="just"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常规检讨：市值</a:t>
              </a:r>
              <a:r>
                <a:rPr kumimoji="0" lang="zh-CN" altLang="en-US" sz="1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要求</a:t>
              </a:r>
              <a:r>
                <a:rPr kumimoji="0" lang="en-US" altLang="zh-CN" sz="1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a:t>
              </a:r>
              <a:r>
                <a:rPr kumimoji="0" lang="zh-CN" altLang="en-US" sz="1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流动性</a:t>
              </a:r>
              <a:endParaRPr kumimoji="0" lang="en-US" altLang="zh-CN" sz="1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endParaRPr>
            </a:p>
          </p:txBody>
        </p:sp>
        <p:sp>
          <p:nvSpPr>
            <p:cNvPr id="19" name="直角三角形 8"/>
            <p:cNvSpPr/>
            <p:nvPr>
              <p:custDataLst>
                <p:tags r:id="rId10"/>
              </p:custDataLst>
            </p:nvPr>
          </p:nvSpPr>
          <p:spPr>
            <a:xfrm flipH="1" flipV="1">
              <a:off x="14425" y="3596"/>
              <a:ext cx="90" cy="113"/>
            </a:xfrm>
            <a:prstGeom prst="r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50" b="0"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cs"/>
              </a:endParaRPr>
            </a:p>
          </p:txBody>
        </p:sp>
        <p:sp>
          <p:nvSpPr>
            <p:cNvPr id="20" name="文本框 16"/>
            <p:cNvSpPr txBox="1"/>
            <p:nvPr/>
          </p:nvSpPr>
          <p:spPr>
            <a:xfrm>
              <a:off x="1141" y="3943"/>
              <a:ext cx="13284" cy="1816"/>
            </a:xfrm>
            <a:prstGeom prst="rect">
              <a:avLst/>
            </a:prstGeom>
            <a:noFill/>
          </p:spPr>
          <p:txBody>
            <a:bodyPr wrap="square" rtlCol="0" anchor="t">
              <a:spAutoFit/>
            </a:bodyPr>
            <a:lstStyle/>
            <a:p>
              <a:pPr marL="171450" marR="0" lvl="0" indent="-171450" algn="just" defTabSz="914400" rtl="0" eaLnBrk="1" fontAlgn="auto" latinLnBrk="0" hangingPunct="1">
                <a:lnSpc>
                  <a:spcPct val="100000"/>
                </a:lnSpc>
                <a:spcBef>
                  <a:spcPts val="1200"/>
                </a:spcBef>
                <a:spcAft>
                  <a:spcPts val="0"/>
                </a:spcAft>
                <a:buClr>
                  <a:srgbClr val="C00000"/>
                </a:buClr>
                <a:buSzTx/>
                <a:buFont typeface="Wingdings" panose="05000000000000000000" pitchFamily="2" charset="2"/>
                <a:buChar char="v"/>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时间节点：</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每年的</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6/30</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12/31</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为截止日期，生效日为每年</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9</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月、次年</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3</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月的第一个周五收盘日后的首个交易日</a:t>
              </a:r>
              <a:endPar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endParaRPr>
            </a:p>
            <a:p>
              <a:pPr marL="171450" marR="0" lvl="0" indent="-171450" algn="just" defTabSz="914400" rtl="0" eaLnBrk="1" fontAlgn="auto" latinLnBrk="0" hangingPunct="1">
                <a:lnSpc>
                  <a:spcPct val="100000"/>
                </a:lnSpc>
                <a:spcBef>
                  <a:spcPts val="1200"/>
                </a:spcBef>
                <a:spcAft>
                  <a:spcPts val="0"/>
                </a:spcAft>
                <a:buClr>
                  <a:srgbClr val="C00000"/>
                </a:buClr>
                <a:buSzTx/>
                <a:buFont typeface="Wingdings" panose="05000000000000000000" pitchFamily="2" charset="2"/>
                <a:buChar char="v"/>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市值要求：</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建议若要在下次检讨中进入恒生综指，公司在评估期内日均市值需达</a:t>
              </a:r>
              <a:r>
                <a:rPr lang="en-US" altLang="zh-CN" sz="1400" b="1" dirty="0">
                  <a:solidFill>
                    <a:srgbClr val="C00000"/>
                  </a:solidFill>
                  <a:latin typeface="Arial" panose="020B0604020202020204"/>
                  <a:ea typeface="楷体" panose="02010609060101010101" pitchFamily="49" charset="-122"/>
                  <a:sym typeface="+mn-ea"/>
                </a:rPr>
                <a:t>103.57</a:t>
              </a:r>
              <a:r>
                <a:rPr kumimoji="0" lang="zh-CN" altLang="en-US" sz="1400" b="1" i="0" u="none" strike="noStrike" kern="1200" cap="none" spc="0" normalizeH="0" baseline="0" noProof="0" dirty="0">
                  <a:ln>
                    <a:noFill/>
                  </a:ln>
                  <a:solidFill>
                    <a:srgbClr val="C00000"/>
                  </a:solidFill>
                  <a:effectLst/>
                  <a:uLnTx/>
                  <a:uFillTx/>
                  <a:latin typeface="Arial" panose="020B0604020202020204"/>
                  <a:ea typeface="楷体" panose="02010609060101010101" pitchFamily="49" charset="-122"/>
                  <a:cs typeface="+mn-cs"/>
                  <a:sym typeface="+mn-ea"/>
                </a:rPr>
                <a:t>亿港元</a:t>
              </a:r>
              <a:r>
                <a:rPr kumimoji="0" lang="en-US" altLang="zh-CN" sz="1400" b="1" i="0" u="none" strike="noStrike" kern="1200" cap="none" spc="0" normalizeH="0" baseline="30000" noProof="0" dirty="0">
                  <a:ln>
                    <a:noFill/>
                  </a:ln>
                  <a:solidFill>
                    <a:srgbClr val="C00000"/>
                  </a:solidFill>
                  <a:effectLst/>
                  <a:uLnTx/>
                  <a:uFillTx/>
                  <a:latin typeface="Arial" panose="020B0604020202020204"/>
                  <a:ea typeface="楷体" panose="02010609060101010101" pitchFamily="49" charset="-122"/>
                  <a:cs typeface="+mn-cs"/>
                  <a:sym typeface="+mn-ea"/>
                </a:rPr>
                <a:t>2</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以上</a:t>
              </a:r>
              <a:endPar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endParaRPr>
            </a:p>
            <a:p>
              <a:pPr marL="171450" marR="0" lvl="0" indent="-171450" algn="just" defTabSz="914400" rtl="0" eaLnBrk="1" fontAlgn="auto" latinLnBrk="0" hangingPunct="1">
                <a:lnSpc>
                  <a:spcPct val="100000"/>
                </a:lnSpc>
                <a:spcBef>
                  <a:spcPts val="1200"/>
                </a:spcBef>
                <a:spcAft>
                  <a:spcPts val="0"/>
                </a:spcAft>
                <a:buClr>
                  <a:srgbClr val="C00000"/>
                </a:buClr>
                <a:buSzTx/>
                <a:buFont typeface="Wingdings" panose="05000000000000000000" pitchFamily="2" charset="2"/>
                <a:buChar char="v"/>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流动性要求：</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2024</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年的</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12/31</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检讨中，大部分入选公司均满足</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rPr>
                <a:t>当月换手率</a:t>
              </a:r>
              <a:r>
                <a:rPr kumimoji="0" lang="en-US" altLang="zh-CN" sz="1400" b="0" i="0" u="none" strike="noStrike" kern="1200" cap="none" spc="0" normalizeH="0" baseline="30000" noProof="0" dirty="0">
                  <a:ln>
                    <a:noFill/>
                  </a:ln>
                  <a:solidFill>
                    <a:prstClr val="black"/>
                  </a:solidFill>
                  <a:effectLst/>
                  <a:uLnTx/>
                  <a:uFillTx/>
                  <a:latin typeface="Arial" panose="020B0604020202020204"/>
                  <a:ea typeface="楷体" panose="02010609060101010101" pitchFamily="49" charset="-122"/>
                  <a:cs typeface="+mn-cs"/>
                </a:rPr>
                <a:t>1</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rPr>
                <a:t>不小于</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rPr>
                <a:t>0.05%</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rPr>
                <a:t>这一要求，</a:t>
              </a:r>
              <a:r>
                <a:rPr kumimoji="0" lang="zh-CN" altLang="en-US" sz="1400" b="1" i="0" u="none" strike="noStrike" kern="1200" cap="none" spc="0" normalizeH="0" baseline="0" noProof="0" dirty="0">
                  <a:ln>
                    <a:noFill/>
                  </a:ln>
                  <a:solidFill>
                    <a:srgbClr val="C00000"/>
                  </a:solidFill>
                  <a:effectLst/>
                  <a:uLnTx/>
                  <a:uFillTx/>
                  <a:latin typeface="Arial" panose="020B0604020202020204"/>
                  <a:ea typeface="楷体" panose="02010609060101010101" pitchFamily="49" charset="-122"/>
                  <a:cs typeface="+mn-cs"/>
                </a:rPr>
                <a:t>即每月有一半交易日的换手率均不低于</a:t>
              </a:r>
              <a:r>
                <a:rPr kumimoji="0" lang="en-US" altLang="zh-CN" sz="1400" b="1" i="0" u="none" strike="noStrike" kern="1200" cap="none" spc="0" normalizeH="0" baseline="0" noProof="0" dirty="0">
                  <a:ln>
                    <a:noFill/>
                  </a:ln>
                  <a:solidFill>
                    <a:srgbClr val="C00000"/>
                  </a:solidFill>
                  <a:effectLst/>
                  <a:uLnTx/>
                  <a:uFillTx/>
                  <a:latin typeface="Arial" panose="020B0604020202020204"/>
                  <a:ea typeface="楷体" panose="02010609060101010101" pitchFamily="49" charset="-122"/>
                  <a:cs typeface="+mn-cs"/>
                </a:rPr>
                <a:t>0.05%</a:t>
              </a:r>
              <a:endParaRPr kumimoji="0" lang="zh-CN" altLang="en-US" sz="1400" b="1" i="0" u="none" strike="noStrike" kern="1200" cap="none" spc="0" normalizeH="0" baseline="0" noProof="0" dirty="0">
                <a:ln>
                  <a:noFill/>
                </a:ln>
                <a:solidFill>
                  <a:srgbClr val="C00000"/>
                </a:solidFill>
                <a:effectLst/>
                <a:uLnTx/>
                <a:uFillTx/>
                <a:latin typeface="Arial" panose="020B0604020202020204"/>
                <a:ea typeface="楷体" panose="02010609060101010101" pitchFamily="49" charset="-122"/>
                <a:cs typeface="+mn-cs"/>
                <a:sym typeface="+mn-ea"/>
              </a:endParaRPr>
            </a:p>
          </p:txBody>
        </p:sp>
      </p:grpSp>
      <p:grpSp>
        <p:nvGrpSpPr>
          <p:cNvPr id="21" name="组合 20"/>
          <p:cNvGrpSpPr/>
          <p:nvPr>
            <p:custDataLst>
              <p:tags r:id="rId2"/>
            </p:custDataLst>
          </p:nvPr>
        </p:nvGrpSpPr>
        <p:grpSpPr>
          <a:xfrm>
            <a:off x="472304" y="3964305"/>
            <a:ext cx="8756923" cy="2129155"/>
            <a:chOff x="776" y="3340"/>
            <a:chExt cx="13790" cy="3353"/>
          </a:xfrm>
        </p:grpSpPr>
        <p:sp>
          <p:nvSpPr>
            <p:cNvPr id="22" name="直角三角形 10"/>
            <p:cNvSpPr/>
            <p:nvPr>
              <p:custDataLst>
                <p:tags r:id="rId3"/>
              </p:custDataLst>
            </p:nvPr>
          </p:nvSpPr>
          <p:spPr>
            <a:xfrm flipH="1" flipV="1">
              <a:off x="776" y="3709"/>
              <a:ext cx="90" cy="113"/>
            </a:xfrm>
            <a:prstGeom prst="rtTriangle">
              <a:avLst/>
            </a:prstGeom>
            <a:solidFill>
              <a:srgbClr val="945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50" b="0"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cs"/>
              </a:endParaRPr>
            </a:p>
          </p:txBody>
        </p:sp>
        <p:sp>
          <p:nvSpPr>
            <p:cNvPr id="23" name="矩形: 圆角 7"/>
            <p:cNvSpPr/>
            <p:nvPr>
              <p:custDataLst>
                <p:tags r:id="rId4"/>
              </p:custDataLst>
            </p:nvPr>
          </p:nvSpPr>
          <p:spPr>
            <a:xfrm>
              <a:off x="865" y="3619"/>
              <a:ext cx="13701" cy="3074"/>
            </a:xfrm>
            <a:prstGeom prst="roundRect">
              <a:avLst>
                <a:gd name="adj" fmla="val 5234"/>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53951" tIns="615743" rIns="318265" bIns="383630"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50" b="0" i="0" u="none" strike="noStrike" kern="0" cap="none" spc="0" normalizeH="0" baseline="0" noProof="0" dirty="0">
                  <a:ln>
                    <a:noFill/>
                    <a:prstDash val="sysDot"/>
                  </a:ln>
                  <a:noFill/>
                  <a:effectLst/>
                  <a:uLnTx/>
                  <a:uFillTx/>
                  <a:latin typeface="楷体" panose="02010609060101010101" pitchFamily="49" charset="-122"/>
                  <a:ea typeface="楷体" panose="02010609060101010101" pitchFamily="49" charset="-122"/>
                  <a:cs typeface="+mn-cs"/>
                  <a:sym typeface="+mn-ea"/>
                </a:rPr>
                <a:t>单击此处添加文本具体内容，简明扼要地阐述您的观点。根据需要可酌情增减文字，以便观者准确地理解您传达的思想。单击此处添加文本具体内容，简明扼要地阐述您的观点。根据需要可增减文字，以便观者理解您传达的思想。单击此处添加文本内容。</a:t>
              </a:r>
            </a:p>
          </p:txBody>
        </p:sp>
        <p:sp>
          <p:nvSpPr>
            <p:cNvPr id="24" name="矩形: 单圆角 12"/>
            <p:cNvSpPr/>
            <p:nvPr>
              <p:custDataLst>
                <p:tags r:id="rId5"/>
              </p:custDataLst>
            </p:nvPr>
          </p:nvSpPr>
          <p:spPr>
            <a:xfrm>
              <a:off x="776" y="3340"/>
              <a:ext cx="10204" cy="471"/>
            </a:xfrm>
            <a:prstGeom prst="round1Rect">
              <a:avLst/>
            </a:prstGeom>
            <a:solidFill>
              <a:srgbClr val="C00000"/>
            </a:soli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numCol="1" spcCol="0" rtlCol="0" fromWordArt="0" anchor="ctr" anchorCtr="0" forceAA="0" compatLnSpc="1">
              <a:noAutofit/>
            </a:bodyPr>
            <a:lstStyle/>
            <a:p>
              <a:pPr marL="179705" marR="0" lvl="0" indent="0" algn="just"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季度</a:t>
              </a:r>
              <a:r>
                <a:rPr kumimoji="0" lang="zh-CN" altLang="en-US" sz="1400" b="1"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快速纳入：市值</a:t>
              </a:r>
              <a:r>
                <a:rPr kumimoji="0" lang="zh-CN" altLang="en-US" sz="1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Arial" panose="020B0604020202020204" pitchFamily="34" charset="0"/>
                  <a:sym typeface="+mn-ea"/>
                </a:rPr>
                <a:t>要求</a:t>
              </a:r>
            </a:p>
          </p:txBody>
        </p:sp>
        <p:sp>
          <p:nvSpPr>
            <p:cNvPr id="25" name="直角三角形 8"/>
            <p:cNvSpPr/>
            <p:nvPr>
              <p:custDataLst>
                <p:tags r:id="rId6"/>
              </p:custDataLst>
            </p:nvPr>
          </p:nvSpPr>
          <p:spPr>
            <a:xfrm flipH="1" flipV="1">
              <a:off x="14425" y="3596"/>
              <a:ext cx="90" cy="113"/>
            </a:xfrm>
            <a:prstGeom prst="r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50" b="0"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cs"/>
              </a:endParaRPr>
            </a:p>
          </p:txBody>
        </p:sp>
        <p:sp>
          <p:nvSpPr>
            <p:cNvPr id="26" name="文本框 16"/>
            <p:cNvSpPr txBox="1"/>
            <p:nvPr/>
          </p:nvSpPr>
          <p:spPr>
            <a:xfrm>
              <a:off x="1141" y="4342"/>
              <a:ext cx="13284" cy="1406"/>
            </a:xfrm>
            <a:prstGeom prst="rect">
              <a:avLst/>
            </a:prstGeom>
            <a:noFill/>
          </p:spPr>
          <p:txBody>
            <a:bodyPr wrap="square" rtlCol="0" anchor="t">
              <a:spAutoFit/>
            </a:bodyPr>
            <a:lstStyle/>
            <a:p>
              <a:pPr marL="171450" marR="0" lvl="0" indent="-171450" algn="just" defTabSz="914400" rtl="0" eaLnBrk="1" fontAlgn="auto" latinLnBrk="0" hangingPunct="1">
                <a:lnSpc>
                  <a:spcPct val="100000"/>
                </a:lnSpc>
                <a:spcBef>
                  <a:spcPts val="1200"/>
                </a:spcBef>
                <a:spcAft>
                  <a:spcPts val="0"/>
                </a:spcAft>
                <a:buClr>
                  <a:srgbClr val="C00000"/>
                </a:buClr>
                <a:buSzTx/>
                <a:buFont typeface="Wingdings" panose="05000000000000000000" pitchFamily="2" charset="2"/>
                <a:buChar char="v"/>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时间节点：</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每年的</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3/31</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9/30</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为截止日期，生效日为每年</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6</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月、</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12</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月第一个周五收盘日后的首个交易日</a:t>
              </a:r>
              <a:endPar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endParaRPr>
            </a:p>
            <a:p>
              <a:pPr marL="171450" marR="0" lvl="0" indent="-171450" algn="just" defTabSz="914400" rtl="0" eaLnBrk="1" fontAlgn="auto" latinLnBrk="0" hangingPunct="1">
                <a:lnSpc>
                  <a:spcPct val="100000"/>
                </a:lnSpc>
                <a:spcBef>
                  <a:spcPts val="1200"/>
                </a:spcBef>
                <a:spcAft>
                  <a:spcPts val="0"/>
                </a:spcAft>
                <a:buClr>
                  <a:srgbClr val="C00000"/>
                </a:buClr>
                <a:buSzTx/>
                <a:buFont typeface="Wingdings" panose="05000000000000000000" pitchFamily="2" charset="2"/>
                <a:buChar char="v"/>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市值要求：</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建议若要在下次通过季度快速纳入进入恒生综指，公司在评估期内日均市值需达</a:t>
              </a:r>
              <a:r>
                <a:rPr kumimoji="0" lang="en-US" altLang="zh-CN" sz="1400" b="1" i="0" u="none" strike="noStrike" kern="1200" cap="none" spc="0" normalizeH="0" baseline="0" noProof="0" dirty="0">
                  <a:ln>
                    <a:noFill/>
                  </a:ln>
                  <a:solidFill>
                    <a:srgbClr val="C00000"/>
                  </a:solidFill>
                  <a:effectLst/>
                  <a:uLnTx/>
                  <a:uFillTx/>
                  <a:latin typeface="Arial" panose="020B0604020202020204"/>
                  <a:ea typeface="楷体" panose="02010609060101010101" pitchFamily="49" charset="-122"/>
                  <a:cs typeface="+mn-cs"/>
                  <a:sym typeface="+mn-ea"/>
                </a:rPr>
                <a:t>209.42</a:t>
              </a:r>
              <a:r>
                <a:rPr kumimoji="0" lang="zh-CN" altLang="en-US" sz="1400" b="1" i="0" u="none" strike="noStrike" kern="1200" cap="none" spc="0" normalizeH="0" baseline="0" noProof="0" dirty="0">
                  <a:ln>
                    <a:noFill/>
                  </a:ln>
                  <a:solidFill>
                    <a:srgbClr val="C00000"/>
                  </a:solidFill>
                  <a:effectLst/>
                  <a:uLnTx/>
                  <a:uFillTx/>
                  <a:latin typeface="Arial" panose="020B0604020202020204"/>
                  <a:ea typeface="楷体" panose="02010609060101010101" pitchFamily="49" charset="-122"/>
                  <a:cs typeface="+mn-cs"/>
                  <a:sym typeface="+mn-ea"/>
                </a:rPr>
                <a:t>亿港元</a:t>
              </a:r>
              <a:r>
                <a:rPr kumimoji="0" lang="en-US" altLang="zh-CN" sz="1400" b="1" i="0" u="none" strike="noStrike" kern="1200" cap="none" spc="0" normalizeH="0" baseline="30000" noProof="0" dirty="0">
                  <a:ln>
                    <a:noFill/>
                  </a:ln>
                  <a:solidFill>
                    <a:srgbClr val="C00000"/>
                  </a:solidFill>
                  <a:effectLst/>
                  <a:uLnTx/>
                  <a:uFillTx/>
                  <a:latin typeface="Arial" panose="020B0604020202020204"/>
                  <a:ea typeface="楷体" panose="02010609060101010101" pitchFamily="49" charset="-122"/>
                  <a:cs typeface="+mn-cs"/>
                  <a:sym typeface="+mn-ea"/>
                </a:rPr>
                <a:t>2</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rPr>
                <a:t>以上</a:t>
              </a:r>
              <a:endParaRPr kumimoji="0" lang="en-US" altLang="zh-CN" sz="1400" b="0" i="0" u="none" strike="noStrike" kern="1200" cap="none" spc="0" normalizeH="0" baseline="0" noProof="0" dirty="0">
                <a:ln>
                  <a:noFill/>
                </a:ln>
                <a:solidFill>
                  <a:prstClr val="black"/>
                </a:solidFill>
                <a:effectLst/>
                <a:uLnTx/>
                <a:uFillTx/>
                <a:latin typeface="Arial" panose="020B0604020202020204"/>
                <a:ea typeface="楷体" panose="02010609060101010101" pitchFamily="49" charset="-122"/>
                <a:cs typeface="+mn-cs"/>
                <a:sym typeface="+mn-ea"/>
              </a:endParaRPr>
            </a:p>
          </p:txBody>
        </p:sp>
      </p:grpSp>
      <p:sp>
        <p:nvSpPr>
          <p:cNvPr id="2" name="文本框 14"/>
          <p:cNvSpPr txBox="1"/>
          <p:nvPr/>
        </p:nvSpPr>
        <p:spPr>
          <a:xfrm>
            <a:off x="471805" y="6162843"/>
            <a:ext cx="8756650" cy="461665"/>
          </a:xfrm>
          <a:prstGeom prst="rect">
            <a:avLst/>
          </a:prstGeom>
          <a:noFill/>
        </p:spPr>
        <p:txBody>
          <a:bodyPr wrap="square" rtlCol="0" anchor="ctr">
            <a:spAutoFit/>
          </a:bodyPr>
          <a:lstStyle/>
          <a:p>
            <a:pPr marL="0" marR="0" lvl="0" indent="0" algn="l" defTabSz="914400" rtl="0" eaLnBrk="1" fontAlgn="ctr"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注</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1</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：某月换手率</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该月每日成交量的中位数</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月底经调整自由流通股数</a:t>
            </a:r>
            <a:endPar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endParaRPr>
          </a:p>
          <a:p>
            <a:pPr marL="0" marR="0" lvl="0" indent="0" algn="l" defTabSz="914400" rtl="0" eaLnBrk="1" fontAlgn="ctr"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注</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2</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：参考活报告截至</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2026</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年</a:t>
            </a:r>
            <a:r>
              <a:rPr lang="en-US" altLang="zh-CN" sz="800" dirty="0">
                <a:solidFill>
                  <a:srgbClr val="000000"/>
                </a:solidFill>
                <a:latin typeface="Arial" panose="020B0604020202020204"/>
                <a:ea typeface="华文楷体" panose="02010600040101010101" pitchFamily="2" charset="-122"/>
                <a:sym typeface="Arial" panose="020B0604020202020204" pitchFamily="34" charset="0"/>
              </a:rPr>
              <a:t>3</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月</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20</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日的数据统计，该市值标准会根据选股范围内上市公司市值的波动而变化</a:t>
            </a:r>
            <a:endPar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endParaRPr>
          </a:p>
          <a:p>
            <a:pPr marL="0" marR="0" lvl="0" indent="0" algn="l" defTabSz="914400" rtl="0" eaLnBrk="1" fontAlgn="ctr"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数据来源：万得，活报告，截至</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2026</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年</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3</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月</a:t>
            </a:r>
            <a:r>
              <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20</a:t>
            </a:r>
            <a:r>
              <a:rPr kumimoji="0" lang="zh-CN" altLang="en-US"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rPr>
              <a:t>日</a:t>
            </a:r>
            <a:endParaRPr kumimoji="0" lang="en-US" altLang="zh-CN" sz="800" b="0" i="0" u="none" strike="noStrike" kern="1200" cap="none" spc="0" normalizeH="0" baseline="0" noProof="0" dirty="0">
              <a:ln>
                <a:noFill/>
              </a:ln>
              <a:solidFill>
                <a:srgbClr val="000000"/>
              </a:solidFill>
              <a:effectLst/>
              <a:uLnTx/>
              <a:uFillTx/>
              <a:latin typeface="Arial" panose="020B0604020202020204"/>
              <a:ea typeface="华文楷体" panose="02010600040101010101" pitchFamily="2" charset="-122"/>
              <a:cs typeface="+mn-cs"/>
              <a:sym typeface="Arial" panose="020B0604020202020204" pitchFamily="34" charset="0"/>
            </a:endParaRPr>
          </a:p>
        </p:txBody>
      </p:sp>
      <p:sp>
        <p:nvSpPr>
          <p:cNvPr id="3" name="灯片编号占位符 2"/>
          <p:cNvSpPr>
            <a:spLocks noGrp="1"/>
          </p:cNvSpPr>
          <p:nvPr>
            <p:ph type="sldNum" sz="quarter" idx="12"/>
          </p:nvPr>
        </p:nvSpPr>
        <p:spPr/>
        <p:txBody>
          <a:bodyPr/>
          <a:lstStyle/>
          <a:p>
            <a:fld id="{72E6F1C1-8568-433B-B05E-E21B84158B67}" type="slidenum">
              <a:rPr lang="en-US" smtClean="0"/>
              <a:t>18</a:t>
            </a:fld>
            <a:endParaRPr lang="en-US" dirty="0"/>
          </a:p>
        </p:txBody>
      </p:sp>
      <p:sp>
        <p:nvSpPr>
          <p:cNvPr id="5" name="TextBox 4">
            <a:extLst>
              <a:ext uri="{FF2B5EF4-FFF2-40B4-BE49-F238E27FC236}">
                <a16:creationId xmlns:a16="http://schemas.microsoft.com/office/drawing/2014/main" id="{35864EF5-CACC-7345-7A6D-75690BA7D5C9}"/>
              </a:ext>
            </a:extLst>
          </p:cNvPr>
          <p:cNvSpPr txBox="1"/>
          <p:nvPr/>
        </p:nvSpPr>
        <p:spPr>
          <a:xfrm>
            <a:off x="190082" y="330319"/>
            <a:ext cx="4365298" cy="369332"/>
          </a:xfrm>
          <a:prstGeom prst="rect">
            <a:avLst/>
          </a:prstGeom>
          <a:noFill/>
        </p:spPr>
        <p:txBody>
          <a:bodyPr wrap="none" rtlCol="0">
            <a:spAutoFit/>
          </a:bodyPr>
          <a:lstStyle/>
          <a:p>
            <a:r>
              <a:rPr lang="en-US" altLang="zh-CN" dirty="0">
                <a:highlight>
                  <a:srgbClr val="FFFF00"/>
                </a:highlight>
              </a:rPr>
              <a:t>1.</a:t>
            </a:r>
            <a:r>
              <a:rPr lang="zh-CN" altLang="en-US" dirty="0">
                <a:highlight>
                  <a:srgbClr val="FFFF00"/>
                </a:highlight>
              </a:rPr>
              <a:t> </a:t>
            </a:r>
            <a:r>
              <a:rPr lang="en-US" dirty="0" err="1">
                <a:highlight>
                  <a:srgbClr val="FFFF00"/>
                </a:highlight>
              </a:rPr>
              <a:t>微信搜</a:t>
            </a:r>
            <a:r>
              <a:rPr lang="zh-CN" altLang="en-US" dirty="0">
                <a:highlight>
                  <a:srgbClr val="FFFF00"/>
                </a:highlight>
              </a:rPr>
              <a:t>“</a:t>
            </a:r>
            <a:r>
              <a:rPr lang="en-US" dirty="0" err="1">
                <a:highlight>
                  <a:srgbClr val="FFFF00"/>
                </a:highlight>
              </a:rPr>
              <a:t>活报告</a:t>
            </a:r>
            <a:r>
              <a:rPr lang="zh-CN" altLang="en-US" dirty="0">
                <a:highlight>
                  <a:srgbClr val="FFFF00"/>
                </a:highlight>
              </a:rPr>
              <a:t>”，按“港股体验检”</a:t>
            </a:r>
            <a:endParaRPr lang="en-US" dirty="0">
              <a:highlight>
                <a:srgbClr val="FFFF00"/>
              </a:highlight>
            </a:endParaRPr>
          </a:p>
        </p:txBody>
      </p:sp>
      <p:sp>
        <p:nvSpPr>
          <p:cNvPr id="6" name="Frame 5">
            <a:extLst>
              <a:ext uri="{FF2B5EF4-FFF2-40B4-BE49-F238E27FC236}">
                <a16:creationId xmlns:a16="http://schemas.microsoft.com/office/drawing/2014/main" id="{3E285C62-BBD9-788F-E2E2-A4908CCDFB73}"/>
              </a:ext>
            </a:extLst>
          </p:cNvPr>
          <p:cNvSpPr/>
          <p:nvPr/>
        </p:nvSpPr>
        <p:spPr>
          <a:xfrm>
            <a:off x="7053943" y="1899138"/>
            <a:ext cx="1467059" cy="496250"/>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rame 6">
            <a:extLst>
              <a:ext uri="{FF2B5EF4-FFF2-40B4-BE49-F238E27FC236}">
                <a16:creationId xmlns:a16="http://schemas.microsoft.com/office/drawing/2014/main" id="{B57A5BD6-C2F2-8037-B21C-C2DBEF00DC79}"/>
              </a:ext>
            </a:extLst>
          </p:cNvPr>
          <p:cNvSpPr/>
          <p:nvPr/>
        </p:nvSpPr>
        <p:spPr>
          <a:xfrm>
            <a:off x="8028633" y="4873451"/>
            <a:ext cx="1138862" cy="442835"/>
          </a:xfrm>
          <a:prstGeom prst="fram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descr="A screenshot of a computer&#10;&#10;AI-generated content may be incorrect.">
            <a:extLst>
              <a:ext uri="{FF2B5EF4-FFF2-40B4-BE49-F238E27FC236}">
                <a16:creationId xmlns:a16="http://schemas.microsoft.com/office/drawing/2014/main" id="{EB4A7AD1-D65D-2A3B-7343-F2214AB79CF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5668" y="847090"/>
            <a:ext cx="4504462" cy="1948525"/>
          </a:xfrm>
          <a:prstGeom prst="rect">
            <a:avLst/>
          </a:prstGeom>
        </p:spPr>
      </p:pic>
      <p:pic>
        <p:nvPicPr>
          <p:cNvPr id="10" name="Picture 9" descr="A screenshot of a chat&#10;&#10;AI-generated content may be incorrect.">
            <a:extLst>
              <a:ext uri="{FF2B5EF4-FFF2-40B4-BE49-F238E27FC236}">
                <a16:creationId xmlns:a16="http://schemas.microsoft.com/office/drawing/2014/main" id="{84731607-48A6-21DD-6686-EE6FF53773D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19835" y="69068"/>
            <a:ext cx="3216756" cy="1760687"/>
          </a:xfrm>
          <a:prstGeom prst="rect">
            <a:avLst/>
          </a:prstGeom>
        </p:spPr>
      </p:pic>
      <p:sp>
        <p:nvSpPr>
          <p:cNvPr id="11" name="TextBox 10">
            <a:extLst>
              <a:ext uri="{FF2B5EF4-FFF2-40B4-BE49-F238E27FC236}">
                <a16:creationId xmlns:a16="http://schemas.microsoft.com/office/drawing/2014/main" id="{AD5B26F3-F14A-124E-DBB1-83FE15C97AA0}"/>
              </a:ext>
            </a:extLst>
          </p:cNvPr>
          <p:cNvSpPr txBox="1"/>
          <p:nvPr/>
        </p:nvSpPr>
        <p:spPr>
          <a:xfrm>
            <a:off x="5144162" y="294805"/>
            <a:ext cx="1531188" cy="369332"/>
          </a:xfrm>
          <a:prstGeom prst="rect">
            <a:avLst/>
          </a:prstGeom>
          <a:noFill/>
        </p:spPr>
        <p:txBody>
          <a:bodyPr wrap="none" rtlCol="0">
            <a:spAutoFit/>
          </a:bodyPr>
          <a:lstStyle/>
          <a:p>
            <a:r>
              <a:rPr lang="en-US" altLang="zh-CN" dirty="0">
                <a:highlight>
                  <a:srgbClr val="FFFF00"/>
                </a:highlight>
              </a:rPr>
              <a:t>2.</a:t>
            </a:r>
            <a:r>
              <a:rPr lang="zh-CN" altLang="en-US" dirty="0">
                <a:highlight>
                  <a:srgbClr val="FFFF00"/>
                </a:highlight>
              </a:rPr>
              <a:t>“小型股”</a:t>
            </a:r>
            <a:endParaRPr lang="en-US" dirty="0">
              <a:highlight>
                <a:srgbClr val="FFFF00"/>
              </a:highlight>
            </a:endParaRPr>
          </a:p>
        </p:txBody>
      </p:sp>
      <p:sp>
        <p:nvSpPr>
          <p:cNvPr id="12" name="TextBox 11">
            <a:extLst>
              <a:ext uri="{FF2B5EF4-FFF2-40B4-BE49-F238E27FC236}">
                <a16:creationId xmlns:a16="http://schemas.microsoft.com/office/drawing/2014/main" id="{3528E84E-3F1B-D480-A659-FA92DD1BAAD7}"/>
              </a:ext>
            </a:extLst>
          </p:cNvPr>
          <p:cNvSpPr txBox="1"/>
          <p:nvPr/>
        </p:nvSpPr>
        <p:spPr>
          <a:xfrm>
            <a:off x="3663168" y="3163491"/>
            <a:ext cx="2287806" cy="369332"/>
          </a:xfrm>
          <a:prstGeom prst="rect">
            <a:avLst/>
          </a:prstGeom>
          <a:noFill/>
        </p:spPr>
        <p:txBody>
          <a:bodyPr wrap="none" rtlCol="0">
            <a:spAutoFit/>
          </a:bodyPr>
          <a:lstStyle/>
          <a:p>
            <a:r>
              <a:rPr lang="en-US" altLang="zh-CN" dirty="0">
                <a:highlight>
                  <a:srgbClr val="FFFF00"/>
                </a:highlight>
              </a:rPr>
              <a:t>3.</a:t>
            </a:r>
            <a:r>
              <a:rPr lang="zh-CN" altLang="en-US" dirty="0">
                <a:highlight>
                  <a:srgbClr val="FFFF00"/>
                </a:highlight>
              </a:rPr>
              <a:t>“季度快速纳入” </a:t>
            </a:r>
            <a:endParaRPr lang="en-US" dirty="0">
              <a:highlight>
                <a:srgbClr val="FFFF00"/>
              </a:highlight>
            </a:endParaRPr>
          </a:p>
        </p:txBody>
      </p:sp>
      <p:pic>
        <p:nvPicPr>
          <p:cNvPr id="13" name="Picture 12" descr="A screenshot of a chat&#10;&#10;AI-generated content may be incorrect.">
            <a:extLst>
              <a:ext uri="{FF2B5EF4-FFF2-40B4-BE49-F238E27FC236}">
                <a16:creationId xmlns:a16="http://schemas.microsoft.com/office/drawing/2014/main" id="{6C340E41-6AC8-7C3E-41C7-618FE0094D7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001810" y="2932860"/>
            <a:ext cx="3734781" cy="1756191"/>
          </a:xfrm>
          <a:prstGeom prst="rect">
            <a:avLst/>
          </a:prstGeom>
        </p:spPr>
      </p:pic>
      <p:sp>
        <p:nvSpPr>
          <p:cNvPr id="14" name="TextBox 13">
            <a:extLst>
              <a:ext uri="{FF2B5EF4-FFF2-40B4-BE49-F238E27FC236}">
                <a16:creationId xmlns:a16="http://schemas.microsoft.com/office/drawing/2014/main" id="{D0557CCF-5CDC-A2D2-A921-76A4A4A40CB4}"/>
              </a:ext>
            </a:extLst>
          </p:cNvPr>
          <p:cNvSpPr txBox="1"/>
          <p:nvPr/>
        </p:nvSpPr>
        <p:spPr>
          <a:xfrm>
            <a:off x="2159317" y="5738733"/>
            <a:ext cx="877163" cy="369332"/>
          </a:xfrm>
          <a:prstGeom prst="rect">
            <a:avLst/>
          </a:prstGeom>
          <a:noFill/>
        </p:spPr>
        <p:txBody>
          <a:bodyPr wrap="none" rtlCol="0">
            <a:spAutoFit/>
          </a:bodyPr>
          <a:lstStyle/>
          <a:p>
            <a:r>
              <a:rPr lang="en-US" dirty="0" err="1">
                <a:highlight>
                  <a:srgbClr val="FFFF00"/>
                </a:highlight>
              </a:rPr>
              <a:t>改日期</a:t>
            </a:r>
            <a:endParaRPr lang="en-US" dirty="0">
              <a:highlight>
                <a:srgbClr val="FFFF00"/>
              </a:highlight>
            </a:endParaRPr>
          </a:p>
        </p:txBody>
      </p:sp>
      <p:sp>
        <p:nvSpPr>
          <p:cNvPr id="8" name="TextBox 7">
            <a:extLst>
              <a:ext uri="{FF2B5EF4-FFF2-40B4-BE49-F238E27FC236}">
                <a16:creationId xmlns:a16="http://schemas.microsoft.com/office/drawing/2014/main" id="{FE6950AF-0651-B696-9EFA-4B884898AC43}"/>
              </a:ext>
            </a:extLst>
          </p:cNvPr>
          <p:cNvSpPr txBox="1"/>
          <p:nvPr/>
        </p:nvSpPr>
        <p:spPr>
          <a:xfrm>
            <a:off x="190082" y="2883054"/>
            <a:ext cx="4910319" cy="369332"/>
          </a:xfrm>
          <a:prstGeom prst="rect">
            <a:avLst/>
          </a:prstGeom>
          <a:noFill/>
        </p:spPr>
        <p:txBody>
          <a:bodyPr wrap="none" rtlCol="0">
            <a:spAutoFit/>
          </a:bodyPr>
          <a:lstStyle/>
          <a:p>
            <a:r>
              <a:rPr lang="en-US" dirty="0">
                <a:highlight>
                  <a:srgbClr val="FFFF00"/>
                </a:highlight>
              </a:rPr>
              <a:t>https://cloud.livereport8.com/#/</a:t>
            </a:r>
            <a:r>
              <a:rPr lang="en-US" dirty="0" err="1">
                <a:highlight>
                  <a:srgbClr val="FFFF00"/>
                </a:highlight>
              </a:rPr>
              <a:t>login?redirect</a:t>
            </a:r>
            <a:r>
              <a:rPr lang="en-US" dirty="0">
                <a:highlight>
                  <a:srgbClr val="FFFF00"/>
                </a:highligh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18*250"/>
  <p:tag name="TABLE_ENDDRAG_RECT" val="31*76*718*25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718*250"/>
  <p:tag name="TABLE_ENDDRAG_RECT" val="31*76*718*25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715*128"/>
  <p:tag name="TABLE_ENDDRAG_RECT" val="30*92*715*128"/>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755*489"/>
  <p:tag name="TABLE_ENDDRAG_RECT" val="17*33*755*489"/>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740*474"/>
  <p:tag name="TABLE_ENDDRAG_RECT" val="19*36*740*47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4.32755905511813,&quot;left&quot;:38.77850393700787,&quot;top&quot;:167,&quot;width&quot;:689.536456692913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4.32755905511813,&quot;left&quot;:38.77850393700787,&quot;top&quot;:167,&quot;width&quot;:689.5364566929132}"/>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MAX_ITEMCNT" val="3"/>
  <p:tag name="KSO_WM_DIAGRAM_MIN_ITEMCNT" val="2"/>
  <p:tag name="KSO_WM_DIAGRAM_VIRTUALLY_FRAME" val="{&quot;height&quot;:64.32755905511813,&quot;left&quot;:38.77850393700787,&quot;top&quot;:167,&quot;width&quot;:689.536456692913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11.xml><?xml version="1.0" encoding="utf-8"?>
<p:tagLst xmlns:a="http://schemas.openxmlformats.org/drawingml/2006/main" xmlns:r="http://schemas.openxmlformats.org/officeDocument/2006/relationships" xmlns:p="http://schemas.openxmlformats.org/presentationml/2006/main">
  <p:tag name="KSO_WM_UNIT_COMPATIBLE" val="0"/>
  <p:tag name="KSO_WM_UNIT_DIAGRAM_ISREFERUNIT" val="0"/>
  <p:tag name="KSO_WM_TEMPLATE_INDEX" val="20231861"/>
  <p:tag name="KSO_WM_TAG_VERSION" val="3.0"/>
  <p:tag name="KSO_WM_DIAGRAM_MIN_ITEMCNT" val="2"/>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1_1"/>
  <p:tag name="KSO_WM_UNIT_ID" val="diagram20231861_1*l_h_f*1_1_1"/>
  <p:tag name="KSO_WM_TEMPLATE_CATEGORY" val="diagram"/>
  <p:tag name="KSO_WM_UNIT_LAYERLEVEL" val="1_1_1"/>
  <p:tag name="KSO_WM_DIAGRAM_GROUP_CODE" val="l1-1"/>
  <p:tag name="KSO_WM_DIAGRAM_COLOR_TRICK" val="1"/>
  <p:tag name="KSO_WM_DIAGRAM_MAX_ITEMCNT" val="3"/>
  <p:tag name="KSO_WM_DIAGRAM_VIRTUALLY_FRAME" val="{&quot;height&quot;:64.32755905511813,&quot;left&quot;:38.77850393700787,&quot;top&quot;:167,&quot;width&quot;:689.536456692913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以便观者理解您传达的思想。单击此处添加文本内容。"/>
  <p:tag name="KSO_WM_UNIT_LINE_FORE_SCHEMECOLOR_INDEX" val="5"/>
  <p:tag name="KSO_WM_DIAGRAM_USE_COLOR_VALUE" val="{&quot;color_scheme&quot;:1,&quot;color_type&quot;:1,&quot;theme_color_indexes&quot;:[5,6,5,6,5,6]}"/>
</p:tagLst>
</file>

<file path=ppt/tags/tag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GROUP_CODE" val="l1-1"/>
  <p:tag name="KSO_WM_DIAGRAM_MAX_ITEMCNT" val="3"/>
  <p:tag name="KSO_WM_DIAGRAM_MIN_ITEMCNT" val="2"/>
  <p:tag name="KSO_WM_DIAGRAM_VIRTUALLY_FRAME" val="{&quot;height&quot;:64.32755905511813,&quot;left&quot;:38.77850393700787,&quot;top&quot;:167,&quot;width&quot;:689.5364566929132}"/>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此处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861_1*l_h_i*1_2_2"/>
  <p:tag name="KSO_WM_TEMPLATE_CATEGORY" val="diagram"/>
  <p:tag name="KSO_WM_TEMPLATE_INDEX" val="20231861"/>
  <p:tag name="KSO_WM_UNIT_LAYERLEVEL" val="1_1_1"/>
  <p:tag name="KSO_WM_TAG_VERSION" val="3.0"/>
  <p:tag name="KSO_WM_DIAGRAM_MAX_ITEMCNT" val="3"/>
  <p:tag name="KSO_WM_DIAGRAM_MIN_ITEMCNT" val="2"/>
  <p:tag name="KSO_WM_DIAGRAM_VIRTUALLY_FRAME" val="{&quot;height&quot;:64.32755905511813,&quot;left&quot;:38.77850393700787,&quot;top&quot;:167,&quot;width&quot;:689.536456692913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1_1*l_h_i*1_1_2"/>
  <p:tag name="KSO_WM_TEMPLATE_CATEGORY" val="diagram"/>
  <p:tag name="KSO_WM_TEMPLATE_INDEX" val="20231861"/>
  <p:tag name="KSO_WM_UNIT_LAYERLEVEL" val="1_1_1"/>
  <p:tag name="KSO_WM_TAG_VERSION" val="3.0"/>
  <p:tag name="KSO_WM_DIAGRAM_MAX_ITEMCNT" val="3"/>
  <p:tag name="KSO_WM_DIAGRAM_MIN_ITEMCNT" val="2"/>
  <p:tag name="KSO_WM_DIAGRAM_VIRTUALLY_FRAME" val="{&quot;height&quot;:64.32755905511813,&quot;left&quot;:38.77850393700787,&quot;top&quot;:167,&quot;width&quot;:689.536456692913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15.xml><?xml version="1.0" encoding="utf-8"?>
<p:tagLst xmlns:a="http://schemas.openxmlformats.org/drawingml/2006/main" xmlns:r="http://schemas.openxmlformats.org/officeDocument/2006/relationships" xmlns:p="http://schemas.openxmlformats.org/presentationml/2006/main">
  <p:tag name="KSO_WM_UNIT_COMPATIBLE" val="0"/>
  <p:tag name="KSO_WM_UNIT_DIAGRAM_ISREFERUNIT" val="0"/>
  <p:tag name="KSO_WM_TEMPLATE_INDEX" val="20231861"/>
  <p:tag name="KSO_WM_TAG_VERSION" val="3.0"/>
  <p:tag name="KSO_WM_DIAGRAM_MIN_ITEMCNT" val="2"/>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1_1"/>
  <p:tag name="KSO_WM_UNIT_ID" val="diagram20231861_1*l_h_f*1_1_1"/>
  <p:tag name="KSO_WM_TEMPLATE_CATEGORY" val="diagram"/>
  <p:tag name="KSO_WM_UNIT_LAYERLEVEL" val="1_1_1"/>
  <p:tag name="KSO_WM_DIAGRAM_GROUP_CODE" val="l1-1"/>
  <p:tag name="KSO_WM_DIAGRAM_COLOR_TRICK" val="1"/>
  <p:tag name="KSO_WM_DIAGRAM_MAX_ITEMCNT" val="3"/>
  <p:tag name="KSO_WM_DIAGRAM_VIRTUALLY_FRAME" val="{&quot;height&quot;:64.32755905511813,&quot;left&quot;:38.77850393700787,&quot;top&quot;:167,&quot;width&quot;:689.536456692913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以便观者理解您传达的思想。单击此处添加文本内容。"/>
  <p:tag name="KSO_WM_UNIT_LINE_FORE_SCHEMECOLOR_INDEX" val="5"/>
  <p:tag name="KSO_WM_DIAGRAM_USE_COLOR_VALUE" val="{&quot;color_scheme&quot;:1,&quot;color_type&quot;:1,&quot;theme_color_indexes&quot;:[5,6,5,6,5,6]}"/>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861_1*l_h_a*1_1_1"/>
  <p:tag name="KSO_WM_TEMPLATE_CATEGORY" val="diagram"/>
  <p:tag name="KSO_WM_TEMPLATE_INDEX" val="20231861"/>
  <p:tag name="KSO_WM_UNIT_LAYERLEVEL" val="1_1_1"/>
  <p:tag name="KSO_WM_TAG_VERSION" val="3.0"/>
  <p:tag name="KSO_WM_DIAGRAM_GROUP_CODE" val="l1-1"/>
  <p:tag name="KSO_WM_DIAGRAM_MAX_ITEMCNT" val="3"/>
  <p:tag name="KSO_WM_DIAGRAM_MIN_ITEMCNT" val="2"/>
  <p:tag name="KSO_WM_DIAGRAM_VIRTUALLY_FRAME" val="{&quot;height&quot;:64.32755905511813,&quot;left&quot;:38.77850393700787,&quot;top&quot;:167,&quot;width&quot;:689.5364566929132}"/>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此处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861_1*l_h_i*1_2_2"/>
  <p:tag name="KSO_WM_TEMPLATE_CATEGORY" val="diagram"/>
  <p:tag name="KSO_WM_TEMPLATE_INDEX" val="20231861"/>
  <p:tag name="KSO_WM_UNIT_LAYERLEVEL" val="1_1_1"/>
  <p:tag name="KSO_WM_TAG_VERSION" val="3.0"/>
  <p:tag name="KSO_WM_DIAGRAM_MAX_ITEMCNT" val="3"/>
  <p:tag name="KSO_WM_DIAGRAM_MIN_ITEMCNT" val="2"/>
  <p:tag name="KSO_WM_DIAGRAM_VIRTUALLY_FRAME" val="{&quot;height&quot;:64.32755905511813,&quot;left&quot;:38.77850393700787,&quot;top&quot;:167,&quot;width&quot;:689.536456692913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heme/theme1.xml><?xml version="1.0" encoding="utf-8"?>
<a:theme xmlns:a="http://schemas.openxmlformats.org/drawingml/2006/main" name="Office Theme">
  <a:themeElements>
    <a:clrScheme name="CMS">
      <a:dk1>
        <a:sysClr val="windowText" lastClr="000000"/>
      </a:dk1>
      <a:lt1>
        <a:sysClr val="window" lastClr="FFFFFF"/>
      </a:lt1>
      <a:dk2>
        <a:srgbClr val="44546A"/>
      </a:dk2>
      <a:lt2>
        <a:srgbClr val="E7E6E6"/>
      </a:lt2>
      <a:accent1>
        <a:srgbClr val="C00000"/>
      </a:accent1>
      <a:accent2>
        <a:srgbClr val="DAB866"/>
      </a:accent2>
      <a:accent3>
        <a:srgbClr val="053D6E"/>
      </a:accent3>
      <a:accent4>
        <a:srgbClr val="799EC4"/>
      </a:accent4>
      <a:accent5>
        <a:srgbClr val="A1517B"/>
      </a:accent5>
      <a:accent6>
        <a:srgbClr val="A5A5A5"/>
      </a:accent6>
      <a:hlink>
        <a:srgbClr val="0563C1"/>
      </a:hlink>
      <a:folHlink>
        <a:srgbClr val="954F72"/>
      </a:folHlink>
    </a:clrScheme>
    <a:fontScheme name="uy4kn1ky">
      <a:majorFont>
        <a:latin typeface="Arial"/>
        <a:ea typeface="楷体"/>
        <a:cs typeface=""/>
      </a:majorFont>
      <a:minorFont>
        <a:latin typeface="Arial"/>
        <a:ea typeface="楷体"/>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21739</TotalTime>
  <Words>11758</Words>
  <Application>Microsoft Macintosh PowerPoint</Application>
  <PresentationFormat>A4 Paper (210x297 mm)</PresentationFormat>
  <Paragraphs>2923</Paragraphs>
  <Slides>19</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KaiTi</vt:lpstr>
      <vt:lpstr>华文楷体</vt:lpstr>
      <vt:lpstr>Calibri</vt:lpstr>
      <vt:lpstr>Arial Regular</vt:lpstr>
      <vt:lpstr>KaiTi</vt:lpstr>
      <vt:lpstr>Wingdings</vt:lpstr>
      <vt:lpstr>Arial Bold</vt:lpstr>
      <vt:lpstr>Office Theme</vt:lpstr>
      <vt:lpstr>PowerPoint Presentation</vt:lpstr>
      <vt:lpstr>PowerPoint Presentation</vt:lpstr>
      <vt:lpstr>股票二级市场动态更新</vt:lpstr>
      <vt:lpstr>股票二级市场动态更新</vt:lpstr>
      <vt:lpstr>PowerPoint Presentation</vt:lpstr>
      <vt:lpstr>过去一周香港新股市场概览</vt:lpstr>
      <vt:lpstr>过去一周香港新股市场概览（续）</vt:lpstr>
      <vt:lpstr>过去一周香港新股市场概览（续）</vt:lpstr>
      <vt:lpstr>过去一周香港新股市场概览（续）</vt:lpstr>
      <vt:lpstr>过去一周香港新股市场概览（续）</vt:lpstr>
      <vt:lpstr>过去一周香港二级市场融资及新股交表情况概览</vt:lpstr>
      <vt:lpstr>过去一周香港二级市场融资及新股交表情况概览</vt:lpstr>
      <vt:lpstr>过去一周香港二级市场融资及新股交表情况概览（续）</vt:lpstr>
      <vt:lpstr>过去一周香港二级市场融资及新股交表情况概览（续）</vt:lpstr>
      <vt:lpstr>过去一个月香港新股市场统计</vt:lpstr>
      <vt:lpstr>PowerPoint Presentation</vt:lpstr>
      <vt:lpstr>PowerPoint Presentation</vt:lpstr>
      <vt:lpstr>港股通入选门槛最新情况</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 Yuan Jiayi 袁嘉怡</dc:creator>
  <cp:lastModifiedBy>Terry, Chan Cheuk Hang 陳卓恆</cp:lastModifiedBy>
  <cp:revision>4852</cp:revision>
  <dcterms:created xsi:type="dcterms:W3CDTF">2025-06-14T09:22:00Z</dcterms:created>
  <dcterms:modified xsi:type="dcterms:W3CDTF">2026-05-26T09:58:38Z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BA8E18054273462D926A045448427671_13</vt:lpwstr>
  </property>
  <property fmtid="{D5CDD505-2E9C-101B-9397-08002B2CF9AE}" pid="3" name="KSOProductBuildVer">
    <vt:lpwstr>2052-12.1.0.22529</vt:lpwstr>
  </property>
</Properties>
</file>