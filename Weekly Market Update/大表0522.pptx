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9"/>
  </p:notesMasterIdLst>
  <p:handoutMasterIdLst>
    <p:handoutMasterId r:id="rId10"/>
  </p:handoutMasterIdLst>
  <p:sldIdLst>
    <p:sldId id="16769211" r:id="rId6"/>
    <p:sldId id="16769212" r:id="rId7"/>
    <p:sldId id="16769213" r:id="rId8"/>
  </p:sldIdLst>
  <p:sldSz cx="9906000" cy="6858000" type="A4"/>
  <p:notesSz cx="6858000" cy="9144000"/>
  <p:custDataLst>
    <p:tags r:id="rId11"/>
  </p:custDataLst>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二章" id="{FB4C6BC9-28B6-48A1-BC67-8A2BB2C42741}">
          <p14:sldIdLst>
            <p14:sldId id="16769211"/>
            <p14:sldId id="16769212"/>
            <p14:sldId id="16769213"/>
          </p14:sldIdLst>
        </p14:section>
        <p14:section name="Disclamier" id="{EAB4D93C-6BFA-439D-B3CF-7213D3AEA304}">
          <p14:sldIdLst/>
        </p14:section>
      </p14:sectionLst>
    </p:ext>
    <p:ext uri="{EFAFB233-063F-42B5-8137-9DF3F51BA10A}">
      <p15:sldGuideLst xmlns:p15="http://schemas.microsoft.com/office/powerpoint/2012/main">
        <p15:guide id="1" orient="horz" pos="2341" userDrawn="1">
          <p15:clr>
            <a:srgbClr val="A4A3A4"/>
          </p15:clr>
        </p15:guide>
        <p15:guide id="2" orient="horz" pos="3339" userDrawn="1">
          <p15:clr>
            <a:srgbClr val="A4A3A4"/>
          </p15:clr>
        </p15:guide>
        <p15:guide id="3" orient="horz" pos="464" userDrawn="1">
          <p15:clr>
            <a:srgbClr val="A4A3A4"/>
          </p15:clr>
        </p15:guide>
        <p15:guide id="4" orient="horz" pos="82" userDrawn="1">
          <p15:clr>
            <a:srgbClr val="A4A3A4"/>
          </p15:clr>
        </p15:guide>
        <p15:guide id="5" orient="horz" pos="248" userDrawn="1">
          <p15:clr>
            <a:srgbClr val="A4A3A4"/>
          </p15:clr>
        </p15:guide>
        <p15:guide id="6" orient="horz" pos="2500" userDrawn="1">
          <p15:clr>
            <a:srgbClr val="A4A3A4"/>
          </p15:clr>
        </p15:guide>
        <p15:guide id="7" orient="horz" pos="3407" userDrawn="1">
          <p15:clr>
            <a:srgbClr val="A4A3A4"/>
          </p15:clr>
        </p15:guide>
        <p15:guide id="8" orient="horz" pos="4280" userDrawn="1">
          <p15:clr>
            <a:srgbClr val="A4A3A4"/>
          </p15:clr>
        </p15:guide>
        <p15:guide id="9" pos="3552" userDrawn="1">
          <p15:clr>
            <a:srgbClr val="A4A3A4"/>
          </p15:clr>
        </p15:guide>
        <p15:guide id="10" pos="1257" userDrawn="1">
          <p15:clr>
            <a:srgbClr val="A4A3A4"/>
          </p15:clr>
        </p15:guide>
        <p15:guide id="11" pos="1158" userDrawn="1">
          <p15:clr>
            <a:srgbClr val="A4A3A4"/>
          </p15:clr>
        </p15:guide>
        <p15:guide id="12" pos="139" userDrawn="1">
          <p15:clr>
            <a:srgbClr val="A4A3A4"/>
          </p15:clr>
        </p15:guide>
        <p15:guide id="13" pos="6110" userDrawn="1">
          <p15:clr>
            <a:srgbClr val="A4A3A4"/>
          </p15:clr>
        </p15:guide>
      </p15:sldGuideLst>
    </p:ext>
    <p:ext uri="{2D200454-40CA-4A62-9FC3-DE9A4176ACB9}">
      <p15:notesGuideLst xmlns:p15="http://schemas.microsoft.com/office/powerpoint/2012/main">
        <p15:guide id="1" orient="horz" pos="2971">
          <p15:clr>
            <a:srgbClr val="A4A3A4"/>
          </p15:clr>
        </p15:guide>
        <p15:guide id="2" pos="2163">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F31C96-5E61-21A6-9438-CBF6E0C5674A}" name="Owen, Hu Maolin 胡茂林" initials="MH" userId="S::owen.hu@cmschina.com.hk::ad402c11-bc2d-494d-b1ce-c215d42eb82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2F2F2"/>
    <a:srgbClr val="F3F6F8"/>
    <a:srgbClr val="FF9900"/>
    <a:srgbClr val="F6EEDA"/>
    <a:srgbClr val="DAB866"/>
    <a:srgbClr val="FFC000"/>
    <a:srgbClr val="0481CB"/>
    <a:srgbClr val="00B050"/>
    <a:srgbClr val="F7D8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263" autoAdjust="0"/>
    <p:restoredTop sz="95692" autoAdjust="0"/>
  </p:normalViewPr>
  <p:slideViewPr>
    <p:cSldViewPr snapToGrid="0" showGuides="1">
      <p:cViewPr>
        <p:scale>
          <a:sx n="170" d="100"/>
          <a:sy n="170" d="100"/>
        </p:scale>
        <p:origin x="1880" y="-520"/>
      </p:cViewPr>
      <p:guideLst>
        <p:guide orient="horz" pos="2341"/>
        <p:guide orient="horz" pos="3339"/>
        <p:guide orient="horz" pos="464"/>
        <p:guide orient="horz" pos="82"/>
        <p:guide orient="horz" pos="248"/>
        <p:guide orient="horz" pos="2500"/>
        <p:guide orient="horz" pos="3407"/>
        <p:guide orient="horz" pos="4280"/>
        <p:guide pos="3552"/>
        <p:guide pos="1257"/>
        <p:guide pos="1158"/>
        <p:guide pos="139"/>
        <p:guide pos="6110"/>
      </p:guideLst>
    </p:cSldViewPr>
  </p:slideViewPr>
  <p:outlineViewPr>
    <p:cViewPr>
      <p:scale>
        <a:sx n="33" d="100"/>
        <a:sy n="33" d="100"/>
      </p:scale>
      <p:origin x="0" y="-168"/>
    </p:cViewPr>
  </p:outlineViewPr>
  <p:notesTextViewPr>
    <p:cViewPr>
      <p:scale>
        <a:sx n="3" d="2"/>
        <a:sy n="3" d="2"/>
      </p:scale>
      <p:origin x="0" y="0"/>
    </p:cViewPr>
  </p:notesTextViewPr>
  <p:sorterViewPr>
    <p:cViewPr>
      <p:scale>
        <a:sx n="100" d="100"/>
        <a:sy n="100" d="100"/>
      </p:scale>
      <p:origin x="0" y="-5983"/>
    </p:cViewPr>
  </p:sorterViewPr>
  <p:notesViewPr>
    <p:cSldViewPr snapToGrid="0">
      <p:cViewPr>
        <p:scale>
          <a:sx n="1" d="2"/>
          <a:sy n="1" d="2"/>
        </p:scale>
        <p:origin x="3480" y="408"/>
      </p:cViewPr>
      <p:guideLst>
        <p:guide orient="horz" pos="2971"/>
        <p:guide pos="216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gs" Target="tags/tag1.xml"/><Relationship Id="rId5" Type="http://schemas.openxmlformats.org/officeDocument/2006/relationships/slideMaster" Target="slideMasters/slideMaster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HK"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ECEC3B3-344B-4D5A-B3B6-B776CB10A9FA}" type="datetimeFigureOut">
              <a:rPr lang="zh-HK" altLang="en-US" smtClean="0"/>
              <a:t>23/05/26</a:t>
            </a:fld>
            <a:endParaRPr lang="zh-HK"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HK"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5E37FBA-2F82-4593-9796-74E7CF46DD92}" type="slidenum">
              <a:rPr lang="zh-HK" altLang="en-US" smtClean="0"/>
              <a:t>‹#›</a:t>
            </a:fld>
            <a:endParaRPr lang="zh-HK"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HK"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57018D-6526-49B0-BCF7-7AFBF01645AE}" type="datetimeFigureOut">
              <a:rPr lang="zh-HK" altLang="en-US" smtClean="0"/>
              <a:t>23/05/26</a:t>
            </a:fld>
            <a:endParaRPr lang="zh-HK" altLang="en-US"/>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HK"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51DFA4-C23A-46B0-AF38-6CD64EBE21F8}" type="slidenum">
              <a:rPr lang="zh-HK" altLang="en-US" smtClean="0"/>
              <a:t>‹#›</a:t>
            </a:fld>
            <a:endParaRPr lang="zh-HK"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551DFA4-C23A-46B0-AF38-6CD64EBE21F8}" type="slidenum">
              <a:rPr kumimoji="0" lang="zh-HK" altLang="en-US" sz="1300" b="0" i="0" u="none" strike="noStrike" kern="1200" cap="none" spc="0" normalizeH="0" baseline="0" noProof="0" smtClean="0">
                <a:ln>
                  <a:noFill/>
                </a:ln>
                <a:solidFill>
                  <a:prstClr val="black"/>
                </a:solidFill>
                <a:effectLst/>
                <a:uLnTx/>
                <a:uFillTx/>
                <a:latin typeface="Calibri" panose="020F0502020204030204"/>
                <a:ea typeface="PMingLiU" panose="02020500000000000000" pitchFamily="18" charset="-120"/>
                <a:cs typeface="+mn-cs"/>
              </a:rPr>
              <a:t>1</a:t>
            </a:fld>
            <a:endParaRPr kumimoji="0" lang="zh-HK" altLang="en-US" sz="13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551DFA4-C23A-46B0-AF38-6CD64EBE21F8}" type="slidenum">
              <a:rPr kumimoji="0" lang="zh-HK" altLang="en-US" sz="1300" b="0" i="0" u="none" strike="noStrike" kern="1200" cap="none" spc="0" normalizeH="0" baseline="0" noProof="0" smtClean="0">
                <a:ln>
                  <a:noFill/>
                </a:ln>
                <a:solidFill>
                  <a:prstClr val="black"/>
                </a:solidFill>
                <a:effectLst/>
                <a:uLnTx/>
                <a:uFillTx/>
                <a:latin typeface="Calibri" panose="020F0502020204030204"/>
                <a:ea typeface="PMingLiU" panose="02020500000000000000" pitchFamily="18" charset="-120"/>
                <a:cs typeface="+mn-cs"/>
              </a:rPr>
              <a:t>2</a:t>
            </a:fld>
            <a:endParaRPr kumimoji="0" lang="zh-HK" altLang="en-US" sz="13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551DFA4-C23A-46B0-AF38-6CD64EBE21F8}" type="slidenum">
              <a:rPr kumimoji="0" lang="zh-HK" altLang="en-US" sz="1300" b="0" i="0" u="none" strike="noStrike" kern="1200" cap="none" spc="0" normalizeH="0" baseline="0" noProof="0" smtClean="0">
                <a:ln>
                  <a:noFill/>
                </a:ln>
                <a:solidFill>
                  <a:prstClr val="black"/>
                </a:solidFill>
                <a:effectLst/>
                <a:uLnTx/>
                <a:uFillTx/>
                <a:latin typeface="Calibri" panose="020F0502020204030204"/>
                <a:ea typeface="PMingLiU" panose="02020500000000000000" pitchFamily="18" charset="-120"/>
                <a:cs typeface="+mn-cs"/>
              </a:rPr>
              <a:t>3</a:t>
            </a:fld>
            <a:endParaRPr kumimoji="0" lang="zh-HK" altLang="en-US" sz="13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16" name="Rectangle 15"/>
          <p:cNvSpPr/>
          <p:nvPr/>
        </p:nvSpPr>
        <p:spPr>
          <a:xfrm>
            <a:off x="-1" y="12702"/>
            <a:ext cx="9904413" cy="735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pic>
        <p:nvPicPr>
          <p:cNvPr id="11" name="Picture 2" descr="C:\Users\chiannor\Pictures\Logo\CMS\Golden logo without background.jpg"/>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65588" y="6002080"/>
            <a:ext cx="3288840" cy="40985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3" name="object 2"/>
          <p:cNvGrpSpPr/>
          <p:nvPr userDrawn="1"/>
        </p:nvGrpSpPr>
        <p:grpSpPr bwMode="auto">
          <a:xfrm>
            <a:off x="3" y="331"/>
            <a:ext cx="9904410" cy="6857670"/>
            <a:chOff x="-2" y="0"/>
            <a:chExt cx="20104218" cy="11308552"/>
          </a:xfrm>
        </p:grpSpPr>
        <p:pic>
          <p:nvPicPr>
            <p:cNvPr id="4" name="object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0104098" cy="6686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4"/>
            <p:cNvSpPr/>
            <p:nvPr/>
          </p:nvSpPr>
          <p:spPr bwMode="auto">
            <a:xfrm>
              <a:off x="13944716" y="6356131"/>
              <a:ext cx="6159500" cy="4952421"/>
            </a:xfrm>
            <a:custGeom>
              <a:avLst/>
              <a:gdLst>
                <a:gd name="T0" fmla="*/ 6135211 w 6159500"/>
                <a:gd name="T1" fmla="*/ 87325 h 5184140"/>
                <a:gd name="T2" fmla="*/ 6108936 w 6159500"/>
                <a:gd name="T3" fmla="*/ 168072 h 5184140"/>
                <a:gd name="T4" fmla="*/ 6080103 w 6159500"/>
                <a:gd name="T5" fmla="*/ 247170 h 5184140"/>
                <a:gd name="T6" fmla="*/ 6048767 w 6159500"/>
                <a:gd name="T7" fmla="*/ 324649 h 5184140"/>
                <a:gd name="T8" fmla="*/ 6014986 w 6159500"/>
                <a:gd name="T9" fmla="*/ 400543 h 5184140"/>
                <a:gd name="T10" fmla="*/ 5978816 w 6159500"/>
                <a:gd name="T11" fmla="*/ 474882 h 5184140"/>
                <a:gd name="T12" fmla="*/ 5940313 w 6159500"/>
                <a:gd name="T13" fmla="*/ 547699 h 5184140"/>
                <a:gd name="T14" fmla="*/ 5899534 w 6159500"/>
                <a:gd name="T15" fmla="*/ 619025 h 5184140"/>
                <a:gd name="T16" fmla="*/ 5856535 w 6159500"/>
                <a:gd name="T17" fmla="*/ 688892 h 5184140"/>
                <a:gd name="T18" fmla="*/ 5811373 w 6159500"/>
                <a:gd name="T19" fmla="*/ 757332 h 5184140"/>
                <a:gd name="T20" fmla="*/ 5764104 w 6159500"/>
                <a:gd name="T21" fmla="*/ 824377 h 5184140"/>
                <a:gd name="T22" fmla="*/ 5714785 w 6159500"/>
                <a:gd name="T23" fmla="*/ 890059 h 5184140"/>
                <a:gd name="T24" fmla="*/ 5663473 w 6159500"/>
                <a:gd name="T25" fmla="*/ 954409 h 5184140"/>
                <a:gd name="T26" fmla="*/ 5610223 w 6159500"/>
                <a:gd name="T27" fmla="*/ 1017458 h 5184140"/>
                <a:gd name="T28" fmla="*/ 5555092 w 6159500"/>
                <a:gd name="T29" fmla="*/ 1079240 h 5184140"/>
                <a:gd name="T30" fmla="*/ 5498137 w 6159500"/>
                <a:gd name="T31" fmla="*/ 1139786 h 5184140"/>
                <a:gd name="T32" fmla="*/ 5439414 w 6159500"/>
                <a:gd name="T33" fmla="*/ 1199127 h 5184140"/>
                <a:gd name="T34" fmla="*/ 5378980 w 6159500"/>
                <a:gd name="T35" fmla="*/ 1257296 h 5184140"/>
                <a:gd name="T36" fmla="*/ 5316890 w 6159500"/>
                <a:gd name="T37" fmla="*/ 1314323 h 5184140"/>
                <a:gd name="T38" fmla="*/ 5253203 w 6159500"/>
                <a:gd name="T39" fmla="*/ 1370242 h 5184140"/>
                <a:gd name="T40" fmla="*/ 5187973 w 6159500"/>
                <a:gd name="T41" fmla="*/ 1425084 h 5184140"/>
                <a:gd name="T42" fmla="*/ 5121258 w 6159500"/>
                <a:gd name="T43" fmla="*/ 1478880 h 5184140"/>
                <a:gd name="T44" fmla="*/ 5053114 w 6159500"/>
                <a:gd name="T45" fmla="*/ 1531662 h 5184140"/>
                <a:gd name="T46" fmla="*/ 4983598 w 6159500"/>
                <a:gd name="T47" fmla="*/ 1583463 h 5184140"/>
                <a:gd name="T48" fmla="*/ 4912765 w 6159500"/>
                <a:gd name="T49" fmla="*/ 1634314 h 5184140"/>
                <a:gd name="T50" fmla="*/ 4840673 w 6159500"/>
                <a:gd name="T51" fmla="*/ 1684246 h 5184140"/>
                <a:gd name="T52" fmla="*/ 4767378 w 6159500"/>
                <a:gd name="T53" fmla="*/ 1733293 h 5184140"/>
                <a:gd name="T54" fmla="*/ 4692937 w 6159500"/>
                <a:gd name="T55" fmla="*/ 1781484 h 5184140"/>
                <a:gd name="T56" fmla="*/ 4540840 w 6159500"/>
                <a:gd name="T57" fmla="*/ 1875431 h 5184140"/>
                <a:gd name="T58" fmla="*/ 4384835 w 6159500"/>
                <a:gd name="T59" fmla="*/ 1966341 h 5184140"/>
                <a:gd name="T60" fmla="*/ 4225372 w 6159500"/>
                <a:gd name="T61" fmla="*/ 2054469 h 5184140"/>
                <a:gd name="T62" fmla="*/ 3980686 w 6159500"/>
                <a:gd name="T63" fmla="*/ 2182001 h 5184140"/>
                <a:gd name="T64" fmla="*/ 3604316 w 6159500"/>
                <a:gd name="T65" fmla="*/ 2364514 h 5184140"/>
                <a:gd name="T66" fmla="*/ 2414124 w 6159500"/>
                <a:gd name="T67" fmla="*/ 2894430 h 5184140"/>
                <a:gd name="T68" fmla="*/ 1843379 w 6159500"/>
                <a:gd name="T69" fmla="*/ 3157747 h 5184140"/>
                <a:gd name="T70" fmla="*/ 1572570 w 6159500"/>
                <a:gd name="T71" fmla="*/ 3293768 h 5184140"/>
                <a:gd name="T72" fmla="*/ 1386916 w 6159500"/>
                <a:gd name="T73" fmla="*/ 3393741 h 5184140"/>
                <a:gd name="T74" fmla="*/ 1243737 w 6159500"/>
                <a:gd name="T75" fmla="*/ 3475789 h 5184140"/>
                <a:gd name="T76" fmla="*/ 1139768 w 6159500"/>
                <a:gd name="T77" fmla="*/ 3538700 h 5184140"/>
                <a:gd name="T78" fmla="*/ 1072188 w 6159500"/>
                <a:gd name="T79" fmla="*/ 3581354 h 5184140"/>
                <a:gd name="T80" fmla="*/ 1006059 w 6159500"/>
                <a:gd name="T81" fmla="*/ 3624618 h 5184140"/>
                <a:gd name="T82" fmla="*/ 941438 w 6159500"/>
                <a:gd name="T83" fmla="*/ 3668521 h 5184140"/>
                <a:gd name="T84" fmla="*/ 878381 w 6159500"/>
                <a:gd name="T85" fmla="*/ 3713097 h 5184140"/>
                <a:gd name="T86" fmla="*/ 786853 w 6159500"/>
                <a:gd name="T87" fmla="*/ 3781290 h 5184140"/>
                <a:gd name="T88" fmla="*/ 670818 w 6159500"/>
                <a:gd name="T89" fmla="*/ 3874864 h 5184140"/>
                <a:gd name="T90" fmla="*/ 562058 w 6159500"/>
                <a:gd name="T91" fmla="*/ 3971698 h 5184140"/>
                <a:gd name="T92" fmla="*/ 461024 w 6159500"/>
                <a:gd name="T93" fmla="*/ 4072048 h 5184140"/>
                <a:gd name="T94" fmla="*/ 368168 w 6159500"/>
                <a:gd name="T95" fmla="*/ 4176167 h 5184140"/>
                <a:gd name="T96" fmla="*/ 283943 w 6159500"/>
                <a:gd name="T97" fmla="*/ 4284311 h 5184140"/>
                <a:gd name="T98" fmla="*/ 208799 w 6159500"/>
                <a:gd name="T99" fmla="*/ 4396733 h 5184140"/>
                <a:gd name="T100" fmla="*/ 143189 w 6159500"/>
                <a:gd name="T101" fmla="*/ 4513689 h 5184140"/>
                <a:gd name="T102" fmla="*/ 87564 w 6159500"/>
                <a:gd name="T103" fmla="*/ 4635432 h 5184140"/>
                <a:gd name="T104" fmla="*/ 42376 w 6159500"/>
                <a:gd name="T105" fmla="*/ 4762217 h 5184140"/>
                <a:gd name="T106" fmla="*/ 8078 w 6159500"/>
                <a:gd name="T107" fmla="*/ 4894299 h 5184140"/>
                <a:gd name="T108" fmla="*/ 6159384 w 6159500"/>
                <a:gd name="T109" fmla="*/ 5183599 h 518414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159500" h="5184140">
                  <a:moveTo>
                    <a:pt x="6159384" y="0"/>
                  </a:moveTo>
                  <a:lnTo>
                    <a:pt x="6135211" y="87325"/>
                  </a:lnTo>
                  <a:lnTo>
                    <a:pt x="6122397" y="127907"/>
                  </a:lnTo>
                  <a:lnTo>
                    <a:pt x="6108936" y="168072"/>
                  </a:lnTo>
                  <a:lnTo>
                    <a:pt x="6094836" y="207825"/>
                  </a:lnTo>
                  <a:lnTo>
                    <a:pt x="6080103" y="247170"/>
                  </a:lnTo>
                  <a:lnTo>
                    <a:pt x="6064744" y="286110"/>
                  </a:lnTo>
                  <a:lnTo>
                    <a:pt x="6048767" y="324649"/>
                  </a:lnTo>
                  <a:lnTo>
                    <a:pt x="6032179" y="362792"/>
                  </a:lnTo>
                  <a:lnTo>
                    <a:pt x="6014986" y="400543"/>
                  </a:lnTo>
                  <a:lnTo>
                    <a:pt x="5997196" y="437905"/>
                  </a:lnTo>
                  <a:lnTo>
                    <a:pt x="5978816" y="474882"/>
                  </a:lnTo>
                  <a:lnTo>
                    <a:pt x="5959852" y="511479"/>
                  </a:lnTo>
                  <a:lnTo>
                    <a:pt x="5940313" y="547699"/>
                  </a:lnTo>
                  <a:lnTo>
                    <a:pt x="5920204" y="583546"/>
                  </a:lnTo>
                  <a:lnTo>
                    <a:pt x="5899534" y="619025"/>
                  </a:lnTo>
                  <a:lnTo>
                    <a:pt x="5878308" y="654139"/>
                  </a:lnTo>
                  <a:lnTo>
                    <a:pt x="5856535" y="688892"/>
                  </a:lnTo>
                  <a:lnTo>
                    <a:pt x="5834221" y="723289"/>
                  </a:lnTo>
                  <a:lnTo>
                    <a:pt x="5811373" y="757332"/>
                  </a:lnTo>
                  <a:lnTo>
                    <a:pt x="5787998" y="791027"/>
                  </a:lnTo>
                  <a:lnTo>
                    <a:pt x="5764104" y="824377"/>
                  </a:lnTo>
                  <a:lnTo>
                    <a:pt x="5739698" y="857387"/>
                  </a:lnTo>
                  <a:lnTo>
                    <a:pt x="5714785" y="890059"/>
                  </a:lnTo>
                  <a:lnTo>
                    <a:pt x="5689375" y="922398"/>
                  </a:lnTo>
                  <a:lnTo>
                    <a:pt x="5663473" y="954409"/>
                  </a:lnTo>
                  <a:lnTo>
                    <a:pt x="5637086" y="986094"/>
                  </a:lnTo>
                  <a:lnTo>
                    <a:pt x="5610223" y="1017458"/>
                  </a:lnTo>
                  <a:lnTo>
                    <a:pt x="5582889" y="1048506"/>
                  </a:lnTo>
                  <a:lnTo>
                    <a:pt x="5555092" y="1079240"/>
                  </a:lnTo>
                  <a:lnTo>
                    <a:pt x="5526839" y="1109666"/>
                  </a:lnTo>
                  <a:lnTo>
                    <a:pt x="5498137" y="1139786"/>
                  </a:lnTo>
                  <a:lnTo>
                    <a:pt x="5468993" y="1169605"/>
                  </a:lnTo>
                  <a:lnTo>
                    <a:pt x="5439414" y="1199127"/>
                  </a:lnTo>
                  <a:lnTo>
                    <a:pt x="5409407" y="1228356"/>
                  </a:lnTo>
                  <a:lnTo>
                    <a:pt x="5378980" y="1257296"/>
                  </a:lnTo>
                  <a:lnTo>
                    <a:pt x="5348138" y="1285950"/>
                  </a:lnTo>
                  <a:lnTo>
                    <a:pt x="5316890" y="1314323"/>
                  </a:lnTo>
                  <a:lnTo>
                    <a:pt x="5285243" y="1342419"/>
                  </a:lnTo>
                  <a:lnTo>
                    <a:pt x="5253203" y="1370242"/>
                  </a:lnTo>
                  <a:lnTo>
                    <a:pt x="5220777" y="1397796"/>
                  </a:lnTo>
                  <a:lnTo>
                    <a:pt x="5187973" y="1425084"/>
                  </a:lnTo>
                  <a:lnTo>
                    <a:pt x="5154798" y="1452110"/>
                  </a:lnTo>
                  <a:lnTo>
                    <a:pt x="5121258" y="1478880"/>
                  </a:lnTo>
                  <a:lnTo>
                    <a:pt x="5087361" y="1505396"/>
                  </a:lnTo>
                  <a:lnTo>
                    <a:pt x="5053114" y="1531662"/>
                  </a:lnTo>
                  <a:lnTo>
                    <a:pt x="5018524" y="1557683"/>
                  </a:lnTo>
                  <a:lnTo>
                    <a:pt x="4983598" y="1583463"/>
                  </a:lnTo>
                  <a:lnTo>
                    <a:pt x="4948343" y="1609005"/>
                  </a:lnTo>
                  <a:lnTo>
                    <a:pt x="4912765" y="1634314"/>
                  </a:lnTo>
                  <a:lnTo>
                    <a:pt x="4876873" y="1659393"/>
                  </a:lnTo>
                  <a:lnTo>
                    <a:pt x="4840673" y="1684246"/>
                  </a:lnTo>
                  <a:lnTo>
                    <a:pt x="4804173" y="1708878"/>
                  </a:lnTo>
                  <a:lnTo>
                    <a:pt x="4767378" y="1733293"/>
                  </a:lnTo>
                  <a:lnTo>
                    <a:pt x="4730297" y="1757493"/>
                  </a:lnTo>
                  <a:lnTo>
                    <a:pt x="4692937" y="1781484"/>
                  </a:lnTo>
                  <a:lnTo>
                    <a:pt x="4617405" y="1828853"/>
                  </a:lnTo>
                  <a:lnTo>
                    <a:pt x="4540840" y="1875431"/>
                  </a:lnTo>
                  <a:lnTo>
                    <a:pt x="4463298" y="1921250"/>
                  </a:lnTo>
                  <a:lnTo>
                    <a:pt x="4384835" y="1966341"/>
                  </a:lnTo>
                  <a:lnTo>
                    <a:pt x="4305507" y="2010737"/>
                  </a:lnTo>
                  <a:lnTo>
                    <a:pt x="4225372" y="2054469"/>
                  </a:lnTo>
                  <a:lnTo>
                    <a:pt x="4103779" y="2118892"/>
                  </a:lnTo>
                  <a:lnTo>
                    <a:pt x="3980686" y="2182001"/>
                  </a:lnTo>
                  <a:lnTo>
                    <a:pt x="3814559" y="2264287"/>
                  </a:lnTo>
                  <a:lnTo>
                    <a:pt x="3604316" y="2364514"/>
                  </a:lnTo>
                  <a:lnTo>
                    <a:pt x="3349400" y="2481584"/>
                  </a:lnTo>
                  <a:lnTo>
                    <a:pt x="2414124" y="2894430"/>
                  </a:lnTo>
                  <a:lnTo>
                    <a:pt x="2043394" y="3062727"/>
                  </a:lnTo>
                  <a:lnTo>
                    <a:pt x="1843379" y="3157747"/>
                  </a:lnTo>
                  <a:lnTo>
                    <a:pt x="1687188" y="3234974"/>
                  </a:lnTo>
                  <a:lnTo>
                    <a:pt x="1572570" y="3293768"/>
                  </a:lnTo>
                  <a:lnTo>
                    <a:pt x="1460329" y="3353431"/>
                  </a:lnTo>
                  <a:lnTo>
                    <a:pt x="1386916" y="3393741"/>
                  </a:lnTo>
                  <a:lnTo>
                    <a:pt x="1314699" y="3434516"/>
                  </a:lnTo>
                  <a:lnTo>
                    <a:pt x="1243737" y="3475789"/>
                  </a:lnTo>
                  <a:lnTo>
                    <a:pt x="1174085" y="3517591"/>
                  </a:lnTo>
                  <a:lnTo>
                    <a:pt x="1139768" y="3538700"/>
                  </a:lnTo>
                  <a:lnTo>
                    <a:pt x="1105800" y="3559953"/>
                  </a:lnTo>
                  <a:lnTo>
                    <a:pt x="1072188" y="3581354"/>
                  </a:lnTo>
                  <a:lnTo>
                    <a:pt x="1038938" y="3602908"/>
                  </a:lnTo>
                  <a:lnTo>
                    <a:pt x="1006059" y="3624618"/>
                  </a:lnTo>
                  <a:lnTo>
                    <a:pt x="973556" y="3646487"/>
                  </a:lnTo>
                  <a:lnTo>
                    <a:pt x="941438" y="3668521"/>
                  </a:lnTo>
                  <a:lnTo>
                    <a:pt x="909710" y="3690723"/>
                  </a:lnTo>
                  <a:lnTo>
                    <a:pt x="878381" y="3713097"/>
                  </a:lnTo>
                  <a:lnTo>
                    <a:pt x="847457" y="3735647"/>
                  </a:lnTo>
                  <a:lnTo>
                    <a:pt x="786853" y="3781290"/>
                  </a:lnTo>
                  <a:lnTo>
                    <a:pt x="727955" y="3827685"/>
                  </a:lnTo>
                  <a:lnTo>
                    <a:pt x="670818" y="3874864"/>
                  </a:lnTo>
                  <a:lnTo>
                    <a:pt x="615501" y="3922857"/>
                  </a:lnTo>
                  <a:lnTo>
                    <a:pt x="562058" y="3971698"/>
                  </a:lnTo>
                  <a:lnTo>
                    <a:pt x="510547" y="4021418"/>
                  </a:lnTo>
                  <a:lnTo>
                    <a:pt x="461024" y="4072048"/>
                  </a:lnTo>
                  <a:lnTo>
                    <a:pt x="413546" y="4123620"/>
                  </a:lnTo>
                  <a:lnTo>
                    <a:pt x="368168" y="4176167"/>
                  </a:lnTo>
                  <a:lnTo>
                    <a:pt x="324949" y="4229720"/>
                  </a:lnTo>
                  <a:lnTo>
                    <a:pt x="283943" y="4284311"/>
                  </a:lnTo>
                  <a:lnTo>
                    <a:pt x="245207" y="4339972"/>
                  </a:lnTo>
                  <a:lnTo>
                    <a:pt x="208799" y="4396733"/>
                  </a:lnTo>
                  <a:lnTo>
                    <a:pt x="174774" y="4454629"/>
                  </a:lnTo>
                  <a:lnTo>
                    <a:pt x="143189" y="4513689"/>
                  </a:lnTo>
                  <a:lnTo>
                    <a:pt x="114100" y="4573946"/>
                  </a:lnTo>
                  <a:lnTo>
                    <a:pt x="87564" y="4635432"/>
                  </a:lnTo>
                  <a:lnTo>
                    <a:pt x="63637" y="4698179"/>
                  </a:lnTo>
                  <a:lnTo>
                    <a:pt x="42376" y="4762217"/>
                  </a:lnTo>
                  <a:lnTo>
                    <a:pt x="23838" y="4827580"/>
                  </a:lnTo>
                  <a:lnTo>
                    <a:pt x="8078" y="4894299"/>
                  </a:lnTo>
                  <a:lnTo>
                    <a:pt x="0" y="5183599"/>
                  </a:lnTo>
                  <a:lnTo>
                    <a:pt x="6159384" y="5183599"/>
                  </a:lnTo>
                  <a:lnTo>
                    <a:pt x="6159384"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a:p>
          </p:txBody>
        </p:sp>
        <p:pic>
          <p:nvPicPr>
            <p:cNvPr id="6" name="object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732447" y="8467299"/>
              <a:ext cx="8371651" cy="284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6"/>
            <p:cNvSpPr/>
            <p:nvPr/>
          </p:nvSpPr>
          <p:spPr bwMode="auto">
            <a:xfrm>
              <a:off x="-2" y="2"/>
              <a:ext cx="5750772" cy="3392729"/>
            </a:xfrm>
            <a:custGeom>
              <a:avLst/>
              <a:gdLst>
                <a:gd name="T0" fmla="*/ 0 w 4577080"/>
                <a:gd name="T1" fmla="*/ 0 h 4034790"/>
                <a:gd name="T2" fmla="*/ 39485 w 4577080"/>
                <a:gd name="T3" fmla="*/ 4028571 h 4034790"/>
                <a:gd name="T4" fmla="*/ 120180 w 4577080"/>
                <a:gd name="T5" fmla="*/ 4014805 h 4034790"/>
                <a:gd name="T6" fmla="*/ 199034 w 4577080"/>
                <a:gd name="T7" fmla="*/ 3998505 h 4034790"/>
                <a:gd name="T8" fmla="*/ 276098 w 4577080"/>
                <a:gd name="T9" fmla="*/ 3979731 h 4034790"/>
                <a:gd name="T10" fmla="*/ 351421 w 4577080"/>
                <a:gd name="T11" fmla="*/ 3958545 h 4034790"/>
                <a:gd name="T12" fmla="*/ 425053 w 4577080"/>
                <a:gd name="T13" fmla="*/ 3935007 h 4034790"/>
                <a:gd name="T14" fmla="*/ 497044 w 4577080"/>
                <a:gd name="T15" fmla="*/ 3909178 h 4034790"/>
                <a:gd name="T16" fmla="*/ 636304 w 4577080"/>
                <a:gd name="T17" fmla="*/ 3850895 h 4034790"/>
                <a:gd name="T18" fmla="*/ 769598 w 4577080"/>
                <a:gd name="T19" fmla="*/ 3784184 h 4034790"/>
                <a:gd name="T20" fmla="*/ 897327 w 4577080"/>
                <a:gd name="T21" fmla="*/ 3709533 h 4034790"/>
                <a:gd name="T22" fmla="*/ 1019888 w 4577080"/>
                <a:gd name="T23" fmla="*/ 3627431 h 4034790"/>
                <a:gd name="T24" fmla="*/ 1137682 w 4577080"/>
                <a:gd name="T25" fmla="*/ 3538368 h 4034790"/>
                <a:gd name="T26" fmla="*/ 1251107 w 4577080"/>
                <a:gd name="T27" fmla="*/ 3442831 h 4034790"/>
                <a:gd name="T28" fmla="*/ 1360562 w 4577080"/>
                <a:gd name="T29" fmla="*/ 3341311 h 4034790"/>
                <a:gd name="T30" fmla="*/ 1466447 w 4577080"/>
                <a:gd name="T31" fmla="*/ 3234294 h 4034790"/>
                <a:gd name="T32" fmla="*/ 1569161 w 4577080"/>
                <a:gd name="T33" fmla="*/ 3122272 h 4034790"/>
                <a:gd name="T34" fmla="*/ 1619453 w 4577080"/>
                <a:gd name="T35" fmla="*/ 3064536 h 4034790"/>
                <a:gd name="T36" fmla="*/ 1669102 w 4577080"/>
                <a:gd name="T37" fmla="*/ 3005731 h 4034790"/>
                <a:gd name="T38" fmla="*/ 1718157 w 4577080"/>
                <a:gd name="T39" fmla="*/ 2945920 h 4034790"/>
                <a:gd name="T40" fmla="*/ 1766670 w 4577080"/>
                <a:gd name="T41" fmla="*/ 2885162 h 4034790"/>
                <a:gd name="T42" fmla="*/ 1814688 w 4577080"/>
                <a:gd name="T43" fmla="*/ 2823519 h 4034790"/>
                <a:gd name="T44" fmla="*/ 1862263 w 4577080"/>
                <a:gd name="T45" fmla="*/ 2761052 h 4034790"/>
                <a:gd name="T46" fmla="*/ 1909444 w 4577080"/>
                <a:gd name="T47" fmla="*/ 2697823 h 4034790"/>
                <a:gd name="T48" fmla="*/ 1956281 w 4577080"/>
                <a:gd name="T49" fmla="*/ 2633891 h 4034790"/>
                <a:gd name="T50" fmla="*/ 2026002 w 4577080"/>
                <a:gd name="T51" fmla="*/ 2536812 h 4034790"/>
                <a:gd name="T52" fmla="*/ 2118224 w 4577080"/>
                <a:gd name="T53" fmla="*/ 2405487 h 4034790"/>
                <a:gd name="T54" fmla="*/ 2463061 w 4577080"/>
                <a:gd name="T55" fmla="*/ 1901806 h 4034790"/>
                <a:gd name="T56" fmla="*/ 2580151 w 4577080"/>
                <a:gd name="T57" fmla="*/ 1733033 h 4034790"/>
                <a:gd name="T58" fmla="*/ 2675494 w 4577080"/>
                <a:gd name="T59" fmla="*/ 1598797 h 4034790"/>
                <a:gd name="T60" fmla="*/ 2723859 w 4577080"/>
                <a:gd name="T61" fmla="*/ 1532108 h 4034790"/>
                <a:gd name="T62" fmla="*/ 2772753 w 4577080"/>
                <a:gd name="T63" fmla="*/ 1465787 h 4034790"/>
                <a:gd name="T64" fmla="*/ 2822226 w 4577080"/>
                <a:gd name="T65" fmla="*/ 1399895 h 4034790"/>
                <a:gd name="T66" fmla="*/ 2872328 w 4577080"/>
                <a:gd name="T67" fmla="*/ 1334492 h 4034790"/>
                <a:gd name="T68" fmla="*/ 2923108 w 4577080"/>
                <a:gd name="T69" fmla="*/ 1269640 h 4034790"/>
                <a:gd name="T70" fmla="*/ 2974618 w 4577080"/>
                <a:gd name="T71" fmla="*/ 1205400 h 4034790"/>
                <a:gd name="T72" fmla="*/ 3026905 w 4577080"/>
                <a:gd name="T73" fmla="*/ 1141833 h 4034790"/>
                <a:gd name="T74" fmla="*/ 3080022 w 4577080"/>
                <a:gd name="T75" fmla="*/ 1079000 h 4034790"/>
                <a:gd name="T76" fmla="*/ 3134016 w 4577080"/>
                <a:gd name="T77" fmla="*/ 1016962 h 4034790"/>
                <a:gd name="T78" fmla="*/ 3188939 w 4577080"/>
                <a:gd name="T79" fmla="*/ 955781 h 4034790"/>
                <a:gd name="T80" fmla="*/ 3244840 w 4577080"/>
                <a:gd name="T81" fmla="*/ 895517 h 4034790"/>
                <a:gd name="T82" fmla="*/ 3301768 w 4577080"/>
                <a:gd name="T83" fmla="*/ 836231 h 4034790"/>
                <a:gd name="T84" fmla="*/ 3359775 w 4577080"/>
                <a:gd name="T85" fmla="*/ 777986 h 4034790"/>
                <a:gd name="T86" fmla="*/ 3418909 w 4577080"/>
                <a:gd name="T87" fmla="*/ 720840 h 4034790"/>
                <a:gd name="T88" fmla="*/ 3479221 w 4577080"/>
                <a:gd name="T89" fmla="*/ 664857 h 4034790"/>
                <a:gd name="T90" fmla="*/ 3540760 w 4577080"/>
                <a:gd name="T91" fmla="*/ 610097 h 4034790"/>
                <a:gd name="T92" fmla="*/ 3603576 w 4577080"/>
                <a:gd name="T93" fmla="*/ 556621 h 4034790"/>
                <a:gd name="T94" fmla="*/ 3667720 w 4577080"/>
                <a:gd name="T95" fmla="*/ 504490 h 4034790"/>
                <a:gd name="T96" fmla="*/ 3733241 w 4577080"/>
                <a:gd name="T97" fmla="*/ 453765 h 4034790"/>
                <a:gd name="T98" fmla="*/ 3800189 w 4577080"/>
                <a:gd name="T99" fmla="*/ 404507 h 4034790"/>
                <a:gd name="T100" fmla="*/ 3868614 w 4577080"/>
                <a:gd name="T101" fmla="*/ 356778 h 4034790"/>
                <a:gd name="T102" fmla="*/ 3938566 w 4577080"/>
                <a:gd name="T103" fmla="*/ 310639 h 4034790"/>
                <a:gd name="T104" fmla="*/ 4010094 w 4577080"/>
                <a:gd name="T105" fmla="*/ 266150 h 4034790"/>
                <a:gd name="T106" fmla="*/ 4083249 w 4577080"/>
                <a:gd name="T107" fmla="*/ 223372 h 4034790"/>
                <a:gd name="T108" fmla="*/ 4158081 w 4577080"/>
                <a:gd name="T109" fmla="*/ 182368 h 4034790"/>
                <a:gd name="T110" fmla="*/ 4234638 w 4577080"/>
                <a:gd name="T111" fmla="*/ 143198 h 4034790"/>
                <a:gd name="T112" fmla="*/ 4312972 w 4577080"/>
                <a:gd name="T113" fmla="*/ 105922 h 4034790"/>
                <a:gd name="T114" fmla="*/ 4393132 w 4577080"/>
                <a:gd name="T115" fmla="*/ 70603 h 4034790"/>
                <a:gd name="T116" fmla="*/ 4475168 w 4577080"/>
                <a:gd name="T117" fmla="*/ 37301 h 4034790"/>
                <a:gd name="T118" fmla="*/ 4559130 w 4577080"/>
                <a:gd name="T119" fmla="*/ 6078 h 403479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577080" h="4034790">
                  <a:moveTo>
                    <a:pt x="4576658" y="0"/>
                  </a:moveTo>
                  <a:lnTo>
                    <a:pt x="0" y="0"/>
                  </a:lnTo>
                  <a:lnTo>
                    <a:pt x="0" y="4034258"/>
                  </a:lnTo>
                  <a:lnTo>
                    <a:pt x="39485" y="4028571"/>
                  </a:lnTo>
                  <a:lnTo>
                    <a:pt x="80066" y="4022008"/>
                  </a:lnTo>
                  <a:lnTo>
                    <a:pt x="120180" y="4014805"/>
                  </a:lnTo>
                  <a:lnTo>
                    <a:pt x="159834" y="4006968"/>
                  </a:lnTo>
                  <a:lnTo>
                    <a:pt x="199034" y="3998505"/>
                  </a:lnTo>
                  <a:lnTo>
                    <a:pt x="237787" y="3989423"/>
                  </a:lnTo>
                  <a:lnTo>
                    <a:pt x="276098" y="3979731"/>
                  </a:lnTo>
                  <a:lnTo>
                    <a:pt x="313974" y="3969436"/>
                  </a:lnTo>
                  <a:lnTo>
                    <a:pt x="351421" y="3958545"/>
                  </a:lnTo>
                  <a:lnTo>
                    <a:pt x="388445" y="3947066"/>
                  </a:lnTo>
                  <a:lnTo>
                    <a:pt x="425053" y="3935007"/>
                  </a:lnTo>
                  <a:lnTo>
                    <a:pt x="461251" y="3922375"/>
                  </a:lnTo>
                  <a:lnTo>
                    <a:pt x="497044" y="3909178"/>
                  </a:lnTo>
                  <a:lnTo>
                    <a:pt x="567445" y="3881121"/>
                  </a:lnTo>
                  <a:lnTo>
                    <a:pt x="636304" y="3850895"/>
                  </a:lnTo>
                  <a:lnTo>
                    <a:pt x="703672" y="3818562"/>
                  </a:lnTo>
                  <a:lnTo>
                    <a:pt x="769598" y="3784184"/>
                  </a:lnTo>
                  <a:lnTo>
                    <a:pt x="834133" y="3747820"/>
                  </a:lnTo>
                  <a:lnTo>
                    <a:pt x="897327" y="3709533"/>
                  </a:lnTo>
                  <a:lnTo>
                    <a:pt x="959228" y="3669383"/>
                  </a:lnTo>
                  <a:lnTo>
                    <a:pt x="1019888" y="3627431"/>
                  </a:lnTo>
                  <a:lnTo>
                    <a:pt x="1079356" y="3583739"/>
                  </a:lnTo>
                  <a:lnTo>
                    <a:pt x="1137682" y="3538368"/>
                  </a:lnTo>
                  <a:lnTo>
                    <a:pt x="1194916" y="3491378"/>
                  </a:lnTo>
                  <a:lnTo>
                    <a:pt x="1251107" y="3442831"/>
                  </a:lnTo>
                  <a:lnTo>
                    <a:pt x="1306306" y="3392788"/>
                  </a:lnTo>
                  <a:lnTo>
                    <a:pt x="1360562" y="3341311"/>
                  </a:lnTo>
                  <a:lnTo>
                    <a:pt x="1413926" y="3288459"/>
                  </a:lnTo>
                  <a:lnTo>
                    <a:pt x="1466447" y="3234294"/>
                  </a:lnTo>
                  <a:lnTo>
                    <a:pt x="1518176" y="3178878"/>
                  </a:lnTo>
                  <a:lnTo>
                    <a:pt x="1569161" y="3122272"/>
                  </a:lnTo>
                  <a:lnTo>
                    <a:pt x="1594390" y="3093541"/>
                  </a:lnTo>
                  <a:lnTo>
                    <a:pt x="1619453" y="3064536"/>
                  </a:lnTo>
                  <a:lnTo>
                    <a:pt x="1644355" y="3035263"/>
                  </a:lnTo>
                  <a:lnTo>
                    <a:pt x="1669102" y="3005731"/>
                  </a:lnTo>
                  <a:lnTo>
                    <a:pt x="1693701" y="2975948"/>
                  </a:lnTo>
                  <a:lnTo>
                    <a:pt x="1718157" y="2945920"/>
                  </a:lnTo>
                  <a:lnTo>
                    <a:pt x="1742478" y="2915655"/>
                  </a:lnTo>
                  <a:lnTo>
                    <a:pt x="1766670" y="2885162"/>
                  </a:lnTo>
                  <a:lnTo>
                    <a:pt x="1790737" y="2854447"/>
                  </a:lnTo>
                  <a:lnTo>
                    <a:pt x="1814688" y="2823519"/>
                  </a:lnTo>
                  <a:lnTo>
                    <a:pt x="1838528" y="2792385"/>
                  </a:lnTo>
                  <a:lnTo>
                    <a:pt x="1862263" y="2761052"/>
                  </a:lnTo>
                  <a:lnTo>
                    <a:pt x="1885900" y="2729529"/>
                  </a:lnTo>
                  <a:lnTo>
                    <a:pt x="1909444" y="2697823"/>
                  </a:lnTo>
                  <a:lnTo>
                    <a:pt x="1932903" y="2665941"/>
                  </a:lnTo>
                  <a:lnTo>
                    <a:pt x="1956281" y="2633891"/>
                  </a:lnTo>
                  <a:lnTo>
                    <a:pt x="1979587" y="2601682"/>
                  </a:lnTo>
                  <a:lnTo>
                    <a:pt x="2026002" y="2536812"/>
                  </a:lnTo>
                  <a:lnTo>
                    <a:pt x="2072197" y="2471394"/>
                  </a:lnTo>
                  <a:lnTo>
                    <a:pt x="2118224" y="2405487"/>
                  </a:lnTo>
                  <a:lnTo>
                    <a:pt x="2209968" y="2272456"/>
                  </a:lnTo>
                  <a:lnTo>
                    <a:pt x="2463061" y="1901806"/>
                  </a:lnTo>
                  <a:lnTo>
                    <a:pt x="2533074" y="1800457"/>
                  </a:lnTo>
                  <a:lnTo>
                    <a:pt x="2580151" y="1733033"/>
                  </a:lnTo>
                  <a:lnTo>
                    <a:pt x="2627608" y="1665792"/>
                  </a:lnTo>
                  <a:lnTo>
                    <a:pt x="2675494" y="1598797"/>
                  </a:lnTo>
                  <a:lnTo>
                    <a:pt x="2699613" y="1565411"/>
                  </a:lnTo>
                  <a:lnTo>
                    <a:pt x="2723859" y="1532108"/>
                  </a:lnTo>
                  <a:lnTo>
                    <a:pt x="2748236" y="1498898"/>
                  </a:lnTo>
                  <a:lnTo>
                    <a:pt x="2772753" y="1465787"/>
                  </a:lnTo>
                  <a:lnTo>
                    <a:pt x="2797414" y="1432783"/>
                  </a:lnTo>
                  <a:lnTo>
                    <a:pt x="2822226" y="1399895"/>
                  </a:lnTo>
                  <a:lnTo>
                    <a:pt x="2847195" y="1367128"/>
                  </a:lnTo>
                  <a:lnTo>
                    <a:pt x="2872328" y="1334492"/>
                  </a:lnTo>
                  <a:lnTo>
                    <a:pt x="2897630" y="1301993"/>
                  </a:lnTo>
                  <a:lnTo>
                    <a:pt x="2923108" y="1269640"/>
                  </a:lnTo>
                  <a:lnTo>
                    <a:pt x="2948769" y="1237439"/>
                  </a:lnTo>
                  <a:lnTo>
                    <a:pt x="2974618" y="1205400"/>
                  </a:lnTo>
                  <a:lnTo>
                    <a:pt x="3000661" y="1173528"/>
                  </a:lnTo>
                  <a:lnTo>
                    <a:pt x="3026905" y="1141833"/>
                  </a:lnTo>
                  <a:lnTo>
                    <a:pt x="3053357" y="1110321"/>
                  </a:lnTo>
                  <a:lnTo>
                    <a:pt x="3080022" y="1079000"/>
                  </a:lnTo>
                  <a:lnTo>
                    <a:pt x="3106906" y="1047878"/>
                  </a:lnTo>
                  <a:lnTo>
                    <a:pt x="3134016" y="1016962"/>
                  </a:lnTo>
                  <a:lnTo>
                    <a:pt x="3161358" y="986260"/>
                  </a:lnTo>
                  <a:lnTo>
                    <a:pt x="3188939" y="955781"/>
                  </a:lnTo>
                  <a:lnTo>
                    <a:pt x="3216764" y="925530"/>
                  </a:lnTo>
                  <a:lnTo>
                    <a:pt x="3244840" y="895517"/>
                  </a:lnTo>
                  <a:lnTo>
                    <a:pt x="3273172" y="865748"/>
                  </a:lnTo>
                  <a:lnTo>
                    <a:pt x="3301768" y="836231"/>
                  </a:lnTo>
                  <a:lnTo>
                    <a:pt x="3330634" y="806975"/>
                  </a:lnTo>
                  <a:lnTo>
                    <a:pt x="3359775" y="777986"/>
                  </a:lnTo>
                  <a:lnTo>
                    <a:pt x="3389198" y="749272"/>
                  </a:lnTo>
                  <a:lnTo>
                    <a:pt x="3418909" y="720840"/>
                  </a:lnTo>
                  <a:lnTo>
                    <a:pt x="3448914" y="692700"/>
                  </a:lnTo>
                  <a:lnTo>
                    <a:pt x="3479221" y="664857"/>
                  </a:lnTo>
                  <a:lnTo>
                    <a:pt x="3509834" y="637320"/>
                  </a:lnTo>
                  <a:lnTo>
                    <a:pt x="3540760" y="610097"/>
                  </a:lnTo>
                  <a:lnTo>
                    <a:pt x="3572005" y="583195"/>
                  </a:lnTo>
                  <a:lnTo>
                    <a:pt x="3603576" y="556621"/>
                  </a:lnTo>
                  <a:lnTo>
                    <a:pt x="3635479" y="530383"/>
                  </a:lnTo>
                  <a:lnTo>
                    <a:pt x="3667720" y="504490"/>
                  </a:lnTo>
                  <a:lnTo>
                    <a:pt x="3700306" y="478948"/>
                  </a:lnTo>
                  <a:lnTo>
                    <a:pt x="3733241" y="453765"/>
                  </a:lnTo>
                  <a:lnTo>
                    <a:pt x="3766534" y="428949"/>
                  </a:lnTo>
                  <a:lnTo>
                    <a:pt x="3800189" y="404507"/>
                  </a:lnTo>
                  <a:lnTo>
                    <a:pt x="3834214" y="380448"/>
                  </a:lnTo>
                  <a:lnTo>
                    <a:pt x="3868614" y="356778"/>
                  </a:lnTo>
                  <a:lnTo>
                    <a:pt x="3903396" y="333506"/>
                  </a:lnTo>
                  <a:lnTo>
                    <a:pt x="3938566" y="310639"/>
                  </a:lnTo>
                  <a:lnTo>
                    <a:pt x="3974130" y="288184"/>
                  </a:lnTo>
                  <a:lnTo>
                    <a:pt x="4010094" y="266150"/>
                  </a:lnTo>
                  <a:lnTo>
                    <a:pt x="4046465" y="244543"/>
                  </a:lnTo>
                  <a:lnTo>
                    <a:pt x="4083249" y="223372"/>
                  </a:lnTo>
                  <a:lnTo>
                    <a:pt x="4120452" y="202645"/>
                  </a:lnTo>
                  <a:lnTo>
                    <a:pt x="4158081" y="182368"/>
                  </a:lnTo>
                  <a:lnTo>
                    <a:pt x="4196140" y="162550"/>
                  </a:lnTo>
                  <a:lnTo>
                    <a:pt x="4234638" y="143198"/>
                  </a:lnTo>
                  <a:lnTo>
                    <a:pt x="4273580" y="124319"/>
                  </a:lnTo>
                  <a:lnTo>
                    <a:pt x="4312972" y="105922"/>
                  </a:lnTo>
                  <a:lnTo>
                    <a:pt x="4352821" y="88014"/>
                  </a:lnTo>
                  <a:lnTo>
                    <a:pt x="4393132" y="70603"/>
                  </a:lnTo>
                  <a:lnTo>
                    <a:pt x="4433912" y="53696"/>
                  </a:lnTo>
                  <a:lnTo>
                    <a:pt x="4475168" y="37301"/>
                  </a:lnTo>
                  <a:lnTo>
                    <a:pt x="4516905" y="21426"/>
                  </a:lnTo>
                  <a:lnTo>
                    <a:pt x="4559130" y="6078"/>
                  </a:lnTo>
                  <a:lnTo>
                    <a:pt x="4576658" y="0"/>
                  </a:lnTo>
                  <a:close/>
                </a:path>
              </a:pathLst>
            </a:custGeom>
            <a:solidFill>
              <a:srgbClr val="D9B768"/>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a:p>
          </p:txBody>
        </p:sp>
        <p:pic>
          <p:nvPicPr>
            <p:cNvPr id="10" name="object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2"/>
              <a:ext cx="3347007" cy="3905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bject 14"/>
            <p:cNvSpPr/>
            <p:nvPr/>
          </p:nvSpPr>
          <p:spPr bwMode="auto">
            <a:xfrm>
              <a:off x="1805762" y="10436688"/>
              <a:ext cx="150495" cy="146050"/>
            </a:xfrm>
            <a:custGeom>
              <a:avLst/>
              <a:gdLst>
                <a:gd name="T0" fmla="*/ 59575 w 150494"/>
                <a:gd name="T1" fmla="*/ 19291 h 146050"/>
                <a:gd name="T2" fmla="*/ 58521 w 150494"/>
                <a:gd name="T3" fmla="*/ 17411 h 146050"/>
                <a:gd name="T4" fmla="*/ 58521 w 150494"/>
                <a:gd name="T5" fmla="*/ 21539 h 146050"/>
                <a:gd name="T6" fmla="*/ 57988 w 150494"/>
                <a:gd name="T7" fmla="*/ 23736 h 146050"/>
                <a:gd name="T8" fmla="*/ 36474 w 150494"/>
                <a:gd name="T9" fmla="*/ 112852 h 146050"/>
                <a:gd name="T10" fmla="*/ 14973 w 150494"/>
                <a:gd name="T11" fmla="*/ 144868 h 146050"/>
                <a:gd name="T12" fmla="*/ 609 w 150494"/>
                <a:gd name="T13" fmla="*/ 145135 h 146050"/>
                <a:gd name="T14" fmla="*/ 15951 w 150494"/>
                <a:gd name="T15" fmla="*/ 83769 h 146050"/>
                <a:gd name="T16" fmla="*/ 32613 w 150494"/>
                <a:gd name="T17" fmla="*/ 16878 h 146050"/>
                <a:gd name="T18" fmla="*/ 49199 w 150494"/>
                <a:gd name="T19" fmla="*/ 14262 h 146050"/>
                <a:gd name="T20" fmla="*/ 49580 w 150494"/>
                <a:gd name="T21" fmla="*/ 14249 h 146050"/>
                <a:gd name="T22" fmla="*/ 49974 w 150494"/>
                <a:gd name="T23" fmla="*/ 14198 h 146050"/>
                <a:gd name="T24" fmla="*/ 52819 w 150494"/>
                <a:gd name="T25" fmla="*/ 14198 h 146050"/>
                <a:gd name="T26" fmla="*/ 55003 w 150494"/>
                <a:gd name="T27" fmla="*/ 15201 h 146050"/>
                <a:gd name="T28" fmla="*/ 56502 w 150494"/>
                <a:gd name="T29" fmla="*/ 17056 h 146050"/>
                <a:gd name="T30" fmla="*/ 57937 w 150494"/>
                <a:gd name="T31" fmla="*/ 18910 h 146050"/>
                <a:gd name="T32" fmla="*/ 58521 w 150494"/>
                <a:gd name="T33" fmla="*/ 21539 h 146050"/>
                <a:gd name="T34" fmla="*/ 58521 w 150494"/>
                <a:gd name="T35" fmla="*/ 17411 h 146050"/>
                <a:gd name="T36" fmla="*/ 56730 w 150494"/>
                <a:gd name="T37" fmla="*/ 14198 h 146050"/>
                <a:gd name="T38" fmla="*/ 56451 w 150494"/>
                <a:gd name="T39" fmla="*/ 13690 h 146050"/>
                <a:gd name="T40" fmla="*/ 50355 w 150494"/>
                <a:gd name="T41" fmla="*/ 13690 h 146050"/>
                <a:gd name="T42" fmla="*/ 49530 w 150494"/>
                <a:gd name="T43" fmla="*/ 13716 h 146050"/>
                <a:gd name="T44" fmla="*/ 49098 w 150494"/>
                <a:gd name="T45" fmla="*/ 13754 h 146050"/>
                <a:gd name="T46" fmla="*/ 32169 w 150494"/>
                <a:gd name="T47" fmla="*/ 16471 h 146050"/>
                <a:gd name="T48" fmla="*/ 0 w 150494"/>
                <a:gd name="T49" fmla="*/ 145669 h 146050"/>
                <a:gd name="T50" fmla="*/ 14592 w 150494"/>
                <a:gd name="T51" fmla="*/ 145389 h 146050"/>
                <a:gd name="T52" fmla="*/ 22542 w 150494"/>
                <a:gd name="T53" fmla="*/ 145135 h 146050"/>
                <a:gd name="T54" fmla="*/ 29235 w 150494"/>
                <a:gd name="T55" fmla="*/ 144856 h 146050"/>
                <a:gd name="T56" fmla="*/ 59575 w 150494"/>
                <a:gd name="T57" fmla="*/ 19291 h 146050"/>
                <a:gd name="T58" fmla="*/ 150000 w 150494"/>
                <a:gd name="T59" fmla="*/ 5626 h 146050"/>
                <a:gd name="T60" fmla="*/ 148921 w 150494"/>
                <a:gd name="T61" fmla="*/ 3708 h 146050"/>
                <a:gd name="T62" fmla="*/ 148921 w 150494"/>
                <a:gd name="T63" fmla="*/ 7835 h 146050"/>
                <a:gd name="T64" fmla="*/ 148375 w 150494"/>
                <a:gd name="T65" fmla="*/ 10172 h 146050"/>
                <a:gd name="T66" fmla="*/ 147181 w 150494"/>
                <a:gd name="T67" fmla="*/ 15087 h 146050"/>
                <a:gd name="T68" fmla="*/ 118238 w 150494"/>
                <a:gd name="T69" fmla="*/ 136131 h 146050"/>
                <a:gd name="T70" fmla="*/ 103823 w 150494"/>
                <a:gd name="T71" fmla="*/ 138036 h 146050"/>
                <a:gd name="T72" fmla="*/ 88964 w 150494"/>
                <a:gd name="T73" fmla="*/ 139776 h 146050"/>
                <a:gd name="T74" fmla="*/ 122987 w 150494"/>
                <a:gd name="T75" fmla="*/ 3225 h 146050"/>
                <a:gd name="T76" fmla="*/ 139574 w 150494"/>
                <a:gd name="T77" fmla="*/ 596 h 146050"/>
                <a:gd name="T78" fmla="*/ 140399 w 150494"/>
                <a:gd name="T79" fmla="*/ 495 h 146050"/>
                <a:gd name="T80" fmla="*/ 143244 w 150494"/>
                <a:gd name="T81" fmla="*/ 495 h 146050"/>
                <a:gd name="T82" fmla="*/ 145365 w 150494"/>
                <a:gd name="T83" fmla="*/ 1562 h 146050"/>
                <a:gd name="T84" fmla="*/ 148362 w 150494"/>
                <a:gd name="T85" fmla="*/ 5245 h 146050"/>
                <a:gd name="T86" fmla="*/ 148921 w 150494"/>
                <a:gd name="T87" fmla="*/ 7835 h 146050"/>
                <a:gd name="T88" fmla="*/ 148921 w 150494"/>
                <a:gd name="T89" fmla="*/ 3708 h 146050"/>
                <a:gd name="T90" fmla="*/ 147130 w 150494"/>
                <a:gd name="T91" fmla="*/ 495 h 146050"/>
                <a:gd name="T92" fmla="*/ 146851 w 150494"/>
                <a:gd name="T93" fmla="*/ 0 h 146050"/>
                <a:gd name="T94" fmla="*/ 139967 w 150494"/>
                <a:gd name="T95" fmla="*/ 0 h 146050"/>
                <a:gd name="T96" fmla="*/ 139485 w 150494"/>
                <a:gd name="T97" fmla="*/ 38 h 146050"/>
                <a:gd name="T98" fmla="*/ 122606 w 150494"/>
                <a:gd name="T99" fmla="*/ 2768 h 146050"/>
                <a:gd name="T100" fmla="*/ 88278 w 150494"/>
                <a:gd name="T101" fmla="*/ 140360 h 146050"/>
                <a:gd name="T102" fmla="*/ 93511 w 150494"/>
                <a:gd name="T103" fmla="*/ 139776 h 146050"/>
                <a:gd name="T104" fmla="*/ 103544 w 150494"/>
                <a:gd name="T105" fmla="*/ 138582 h 146050"/>
                <a:gd name="T106" fmla="*/ 118669 w 150494"/>
                <a:gd name="T107" fmla="*/ 136575 h 146050"/>
                <a:gd name="T108" fmla="*/ 148908 w 150494"/>
                <a:gd name="T109" fmla="*/ 10083 h 146050"/>
                <a:gd name="T110" fmla="*/ 150000 w 150494"/>
                <a:gd name="T111" fmla="*/ 5626 h 14605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50494" h="146050">
                  <a:moveTo>
                    <a:pt x="59575" y="19291"/>
                  </a:moveTo>
                  <a:lnTo>
                    <a:pt x="58521" y="17411"/>
                  </a:lnTo>
                  <a:lnTo>
                    <a:pt x="58521" y="21539"/>
                  </a:lnTo>
                  <a:lnTo>
                    <a:pt x="57988" y="23736"/>
                  </a:lnTo>
                  <a:lnTo>
                    <a:pt x="36474" y="112852"/>
                  </a:lnTo>
                  <a:lnTo>
                    <a:pt x="14973" y="144868"/>
                  </a:lnTo>
                  <a:lnTo>
                    <a:pt x="609" y="145135"/>
                  </a:lnTo>
                  <a:lnTo>
                    <a:pt x="15951" y="83769"/>
                  </a:lnTo>
                  <a:lnTo>
                    <a:pt x="32613" y="16878"/>
                  </a:lnTo>
                  <a:lnTo>
                    <a:pt x="49199" y="14262"/>
                  </a:lnTo>
                  <a:lnTo>
                    <a:pt x="49580" y="14249"/>
                  </a:lnTo>
                  <a:lnTo>
                    <a:pt x="49974" y="14198"/>
                  </a:lnTo>
                  <a:lnTo>
                    <a:pt x="52819" y="14198"/>
                  </a:lnTo>
                  <a:lnTo>
                    <a:pt x="55003" y="15201"/>
                  </a:lnTo>
                  <a:lnTo>
                    <a:pt x="56502" y="17056"/>
                  </a:lnTo>
                  <a:lnTo>
                    <a:pt x="57937" y="18910"/>
                  </a:lnTo>
                  <a:lnTo>
                    <a:pt x="58521" y="21539"/>
                  </a:lnTo>
                  <a:lnTo>
                    <a:pt x="58521" y="17411"/>
                  </a:lnTo>
                  <a:lnTo>
                    <a:pt x="56730" y="14198"/>
                  </a:lnTo>
                  <a:lnTo>
                    <a:pt x="56451" y="13690"/>
                  </a:lnTo>
                  <a:lnTo>
                    <a:pt x="50355" y="13690"/>
                  </a:lnTo>
                  <a:lnTo>
                    <a:pt x="49530" y="13716"/>
                  </a:lnTo>
                  <a:lnTo>
                    <a:pt x="49098" y="13754"/>
                  </a:lnTo>
                  <a:lnTo>
                    <a:pt x="32169" y="16471"/>
                  </a:lnTo>
                  <a:lnTo>
                    <a:pt x="0" y="145669"/>
                  </a:lnTo>
                  <a:lnTo>
                    <a:pt x="14592" y="145389"/>
                  </a:lnTo>
                  <a:lnTo>
                    <a:pt x="22542" y="145135"/>
                  </a:lnTo>
                  <a:lnTo>
                    <a:pt x="29235" y="144856"/>
                  </a:lnTo>
                  <a:lnTo>
                    <a:pt x="59575" y="19291"/>
                  </a:lnTo>
                  <a:close/>
                </a:path>
                <a:path w="150494" h="146050">
                  <a:moveTo>
                    <a:pt x="149999" y="5626"/>
                  </a:moveTo>
                  <a:lnTo>
                    <a:pt x="148920" y="3708"/>
                  </a:lnTo>
                  <a:lnTo>
                    <a:pt x="148920" y="7835"/>
                  </a:lnTo>
                  <a:lnTo>
                    <a:pt x="148374" y="10172"/>
                  </a:lnTo>
                  <a:lnTo>
                    <a:pt x="147180" y="15087"/>
                  </a:lnTo>
                  <a:lnTo>
                    <a:pt x="118237" y="136131"/>
                  </a:lnTo>
                  <a:lnTo>
                    <a:pt x="103822" y="138036"/>
                  </a:lnTo>
                  <a:lnTo>
                    <a:pt x="88963" y="139776"/>
                  </a:lnTo>
                  <a:lnTo>
                    <a:pt x="122986" y="3225"/>
                  </a:lnTo>
                  <a:lnTo>
                    <a:pt x="139573" y="596"/>
                  </a:lnTo>
                  <a:lnTo>
                    <a:pt x="140398" y="495"/>
                  </a:lnTo>
                  <a:lnTo>
                    <a:pt x="143243" y="495"/>
                  </a:lnTo>
                  <a:lnTo>
                    <a:pt x="145364" y="1562"/>
                  </a:lnTo>
                  <a:lnTo>
                    <a:pt x="148361" y="5245"/>
                  </a:lnTo>
                  <a:lnTo>
                    <a:pt x="148920" y="7835"/>
                  </a:lnTo>
                  <a:lnTo>
                    <a:pt x="148920" y="3708"/>
                  </a:lnTo>
                  <a:lnTo>
                    <a:pt x="147129" y="495"/>
                  </a:lnTo>
                  <a:lnTo>
                    <a:pt x="146850" y="0"/>
                  </a:lnTo>
                  <a:lnTo>
                    <a:pt x="139966" y="0"/>
                  </a:lnTo>
                  <a:lnTo>
                    <a:pt x="139484" y="38"/>
                  </a:lnTo>
                  <a:lnTo>
                    <a:pt x="122605" y="2768"/>
                  </a:lnTo>
                  <a:lnTo>
                    <a:pt x="88277" y="140360"/>
                  </a:lnTo>
                  <a:lnTo>
                    <a:pt x="93510" y="139776"/>
                  </a:lnTo>
                  <a:lnTo>
                    <a:pt x="103543" y="138582"/>
                  </a:lnTo>
                  <a:lnTo>
                    <a:pt x="118668" y="136575"/>
                  </a:lnTo>
                  <a:lnTo>
                    <a:pt x="148907" y="10083"/>
                  </a:lnTo>
                  <a:lnTo>
                    <a:pt x="149999" y="5626"/>
                  </a:lnTo>
                  <a:close/>
                </a:path>
              </a:pathLst>
            </a:custGeom>
            <a:solidFill>
              <a:srgbClr val="613C1A"/>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a:p>
          </p:txBody>
        </p:sp>
        <p:sp>
          <p:nvSpPr>
            <p:cNvPr id="13" name="object 15"/>
            <p:cNvSpPr/>
            <p:nvPr/>
          </p:nvSpPr>
          <p:spPr bwMode="auto">
            <a:xfrm>
              <a:off x="1740931" y="10571012"/>
              <a:ext cx="320675" cy="66040"/>
            </a:xfrm>
            <a:custGeom>
              <a:avLst/>
              <a:gdLst>
                <a:gd name="T0" fmla="*/ 320545 w 320675"/>
                <a:gd name="T1" fmla="*/ 0 h 66040"/>
                <a:gd name="T2" fmla="*/ 256781 w 320675"/>
                <a:gd name="T3" fmla="*/ 24472 h 66040"/>
                <a:gd name="T4" fmla="*/ 217939 w 320675"/>
                <a:gd name="T5" fmla="*/ 35949 h 66040"/>
                <a:gd name="T6" fmla="*/ 173533 w 320675"/>
                <a:gd name="T7" fmla="*/ 46259 h 66040"/>
                <a:gd name="T8" fmla="*/ 122870 w 320675"/>
                <a:gd name="T9" fmla="*/ 54905 h 66040"/>
                <a:gd name="T10" fmla="*/ 65257 w 320675"/>
                <a:gd name="T11" fmla="*/ 61392 h 66040"/>
                <a:gd name="T12" fmla="*/ 0 w 320675"/>
                <a:gd name="T13" fmla="*/ 65223 h 66040"/>
                <a:gd name="T14" fmla="*/ 481 w 320675"/>
                <a:gd name="T15" fmla="*/ 65704 h 66040"/>
                <a:gd name="T16" fmla="*/ 65826 w 320675"/>
                <a:gd name="T17" fmla="*/ 62059 h 66040"/>
                <a:gd name="T18" fmla="*/ 123669 w 320675"/>
                <a:gd name="T19" fmla="*/ 55535 h 66040"/>
                <a:gd name="T20" fmla="*/ 174582 w 320675"/>
                <a:gd name="T21" fmla="*/ 46730 h 66040"/>
                <a:gd name="T22" fmla="*/ 219138 w 320675"/>
                <a:gd name="T23" fmla="*/ 36240 h 66040"/>
                <a:gd name="T24" fmla="*/ 257909 w 320675"/>
                <a:gd name="T25" fmla="*/ 24665 h 66040"/>
                <a:gd name="T26" fmla="*/ 320388 w 320675"/>
                <a:gd name="T27" fmla="*/ 649 h 66040"/>
                <a:gd name="T28" fmla="*/ 320545 w 320675"/>
                <a:gd name="T29" fmla="*/ 0 h 660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20675" h="66040">
                  <a:moveTo>
                    <a:pt x="320545" y="0"/>
                  </a:moveTo>
                  <a:lnTo>
                    <a:pt x="256781" y="24472"/>
                  </a:lnTo>
                  <a:lnTo>
                    <a:pt x="217939" y="35949"/>
                  </a:lnTo>
                  <a:lnTo>
                    <a:pt x="173533" y="46259"/>
                  </a:lnTo>
                  <a:lnTo>
                    <a:pt x="122870" y="54905"/>
                  </a:lnTo>
                  <a:lnTo>
                    <a:pt x="65257" y="61392"/>
                  </a:lnTo>
                  <a:lnTo>
                    <a:pt x="0" y="65223"/>
                  </a:lnTo>
                  <a:lnTo>
                    <a:pt x="481" y="65704"/>
                  </a:lnTo>
                  <a:lnTo>
                    <a:pt x="65826" y="62059"/>
                  </a:lnTo>
                  <a:lnTo>
                    <a:pt x="123669" y="55535"/>
                  </a:lnTo>
                  <a:lnTo>
                    <a:pt x="174582" y="46730"/>
                  </a:lnTo>
                  <a:lnTo>
                    <a:pt x="219138" y="36240"/>
                  </a:lnTo>
                  <a:lnTo>
                    <a:pt x="257909" y="24665"/>
                  </a:lnTo>
                  <a:lnTo>
                    <a:pt x="320388" y="649"/>
                  </a:lnTo>
                  <a:lnTo>
                    <a:pt x="320545" y="0"/>
                  </a:lnTo>
                  <a:close/>
                </a:path>
              </a:pathLst>
            </a:custGeom>
            <a:solidFill>
              <a:srgbClr val="46190F"/>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a:p>
          </p:txBody>
        </p:sp>
        <p:sp>
          <p:nvSpPr>
            <p:cNvPr id="14" name="object 16"/>
            <p:cNvSpPr/>
            <p:nvPr/>
          </p:nvSpPr>
          <p:spPr bwMode="auto">
            <a:xfrm>
              <a:off x="1702140" y="10363395"/>
              <a:ext cx="310515" cy="217804"/>
            </a:xfrm>
            <a:custGeom>
              <a:avLst/>
              <a:gdLst>
                <a:gd name="T0" fmla="*/ 11211 w 310514"/>
                <a:gd name="T1" fmla="*/ 214023 h 217804"/>
                <a:gd name="T2" fmla="*/ 45820 w 310514"/>
                <a:gd name="T3" fmla="*/ 217689 h 217804"/>
                <a:gd name="T4" fmla="*/ 34938 w 310514"/>
                <a:gd name="T5" fmla="*/ 216238 h 217804"/>
                <a:gd name="T6" fmla="*/ 3238 w 310514"/>
                <a:gd name="T7" fmla="*/ 212286 h 217804"/>
                <a:gd name="T8" fmla="*/ 67882 w 310514"/>
                <a:gd name="T9" fmla="*/ 102803 h 217804"/>
                <a:gd name="T10" fmla="*/ 71390 w 310514"/>
                <a:gd name="T11" fmla="*/ 109158 h 217804"/>
                <a:gd name="T12" fmla="*/ 55034 w 310514"/>
                <a:gd name="T13" fmla="*/ 177156 h 217804"/>
                <a:gd name="T14" fmla="*/ 71370 w 310514"/>
                <a:gd name="T15" fmla="*/ 111399 h 217804"/>
                <a:gd name="T16" fmla="*/ 0 w 310514"/>
                <a:gd name="T17" fmla="*/ 211826 h 217804"/>
                <a:gd name="T18" fmla="*/ 0 w 310514"/>
                <a:gd name="T19" fmla="*/ 211826 h 217804"/>
                <a:gd name="T20" fmla="*/ 50878 w 310514"/>
                <a:gd name="T21" fmla="*/ 80604 h 217804"/>
                <a:gd name="T22" fmla="*/ 44951 w 310514"/>
                <a:gd name="T23" fmla="*/ 104708 h 217804"/>
                <a:gd name="T24" fmla="*/ 47988 w 310514"/>
                <a:gd name="T25" fmla="*/ 104750 h 217804"/>
                <a:gd name="T26" fmla="*/ 51265 w 310514"/>
                <a:gd name="T27" fmla="*/ 80950 h 217804"/>
                <a:gd name="T28" fmla="*/ 62375 w 310514"/>
                <a:gd name="T29" fmla="*/ 101326 h 217804"/>
                <a:gd name="T30" fmla="*/ 47988 w 310514"/>
                <a:gd name="T31" fmla="*/ 104750 h 217804"/>
                <a:gd name="T32" fmla="*/ 62814 w 310514"/>
                <a:gd name="T33" fmla="*/ 101839 h 217804"/>
                <a:gd name="T34" fmla="*/ 73627 w 310514"/>
                <a:gd name="T35" fmla="*/ 69780 h 217804"/>
                <a:gd name="T36" fmla="*/ 73627 w 310514"/>
                <a:gd name="T37" fmla="*/ 69780 h 217804"/>
                <a:gd name="T38" fmla="*/ 142466 w 310514"/>
                <a:gd name="T39" fmla="*/ 23789 h 217804"/>
                <a:gd name="T40" fmla="*/ 94173 w 310514"/>
                <a:gd name="T41" fmla="*/ 58057 h 217804"/>
                <a:gd name="T42" fmla="*/ 114544 w 310514"/>
                <a:gd name="T43" fmla="*/ 45295 h 217804"/>
                <a:gd name="T44" fmla="*/ 142602 w 310514"/>
                <a:gd name="T45" fmla="*/ 24250 h 217804"/>
                <a:gd name="T46" fmla="*/ 146613 w 310514"/>
                <a:gd name="T47" fmla="*/ 23549 h 217804"/>
                <a:gd name="T48" fmla="*/ 142372 w 310514"/>
                <a:gd name="T49" fmla="*/ 63359 h 217804"/>
                <a:gd name="T50" fmla="*/ 149989 w 310514"/>
                <a:gd name="T51" fmla="*/ 34975 h 217804"/>
                <a:gd name="T52" fmla="*/ 162067 w 310514"/>
                <a:gd name="T53" fmla="*/ 53471 h 217804"/>
                <a:gd name="T54" fmla="*/ 162067 w 310514"/>
                <a:gd name="T55" fmla="*/ 53471 h 217804"/>
                <a:gd name="T56" fmla="*/ 233501 w 310514"/>
                <a:gd name="T57" fmla="*/ 7298 h 217804"/>
                <a:gd name="T58" fmla="*/ 231606 w 310514"/>
                <a:gd name="T59" fmla="*/ 8397 h 217804"/>
                <a:gd name="T60" fmla="*/ 183102 w 310514"/>
                <a:gd name="T61" fmla="*/ 41564 h 217804"/>
                <a:gd name="T62" fmla="*/ 203539 w 310514"/>
                <a:gd name="T63" fmla="*/ 29118 h 217804"/>
                <a:gd name="T64" fmla="*/ 233732 w 310514"/>
                <a:gd name="T65" fmla="*/ 7779 h 217804"/>
                <a:gd name="T66" fmla="*/ 237752 w 310514"/>
                <a:gd name="T67" fmla="*/ 7025 h 217804"/>
                <a:gd name="T68" fmla="*/ 233941 w 310514"/>
                <a:gd name="T69" fmla="*/ 44920 h 217804"/>
                <a:gd name="T70" fmla="*/ 239797 w 310514"/>
                <a:gd name="T71" fmla="*/ 23549 h 217804"/>
                <a:gd name="T72" fmla="*/ 242433 w 310514"/>
                <a:gd name="T73" fmla="*/ 13235 h 217804"/>
                <a:gd name="T74" fmla="*/ 290100 w 310514"/>
                <a:gd name="T75" fmla="*/ 13886 h 217804"/>
                <a:gd name="T76" fmla="*/ 234716 w 310514"/>
                <a:gd name="T77" fmla="*/ 44082 h 217804"/>
                <a:gd name="T78" fmla="*/ 277955 w 310514"/>
                <a:gd name="T79" fmla="*/ 22566 h 217804"/>
                <a:gd name="T80" fmla="*/ 309530 w 310514"/>
                <a:gd name="T81" fmla="*/ 0 h 217804"/>
                <a:gd name="T82" fmla="*/ 151042 w 310514"/>
                <a:gd name="T83" fmla="*/ 27664 h 217804"/>
                <a:gd name="T84" fmla="*/ 148731 w 310514"/>
                <a:gd name="T85" fmla="*/ 24607 h 217804"/>
                <a:gd name="T86" fmla="*/ 148623 w 310514"/>
                <a:gd name="T87" fmla="*/ 24459 h 217804"/>
                <a:gd name="T88" fmla="*/ 147722 w 310514"/>
                <a:gd name="T89" fmla="*/ 24051 h 217804"/>
                <a:gd name="T90" fmla="*/ 239250 w 310514"/>
                <a:gd name="T91" fmla="*/ 7528 h 217804"/>
                <a:gd name="T92" fmla="*/ 240873 w 310514"/>
                <a:gd name="T93" fmla="*/ 9559 h 217804"/>
                <a:gd name="T94" fmla="*/ 242632 w 310514"/>
                <a:gd name="T95" fmla="*/ 10586 h 217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10514" h="217804">
                  <a:moveTo>
                    <a:pt x="3238" y="212286"/>
                  </a:moveTo>
                  <a:lnTo>
                    <a:pt x="178" y="212286"/>
                  </a:lnTo>
                  <a:lnTo>
                    <a:pt x="11211" y="214023"/>
                  </a:lnTo>
                  <a:lnTo>
                    <a:pt x="22331" y="215553"/>
                  </a:lnTo>
                  <a:lnTo>
                    <a:pt x="33785" y="216801"/>
                  </a:lnTo>
                  <a:lnTo>
                    <a:pt x="45820" y="217689"/>
                  </a:lnTo>
                  <a:lnTo>
                    <a:pt x="45946" y="217166"/>
                  </a:lnTo>
                  <a:lnTo>
                    <a:pt x="45454" y="217166"/>
                  </a:lnTo>
                  <a:lnTo>
                    <a:pt x="34938" y="216238"/>
                  </a:lnTo>
                  <a:lnTo>
                    <a:pt x="23622" y="215002"/>
                  </a:lnTo>
                  <a:lnTo>
                    <a:pt x="11858" y="213512"/>
                  </a:lnTo>
                  <a:lnTo>
                    <a:pt x="3238" y="212286"/>
                  </a:lnTo>
                  <a:close/>
                </a:path>
                <a:path w="310514" h="217804">
                  <a:moveTo>
                    <a:pt x="69591" y="101839"/>
                  </a:moveTo>
                  <a:lnTo>
                    <a:pt x="65704" y="101839"/>
                  </a:lnTo>
                  <a:lnTo>
                    <a:pt x="67882" y="102803"/>
                  </a:lnTo>
                  <a:lnTo>
                    <a:pt x="69340" y="104750"/>
                  </a:lnTo>
                  <a:lnTo>
                    <a:pt x="70825" y="106604"/>
                  </a:lnTo>
                  <a:lnTo>
                    <a:pt x="71390" y="109158"/>
                  </a:lnTo>
                  <a:lnTo>
                    <a:pt x="70843" y="111493"/>
                  </a:lnTo>
                  <a:lnTo>
                    <a:pt x="69494" y="117025"/>
                  </a:lnTo>
                  <a:lnTo>
                    <a:pt x="55034" y="177156"/>
                  </a:lnTo>
                  <a:lnTo>
                    <a:pt x="45454" y="217166"/>
                  </a:lnTo>
                  <a:lnTo>
                    <a:pt x="45946" y="217166"/>
                  </a:lnTo>
                  <a:lnTo>
                    <a:pt x="71370" y="111399"/>
                  </a:lnTo>
                  <a:lnTo>
                    <a:pt x="72416" y="106939"/>
                  </a:lnTo>
                  <a:lnTo>
                    <a:pt x="69591" y="101839"/>
                  </a:lnTo>
                  <a:close/>
                </a:path>
                <a:path w="310514" h="217804">
                  <a:moveTo>
                    <a:pt x="0" y="211826"/>
                  </a:moveTo>
                  <a:lnTo>
                    <a:pt x="178" y="212380"/>
                  </a:lnTo>
                  <a:lnTo>
                    <a:pt x="3238" y="212286"/>
                  </a:lnTo>
                  <a:lnTo>
                    <a:pt x="0" y="211826"/>
                  </a:lnTo>
                  <a:close/>
                </a:path>
                <a:path w="310514" h="217804">
                  <a:moveTo>
                    <a:pt x="69740" y="71732"/>
                  </a:moveTo>
                  <a:lnTo>
                    <a:pt x="51087" y="80542"/>
                  </a:lnTo>
                  <a:lnTo>
                    <a:pt x="50878" y="80604"/>
                  </a:lnTo>
                  <a:lnTo>
                    <a:pt x="50176" y="83463"/>
                  </a:lnTo>
                  <a:lnTo>
                    <a:pt x="46584" y="99117"/>
                  </a:lnTo>
                  <a:lnTo>
                    <a:pt x="44951" y="104708"/>
                  </a:lnTo>
                  <a:lnTo>
                    <a:pt x="44951" y="105326"/>
                  </a:lnTo>
                  <a:lnTo>
                    <a:pt x="46071" y="105138"/>
                  </a:lnTo>
                  <a:lnTo>
                    <a:pt x="47988" y="104750"/>
                  </a:lnTo>
                  <a:lnTo>
                    <a:pt x="45454" y="104750"/>
                  </a:lnTo>
                  <a:lnTo>
                    <a:pt x="48145" y="95190"/>
                  </a:lnTo>
                  <a:lnTo>
                    <a:pt x="51265" y="80950"/>
                  </a:lnTo>
                  <a:lnTo>
                    <a:pt x="69740" y="71732"/>
                  </a:lnTo>
                  <a:close/>
                </a:path>
                <a:path w="310514" h="217804">
                  <a:moveTo>
                    <a:pt x="69306" y="101326"/>
                  </a:moveTo>
                  <a:lnTo>
                    <a:pt x="62375" y="101326"/>
                  </a:lnTo>
                  <a:lnTo>
                    <a:pt x="61998" y="101379"/>
                  </a:lnTo>
                  <a:lnTo>
                    <a:pt x="45454" y="104750"/>
                  </a:lnTo>
                  <a:lnTo>
                    <a:pt x="47988" y="104750"/>
                  </a:lnTo>
                  <a:lnTo>
                    <a:pt x="62081" y="101902"/>
                  </a:lnTo>
                  <a:lnTo>
                    <a:pt x="62427" y="101850"/>
                  </a:lnTo>
                  <a:lnTo>
                    <a:pt x="62814" y="101839"/>
                  </a:lnTo>
                  <a:lnTo>
                    <a:pt x="69591" y="101839"/>
                  </a:lnTo>
                  <a:lnTo>
                    <a:pt x="69306" y="101326"/>
                  </a:lnTo>
                  <a:close/>
                </a:path>
                <a:path w="310514" h="217804">
                  <a:moveTo>
                    <a:pt x="73627" y="69780"/>
                  </a:moveTo>
                  <a:lnTo>
                    <a:pt x="69740" y="71732"/>
                  </a:lnTo>
                  <a:lnTo>
                    <a:pt x="72448" y="70452"/>
                  </a:lnTo>
                  <a:lnTo>
                    <a:pt x="73627" y="69780"/>
                  </a:lnTo>
                  <a:close/>
                </a:path>
                <a:path w="310514" h="217804">
                  <a:moveTo>
                    <a:pt x="146613" y="23549"/>
                  </a:moveTo>
                  <a:lnTo>
                    <a:pt x="143472" y="23549"/>
                  </a:lnTo>
                  <a:lnTo>
                    <a:pt x="142466" y="23789"/>
                  </a:lnTo>
                  <a:lnTo>
                    <a:pt x="141514" y="24271"/>
                  </a:lnTo>
                  <a:lnTo>
                    <a:pt x="141252" y="24365"/>
                  </a:lnTo>
                  <a:lnTo>
                    <a:pt x="94173" y="58057"/>
                  </a:lnTo>
                  <a:lnTo>
                    <a:pt x="73627" y="69780"/>
                  </a:lnTo>
                  <a:lnTo>
                    <a:pt x="86111" y="63512"/>
                  </a:lnTo>
                  <a:lnTo>
                    <a:pt x="114544" y="45295"/>
                  </a:lnTo>
                  <a:lnTo>
                    <a:pt x="133984" y="30846"/>
                  </a:lnTo>
                  <a:lnTo>
                    <a:pt x="141733" y="24711"/>
                  </a:lnTo>
                  <a:lnTo>
                    <a:pt x="142602" y="24250"/>
                  </a:lnTo>
                  <a:lnTo>
                    <a:pt x="143629" y="24051"/>
                  </a:lnTo>
                  <a:lnTo>
                    <a:pt x="147722" y="24051"/>
                  </a:lnTo>
                  <a:lnTo>
                    <a:pt x="146613" y="23549"/>
                  </a:lnTo>
                  <a:close/>
                </a:path>
                <a:path w="310514" h="217804">
                  <a:moveTo>
                    <a:pt x="151153" y="28421"/>
                  </a:moveTo>
                  <a:lnTo>
                    <a:pt x="150225" y="31810"/>
                  </a:lnTo>
                  <a:lnTo>
                    <a:pt x="142372" y="63359"/>
                  </a:lnTo>
                  <a:lnTo>
                    <a:pt x="144082" y="62500"/>
                  </a:lnTo>
                  <a:lnTo>
                    <a:pt x="143126" y="62500"/>
                  </a:lnTo>
                  <a:lnTo>
                    <a:pt x="149989" y="34975"/>
                  </a:lnTo>
                  <a:lnTo>
                    <a:pt x="151346" y="29737"/>
                  </a:lnTo>
                  <a:lnTo>
                    <a:pt x="151153" y="28421"/>
                  </a:lnTo>
                  <a:close/>
                </a:path>
                <a:path w="310514" h="217804">
                  <a:moveTo>
                    <a:pt x="162066" y="53471"/>
                  </a:moveTo>
                  <a:lnTo>
                    <a:pt x="143126" y="62500"/>
                  </a:lnTo>
                  <a:lnTo>
                    <a:pt x="144082" y="62500"/>
                  </a:lnTo>
                  <a:lnTo>
                    <a:pt x="162066" y="53471"/>
                  </a:lnTo>
                  <a:close/>
                </a:path>
                <a:path w="310514" h="217804">
                  <a:moveTo>
                    <a:pt x="237751" y="7025"/>
                  </a:moveTo>
                  <a:lnTo>
                    <a:pt x="234621" y="7025"/>
                  </a:lnTo>
                  <a:lnTo>
                    <a:pt x="233500" y="7298"/>
                  </a:lnTo>
                  <a:lnTo>
                    <a:pt x="232600" y="7779"/>
                  </a:lnTo>
                  <a:lnTo>
                    <a:pt x="232390" y="7874"/>
                  </a:lnTo>
                  <a:lnTo>
                    <a:pt x="231605" y="8397"/>
                  </a:lnTo>
                  <a:lnTo>
                    <a:pt x="229123" y="10292"/>
                  </a:lnTo>
                  <a:lnTo>
                    <a:pt x="205388" y="27196"/>
                  </a:lnTo>
                  <a:lnTo>
                    <a:pt x="183101" y="41564"/>
                  </a:lnTo>
                  <a:lnTo>
                    <a:pt x="162428" y="53290"/>
                  </a:lnTo>
                  <a:lnTo>
                    <a:pt x="174816" y="47070"/>
                  </a:lnTo>
                  <a:lnTo>
                    <a:pt x="203538" y="29118"/>
                  </a:lnTo>
                  <a:lnTo>
                    <a:pt x="224288" y="14501"/>
                  </a:lnTo>
                  <a:lnTo>
                    <a:pt x="232820" y="8219"/>
                  </a:lnTo>
                  <a:lnTo>
                    <a:pt x="233731" y="7779"/>
                  </a:lnTo>
                  <a:lnTo>
                    <a:pt x="234715" y="7528"/>
                  </a:lnTo>
                  <a:lnTo>
                    <a:pt x="238762" y="7528"/>
                  </a:lnTo>
                  <a:lnTo>
                    <a:pt x="237751" y="7025"/>
                  </a:lnTo>
                  <a:close/>
                </a:path>
                <a:path w="310514" h="217804">
                  <a:moveTo>
                    <a:pt x="242233" y="12010"/>
                  </a:moveTo>
                  <a:lnTo>
                    <a:pt x="241215" y="15695"/>
                  </a:lnTo>
                  <a:lnTo>
                    <a:pt x="233940" y="44920"/>
                  </a:lnTo>
                  <a:lnTo>
                    <a:pt x="235751" y="44082"/>
                  </a:lnTo>
                  <a:lnTo>
                    <a:pt x="234715" y="44082"/>
                  </a:lnTo>
                  <a:lnTo>
                    <a:pt x="239796" y="23549"/>
                  </a:lnTo>
                  <a:lnTo>
                    <a:pt x="241762" y="15695"/>
                  </a:lnTo>
                  <a:lnTo>
                    <a:pt x="241840" y="15308"/>
                  </a:lnTo>
                  <a:lnTo>
                    <a:pt x="242432" y="13235"/>
                  </a:lnTo>
                  <a:lnTo>
                    <a:pt x="242233" y="12010"/>
                  </a:lnTo>
                  <a:close/>
                </a:path>
                <a:path w="310514" h="217804">
                  <a:moveTo>
                    <a:pt x="309529" y="0"/>
                  </a:moveTo>
                  <a:lnTo>
                    <a:pt x="290099" y="13886"/>
                  </a:lnTo>
                  <a:lnTo>
                    <a:pt x="271294" y="25751"/>
                  </a:lnTo>
                  <a:lnTo>
                    <a:pt x="252903" y="35761"/>
                  </a:lnTo>
                  <a:lnTo>
                    <a:pt x="234715" y="44082"/>
                  </a:lnTo>
                  <a:lnTo>
                    <a:pt x="235751" y="44082"/>
                  </a:lnTo>
                  <a:lnTo>
                    <a:pt x="257039" y="34234"/>
                  </a:lnTo>
                  <a:lnTo>
                    <a:pt x="277954" y="22566"/>
                  </a:lnTo>
                  <a:lnTo>
                    <a:pt x="295996" y="11048"/>
                  </a:lnTo>
                  <a:lnTo>
                    <a:pt x="310472" y="816"/>
                  </a:lnTo>
                  <a:lnTo>
                    <a:pt x="309529" y="0"/>
                  </a:lnTo>
                  <a:close/>
                </a:path>
                <a:path w="310514" h="217804">
                  <a:moveTo>
                    <a:pt x="148731" y="24607"/>
                  </a:moveTo>
                  <a:lnTo>
                    <a:pt x="149786" y="26051"/>
                  </a:lnTo>
                  <a:lnTo>
                    <a:pt x="151042" y="27664"/>
                  </a:lnTo>
                  <a:lnTo>
                    <a:pt x="151153" y="28421"/>
                  </a:lnTo>
                  <a:lnTo>
                    <a:pt x="151524" y="27067"/>
                  </a:lnTo>
                  <a:lnTo>
                    <a:pt x="148731" y="24607"/>
                  </a:lnTo>
                  <a:close/>
                </a:path>
                <a:path w="310514" h="217804">
                  <a:moveTo>
                    <a:pt x="148500" y="24404"/>
                  </a:moveTo>
                  <a:lnTo>
                    <a:pt x="148731" y="24607"/>
                  </a:lnTo>
                  <a:lnTo>
                    <a:pt x="148623" y="24459"/>
                  </a:lnTo>
                  <a:lnTo>
                    <a:pt x="148500" y="24404"/>
                  </a:lnTo>
                  <a:close/>
                </a:path>
                <a:path w="310514" h="217804">
                  <a:moveTo>
                    <a:pt x="148100" y="24051"/>
                  </a:moveTo>
                  <a:lnTo>
                    <a:pt x="147722" y="24051"/>
                  </a:lnTo>
                  <a:lnTo>
                    <a:pt x="148500" y="24404"/>
                  </a:lnTo>
                  <a:lnTo>
                    <a:pt x="148100" y="24051"/>
                  </a:lnTo>
                  <a:close/>
                </a:path>
                <a:path w="310514" h="217804">
                  <a:moveTo>
                    <a:pt x="239249" y="7528"/>
                  </a:moveTo>
                  <a:lnTo>
                    <a:pt x="238762" y="7528"/>
                  </a:lnTo>
                  <a:lnTo>
                    <a:pt x="239689" y="7989"/>
                  </a:lnTo>
                  <a:lnTo>
                    <a:pt x="240872" y="9559"/>
                  </a:lnTo>
                  <a:lnTo>
                    <a:pt x="242086" y="11109"/>
                  </a:lnTo>
                  <a:lnTo>
                    <a:pt x="242233" y="12010"/>
                  </a:lnTo>
                  <a:lnTo>
                    <a:pt x="242631" y="10586"/>
                  </a:lnTo>
                  <a:lnTo>
                    <a:pt x="239249" y="7528"/>
                  </a:lnTo>
                  <a:close/>
                </a:path>
              </a:pathLst>
            </a:custGeom>
            <a:solidFill>
              <a:srgbClr val="613C1A"/>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a:p>
          </p:txBody>
        </p:sp>
        <p:pic>
          <p:nvPicPr>
            <p:cNvPr id="15" name="object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85037" y="10382744"/>
              <a:ext cx="86070" cy="179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0886" y="10392510"/>
              <a:ext cx="11989" cy="3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2496" y="10376710"/>
              <a:ext cx="11350" cy="3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7590" y="10462079"/>
              <a:ext cx="22617" cy="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object 2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32496" y="10363652"/>
              <a:ext cx="81411" cy="47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object 33"/>
            <p:cNvSpPr/>
            <p:nvPr/>
          </p:nvSpPr>
          <p:spPr bwMode="auto">
            <a:xfrm>
              <a:off x="1676416" y="10299669"/>
              <a:ext cx="409575" cy="410209"/>
            </a:xfrm>
            <a:custGeom>
              <a:avLst/>
              <a:gdLst>
                <a:gd name="T0" fmla="*/ 201564 w 409575"/>
                <a:gd name="T1" fmla="*/ 0 h 410209"/>
                <a:gd name="T2" fmla="*/ 148554 w 409575"/>
                <a:gd name="T3" fmla="*/ 7808 h 410209"/>
                <a:gd name="T4" fmla="*/ 69346 w 409575"/>
                <a:gd name="T5" fmla="*/ 51136 h 410209"/>
                <a:gd name="T6" fmla="*/ 16677 w 409575"/>
                <a:gd name="T7" fmla="*/ 123414 h 410209"/>
                <a:gd name="T8" fmla="*/ 0 w 409575"/>
                <a:gd name="T9" fmla="*/ 214276 h 410209"/>
                <a:gd name="T10" fmla="*/ 18194 w 409575"/>
                <a:gd name="T11" fmla="*/ 289873 h 410209"/>
                <a:gd name="T12" fmla="*/ 63348 w 409575"/>
                <a:gd name="T13" fmla="*/ 353109 h 410209"/>
                <a:gd name="T14" fmla="*/ 128489 w 409575"/>
                <a:gd name="T15" fmla="*/ 395063 h 410209"/>
                <a:gd name="T16" fmla="*/ 204475 w 409575"/>
                <a:gd name="T17" fmla="*/ 409673 h 410209"/>
                <a:gd name="T18" fmla="*/ 210925 w 409575"/>
                <a:gd name="T19" fmla="*/ 409621 h 410209"/>
                <a:gd name="T20" fmla="*/ 216511 w 409575"/>
                <a:gd name="T21" fmla="*/ 409076 h 410209"/>
                <a:gd name="T22" fmla="*/ 165660 w 409575"/>
                <a:gd name="T23" fmla="*/ 405379 h 410209"/>
                <a:gd name="T24" fmla="*/ 94423 w 409575"/>
                <a:gd name="T25" fmla="*/ 376851 h 410209"/>
                <a:gd name="T26" fmla="*/ 38073 w 409575"/>
                <a:gd name="T27" fmla="*/ 323135 h 410209"/>
                <a:gd name="T28" fmla="*/ 6111 w 409575"/>
                <a:gd name="T29" fmla="*/ 253062 h 410209"/>
                <a:gd name="T30" fmla="*/ 3823 w 409575"/>
                <a:gd name="T31" fmla="*/ 167291 h 410209"/>
                <a:gd name="T32" fmla="*/ 39573 w 409575"/>
                <a:gd name="T33" fmla="*/ 84647 h 410209"/>
                <a:gd name="T34" fmla="*/ 106507 w 409575"/>
                <a:gd name="T35" fmla="*/ 25701 h 410209"/>
                <a:gd name="T36" fmla="*/ 195208 w 409575"/>
                <a:gd name="T37" fmla="*/ 774 h 410209"/>
                <a:gd name="T38" fmla="*/ 204810 w 409575"/>
                <a:gd name="T39" fmla="*/ 0 h 410209"/>
                <a:gd name="T40" fmla="*/ 204810 w 409575"/>
                <a:gd name="T41" fmla="*/ 575 h 410209"/>
                <a:gd name="T42" fmla="*/ 280564 w 409575"/>
                <a:gd name="T43" fmla="*/ 15121 h 410209"/>
                <a:gd name="T44" fmla="*/ 345497 w 409575"/>
                <a:gd name="T45" fmla="*/ 56877 h 410209"/>
                <a:gd name="T46" fmla="*/ 390537 w 409575"/>
                <a:gd name="T47" fmla="*/ 120012 h 410209"/>
                <a:gd name="T48" fmla="*/ 408657 w 409575"/>
                <a:gd name="T49" fmla="*/ 195397 h 410209"/>
                <a:gd name="T50" fmla="*/ 396863 w 409575"/>
                <a:gd name="T51" fmla="*/ 274235 h 410209"/>
                <a:gd name="T52" fmla="*/ 355580 w 409575"/>
                <a:gd name="T53" fmla="*/ 342408 h 410209"/>
                <a:gd name="T54" fmla="*/ 291476 w 409575"/>
                <a:gd name="T55" fmla="*/ 389817 h 410209"/>
                <a:gd name="T56" fmla="*/ 214077 w 409575"/>
                <a:gd name="T57" fmla="*/ 408846 h 410209"/>
                <a:gd name="T58" fmla="*/ 216511 w 409575"/>
                <a:gd name="T59" fmla="*/ 409076 h 410209"/>
                <a:gd name="T60" fmla="*/ 325969 w 409575"/>
                <a:gd name="T61" fmla="*/ 369930 h 410209"/>
                <a:gd name="T62" fmla="*/ 380237 w 409575"/>
                <a:gd name="T63" fmla="*/ 310424 h 410209"/>
                <a:gd name="T64" fmla="*/ 407169 w 409575"/>
                <a:gd name="T65" fmla="*/ 235796 h 410209"/>
                <a:gd name="T66" fmla="*/ 403689 w 409575"/>
                <a:gd name="T67" fmla="*/ 156466 h 410209"/>
                <a:gd name="T68" fmla="*/ 371638 w 409575"/>
                <a:gd name="T69" fmla="*/ 86186 h 410209"/>
                <a:gd name="T70" fmla="*/ 315116 w 409575"/>
                <a:gd name="T71" fmla="*/ 32308 h 410209"/>
                <a:gd name="T72" fmla="*/ 243719 w 409575"/>
                <a:gd name="T73" fmla="*/ 3707 h 41020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09575" h="410209">
                  <a:moveTo>
                    <a:pt x="204810" y="0"/>
                  </a:moveTo>
                  <a:lnTo>
                    <a:pt x="201564" y="0"/>
                  </a:lnTo>
                  <a:lnTo>
                    <a:pt x="195156" y="240"/>
                  </a:lnTo>
                  <a:lnTo>
                    <a:pt x="148554" y="7808"/>
                  </a:lnTo>
                  <a:lnTo>
                    <a:pt x="106223" y="25206"/>
                  </a:lnTo>
                  <a:lnTo>
                    <a:pt x="69346" y="51136"/>
                  </a:lnTo>
                  <a:lnTo>
                    <a:pt x="39103" y="84305"/>
                  </a:lnTo>
                  <a:lnTo>
                    <a:pt x="16677" y="123414"/>
                  </a:lnTo>
                  <a:lnTo>
                    <a:pt x="3248" y="167170"/>
                  </a:lnTo>
                  <a:lnTo>
                    <a:pt x="0" y="214276"/>
                  </a:lnTo>
                  <a:lnTo>
                    <a:pt x="5532" y="253196"/>
                  </a:lnTo>
                  <a:lnTo>
                    <a:pt x="18194" y="289873"/>
                  </a:lnTo>
                  <a:lnTo>
                    <a:pt x="37596" y="323459"/>
                  </a:lnTo>
                  <a:lnTo>
                    <a:pt x="63348" y="353109"/>
                  </a:lnTo>
                  <a:lnTo>
                    <a:pt x="94130" y="377329"/>
                  </a:lnTo>
                  <a:lnTo>
                    <a:pt x="128489" y="395063"/>
                  </a:lnTo>
                  <a:lnTo>
                    <a:pt x="165560" y="405962"/>
                  </a:lnTo>
                  <a:lnTo>
                    <a:pt x="204475" y="409673"/>
                  </a:lnTo>
                  <a:lnTo>
                    <a:pt x="207700" y="409673"/>
                  </a:lnTo>
                  <a:lnTo>
                    <a:pt x="210925" y="409621"/>
                  </a:lnTo>
                  <a:lnTo>
                    <a:pt x="214119" y="409422"/>
                  </a:lnTo>
                  <a:lnTo>
                    <a:pt x="216511" y="409076"/>
                  </a:lnTo>
                  <a:lnTo>
                    <a:pt x="204475" y="409076"/>
                  </a:lnTo>
                  <a:lnTo>
                    <a:pt x="165660" y="405379"/>
                  </a:lnTo>
                  <a:lnTo>
                    <a:pt x="128687" y="394520"/>
                  </a:lnTo>
                  <a:lnTo>
                    <a:pt x="94423" y="376851"/>
                  </a:lnTo>
                  <a:lnTo>
                    <a:pt x="63736" y="352722"/>
                  </a:lnTo>
                  <a:lnTo>
                    <a:pt x="38073" y="323135"/>
                  </a:lnTo>
                  <a:lnTo>
                    <a:pt x="18736" y="289632"/>
                  </a:lnTo>
                  <a:lnTo>
                    <a:pt x="6111" y="253062"/>
                  </a:lnTo>
                  <a:lnTo>
                    <a:pt x="586" y="214276"/>
                  </a:lnTo>
                  <a:lnTo>
                    <a:pt x="3823" y="167291"/>
                  </a:lnTo>
                  <a:lnTo>
                    <a:pt x="17211" y="123651"/>
                  </a:lnTo>
                  <a:lnTo>
                    <a:pt x="39573" y="84647"/>
                  </a:lnTo>
                  <a:lnTo>
                    <a:pt x="69730" y="51567"/>
                  </a:lnTo>
                  <a:lnTo>
                    <a:pt x="106507" y="25701"/>
                  </a:lnTo>
                  <a:lnTo>
                    <a:pt x="148725" y="8341"/>
                  </a:lnTo>
                  <a:lnTo>
                    <a:pt x="195208" y="774"/>
                  </a:lnTo>
                  <a:lnTo>
                    <a:pt x="210855" y="575"/>
                  </a:lnTo>
                  <a:lnTo>
                    <a:pt x="204810" y="0"/>
                  </a:lnTo>
                  <a:close/>
                </a:path>
                <a:path w="409575" h="410209">
                  <a:moveTo>
                    <a:pt x="210855" y="575"/>
                  </a:moveTo>
                  <a:lnTo>
                    <a:pt x="204810" y="575"/>
                  </a:lnTo>
                  <a:lnTo>
                    <a:pt x="243614" y="4270"/>
                  </a:lnTo>
                  <a:lnTo>
                    <a:pt x="280564" y="15121"/>
                  </a:lnTo>
                  <a:lnTo>
                    <a:pt x="314809" y="32774"/>
                  </a:lnTo>
                  <a:lnTo>
                    <a:pt x="345497" y="56877"/>
                  </a:lnTo>
                  <a:lnTo>
                    <a:pt x="371189" y="86484"/>
                  </a:lnTo>
                  <a:lnTo>
                    <a:pt x="390537" y="120012"/>
                  </a:lnTo>
                  <a:lnTo>
                    <a:pt x="403156" y="156602"/>
                  </a:lnTo>
                  <a:lnTo>
                    <a:pt x="408657" y="195397"/>
                  </a:lnTo>
                  <a:lnTo>
                    <a:pt x="406612" y="235698"/>
                  </a:lnTo>
                  <a:lnTo>
                    <a:pt x="396863" y="274235"/>
                  </a:lnTo>
                  <a:lnTo>
                    <a:pt x="379742" y="310105"/>
                  </a:lnTo>
                  <a:lnTo>
                    <a:pt x="355580" y="342408"/>
                  </a:lnTo>
                  <a:lnTo>
                    <a:pt x="325621" y="369457"/>
                  </a:lnTo>
                  <a:lnTo>
                    <a:pt x="291476" y="389817"/>
                  </a:lnTo>
                  <a:lnTo>
                    <a:pt x="254008" y="403082"/>
                  </a:lnTo>
                  <a:lnTo>
                    <a:pt x="214077" y="408846"/>
                  </a:lnTo>
                  <a:lnTo>
                    <a:pt x="207669" y="409076"/>
                  </a:lnTo>
                  <a:lnTo>
                    <a:pt x="216511" y="409076"/>
                  </a:lnTo>
                  <a:lnTo>
                    <a:pt x="291717" y="390341"/>
                  </a:lnTo>
                  <a:lnTo>
                    <a:pt x="325969" y="369930"/>
                  </a:lnTo>
                  <a:lnTo>
                    <a:pt x="356020" y="342816"/>
                  </a:lnTo>
                  <a:lnTo>
                    <a:pt x="380237" y="310424"/>
                  </a:lnTo>
                  <a:lnTo>
                    <a:pt x="397397" y="274448"/>
                  </a:lnTo>
                  <a:lnTo>
                    <a:pt x="407169" y="235796"/>
                  </a:lnTo>
                  <a:lnTo>
                    <a:pt x="409223" y="195376"/>
                  </a:lnTo>
                  <a:lnTo>
                    <a:pt x="403689" y="156466"/>
                  </a:lnTo>
                  <a:lnTo>
                    <a:pt x="391033" y="119789"/>
                  </a:lnTo>
                  <a:lnTo>
                    <a:pt x="371638" y="86186"/>
                  </a:lnTo>
                  <a:lnTo>
                    <a:pt x="345884" y="56500"/>
                  </a:lnTo>
                  <a:lnTo>
                    <a:pt x="315116" y="32308"/>
                  </a:lnTo>
                  <a:lnTo>
                    <a:pt x="280774" y="14593"/>
                  </a:lnTo>
                  <a:lnTo>
                    <a:pt x="243719" y="3707"/>
                  </a:lnTo>
                  <a:lnTo>
                    <a:pt x="210855" y="575"/>
                  </a:lnTo>
                  <a:close/>
                </a:path>
              </a:pathLst>
            </a:custGeom>
            <a:solidFill>
              <a:srgbClr val="3F1B0E"/>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7" name="Text Placeholder 5"/>
          <p:cNvSpPr>
            <a:spLocks noGrp="1"/>
          </p:cNvSpPr>
          <p:nvPr>
            <p:ph type="body" sz="quarter" idx="10" hasCustomPrompt="1"/>
          </p:nvPr>
        </p:nvSpPr>
        <p:spPr>
          <a:xfrm>
            <a:off x="965355" y="2252725"/>
            <a:ext cx="2745230" cy="916780"/>
          </a:xfrm>
          <a:ln w="3175">
            <a:noFill/>
          </a:ln>
          <a:effectLst>
            <a:glow rad="63500">
              <a:schemeClr val="accent1">
                <a:satMod val="175000"/>
                <a:alpha val="40000"/>
              </a:schemeClr>
            </a:glow>
          </a:effectLst>
        </p:spPr>
        <p:txBody>
          <a:bodyPr lIns="91440" anchor="ctr">
            <a:noAutofit/>
          </a:bodyPr>
          <a:lstStyle>
            <a:lvl1pPr marL="0" indent="0" algn="l">
              <a:buNone/>
              <a:defRPr sz="2600" b="1">
                <a:solidFill>
                  <a:schemeClr val="accent1"/>
                </a:solidFill>
              </a:defRPr>
            </a:lvl1pPr>
            <a:lvl2pPr marL="342900" indent="0">
              <a:buNone/>
              <a:defRPr sz="2000">
                <a:solidFill>
                  <a:schemeClr val="bg1"/>
                </a:solidFill>
              </a:defRPr>
            </a:lvl2pPr>
            <a:lvl3pPr marL="343535" indent="0">
              <a:buNone/>
              <a:defRPr sz="2000">
                <a:solidFill>
                  <a:schemeClr val="bg1"/>
                </a:solidFill>
              </a:defRPr>
            </a:lvl3pPr>
            <a:lvl4pPr marL="343535" indent="0">
              <a:buNone/>
              <a:defRPr sz="2000">
                <a:solidFill>
                  <a:schemeClr val="bg1"/>
                </a:solidFill>
              </a:defRPr>
            </a:lvl4pPr>
            <a:lvl5pPr marL="685165" indent="0">
              <a:buNone/>
              <a:defRPr sz="2000">
                <a:solidFill>
                  <a:schemeClr val="bg1"/>
                </a:solidFill>
              </a:defRPr>
            </a:lvl5pPr>
          </a:lstStyle>
          <a:p>
            <a:pPr lvl="0"/>
            <a:r>
              <a:rPr lang="en-US" altLang="zh-HK"/>
              <a:t>[Section Title]</a:t>
            </a:r>
          </a:p>
        </p:txBody>
      </p:sp>
      <p:sp>
        <p:nvSpPr>
          <p:cNvPr id="8" name="Text Placeholder 5"/>
          <p:cNvSpPr>
            <a:spLocks noGrp="1"/>
          </p:cNvSpPr>
          <p:nvPr>
            <p:ph type="body" sz="quarter" idx="11"/>
          </p:nvPr>
        </p:nvSpPr>
        <p:spPr>
          <a:xfrm>
            <a:off x="965355" y="3293679"/>
            <a:ext cx="8243621" cy="636971"/>
          </a:xfrm>
          <a:solidFill>
            <a:schemeClr val="bg1"/>
          </a:solidFill>
        </p:spPr>
        <p:txBody>
          <a:bodyPr lIns="91440" anchor="t" anchorCtr="0">
            <a:noAutofit/>
          </a:bodyPr>
          <a:lstStyle>
            <a:lvl1pPr marL="0" indent="0" algn="l">
              <a:buNone/>
              <a:defRPr sz="3200" b="1">
                <a:solidFill>
                  <a:schemeClr val="tx1"/>
                </a:solidFill>
              </a:defRPr>
            </a:lvl1pPr>
            <a:lvl2pPr marL="342900" indent="0">
              <a:buNone/>
              <a:defRPr sz="2000">
                <a:solidFill>
                  <a:schemeClr val="bg1"/>
                </a:solidFill>
              </a:defRPr>
            </a:lvl2pPr>
            <a:lvl3pPr marL="343535" indent="0">
              <a:buNone/>
              <a:defRPr sz="2000">
                <a:solidFill>
                  <a:schemeClr val="bg1"/>
                </a:solidFill>
              </a:defRPr>
            </a:lvl3pPr>
            <a:lvl4pPr marL="343535" indent="0">
              <a:buNone/>
              <a:defRPr sz="2000">
                <a:solidFill>
                  <a:schemeClr val="bg1"/>
                </a:solidFill>
              </a:defRPr>
            </a:lvl4pPr>
            <a:lvl5pPr marL="685165" indent="0">
              <a:buNone/>
              <a:defRPr sz="2000">
                <a:solidFill>
                  <a:schemeClr val="bg1"/>
                </a:solidFill>
              </a:defRPr>
            </a:lvl5pPr>
          </a:lstStyle>
          <a:p>
            <a:pPr lvl="0"/>
            <a:r>
              <a:rPr lang="en-US" altLang="zh-HK"/>
              <a:t>Click to edit Master text styles</a:t>
            </a:r>
          </a:p>
        </p:txBody>
      </p:sp>
      <p:sp>
        <p:nvSpPr>
          <p:cNvPr id="4" name="Rectangle 3"/>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M/1x1_no title">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1995808" y="868363"/>
            <a:ext cx="7729188" cy="5505450"/>
          </a:xfrm>
        </p:spPr>
        <p:txBody>
          <a:bodyPr/>
          <a:lstStyle>
            <a:lvl1pPr>
              <a:buClr>
                <a:schemeClr val="accent1"/>
              </a:buClr>
              <a:defRPr/>
            </a:lvl1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p:cNvSpPr>
            <a:spLocks noGrp="1"/>
          </p:cNvSpPr>
          <p:nvPr>
            <p:ph type="body" sz="quarter" idx="14"/>
          </p:nvPr>
        </p:nvSpPr>
        <p:spPr>
          <a:xfrm>
            <a:off x="234988" y="868362"/>
            <a:ext cx="1602044" cy="5514975"/>
          </a:xfrm>
        </p:spPr>
        <p:txBody>
          <a:bodyPr>
            <a:noAutofit/>
          </a:bodyPr>
          <a:lstStyle>
            <a:lvl1pPr marL="0" indent="0">
              <a:buNone/>
              <a:defRPr sz="1100">
                <a:solidFill>
                  <a:schemeClr val="tx2"/>
                </a:solidFill>
              </a:defRPr>
            </a:lvl1pPr>
            <a:lvl2pPr marL="342900" indent="0">
              <a:buNone/>
              <a:defRPr sz="1000"/>
            </a:lvl2pPr>
            <a:lvl3pPr marL="685800" indent="0">
              <a:buNone/>
              <a:defRPr sz="1000"/>
            </a:lvl3pPr>
            <a:lvl4pPr marL="685165" indent="0">
              <a:buNone/>
              <a:defRPr sz="1000"/>
            </a:lvl4pPr>
            <a:lvl5pPr marL="1027430" indent="0">
              <a:buNone/>
              <a:defRPr sz="1000"/>
            </a:lvl5pPr>
          </a:lstStyle>
          <a:p>
            <a:pPr lvl="0"/>
            <a:r>
              <a:rPr lang="en-US" altLang="zh-HK"/>
              <a:t>Click to edit Master text styles</a:t>
            </a:r>
          </a:p>
        </p:txBody>
      </p:sp>
      <p:sp>
        <p:nvSpPr>
          <p:cNvPr id="10" name="Text Placeholder 9"/>
          <p:cNvSpPr>
            <a:spLocks noGrp="1"/>
          </p:cNvSpPr>
          <p:nvPr>
            <p:ph type="body" sz="quarter" idx="15"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
        <p:nvSpPr>
          <p:cNvPr id="12" name="Rectangle 11"/>
          <p:cNvSpPr/>
          <p:nvPr/>
        </p:nvSpPr>
        <p:spPr>
          <a:xfrm rot="16200000">
            <a:off x="-840497" y="3616134"/>
            <a:ext cx="5504688" cy="9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
        <p:nvSpPr>
          <p:cNvPr id="9" name="Title 1"/>
          <p:cNvSpPr>
            <a:spLocks noGrp="1"/>
          </p:cNvSpPr>
          <p:nvPr>
            <p:ph type="title"/>
          </p:nvPr>
        </p:nvSpPr>
        <p:spPr>
          <a:xfrm>
            <a:off x="226431" y="157762"/>
            <a:ext cx="7566268" cy="263523"/>
          </a:xfrm>
        </p:spPr>
        <p:txBody>
          <a:bodyPr rIns="0"/>
          <a:lstStyle/>
          <a:p>
            <a:r>
              <a:rPr lang="zh-TW" altLang="en-US"/>
              <a:t>按一下以編輯母片標題樣式</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M/1x1">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1995809" y="1196771"/>
            <a:ext cx="7729189" cy="5177042"/>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2" name="Text Placeholder 11"/>
          <p:cNvSpPr>
            <a:spLocks noGrp="1"/>
          </p:cNvSpPr>
          <p:nvPr>
            <p:ph type="body" sz="quarter" idx="14"/>
          </p:nvPr>
        </p:nvSpPr>
        <p:spPr>
          <a:xfrm>
            <a:off x="1995808" y="868365"/>
            <a:ext cx="7729189" cy="271463"/>
          </a:xfrm>
          <a:gradFill>
            <a:gsLst>
              <a:gs pos="93000">
                <a:schemeClr val="bg1">
                  <a:lumMod val="0"/>
                  <a:lumOff val="100000"/>
                  <a:alpha val="0"/>
                </a:schemeClr>
              </a:gs>
              <a:gs pos="100000">
                <a:schemeClr val="accent1"/>
              </a:gs>
            </a:gsLst>
            <a:lin ang="5400000" scaled="1"/>
          </a:gradFill>
        </p:spPr>
        <p:txBody>
          <a:bodyPr anchor="b" anchorCtr="0">
            <a:noAutofit/>
          </a:bodyPr>
          <a:lstStyle>
            <a:lvl1pPr marL="0" indent="0" algn="l">
              <a:buFont typeface="Arial" panose="020B0704020202020204" pitchFamily="34" charset="0"/>
              <a:buNone/>
              <a:defRPr sz="1200" b="1" i="0" baseline="0">
                <a:solidFill>
                  <a:schemeClr val="accent1"/>
                </a:solidFill>
                <a:latin typeface="+mj-lt"/>
                <a:ea typeface="+mj-ea"/>
              </a:defRPr>
            </a:lvl1pPr>
          </a:lstStyle>
          <a:p>
            <a:pPr lvl="0"/>
            <a:r>
              <a:rPr lang="en-US" altLang="zh-HK"/>
              <a:t>Click to edit Master text styles</a:t>
            </a:r>
          </a:p>
        </p:txBody>
      </p:sp>
      <p:sp>
        <p:nvSpPr>
          <p:cNvPr id="9" name="Text Placeholder 9"/>
          <p:cNvSpPr>
            <a:spLocks noGrp="1"/>
          </p:cNvSpPr>
          <p:nvPr>
            <p:ph type="body" sz="quarter" idx="16"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
        <p:nvSpPr>
          <p:cNvPr id="11" name="Text Placeholder 3"/>
          <p:cNvSpPr>
            <a:spLocks noGrp="1"/>
          </p:cNvSpPr>
          <p:nvPr>
            <p:ph type="body" sz="quarter" idx="17"/>
          </p:nvPr>
        </p:nvSpPr>
        <p:spPr>
          <a:xfrm>
            <a:off x="234988" y="868362"/>
            <a:ext cx="1602044" cy="5514975"/>
          </a:xfrm>
        </p:spPr>
        <p:txBody>
          <a:bodyPr>
            <a:noAutofit/>
          </a:bodyPr>
          <a:lstStyle>
            <a:lvl1pPr marL="0" indent="0">
              <a:buNone/>
              <a:defRPr sz="1100">
                <a:solidFill>
                  <a:schemeClr val="tx2"/>
                </a:solidFill>
              </a:defRPr>
            </a:lvl1pPr>
            <a:lvl2pPr marL="342900" indent="0">
              <a:buNone/>
              <a:defRPr sz="1000"/>
            </a:lvl2pPr>
            <a:lvl3pPr marL="685800" indent="0">
              <a:buNone/>
              <a:defRPr sz="1000"/>
            </a:lvl3pPr>
            <a:lvl4pPr marL="685165" indent="0">
              <a:buNone/>
              <a:defRPr sz="1000"/>
            </a:lvl4pPr>
            <a:lvl5pPr marL="1027430" indent="0">
              <a:buNone/>
              <a:defRPr sz="1000"/>
            </a:lvl5pPr>
          </a:lstStyle>
          <a:p>
            <a:pPr lvl="0"/>
            <a:r>
              <a:rPr lang="en-US" altLang="zh-HK"/>
              <a:t>Click to edit Master text styles</a:t>
            </a:r>
          </a:p>
        </p:txBody>
      </p:sp>
      <p:sp>
        <p:nvSpPr>
          <p:cNvPr id="14" name="Rectangle 13"/>
          <p:cNvSpPr/>
          <p:nvPr/>
        </p:nvSpPr>
        <p:spPr>
          <a:xfrm rot="16200000">
            <a:off x="-840497" y="3616134"/>
            <a:ext cx="5504688" cy="9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
        <p:nvSpPr>
          <p:cNvPr id="13" name="Title 1"/>
          <p:cNvSpPr>
            <a:spLocks noGrp="1"/>
          </p:cNvSpPr>
          <p:nvPr>
            <p:ph type="title"/>
          </p:nvPr>
        </p:nvSpPr>
        <p:spPr>
          <a:xfrm>
            <a:off x="226431" y="157762"/>
            <a:ext cx="7566268" cy="263523"/>
          </a:xfrm>
        </p:spPr>
        <p:txBody>
          <a:bodyPr rIns="0"/>
          <a:lstStyle/>
          <a:p>
            <a:r>
              <a:rPr lang="zh-TW" altLang="en-US"/>
              <a:t>按一下以編輯母片標題樣式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KM/2x1">
    <p:spTree>
      <p:nvGrpSpPr>
        <p:cNvPr id="1" name=""/>
        <p:cNvGrpSpPr/>
        <p:nvPr/>
      </p:nvGrpSpPr>
      <p:grpSpPr>
        <a:xfrm>
          <a:off x="0" y="0"/>
          <a:ext cx="0" cy="0"/>
          <a:chOff x="0" y="0"/>
          <a:chExt cx="0" cy="0"/>
        </a:xfrm>
      </p:grpSpPr>
      <p:sp>
        <p:nvSpPr>
          <p:cNvPr id="2" name="Title 1"/>
          <p:cNvSpPr>
            <a:spLocks noGrp="1"/>
          </p:cNvSpPr>
          <p:nvPr>
            <p:ph type="title"/>
          </p:nvPr>
        </p:nvSpPr>
        <p:spPr/>
        <p:txBody>
          <a:bodyPr rIns="0"/>
          <a:lstStyle/>
          <a:p>
            <a:r>
              <a:rPr lang="zh-TW" altLang="en-US"/>
              <a:t>按一下以編輯母片標題樣式</a:t>
            </a:r>
            <a:endParaRPr lang="en-US"/>
          </a:p>
        </p:txBody>
      </p:sp>
      <p:sp>
        <p:nvSpPr>
          <p:cNvPr id="7" name="Content Placeholder 6"/>
          <p:cNvSpPr>
            <a:spLocks noGrp="1"/>
          </p:cNvSpPr>
          <p:nvPr>
            <p:ph sz="quarter" idx="13"/>
          </p:nvPr>
        </p:nvSpPr>
        <p:spPr>
          <a:xfrm>
            <a:off x="1995808" y="1196771"/>
            <a:ext cx="7729188" cy="2052000"/>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2" name="Text Placeholder 11"/>
          <p:cNvSpPr>
            <a:spLocks noGrp="1"/>
          </p:cNvSpPr>
          <p:nvPr>
            <p:ph type="body" sz="quarter" idx="14"/>
          </p:nvPr>
        </p:nvSpPr>
        <p:spPr>
          <a:xfrm>
            <a:off x="1995807" y="868365"/>
            <a:ext cx="7729188"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dirty="0" smtClean="0">
                <a:solidFill>
                  <a:schemeClr val="accent1"/>
                </a:solidFill>
                <a:latin typeface="+mj-lt"/>
                <a:ea typeface="+mj-ea"/>
              </a:defRPr>
            </a:lvl1pPr>
          </a:lstStyle>
          <a:p>
            <a:pPr marL="0" lvl="0" indent="0"/>
            <a:r>
              <a:rPr lang="en-US" altLang="zh-HK"/>
              <a:t>Click to edit Master text styles</a:t>
            </a:r>
          </a:p>
        </p:txBody>
      </p:sp>
      <p:sp>
        <p:nvSpPr>
          <p:cNvPr id="14" name="Content Placeholder 6"/>
          <p:cNvSpPr>
            <a:spLocks noGrp="1"/>
          </p:cNvSpPr>
          <p:nvPr>
            <p:ph sz="quarter" idx="15"/>
          </p:nvPr>
        </p:nvSpPr>
        <p:spPr>
          <a:xfrm>
            <a:off x="1995808" y="4321813"/>
            <a:ext cx="7729188" cy="2052000"/>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5" name="Text Placeholder 11"/>
          <p:cNvSpPr>
            <a:spLocks noGrp="1"/>
          </p:cNvSpPr>
          <p:nvPr>
            <p:ph type="body" sz="quarter" idx="16"/>
          </p:nvPr>
        </p:nvSpPr>
        <p:spPr>
          <a:xfrm>
            <a:off x="1995807" y="3993406"/>
            <a:ext cx="7729188"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0" name="Text Placeholder 9"/>
          <p:cNvSpPr>
            <a:spLocks noGrp="1"/>
          </p:cNvSpPr>
          <p:nvPr>
            <p:ph type="body" sz="quarter" idx="18"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
        <p:nvSpPr>
          <p:cNvPr id="13" name="Text Placeholder 3"/>
          <p:cNvSpPr>
            <a:spLocks noGrp="1"/>
          </p:cNvSpPr>
          <p:nvPr>
            <p:ph type="body" sz="quarter" idx="19"/>
          </p:nvPr>
        </p:nvSpPr>
        <p:spPr>
          <a:xfrm>
            <a:off x="234988" y="868362"/>
            <a:ext cx="1602044" cy="5514975"/>
          </a:xfrm>
        </p:spPr>
        <p:txBody>
          <a:bodyPr>
            <a:noAutofit/>
          </a:bodyPr>
          <a:lstStyle>
            <a:lvl1pPr marL="0" indent="0">
              <a:buNone/>
              <a:defRPr sz="1100">
                <a:solidFill>
                  <a:schemeClr val="tx2"/>
                </a:solidFill>
              </a:defRPr>
            </a:lvl1pPr>
            <a:lvl2pPr marL="342900" indent="0">
              <a:buNone/>
              <a:defRPr sz="1000"/>
            </a:lvl2pPr>
            <a:lvl3pPr marL="685800" indent="0">
              <a:buNone/>
              <a:defRPr sz="1000"/>
            </a:lvl3pPr>
            <a:lvl4pPr marL="685165" indent="0">
              <a:buNone/>
              <a:defRPr sz="1000"/>
            </a:lvl4pPr>
            <a:lvl5pPr marL="1027430" indent="0">
              <a:buNone/>
              <a:defRPr sz="1000"/>
            </a:lvl5pPr>
          </a:lstStyle>
          <a:p>
            <a:pPr lvl="0"/>
            <a:r>
              <a:rPr lang="en-US" altLang="zh-HK"/>
              <a:t>Click to edit Master text styles</a:t>
            </a:r>
          </a:p>
        </p:txBody>
      </p:sp>
      <p:sp>
        <p:nvSpPr>
          <p:cNvPr id="18" name="Rectangle 17"/>
          <p:cNvSpPr/>
          <p:nvPr/>
        </p:nvSpPr>
        <p:spPr>
          <a:xfrm rot="16200000">
            <a:off x="-840497" y="3616134"/>
            <a:ext cx="5504688" cy="9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M_1x2">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HK" altLang="en-US"/>
          </a:p>
        </p:txBody>
      </p:sp>
      <p:sp>
        <p:nvSpPr>
          <p:cNvPr id="3" name="內容版面配置區 2"/>
          <p:cNvSpPr>
            <a:spLocks noGrp="1"/>
          </p:cNvSpPr>
          <p:nvPr>
            <p:ph sz="half" idx="1"/>
          </p:nvPr>
        </p:nvSpPr>
        <p:spPr>
          <a:xfrm>
            <a:off x="1995808" y="1195139"/>
            <a:ext cx="3648688" cy="51786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4" name="內容版面配置區 3"/>
          <p:cNvSpPr>
            <a:spLocks noGrp="1"/>
          </p:cNvSpPr>
          <p:nvPr>
            <p:ph sz="half" idx="2"/>
          </p:nvPr>
        </p:nvSpPr>
        <p:spPr>
          <a:xfrm>
            <a:off x="6066782" y="1195139"/>
            <a:ext cx="3648688" cy="5178675"/>
          </a:xfrm>
        </p:spPr>
        <p:txBody>
          <a:bodyPr/>
          <a:lstStyle>
            <a:lvl2pPr algn="l">
              <a:defRPr/>
            </a:lvl2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8" name="Text Placeholder 11"/>
          <p:cNvSpPr>
            <a:spLocks noGrp="1"/>
          </p:cNvSpPr>
          <p:nvPr>
            <p:ph type="body" sz="quarter" idx="14"/>
          </p:nvPr>
        </p:nvSpPr>
        <p:spPr>
          <a:xfrm>
            <a:off x="1995808" y="868365"/>
            <a:ext cx="3647384"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9" name="Text Placeholder 11"/>
          <p:cNvSpPr>
            <a:spLocks noGrp="1"/>
          </p:cNvSpPr>
          <p:nvPr>
            <p:ph type="body" sz="quarter" idx="15"/>
          </p:nvPr>
        </p:nvSpPr>
        <p:spPr>
          <a:xfrm>
            <a:off x="6068086" y="868365"/>
            <a:ext cx="3647384"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2" name="Text Placeholder 9"/>
          <p:cNvSpPr>
            <a:spLocks noGrp="1"/>
          </p:cNvSpPr>
          <p:nvPr>
            <p:ph type="body" sz="quarter" idx="17"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
        <p:nvSpPr>
          <p:cNvPr id="11" name="Text Placeholder 3"/>
          <p:cNvSpPr>
            <a:spLocks noGrp="1"/>
          </p:cNvSpPr>
          <p:nvPr>
            <p:ph type="body" sz="quarter" idx="18"/>
          </p:nvPr>
        </p:nvSpPr>
        <p:spPr>
          <a:xfrm>
            <a:off x="234988" y="868362"/>
            <a:ext cx="1602044" cy="5514975"/>
          </a:xfrm>
        </p:spPr>
        <p:txBody>
          <a:bodyPr>
            <a:noAutofit/>
          </a:bodyPr>
          <a:lstStyle>
            <a:lvl1pPr marL="0" indent="0">
              <a:buNone/>
              <a:defRPr sz="1100">
                <a:solidFill>
                  <a:schemeClr val="tx2"/>
                </a:solidFill>
              </a:defRPr>
            </a:lvl1pPr>
            <a:lvl2pPr marL="342900" indent="0">
              <a:buNone/>
              <a:defRPr sz="1000"/>
            </a:lvl2pPr>
            <a:lvl3pPr marL="685800" indent="0">
              <a:buNone/>
              <a:defRPr sz="1000"/>
            </a:lvl3pPr>
            <a:lvl4pPr marL="685165" indent="0">
              <a:buNone/>
              <a:defRPr sz="1000"/>
            </a:lvl4pPr>
            <a:lvl5pPr marL="1027430" indent="0">
              <a:buNone/>
              <a:defRPr sz="1000"/>
            </a:lvl5pPr>
          </a:lstStyle>
          <a:p>
            <a:pPr lvl="0"/>
            <a:r>
              <a:rPr lang="en-US" altLang="zh-HK"/>
              <a:t>Click to edit Master text styles</a:t>
            </a:r>
          </a:p>
        </p:txBody>
      </p:sp>
      <p:sp>
        <p:nvSpPr>
          <p:cNvPr id="16" name="Rectangle 15"/>
          <p:cNvSpPr/>
          <p:nvPr/>
        </p:nvSpPr>
        <p:spPr>
          <a:xfrm rot="16200000">
            <a:off x="-840497" y="3616134"/>
            <a:ext cx="5504688" cy="9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Non_KM/1x1_no title">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234988" y="854587"/>
            <a:ext cx="9480482" cy="5519225"/>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3" name="Title 2"/>
          <p:cNvSpPr>
            <a:spLocks noGrp="1"/>
          </p:cNvSpPr>
          <p:nvPr>
            <p:ph type="title"/>
          </p:nvPr>
        </p:nvSpPr>
        <p:spPr/>
        <p:txBody>
          <a:bodyPr/>
          <a:lstStyle/>
          <a:p>
            <a:r>
              <a:rPr lang="en-US" altLang="zh-HK"/>
              <a:t>Click to edit Master title style</a:t>
            </a:r>
            <a:endParaRPr lang="zh-HK" altLang="en-US"/>
          </a:p>
        </p:txBody>
      </p:sp>
      <p:sp>
        <p:nvSpPr>
          <p:cNvPr id="6" name="Text Placeholder 9"/>
          <p:cNvSpPr>
            <a:spLocks noGrp="1"/>
          </p:cNvSpPr>
          <p:nvPr>
            <p:ph type="body" sz="quarter" idx="15"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on_KM/1x1">
    <p:spTree>
      <p:nvGrpSpPr>
        <p:cNvPr id="1" name=""/>
        <p:cNvGrpSpPr/>
        <p:nvPr/>
      </p:nvGrpSpPr>
      <p:grpSpPr>
        <a:xfrm>
          <a:off x="0" y="0"/>
          <a:ext cx="0" cy="0"/>
          <a:chOff x="0" y="0"/>
          <a:chExt cx="0" cy="0"/>
        </a:xfrm>
      </p:grpSpPr>
      <p:sp>
        <p:nvSpPr>
          <p:cNvPr id="2" name="Title 1"/>
          <p:cNvSpPr>
            <a:spLocks noGrp="1"/>
          </p:cNvSpPr>
          <p:nvPr>
            <p:ph type="title"/>
          </p:nvPr>
        </p:nvSpPr>
        <p:spPr>
          <a:xfrm>
            <a:off x="226431" y="155579"/>
            <a:ext cx="7563299" cy="263523"/>
          </a:xfrm>
        </p:spPr>
        <p:txBody>
          <a:bodyPr rIns="0"/>
          <a:lstStyle/>
          <a:p>
            <a:r>
              <a:rPr lang="zh-TW" altLang="en-US"/>
              <a:t>按一下以編輯母片標題樣式</a:t>
            </a:r>
            <a:endParaRPr lang="en-US"/>
          </a:p>
        </p:txBody>
      </p:sp>
      <p:sp>
        <p:nvSpPr>
          <p:cNvPr id="7" name="Content Placeholder 6"/>
          <p:cNvSpPr>
            <a:spLocks noGrp="1"/>
          </p:cNvSpPr>
          <p:nvPr>
            <p:ph sz="quarter" idx="13"/>
          </p:nvPr>
        </p:nvSpPr>
        <p:spPr>
          <a:xfrm>
            <a:off x="234988" y="1196771"/>
            <a:ext cx="9480482" cy="5177042"/>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2" name="Text Placeholder 11"/>
          <p:cNvSpPr>
            <a:spLocks noGrp="1"/>
          </p:cNvSpPr>
          <p:nvPr>
            <p:ph type="body" sz="quarter" idx="14"/>
          </p:nvPr>
        </p:nvSpPr>
        <p:spPr>
          <a:xfrm>
            <a:off x="234987" y="868365"/>
            <a:ext cx="9480482"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6" name="Text Placeholder 9"/>
          <p:cNvSpPr>
            <a:spLocks noGrp="1"/>
          </p:cNvSpPr>
          <p:nvPr>
            <p:ph type="body" sz="quarter" idx="15"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on_KM/2x1">
    <p:spTree>
      <p:nvGrpSpPr>
        <p:cNvPr id="1" name=""/>
        <p:cNvGrpSpPr/>
        <p:nvPr/>
      </p:nvGrpSpPr>
      <p:grpSpPr>
        <a:xfrm>
          <a:off x="0" y="0"/>
          <a:ext cx="0" cy="0"/>
          <a:chOff x="0" y="0"/>
          <a:chExt cx="0" cy="0"/>
        </a:xfrm>
      </p:grpSpPr>
      <p:sp>
        <p:nvSpPr>
          <p:cNvPr id="2" name="Title 1"/>
          <p:cNvSpPr>
            <a:spLocks noGrp="1"/>
          </p:cNvSpPr>
          <p:nvPr>
            <p:ph type="title"/>
          </p:nvPr>
        </p:nvSpPr>
        <p:spPr/>
        <p:txBody>
          <a:bodyPr rIns="0"/>
          <a:lstStyle/>
          <a:p>
            <a:r>
              <a:rPr lang="zh-TW" altLang="en-US"/>
              <a:t>按一下以編輯母片標題樣式</a:t>
            </a:r>
            <a:endParaRPr lang="en-US"/>
          </a:p>
        </p:txBody>
      </p:sp>
      <p:sp>
        <p:nvSpPr>
          <p:cNvPr id="7" name="Content Placeholder 6"/>
          <p:cNvSpPr>
            <a:spLocks noGrp="1"/>
          </p:cNvSpPr>
          <p:nvPr>
            <p:ph sz="quarter" idx="13"/>
          </p:nvPr>
        </p:nvSpPr>
        <p:spPr>
          <a:xfrm>
            <a:off x="234988" y="1196771"/>
            <a:ext cx="9480482" cy="2052000"/>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2" name="Text Placeholder 11"/>
          <p:cNvSpPr>
            <a:spLocks noGrp="1"/>
          </p:cNvSpPr>
          <p:nvPr>
            <p:ph type="body" sz="quarter" idx="14"/>
          </p:nvPr>
        </p:nvSpPr>
        <p:spPr>
          <a:xfrm>
            <a:off x="234987" y="868365"/>
            <a:ext cx="9480482"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4" name="Content Placeholder 6"/>
          <p:cNvSpPr>
            <a:spLocks noGrp="1"/>
          </p:cNvSpPr>
          <p:nvPr>
            <p:ph sz="quarter" idx="15"/>
          </p:nvPr>
        </p:nvSpPr>
        <p:spPr>
          <a:xfrm>
            <a:off x="234988" y="4321813"/>
            <a:ext cx="9480482" cy="2052000"/>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5" name="Text Placeholder 11"/>
          <p:cNvSpPr>
            <a:spLocks noGrp="1"/>
          </p:cNvSpPr>
          <p:nvPr>
            <p:ph type="body" sz="quarter" idx="16"/>
          </p:nvPr>
        </p:nvSpPr>
        <p:spPr>
          <a:xfrm>
            <a:off x="234987" y="3993406"/>
            <a:ext cx="9480482"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8" name="Text Placeholder 9"/>
          <p:cNvSpPr>
            <a:spLocks noGrp="1"/>
          </p:cNvSpPr>
          <p:nvPr>
            <p:ph type="body" sz="quarter" idx="17"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on_KM_1x2">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HK" altLang="en-US"/>
          </a:p>
        </p:txBody>
      </p:sp>
      <p:sp>
        <p:nvSpPr>
          <p:cNvPr id="3" name="內容版面配置區 2"/>
          <p:cNvSpPr>
            <a:spLocks noGrp="1"/>
          </p:cNvSpPr>
          <p:nvPr>
            <p:ph sz="half" idx="1"/>
          </p:nvPr>
        </p:nvSpPr>
        <p:spPr>
          <a:xfrm>
            <a:off x="234988" y="1195139"/>
            <a:ext cx="4536727" cy="51786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4" name="內容版面配置區 3"/>
          <p:cNvSpPr>
            <a:spLocks noGrp="1"/>
          </p:cNvSpPr>
          <p:nvPr>
            <p:ph sz="half" idx="2"/>
          </p:nvPr>
        </p:nvSpPr>
        <p:spPr>
          <a:xfrm>
            <a:off x="5178743" y="1195139"/>
            <a:ext cx="4536727" cy="51786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8" name="Text Placeholder 11"/>
          <p:cNvSpPr>
            <a:spLocks noGrp="1"/>
          </p:cNvSpPr>
          <p:nvPr>
            <p:ph type="body" sz="quarter" idx="14"/>
          </p:nvPr>
        </p:nvSpPr>
        <p:spPr>
          <a:xfrm>
            <a:off x="234987" y="868365"/>
            <a:ext cx="4536727"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9" name="Text Placeholder 11"/>
          <p:cNvSpPr>
            <a:spLocks noGrp="1"/>
          </p:cNvSpPr>
          <p:nvPr>
            <p:ph type="body" sz="quarter" idx="15"/>
          </p:nvPr>
        </p:nvSpPr>
        <p:spPr>
          <a:xfrm>
            <a:off x="5180047" y="868365"/>
            <a:ext cx="4536727"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0" name="Text Placeholder 9"/>
          <p:cNvSpPr>
            <a:spLocks noGrp="1"/>
          </p:cNvSpPr>
          <p:nvPr>
            <p:ph type="body" sz="quarter" idx="16"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on_KM_2x2">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sz="2000"/>
            </a:lvl1pPr>
          </a:lstStyle>
          <a:p>
            <a:r>
              <a:rPr lang="en-US" altLang="zh-TW"/>
              <a:t>Click to edit Master title style</a:t>
            </a:r>
            <a:endParaRPr lang="zh-HK" altLang="en-US"/>
          </a:p>
        </p:txBody>
      </p:sp>
      <p:sp>
        <p:nvSpPr>
          <p:cNvPr id="3" name="內容版面配置區 2"/>
          <p:cNvSpPr>
            <a:spLocks noGrp="1"/>
          </p:cNvSpPr>
          <p:nvPr>
            <p:ph sz="half" idx="1"/>
          </p:nvPr>
        </p:nvSpPr>
        <p:spPr>
          <a:xfrm>
            <a:off x="234988" y="1195138"/>
            <a:ext cx="4536727"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8" name="Text Placeholder 11"/>
          <p:cNvSpPr>
            <a:spLocks noGrp="1"/>
          </p:cNvSpPr>
          <p:nvPr>
            <p:ph type="body" sz="quarter" idx="14"/>
          </p:nvPr>
        </p:nvSpPr>
        <p:spPr>
          <a:xfrm>
            <a:off x="234988" y="868365"/>
            <a:ext cx="4536727"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9" name="Text Placeholder 11"/>
          <p:cNvSpPr>
            <a:spLocks noGrp="1"/>
          </p:cNvSpPr>
          <p:nvPr>
            <p:ph type="body" sz="quarter" idx="15"/>
          </p:nvPr>
        </p:nvSpPr>
        <p:spPr>
          <a:xfrm>
            <a:off x="5178743" y="868365"/>
            <a:ext cx="4536727"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0" name="內容版面配置區 2"/>
          <p:cNvSpPr>
            <a:spLocks noGrp="1"/>
          </p:cNvSpPr>
          <p:nvPr>
            <p:ph sz="half" idx="16"/>
          </p:nvPr>
        </p:nvSpPr>
        <p:spPr>
          <a:xfrm>
            <a:off x="234988" y="4321813"/>
            <a:ext cx="4536727"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1" name="內容版面配置區 3"/>
          <p:cNvSpPr>
            <a:spLocks noGrp="1"/>
          </p:cNvSpPr>
          <p:nvPr>
            <p:ph sz="half" idx="17"/>
          </p:nvPr>
        </p:nvSpPr>
        <p:spPr>
          <a:xfrm>
            <a:off x="5177437" y="4321813"/>
            <a:ext cx="4536727"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2" name="Text Placeholder 11"/>
          <p:cNvSpPr>
            <a:spLocks noGrp="1"/>
          </p:cNvSpPr>
          <p:nvPr>
            <p:ph type="body" sz="quarter" idx="18"/>
          </p:nvPr>
        </p:nvSpPr>
        <p:spPr>
          <a:xfrm>
            <a:off x="234988" y="3995039"/>
            <a:ext cx="4536727"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3" name="Text Placeholder 11"/>
          <p:cNvSpPr>
            <a:spLocks noGrp="1"/>
          </p:cNvSpPr>
          <p:nvPr>
            <p:ph type="body" sz="quarter" idx="19"/>
          </p:nvPr>
        </p:nvSpPr>
        <p:spPr>
          <a:xfrm>
            <a:off x="5178743" y="3995039"/>
            <a:ext cx="4536727"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4" name="Text Placeholder 9"/>
          <p:cNvSpPr>
            <a:spLocks noGrp="1"/>
          </p:cNvSpPr>
          <p:nvPr>
            <p:ph type="body" sz="quarter" idx="20"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on_KM_1x3">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sz="2000"/>
            </a:lvl1pPr>
          </a:lstStyle>
          <a:p>
            <a:r>
              <a:rPr lang="en-US" altLang="zh-TW"/>
              <a:t>Click to edit Master title style</a:t>
            </a:r>
            <a:endParaRPr lang="zh-HK" altLang="en-US"/>
          </a:p>
        </p:txBody>
      </p:sp>
      <p:sp>
        <p:nvSpPr>
          <p:cNvPr id="3" name="內容版面配置區 2"/>
          <p:cNvSpPr>
            <a:spLocks noGrp="1"/>
          </p:cNvSpPr>
          <p:nvPr>
            <p:ph sz="half" idx="1"/>
          </p:nvPr>
        </p:nvSpPr>
        <p:spPr>
          <a:xfrm>
            <a:off x="234988" y="1195139"/>
            <a:ext cx="2988479" cy="51786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8" name="Text Placeholder 11"/>
          <p:cNvSpPr>
            <a:spLocks noGrp="1"/>
          </p:cNvSpPr>
          <p:nvPr>
            <p:ph type="body" sz="quarter" idx="14"/>
          </p:nvPr>
        </p:nvSpPr>
        <p:spPr>
          <a:xfrm>
            <a:off x="234988" y="868365"/>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0" name="內容版面配置區 2"/>
          <p:cNvSpPr>
            <a:spLocks noGrp="1"/>
          </p:cNvSpPr>
          <p:nvPr>
            <p:ph sz="half" idx="15"/>
          </p:nvPr>
        </p:nvSpPr>
        <p:spPr>
          <a:xfrm>
            <a:off x="3480989" y="1195139"/>
            <a:ext cx="2988479" cy="51786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1" name="Text Placeholder 11"/>
          <p:cNvSpPr>
            <a:spLocks noGrp="1"/>
          </p:cNvSpPr>
          <p:nvPr>
            <p:ph type="body" sz="quarter" idx="16"/>
          </p:nvPr>
        </p:nvSpPr>
        <p:spPr>
          <a:xfrm>
            <a:off x="3480989" y="868365"/>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2" name="內容版面配置區 2"/>
          <p:cNvSpPr>
            <a:spLocks noGrp="1"/>
          </p:cNvSpPr>
          <p:nvPr>
            <p:ph sz="half" idx="17"/>
          </p:nvPr>
        </p:nvSpPr>
        <p:spPr>
          <a:xfrm>
            <a:off x="6726991" y="1195139"/>
            <a:ext cx="2988479" cy="517867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3" name="Text Placeholder 11"/>
          <p:cNvSpPr>
            <a:spLocks noGrp="1"/>
          </p:cNvSpPr>
          <p:nvPr>
            <p:ph type="body" sz="quarter" idx="18"/>
          </p:nvPr>
        </p:nvSpPr>
        <p:spPr>
          <a:xfrm>
            <a:off x="6726991" y="868365"/>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4" name="Text Placeholder 9"/>
          <p:cNvSpPr>
            <a:spLocks noGrp="1"/>
          </p:cNvSpPr>
          <p:nvPr>
            <p:ph type="body" sz="quarter" idx="19"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on_KM_3x3">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sz="2000"/>
            </a:lvl1pPr>
          </a:lstStyle>
          <a:p>
            <a:r>
              <a:rPr lang="en-US" altLang="zh-TW"/>
              <a:t>Click to edit Master title style</a:t>
            </a:r>
            <a:endParaRPr lang="zh-HK" altLang="en-US"/>
          </a:p>
        </p:txBody>
      </p:sp>
      <p:sp>
        <p:nvSpPr>
          <p:cNvPr id="3" name="內容版面配置區 2"/>
          <p:cNvSpPr>
            <a:spLocks noGrp="1"/>
          </p:cNvSpPr>
          <p:nvPr>
            <p:ph sz="half" idx="1"/>
          </p:nvPr>
        </p:nvSpPr>
        <p:spPr>
          <a:xfrm>
            <a:off x="234988" y="1195138"/>
            <a:ext cx="2988479"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8" name="Text Placeholder 11"/>
          <p:cNvSpPr>
            <a:spLocks noGrp="1"/>
          </p:cNvSpPr>
          <p:nvPr>
            <p:ph type="body" sz="quarter" idx="14"/>
          </p:nvPr>
        </p:nvSpPr>
        <p:spPr>
          <a:xfrm>
            <a:off x="234988" y="868365"/>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0" name="內容版面配置區 2"/>
          <p:cNvSpPr>
            <a:spLocks noGrp="1"/>
          </p:cNvSpPr>
          <p:nvPr>
            <p:ph sz="half" idx="15"/>
          </p:nvPr>
        </p:nvSpPr>
        <p:spPr>
          <a:xfrm>
            <a:off x="3480989" y="1195138"/>
            <a:ext cx="2988479"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1" name="Text Placeholder 11"/>
          <p:cNvSpPr>
            <a:spLocks noGrp="1"/>
          </p:cNvSpPr>
          <p:nvPr>
            <p:ph type="body" sz="quarter" idx="16"/>
          </p:nvPr>
        </p:nvSpPr>
        <p:spPr>
          <a:xfrm>
            <a:off x="3480989" y="868365"/>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2" name="內容版面配置區 2"/>
          <p:cNvSpPr>
            <a:spLocks noGrp="1"/>
          </p:cNvSpPr>
          <p:nvPr>
            <p:ph sz="half" idx="17"/>
          </p:nvPr>
        </p:nvSpPr>
        <p:spPr>
          <a:xfrm>
            <a:off x="6726991" y="1195138"/>
            <a:ext cx="2988479"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3" name="Text Placeholder 11"/>
          <p:cNvSpPr>
            <a:spLocks noGrp="1"/>
          </p:cNvSpPr>
          <p:nvPr>
            <p:ph type="body" sz="quarter" idx="18"/>
          </p:nvPr>
        </p:nvSpPr>
        <p:spPr>
          <a:xfrm>
            <a:off x="6726991" y="868365"/>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4" name="內容版面配置區 2"/>
          <p:cNvSpPr>
            <a:spLocks noGrp="1"/>
          </p:cNvSpPr>
          <p:nvPr>
            <p:ph sz="half" idx="19"/>
          </p:nvPr>
        </p:nvSpPr>
        <p:spPr>
          <a:xfrm>
            <a:off x="234988" y="4324100"/>
            <a:ext cx="2988479"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5" name="Text Placeholder 11"/>
          <p:cNvSpPr>
            <a:spLocks noGrp="1"/>
          </p:cNvSpPr>
          <p:nvPr>
            <p:ph type="body" sz="quarter" idx="20"/>
          </p:nvPr>
        </p:nvSpPr>
        <p:spPr>
          <a:xfrm>
            <a:off x="234988" y="3997327"/>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6" name="內容版面配置區 2"/>
          <p:cNvSpPr>
            <a:spLocks noGrp="1"/>
          </p:cNvSpPr>
          <p:nvPr>
            <p:ph sz="half" idx="21"/>
          </p:nvPr>
        </p:nvSpPr>
        <p:spPr>
          <a:xfrm>
            <a:off x="3480989" y="4324100"/>
            <a:ext cx="2988479"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7" name="Text Placeholder 11"/>
          <p:cNvSpPr>
            <a:spLocks noGrp="1"/>
          </p:cNvSpPr>
          <p:nvPr>
            <p:ph type="body" sz="quarter" idx="22"/>
          </p:nvPr>
        </p:nvSpPr>
        <p:spPr>
          <a:xfrm>
            <a:off x="3480989" y="3997327"/>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18" name="內容版面配置區 2"/>
          <p:cNvSpPr>
            <a:spLocks noGrp="1"/>
          </p:cNvSpPr>
          <p:nvPr>
            <p:ph sz="half" idx="23"/>
          </p:nvPr>
        </p:nvSpPr>
        <p:spPr>
          <a:xfrm>
            <a:off x="6726991" y="4324100"/>
            <a:ext cx="2988479" cy="205200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19" name="Text Placeholder 11"/>
          <p:cNvSpPr>
            <a:spLocks noGrp="1"/>
          </p:cNvSpPr>
          <p:nvPr>
            <p:ph type="body" sz="quarter" idx="24"/>
          </p:nvPr>
        </p:nvSpPr>
        <p:spPr>
          <a:xfrm>
            <a:off x="6726991" y="3997327"/>
            <a:ext cx="2988479" cy="271463"/>
          </a:xfrm>
          <a:gradFill>
            <a:gsLst>
              <a:gs pos="93000">
                <a:schemeClr val="bg1">
                  <a:lumMod val="0"/>
                  <a:lumOff val="100000"/>
                  <a:alpha val="0"/>
                </a:schemeClr>
              </a:gs>
              <a:gs pos="100000">
                <a:schemeClr val="accent1"/>
              </a:gs>
            </a:gsLst>
            <a:lin ang="5400000" scaled="1"/>
          </a:gradFill>
        </p:spPr>
        <p:txBody>
          <a:bodyPr vert="horz" lIns="91440" tIns="45720" rIns="91440" bIns="45720" rtlCol="0" anchor="b" anchorCtr="0">
            <a:noAutofit/>
          </a:bodyPr>
          <a:lstStyle>
            <a:lvl1pPr marL="171450" indent="-171450">
              <a:buNone/>
              <a:defRPr lang="en-US" altLang="zh-HK" sz="1200" b="1" i="0" baseline="0" smtClean="0">
                <a:solidFill>
                  <a:schemeClr val="accent1"/>
                </a:solidFill>
                <a:latin typeface="+mj-lt"/>
                <a:ea typeface="+mj-ea"/>
              </a:defRPr>
            </a:lvl1pPr>
          </a:lstStyle>
          <a:p>
            <a:pPr marL="0" lvl="0" indent="0"/>
            <a:r>
              <a:rPr lang="en-US" altLang="zh-HK"/>
              <a:t>Click to edit Master text styles</a:t>
            </a:r>
          </a:p>
        </p:txBody>
      </p:sp>
      <p:sp>
        <p:nvSpPr>
          <p:cNvPr id="20" name="Text Placeholder 9"/>
          <p:cNvSpPr>
            <a:spLocks noGrp="1"/>
          </p:cNvSpPr>
          <p:nvPr>
            <p:ph type="body" sz="quarter" idx="25"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Page ONLY">
    <p:spTree>
      <p:nvGrpSpPr>
        <p:cNvPr id="1" name=""/>
        <p:cNvGrpSpPr/>
        <p:nvPr/>
      </p:nvGrpSpPr>
      <p:grpSpPr>
        <a:xfrm>
          <a:off x="0" y="0"/>
          <a:ext cx="0" cy="0"/>
          <a:chOff x="0" y="0"/>
          <a:chExt cx="0" cy="0"/>
        </a:xfrm>
      </p:grpSpPr>
      <p:sp>
        <p:nvSpPr>
          <p:cNvPr id="6" name="標題 1"/>
          <p:cNvSpPr>
            <a:spLocks noGrp="1"/>
          </p:cNvSpPr>
          <p:nvPr>
            <p:ph type="title" hasCustomPrompt="1"/>
          </p:nvPr>
        </p:nvSpPr>
        <p:spPr>
          <a:xfrm>
            <a:off x="226431" y="155579"/>
            <a:ext cx="6566262" cy="263523"/>
          </a:xfrm>
        </p:spPr>
        <p:txBody>
          <a:bodyPr vert="horz" lIns="91440" tIns="0" rIns="91440" bIns="0" rtlCol="0" anchor="t" anchorCtr="0">
            <a:noAutofit/>
          </a:bodyPr>
          <a:lstStyle>
            <a:lvl1pPr>
              <a:defRPr lang="zh-HK" altLang="en-US" dirty="0"/>
            </a:lvl1pPr>
          </a:lstStyle>
          <a:p>
            <a:pPr marL="0" lvl="0"/>
            <a:r>
              <a:rPr lang="en-US" altLang="zh-TW"/>
              <a:t>Content</a:t>
            </a:r>
            <a:endParaRPr lang="zh-HK"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sclaimer page ONLY_Eng">
    <p:spTree>
      <p:nvGrpSpPr>
        <p:cNvPr id="1" name=""/>
        <p:cNvGrpSpPr/>
        <p:nvPr/>
      </p:nvGrpSpPr>
      <p:grpSpPr>
        <a:xfrm>
          <a:off x="0" y="0"/>
          <a:ext cx="0" cy="0"/>
          <a:chOff x="0" y="0"/>
          <a:chExt cx="0" cy="0"/>
        </a:xfrm>
      </p:grpSpPr>
      <p:sp>
        <p:nvSpPr>
          <p:cNvPr id="4" name="Rectangle 3"/>
          <p:cNvSpPr/>
          <p:nvPr/>
        </p:nvSpPr>
        <p:spPr>
          <a:xfrm>
            <a:off x="228637" y="1621949"/>
            <a:ext cx="9480482" cy="4760278"/>
          </a:xfrm>
          <a:prstGeom prst="rect">
            <a:avLst/>
          </a:prstGeom>
        </p:spPr>
        <p:txBody>
          <a:bodyPr wrap="square">
            <a:spAutoFit/>
          </a:bodyPr>
          <a:lstStyle/>
          <a:p>
            <a:pPr marL="0" indent="0" algn="just">
              <a:spcBef>
                <a:spcPts val="750"/>
              </a:spcBef>
              <a:buNone/>
            </a:pPr>
            <a:r>
              <a:rPr lang="en-US" altLang="zh-CN" sz="1000" kern="1200">
                <a:solidFill>
                  <a:schemeClr val="tx1"/>
                </a:solidFill>
                <a:latin typeface="+mn-lt"/>
                <a:ea typeface="+mn-ea"/>
                <a:cs typeface="+mn-cs"/>
              </a:rPr>
              <a:t>This document is prepared by China Merchants Securities (HK) Co., Limited (“CMS HK”). CMS HK is a licensed corporation to carry on Type 1 (dealing in securities), Type 2 (dealing in futures), Type 4 (advising on securities), Type 6 (advising on corporate finance) and Type 9 (asset management) regulated activities under the Securities and Futures Ordinance (Chapter 571). This document is for information purpose only. Neither the information nor opinion expressed shall be construed, expressly or impliedly, as an advice, offer or solicitation of an offer, invitation, advertisement, inducement, recommendation or representation of any kind or form whatsoever to buy or sell any security, financial instrument or any investment or to enter into any transaction.  CMS HK is not acting as the intended recipients’ adviser or in a fiduciary capacity. Before entering into any transaction the intended recipients should take reasonable steps to ensure that they understands the transaction and have made an independent assessment of the appropriateness of the transaction in the light of their own objectives and circumstances, including the possible risks and benefits of entering into such transaction. Use of any information herein shall be at the sole discretion and risk of the user. CMS HK emphasizes the need for the intended recipients to take their own financial, legal accounting and tax advice at an early stage. </a:t>
            </a:r>
          </a:p>
          <a:p>
            <a:pPr marL="0" indent="0" algn="just">
              <a:spcBef>
                <a:spcPts val="750"/>
              </a:spcBef>
              <a:buNone/>
            </a:pPr>
            <a:r>
              <a:rPr lang="en-US" altLang="zh-CN" sz="1000" kern="1200">
                <a:solidFill>
                  <a:schemeClr val="tx1"/>
                </a:solidFill>
                <a:latin typeface="+mn-lt"/>
                <a:ea typeface="+mn-ea"/>
                <a:cs typeface="+mn-cs"/>
              </a:rPr>
              <a:t> </a:t>
            </a:r>
          </a:p>
          <a:p>
            <a:pPr marL="0" indent="0" algn="just">
              <a:spcBef>
                <a:spcPts val="750"/>
              </a:spcBef>
              <a:buNone/>
            </a:pPr>
            <a:r>
              <a:rPr lang="en-US" altLang="zh-CN" sz="1000" kern="1200">
                <a:solidFill>
                  <a:schemeClr val="tx1"/>
                </a:solidFill>
                <a:latin typeface="+mn-lt"/>
                <a:ea typeface="+mn-ea"/>
                <a:cs typeface="+mn-cs"/>
              </a:rPr>
              <a:t>The information and opinions, and associated estimates and forecasts, contained herein have been obtained from or are based on sources believed to be reliable. CMS HK, its holding or affiliated companies, or any of its or their directors, officers or employees (“CMS Group”) do not represent or warrant, expressly or impliedly, that it is accurate, correct or complete and it should not be relied upon. CMS Group will not accept any responsibility or liability whatsoever for any use of or reliance upon this document or any of the content thereof. The contents and information in this document are only current as of the date of their publication and will be subject to change without prior notice. Past performance is not indicative of future performance. Estimates of future performance are based on assumptions that may not be realized. The analysis contained herein is based on numerous assumptions. Different assumptions could result in materially different results. Opinions expressed herein may differ or be contrary to those expressed by other business divisions or other members of CMS Group as a result of using different assumptions and/or criteria.</a:t>
            </a:r>
          </a:p>
          <a:p>
            <a:pPr marL="0" indent="0" algn="just">
              <a:spcBef>
                <a:spcPts val="750"/>
              </a:spcBef>
              <a:buNone/>
            </a:pPr>
            <a:r>
              <a:rPr lang="en-US" altLang="zh-CN" sz="1000" kern="1200">
                <a:solidFill>
                  <a:schemeClr val="tx1"/>
                </a:solidFill>
                <a:latin typeface="+mn-lt"/>
                <a:ea typeface="+mn-ea"/>
                <a:cs typeface="+mn-cs"/>
              </a:rPr>
              <a:t> </a:t>
            </a:r>
          </a:p>
          <a:p>
            <a:pPr marL="0" indent="0" algn="just">
              <a:spcBef>
                <a:spcPts val="750"/>
              </a:spcBef>
              <a:buNone/>
            </a:pPr>
            <a:r>
              <a:rPr lang="en-US" altLang="zh-CN" sz="1000" kern="1200">
                <a:solidFill>
                  <a:schemeClr val="tx1"/>
                </a:solidFill>
                <a:latin typeface="+mn-lt"/>
                <a:ea typeface="+mn-ea"/>
                <a:cs typeface="+mn-cs"/>
              </a:rPr>
              <a:t>CMS Group may have a long or short position, make markets, act as principal or agent, or engage in transactions in securities of companies referred to in this document and may also perform or seek to perform investment banking services or provide advisory or other services for those companies. The intended recipients acknowledge that this document contains proprietary information and that intended recipients have agreed to keep such information strictly confidential. This document is for the use of intended recipients only and this document may not be reproduced, distributed or published in whole or in part for any purpose without the prior consent of CMS Group. CMS Group will not be liable for any claims or lawsuits from any third parties arising from the use or distribution of this document. This document is for distribution only under such circumstances as may be permitted by applicable law. This document is not directed at the intended recipients if CMS Group is prohibited or restricted by any legislation or regulation in any jurisdiction from making it available to the intended recipients. </a:t>
            </a:r>
          </a:p>
          <a:p>
            <a:pPr marL="0" indent="0" algn="just">
              <a:spcBef>
                <a:spcPts val="750"/>
              </a:spcBef>
              <a:buNone/>
            </a:pPr>
            <a:endParaRPr lang="en-US" altLang="zh-CN" sz="1000" kern="1200">
              <a:solidFill>
                <a:schemeClr val="tx1"/>
              </a:solidFill>
              <a:latin typeface="+mn-lt"/>
              <a:ea typeface="+mn-ea"/>
              <a:cs typeface="+mn-cs"/>
            </a:endParaRPr>
          </a:p>
        </p:txBody>
      </p:sp>
      <p:sp>
        <p:nvSpPr>
          <p:cNvPr id="5" name="TextBox 4"/>
          <p:cNvSpPr txBox="1"/>
          <p:nvPr/>
        </p:nvSpPr>
        <p:spPr>
          <a:xfrm>
            <a:off x="228638" y="153990"/>
            <a:ext cx="3152568" cy="274636"/>
          </a:xfrm>
          <a:prstGeom prst="rect">
            <a:avLst/>
          </a:prstGeom>
        </p:spPr>
        <p:txBody>
          <a:bodyPr vert="horz" lIns="91440" tIns="0" rIns="91440" bIns="0" rtlCol="0" anchor="t" anchorCtr="0">
            <a:noAutofit/>
          </a:bodyPr>
          <a:lstStyle>
            <a:lvl1pPr defTabSz="685800">
              <a:lnSpc>
                <a:spcPct val="90000"/>
              </a:lnSpc>
              <a:spcBef>
                <a:spcPct val="0"/>
              </a:spcBef>
              <a:buNone/>
              <a:defRPr sz="2000" b="1" baseline="0">
                <a:solidFill>
                  <a:schemeClr val="accent1"/>
                </a:solidFill>
                <a:latin typeface="Arial" panose="020B0704020202020204" pitchFamily="34" charset="0"/>
                <a:ea typeface="+mj-ea"/>
                <a:cs typeface="Arial" panose="020B0704020202020204" pitchFamily="34" charset="0"/>
              </a:defRPr>
            </a:lvl1pPr>
          </a:lstStyle>
          <a:p>
            <a:pPr lvl="0"/>
            <a:r>
              <a:rPr lang="en-GB" altLang="zh-HK"/>
              <a:t>Disclaimer</a:t>
            </a:r>
          </a:p>
        </p:txBody>
      </p:sp>
      <p:sp>
        <p:nvSpPr>
          <p:cNvPr id="6" name="Rectangle 5"/>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isclaimer page ONLY_Chi">
    <p:spTree>
      <p:nvGrpSpPr>
        <p:cNvPr id="1" name=""/>
        <p:cNvGrpSpPr/>
        <p:nvPr/>
      </p:nvGrpSpPr>
      <p:grpSpPr>
        <a:xfrm>
          <a:off x="0" y="0"/>
          <a:ext cx="0" cy="0"/>
          <a:chOff x="0" y="0"/>
          <a:chExt cx="0" cy="0"/>
        </a:xfrm>
      </p:grpSpPr>
      <p:sp>
        <p:nvSpPr>
          <p:cNvPr id="4" name="Rectangle 3"/>
          <p:cNvSpPr/>
          <p:nvPr/>
        </p:nvSpPr>
        <p:spPr>
          <a:xfrm>
            <a:off x="228637" y="1621951"/>
            <a:ext cx="9480482" cy="3108543"/>
          </a:xfrm>
          <a:prstGeom prst="rect">
            <a:avLst/>
          </a:prstGeom>
        </p:spPr>
        <p:txBody>
          <a:bodyPr wrap="square">
            <a:spAutoFit/>
          </a:bodyPr>
          <a:lstStyle/>
          <a:p>
            <a:pPr marL="0" indent="0">
              <a:spcBef>
                <a:spcPts val="750"/>
              </a:spcBef>
              <a:buNone/>
            </a:pPr>
            <a:r>
              <a:rPr lang="zh-CN" altLang="en-US" sz="1200" kern="1200">
                <a:solidFill>
                  <a:schemeClr val="tx1"/>
                </a:solidFill>
                <a:latin typeface="+mn-lt"/>
                <a:ea typeface="+mn-ea"/>
                <a:cs typeface="+mn-cs"/>
              </a:rPr>
              <a:t>本文件由招商证券国际有限公司、其子公司或关联机构（统称“招证国际”）编制，旨在提供一般资讯及作参考之用。</a:t>
            </a:r>
          </a:p>
          <a:p>
            <a:pPr marL="0" indent="0">
              <a:spcBef>
                <a:spcPts val="750"/>
              </a:spcBef>
              <a:buNone/>
            </a:pPr>
            <a:endParaRPr lang="zh-CN" altLang="en-US" sz="1200" kern="1200">
              <a:solidFill>
                <a:schemeClr val="tx1"/>
              </a:solidFill>
              <a:latin typeface="+mn-lt"/>
              <a:ea typeface="+mn-ea"/>
              <a:cs typeface="+mn-cs"/>
            </a:endParaRPr>
          </a:p>
          <a:p>
            <a:pPr marL="0" indent="0">
              <a:spcBef>
                <a:spcPts val="750"/>
              </a:spcBef>
              <a:buNone/>
            </a:pPr>
            <a:r>
              <a:rPr lang="zh-CN" altLang="en-US" sz="1200" kern="1200">
                <a:solidFill>
                  <a:schemeClr val="tx1"/>
                </a:solidFill>
                <a:latin typeface="+mn-lt"/>
                <a:ea typeface="+mn-ea"/>
                <a:cs typeface="+mn-cs"/>
              </a:rPr>
              <a:t>本文件不是研究报告或销售评论，不构成对任何证券或产品的邀约，亦不构成财务、法律、税务、投资建议、或其他专业意见。对任何因直接或间接使用或依赖本文件或本文件涉及的信息和内容的一切后果或损失，招证国际不承担任何法律责任。就是否使用本文件中信息而作任何行动或任何不作为前，阁下应该寻求适当的建议。</a:t>
            </a:r>
          </a:p>
          <a:p>
            <a:pPr marL="0" indent="0">
              <a:spcBef>
                <a:spcPts val="750"/>
              </a:spcBef>
              <a:buNone/>
            </a:pPr>
            <a:endParaRPr lang="zh-CN" altLang="en-US" sz="1200" kern="1200">
              <a:solidFill>
                <a:schemeClr val="tx1"/>
              </a:solidFill>
              <a:latin typeface="+mn-lt"/>
              <a:ea typeface="+mn-ea"/>
              <a:cs typeface="+mn-cs"/>
            </a:endParaRPr>
          </a:p>
          <a:p>
            <a:pPr marL="0" indent="0">
              <a:spcBef>
                <a:spcPts val="750"/>
              </a:spcBef>
              <a:buNone/>
            </a:pPr>
            <a:r>
              <a:rPr lang="zh-CN" altLang="en-US" sz="1200" kern="1200">
                <a:solidFill>
                  <a:schemeClr val="tx1"/>
                </a:solidFill>
                <a:latin typeface="+mn-lt"/>
                <a:ea typeface="+mn-ea"/>
                <a:cs typeface="+mn-cs"/>
              </a:rPr>
              <a:t>本文件中所发布的信息、观点以及数据有可能因发布日之后的情势或其他因素的变更而不再准确或失效，但招证国际不承担更新不准确或过时的信息、观点以及数据的义务，在对相关信息进行变更或更新时亦不会另行通知。招证国际就本文件所载信息或观点的公平性、准确性、完整性、合理性、及时性不做任何明示或默示的承诺或保证。</a:t>
            </a:r>
          </a:p>
          <a:p>
            <a:pPr marL="0" indent="0">
              <a:spcBef>
                <a:spcPts val="750"/>
              </a:spcBef>
              <a:buNone/>
            </a:pPr>
            <a:endParaRPr lang="zh-CN" altLang="en-US" sz="1200" kern="1200">
              <a:solidFill>
                <a:schemeClr val="tx1"/>
              </a:solidFill>
              <a:latin typeface="+mn-lt"/>
              <a:ea typeface="+mn-ea"/>
              <a:cs typeface="+mn-cs"/>
            </a:endParaRPr>
          </a:p>
          <a:p>
            <a:pPr marL="0" indent="0">
              <a:spcBef>
                <a:spcPts val="750"/>
              </a:spcBef>
              <a:buNone/>
            </a:pPr>
            <a:r>
              <a:rPr lang="zh-CN" altLang="en-US" sz="1200" kern="1200">
                <a:solidFill>
                  <a:schemeClr val="tx1"/>
                </a:solidFill>
                <a:latin typeface="+mn-lt"/>
                <a:ea typeface="+mn-ea"/>
                <a:cs typeface="+mn-cs"/>
              </a:rPr>
              <a:t>阁下承认本文件包含专有信息，阁下同意对上述信息严格保密。本文件仅供阁下使用，未经招证国际事先同意，本文件不得基于任何目的被全部或部分地复制、传播或发布。招证国际不对任何第三方因使用或传播本文件而提起的任何索赔或诉讼而承担责任。本文件仅在适用法律允许的情况下进行传播。如果任何管辖区的法律法规禁止或限制招证国际将本文件提供给阁下，招证国际并未将本文件提供给阁下。 </a:t>
            </a:r>
          </a:p>
        </p:txBody>
      </p:sp>
      <p:sp>
        <p:nvSpPr>
          <p:cNvPr id="5" name="TextBox 4"/>
          <p:cNvSpPr txBox="1"/>
          <p:nvPr/>
        </p:nvSpPr>
        <p:spPr>
          <a:xfrm>
            <a:off x="228638" y="153990"/>
            <a:ext cx="3152568" cy="274636"/>
          </a:xfrm>
          <a:prstGeom prst="rect">
            <a:avLst/>
          </a:prstGeom>
        </p:spPr>
        <p:txBody>
          <a:bodyPr vert="horz" lIns="91440" tIns="0" rIns="91440" bIns="0" rtlCol="0" anchor="t" anchorCtr="0">
            <a:noAutofit/>
          </a:bodyPr>
          <a:lstStyle>
            <a:defPPr>
              <a:defRPr lang="zh-HK"/>
            </a:defPPr>
            <a:lvl1pPr lvl="0" defTabSz="685800">
              <a:lnSpc>
                <a:spcPct val="90000"/>
              </a:lnSpc>
              <a:spcBef>
                <a:spcPct val="0"/>
              </a:spcBef>
              <a:buNone/>
              <a:defRPr sz="2000" b="1" baseline="0">
                <a:solidFill>
                  <a:schemeClr val="accent1"/>
                </a:solidFill>
                <a:latin typeface="Arial" panose="020B0704020202020204" pitchFamily="34" charset="0"/>
                <a:ea typeface="+mj-ea"/>
                <a:cs typeface="Arial" panose="020B0704020202020204" pitchFamily="34" charset="0"/>
              </a:defRPr>
            </a:lvl1pPr>
          </a:lstStyle>
          <a:p>
            <a:pPr lvl="0"/>
            <a:r>
              <a:rPr lang="zh-HK" altLang="en-US"/>
              <a:t>免责声明</a:t>
            </a:r>
          </a:p>
        </p:txBody>
      </p:sp>
      <p:sp>
        <p:nvSpPr>
          <p:cNvPr id="6" name="Rectangle 5"/>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ntact page ONLY">
    <p:spTree>
      <p:nvGrpSpPr>
        <p:cNvPr id="1" name=""/>
        <p:cNvGrpSpPr/>
        <p:nvPr/>
      </p:nvGrpSpPr>
      <p:grpSpPr>
        <a:xfrm>
          <a:off x="0" y="0"/>
          <a:ext cx="0" cy="0"/>
          <a:chOff x="0" y="0"/>
          <a:chExt cx="0" cy="0"/>
        </a:xfrm>
      </p:grpSpPr>
      <p:sp>
        <p:nvSpPr>
          <p:cNvPr id="16" name="Rectangle 15"/>
          <p:cNvSpPr/>
          <p:nvPr/>
        </p:nvSpPr>
        <p:spPr>
          <a:xfrm>
            <a:off x="-12703" y="12702"/>
            <a:ext cx="9917116" cy="735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
        <p:nvSpPr>
          <p:cNvPr id="5" name="TextBox 4"/>
          <p:cNvSpPr txBox="1"/>
          <p:nvPr/>
        </p:nvSpPr>
        <p:spPr>
          <a:xfrm>
            <a:off x="234987" y="2162954"/>
            <a:ext cx="4958558" cy="2656696"/>
          </a:xfrm>
          <a:prstGeom prst="rect">
            <a:avLst/>
          </a:prstGeom>
          <a:noFill/>
        </p:spPr>
        <p:txBody>
          <a:bodyPr wrap="square" rtlCol="0">
            <a:noAutofit/>
          </a:bodyPr>
          <a:lstStyle/>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r>
              <a:rPr lang="en-US" altLang="zh-HK" sz="1600" b="1" i="0" kern="1200" baseline="0">
                <a:solidFill>
                  <a:schemeClr val="accent1"/>
                </a:solidFill>
                <a:latin typeface="+mj-lt"/>
                <a:ea typeface="+mj-ea"/>
                <a:cs typeface="Arial" panose="020B0704020202020204" pitchFamily="34" charset="0"/>
              </a:rPr>
              <a:t>China Merchants Securities (HK) Co., Limited</a:t>
            </a:r>
          </a:p>
          <a:p>
            <a:pPr marL="0" marR="0" lvl="0" indent="0" algn="l" defTabSz="685800" rtl="0" eaLnBrk="1" fontAlgn="auto" latinLnBrk="0" hangingPunct="1">
              <a:lnSpc>
                <a:spcPct val="100000"/>
              </a:lnSpc>
              <a:spcBef>
                <a:spcPts val="100"/>
              </a:spcBef>
              <a:spcAft>
                <a:spcPts val="100"/>
              </a:spcAft>
              <a:buClr>
                <a:schemeClr val="accent1"/>
              </a:buClr>
              <a:buSzTx/>
              <a:buFont typeface="Wingdings" panose="05000000000000000000" pitchFamily="2" charset="2"/>
              <a:buNone/>
              <a:defRPr/>
            </a:pPr>
            <a:r>
              <a:rPr lang="zh-CN" altLang="en-US" sz="1600" b="1" i="0" kern="1200" baseline="0">
                <a:solidFill>
                  <a:schemeClr val="accent1"/>
                </a:solidFill>
                <a:latin typeface="+mn-lt"/>
                <a:ea typeface="+mn-ea"/>
                <a:cs typeface="Arial" panose="020B0704020202020204" pitchFamily="34" charset="0"/>
              </a:rPr>
              <a:t>招商证券（香港）有限公司</a:t>
            </a:r>
          </a:p>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endParaRPr lang="en-US" altLang="zh-HK" sz="1400" b="1" i="0" kern="1200" baseline="0">
              <a:solidFill>
                <a:schemeClr val="accent1"/>
              </a:solidFill>
              <a:latin typeface="+mj-lt"/>
              <a:ea typeface="+mj-ea"/>
              <a:cs typeface="Arial" panose="020B0704020202020204" pitchFamily="34" charset="0"/>
            </a:endParaRPr>
          </a:p>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r>
              <a:rPr lang="en-US" altLang="zh-HK" sz="1400" b="1" i="0" kern="1200" baseline="0">
                <a:solidFill>
                  <a:schemeClr val="accent6"/>
                </a:solidFill>
                <a:latin typeface="+mj-lt"/>
                <a:ea typeface="+mj-ea"/>
                <a:cs typeface="Arial" panose="020B0704020202020204" pitchFamily="34" charset="0"/>
              </a:rPr>
              <a:t>48/F., One Exchange Square, Central, Hong Kong</a:t>
            </a:r>
          </a:p>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r>
              <a:rPr lang="zh-CN" altLang="en-US" sz="1400" b="1" i="0" kern="1200" baseline="0">
                <a:solidFill>
                  <a:schemeClr val="accent6"/>
                </a:solidFill>
                <a:latin typeface="+mn-lt"/>
                <a:ea typeface="+mn-ea"/>
                <a:cs typeface="Arial" panose="020B0704020202020204" pitchFamily="34" charset="0"/>
              </a:rPr>
              <a:t>香港中环交易广场一期</a:t>
            </a:r>
            <a:r>
              <a:rPr lang="en-US" altLang="zh-CN" sz="1400" b="1" i="0" kern="1200" baseline="0">
                <a:solidFill>
                  <a:schemeClr val="accent6"/>
                </a:solidFill>
                <a:latin typeface="+mn-lt"/>
                <a:ea typeface="+mn-ea"/>
                <a:cs typeface="Arial" panose="020B0704020202020204" pitchFamily="34" charset="0"/>
              </a:rPr>
              <a:t>48</a:t>
            </a:r>
            <a:r>
              <a:rPr lang="zh-CN" altLang="en-US" sz="1400" b="1" i="0" kern="1200" baseline="0">
                <a:solidFill>
                  <a:schemeClr val="accent6"/>
                </a:solidFill>
                <a:latin typeface="+mn-lt"/>
                <a:ea typeface="+mn-ea"/>
                <a:cs typeface="Arial" panose="020B0704020202020204" pitchFamily="34" charset="0"/>
              </a:rPr>
              <a:t>楼</a:t>
            </a:r>
            <a:br>
              <a:rPr lang="zh-CN" altLang="en-US" sz="1400" b="1" i="0" kern="1200" baseline="0">
                <a:solidFill>
                  <a:schemeClr val="accent6"/>
                </a:solidFill>
                <a:latin typeface="+mn-lt"/>
                <a:ea typeface="+mn-ea"/>
                <a:cs typeface="Arial" panose="020B0704020202020204" pitchFamily="34" charset="0"/>
              </a:rPr>
            </a:br>
            <a:br>
              <a:rPr lang="en-US" altLang="zh-HK" sz="1400" b="1" i="0" kern="1200" baseline="0">
                <a:solidFill>
                  <a:schemeClr val="accent6"/>
                </a:solidFill>
                <a:latin typeface="+mj-lt"/>
                <a:ea typeface="+mj-ea"/>
                <a:cs typeface="Arial" panose="020B0704020202020204" pitchFamily="34" charset="0"/>
              </a:rPr>
            </a:br>
            <a:r>
              <a:rPr lang="en-US" altLang="zh-HK" sz="1400" b="1" i="0" kern="1200" baseline="0">
                <a:solidFill>
                  <a:schemeClr val="accent6"/>
                </a:solidFill>
                <a:latin typeface="+mj-lt"/>
                <a:ea typeface="+mj-ea"/>
                <a:cs typeface="Arial" panose="020B0704020202020204" pitchFamily="34" charset="0"/>
              </a:rPr>
              <a:t>Tel: 	+852 3189-6888</a:t>
            </a:r>
          </a:p>
          <a:p>
            <a:pPr marL="0" marR="0" lvl="0" indent="0" algn="l" defTabSz="685800" rtl="0" eaLnBrk="1" fontAlgn="auto" latinLnBrk="0" hangingPunct="1">
              <a:lnSpc>
                <a:spcPct val="100000"/>
              </a:lnSpc>
              <a:spcBef>
                <a:spcPts val="100"/>
              </a:spcBef>
              <a:spcAft>
                <a:spcPts val="100"/>
              </a:spcAft>
              <a:buClr>
                <a:schemeClr val="accent1"/>
              </a:buClr>
              <a:buSzTx/>
              <a:buFont typeface="Wingdings" panose="05000000000000000000" pitchFamily="2" charset="2"/>
              <a:buNone/>
              <a:defRPr/>
            </a:pPr>
            <a:r>
              <a:rPr lang="zh-CN" altLang="en-US" sz="1400" b="1" i="0" kern="1200" baseline="0">
                <a:solidFill>
                  <a:schemeClr val="accent6"/>
                </a:solidFill>
                <a:latin typeface="+mn-lt"/>
                <a:ea typeface="+mn-ea"/>
                <a:cs typeface="Arial" panose="020B0704020202020204" pitchFamily="34" charset="0"/>
              </a:rPr>
              <a:t>电话：</a:t>
            </a:r>
            <a:r>
              <a:rPr lang="en-US" altLang="zh-CN" sz="1400" b="1" i="0" kern="1200" baseline="0">
                <a:solidFill>
                  <a:schemeClr val="accent6"/>
                </a:solidFill>
                <a:latin typeface="+mn-lt"/>
                <a:ea typeface="+mn-ea"/>
                <a:cs typeface="Arial" panose="020B0704020202020204" pitchFamily="34" charset="0"/>
              </a:rPr>
              <a:t>	+852 3189-6888</a:t>
            </a:r>
          </a:p>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endParaRPr lang="en-US" altLang="zh-HK" sz="1400" b="1" i="0" kern="1200" baseline="0">
              <a:solidFill>
                <a:schemeClr val="accent6"/>
              </a:solidFill>
              <a:latin typeface="+mj-lt"/>
              <a:ea typeface="+mj-ea"/>
              <a:cs typeface="Arial" panose="020B0704020202020204" pitchFamily="34" charset="0"/>
            </a:endParaRPr>
          </a:p>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endParaRPr lang="en-US" altLang="zh-HK" sz="1400" b="1" i="0" kern="1200" baseline="0">
              <a:solidFill>
                <a:schemeClr val="accent6"/>
              </a:solidFill>
              <a:latin typeface="+mj-lt"/>
              <a:ea typeface="+mj-ea"/>
              <a:cs typeface="Arial" panose="020B0704020202020204" pitchFamily="34" charset="0"/>
            </a:endParaRPr>
          </a:p>
          <a:p>
            <a:pPr marL="0" lvl="0" indent="0" algn="l" defTabSz="685800" rtl="0" eaLnBrk="1" latinLnBrk="0" hangingPunct="1">
              <a:lnSpc>
                <a:spcPct val="100000"/>
              </a:lnSpc>
              <a:spcBef>
                <a:spcPts val="100"/>
              </a:spcBef>
              <a:spcAft>
                <a:spcPts val="100"/>
              </a:spcAft>
              <a:buClr>
                <a:schemeClr val="accent1"/>
              </a:buClr>
              <a:buFont typeface="Wingdings" panose="05000000000000000000" pitchFamily="2" charset="2"/>
              <a:buNone/>
            </a:pPr>
            <a:r>
              <a:rPr lang="en-US" altLang="zh-HK" sz="1400" b="1" i="0" kern="1200" baseline="0">
                <a:solidFill>
                  <a:schemeClr val="accent6"/>
                </a:solidFill>
                <a:latin typeface="+mj-lt"/>
                <a:ea typeface="+mj-ea"/>
                <a:cs typeface="Arial" panose="020B0704020202020204" pitchFamily="34" charset="0"/>
              </a:rPr>
              <a:t>www.newone.com.hk</a:t>
            </a:r>
          </a:p>
        </p:txBody>
      </p:sp>
      <p:sp>
        <p:nvSpPr>
          <p:cNvPr id="15" name="TextBox 14"/>
          <p:cNvSpPr txBox="1"/>
          <p:nvPr/>
        </p:nvSpPr>
        <p:spPr>
          <a:xfrm>
            <a:off x="228638" y="153990"/>
            <a:ext cx="3152568" cy="274636"/>
          </a:xfrm>
          <a:prstGeom prst="rect">
            <a:avLst/>
          </a:prstGeom>
        </p:spPr>
        <p:txBody>
          <a:bodyPr vert="horz" lIns="91440" tIns="0" rIns="91440" bIns="0" rtlCol="0" anchor="t" anchorCtr="0">
            <a:noAutofit/>
          </a:bodyPr>
          <a:lstStyle>
            <a:defPPr>
              <a:defRPr lang="zh-HK"/>
            </a:defPPr>
            <a:lvl1pPr lvl="0" defTabSz="685800">
              <a:lnSpc>
                <a:spcPct val="90000"/>
              </a:lnSpc>
              <a:spcBef>
                <a:spcPct val="0"/>
              </a:spcBef>
              <a:buNone/>
              <a:defRPr sz="2000" b="1" baseline="0">
                <a:solidFill>
                  <a:schemeClr val="accent1"/>
                </a:solidFill>
                <a:latin typeface="Arial" panose="020B0704020202020204" pitchFamily="34" charset="0"/>
                <a:ea typeface="+mj-ea"/>
                <a:cs typeface="Arial" panose="020B0704020202020204" pitchFamily="34" charset="0"/>
              </a:defRPr>
            </a:lvl1pPr>
          </a:lstStyle>
          <a:p>
            <a:pPr lvl="0"/>
            <a:r>
              <a:rPr lang="en-GB" altLang="zh-HK"/>
              <a:t>Contact</a:t>
            </a:r>
          </a:p>
        </p:txBody>
      </p:sp>
      <p:pic>
        <p:nvPicPr>
          <p:cNvPr id="7" name="Picture 2" descr="C:\Users\chiannor\Pictures\Logo\CMS\Golden logo without background.jpg"/>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7009056" y="6023540"/>
            <a:ext cx="2735019" cy="3408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灯片编号占位符 1"/>
          <p:cNvSpPr>
            <a:spLocks noGrp="1"/>
          </p:cNvSpPr>
          <p:nvPr>
            <p:ph type="sldNum" sz="quarter" idx="4"/>
          </p:nvPr>
        </p:nvSpPr>
        <p:spPr>
          <a:xfrm>
            <a:off x="7698402" y="6572253"/>
            <a:ext cx="222920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97D3F6-18CD-4740-997B-9D42A0320054}" type="slidenum">
              <a:rPr lang="zh-HK" altLang="en-US" smtClean="0"/>
              <a:t>‹#›</a:t>
            </a:fld>
            <a:endParaRPr lang="zh-HK"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標題投影片">
    <p:spTree>
      <p:nvGrpSpPr>
        <p:cNvPr id="1" name=""/>
        <p:cNvGrpSpPr/>
        <p:nvPr/>
      </p:nvGrpSpPr>
      <p:grpSpPr>
        <a:xfrm>
          <a:off x="0" y="0"/>
          <a:ext cx="0" cy="0"/>
          <a:chOff x="0" y="0"/>
          <a:chExt cx="0" cy="0"/>
        </a:xfrm>
      </p:grpSpPr>
      <p:sp>
        <p:nvSpPr>
          <p:cNvPr id="16" name="Rectangle 15"/>
          <p:cNvSpPr/>
          <p:nvPr/>
        </p:nvSpPr>
        <p:spPr>
          <a:xfrm>
            <a:off x="-1" y="12702"/>
            <a:ext cx="9904413" cy="735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
        <p:nvSpPr>
          <p:cNvPr id="8" name="Rectangle 7"/>
          <p:cNvSpPr/>
          <p:nvPr userDrawn="1"/>
        </p:nvSpPr>
        <p:spPr>
          <a:xfrm>
            <a:off x="438704" y="576161"/>
            <a:ext cx="9042400" cy="5185686"/>
          </a:xfrm>
          <a:prstGeom prst="rect">
            <a:avLst/>
          </a:prstGeom>
          <a:solidFill>
            <a:schemeClr val="bg1">
              <a:lumMod val="85000"/>
              <a:alpha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p:cNvCxnSpPr/>
          <p:nvPr userDrawn="1"/>
        </p:nvCxnSpPr>
        <p:spPr>
          <a:xfrm flipH="1">
            <a:off x="3826925" y="6225670"/>
            <a:ext cx="5885922" cy="0"/>
          </a:xfrm>
          <a:prstGeom prst="line">
            <a:avLst/>
          </a:prstGeom>
          <a:ln w="57150">
            <a:gradFill flip="none" rotWithShape="1">
              <a:gsLst>
                <a:gs pos="34000">
                  <a:srgbClr val="C00000"/>
                </a:gs>
                <a:gs pos="0">
                  <a:srgbClr val="800000"/>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1" name="Picture 2" descr="C:\Users\chiannor\Pictures\Logo\CMS\Golden logo without background.jpg"/>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65588" y="6002080"/>
            <a:ext cx="3288840" cy="40985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7" name="Text Placeholder 5"/>
          <p:cNvSpPr>
            <a:spLocks noGrp="1"/>
          </p:cNvSpPr>
          <p:nvPr>
            <p:ph type="body" sz="quarter" idx="10" hasCustomPrompt="1"/>
          </p:nvPr>
        </p:nvSpPr>
        <p:spPr>
          <a:xfrm>
            <a:off x="965355" y="2252725"/>
            <a:ext cx="2745230" cy="916780"/>
          </a:xfrm>
          <a:ln w="3175">
            <a:noFill/>
          </a:ln>
          <a:effectLst>
            <a:glow rad="63500">
              <a:schemeClr val="accent1">
                <a:satMod val="175000"/>
                <a:alpha val="40000"/>
              </a:schemeClr>
            </a:glow>
          </a:effectLst>
        </p:spPr>
        <p:txBody>
          <a:bodyPr lIns="91440" anchor="ctr">
            <a:noAutofit/>
          </a:bodyPr>
          <a:lstStyle>
            <a:lvl1pPr marL="0" indent="0" algn="l">
              <a:buNone/>
              <a:defRPr sz="2600" b="1">
                <a:solidFill>
                  <a:schemeClr val="accent1"/>
                </a:solidFill>
              </a:defRPr>
            </a:lvl1pPr>
            <a:lvl2pPr marL="342900" indent="0">
              <a:buNone/>
              <a:defRPr sz="2000">
                <a:solidFill>
                  <a:schemeClr val="bg1"/>
                </a:solidFill>
              </a:defRPr>
            </a:lvl2pPr>
            <a:lvl3pPr marL="343535" indent="0">
              <a:buNone/>
              <a:defRPr sz="2000">
                <a:solidFill>
                  <a:schemeClr val="bg1"/>
                </a:solidFill>
              </a:defRPr>
            </a:lvl3pPr>
            <a:lvl4pPr marL="343535" indent="0">
              <a:buNone/>
              <a:defRPr sz="2000">
                <a:solidFill>
                  <a:schemeClr val="bg1"/>
                </a:solidFill>
              </a:defRPr>
            </a:lvl4pPr>
            <a:lvl5pPr marL="685165" indent="0">
              <a:buNone/>
              <a:defRPr sz="2000">
                <a:solidFill>
                  <a:schemeClr val="bg1"/>
                </a:solidFill>
              </a:defRPr>
            </a:lvl5pPr>
          </a:lstStyle>
          <a:p>
            <a:pPr lvl="0"/>
            <a:r>
              <a:rPr lang="en-US" altLang="zh-HK"/>
              <a:t>[Section Title]</a:t>
            </a:r>
          </a:p>
        </p:txBody>
      </p:sp>
      <p:sp>
        <p:nvSpPr>
          <p:cNvPr id="8" name="Text Placeholder 5"/>
          <p:cNvSpPr>
            <a:spLocks noGrp="1"/>
          </p:cNvSpPr>
          <p:nvPr>
            <p:ph type="body" sz="quarter" idx="11"/>
          </p:nvPr>
        </p:nvSpPr>
        <p:spPr>
          <a:xfrm>
            <a:off x="965355" y="3293679"/>
            <a:ext cx="8243621" cy="636971"/>
          </a:xfrm>
          <a:solidFill>
            <a:schemeClr val="bg1"/>
          </a:solidFill>
        </p:spPr>
        <p:txBody>
          <a:bodyPr lIns="91440" anchor="t" anchorCtr="0">
            <a:noAutofit/>
          </a:bodyPr>
          <a:lstStyle>
            <a:lvl1pPr marL="0" indent="0" algn="l">
              <a:buNone/>
              <a:defRPr sz="3200" b="1">
                <a:solidFill>
                  <a:schemeClr val="tx1"/>
                </a:solidFill>
              </a:defRPr>
            </a:lvl1pPr>
            <a:lvl2pPr marL="342900" indent="0">
              <a:buNone/>
              <a:defRPr sz="2000">
                <a:solidFill>
                  <a:schemeClr val="bg1"/>
                </a:solidFill>
              </a:defRPr>
            </a:lvl2pPr>
            <a:lvl3pPr marL="343535" indent="0">
              <a:buNone/>
              <a:defRPr sz="2000">
                <a:solidFill>
                  <a:schemeClr val="bg1"/>
                </a:solidFill>
              </a:defRPr>
            </a:lvl3pPr>
            <a:lvl4pPr marL="343535" indent="0">
              <a:buNone/>
              <a:defRPr sz="2000">
                <a:solidFill>
                  <a:schemeClr val="bg1"/>
                </a:solidFill>
              </a:defRPr>
            </a:lvl4pPr>
            <a:lvl5pPr marL="685165" indent="0">
              <a:buNone/>
              <a:defRPr sz="2000">
                <a:solidFill>
                  <a:schemeClr val="bg1"/>
                </a:solidFill>
              </a:defRPr>
            </a:lvl5pPr>
          </a:lstStyle>
          <a:p>
            <a:pPr lvl="0"/>
            <a:r>
              <a:rPr lang="en-US" altLang="zh-HK"/>
              <a:t>Click to edit Master text styles</a:t>
            </a:r>
          </a:p>
        </p:txBody>
      </p:sp>
      <p:sp>
        <p:nvSpPr>
          <p:cNvPr id="4" name="Rectangle 3"/>
          <p:cNvSpPr/>
          <p:nvPr userDrawn="1"/>
        </p:nvSpPr>
        <p:spPr>
          <a:xfrm>
            <a:off x="9481104" y="6553200"/>
            <a:ext cx="329646"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KM/1x1_no title">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1995808" y="868363"/>
            <a:ext cx="7729188" cy="5505450"/>
          </a:xfrm>
        </p:spPr>
        <p:txBody>
          <a:bodyPr/>
          <a:lstStyle>
            <a:lvl1pPr>
              <a:buClr>
                <a:schemeClr val="accent1"/>
              </a:buClr>
              <a:defRPr/>
            </a:lvl1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p:cNvSpPr>
            <a:spLocks noGrp="1"/>
          </p:cNvSpPr>
          <p:nvPr>
            <p:ph type="body" sz="quarter" idx="14"/>
          </p:nvPr>
        </p:nvSpPr>
        <p:spPr>
          <a:xfrm>
            <a:off x="234988" y="868362"/>
            <a:ext cx="1602044" cy="5514975"/>
          </a:xfrm>
        </p:spPr>
        <p:txBody>
          <a:bodyPr>
            <a:noAutofit/>
          </a:bodyPr>
          <a:lstStyle>
            <a:lvl1pPr marL="0" indent="0">
              <a:buNone/>
              <a:defRPr sz="1100">
                <a:solidFill>
                  <a:schemeClr val="tx2"/>
                </a:solidFill>
              </a:defRPr>
            </a:lvl1pPr>
            <a:lvl2pPr marL="342900" indent="0">
              <a:buNone/>
              <a:defRPr sz="1000"/>
            </a:lvl2pPr>
            <a:lvl3pPr marL="685800" indent="0">
              <a:buNone/>
              <a:defRPr sz="1000"/>
            </a:lvl3pPr>
            <a:lvl4pPr marL="685165" indent="0">
              <a:buNone/>
              <a:defRPr sz="1000"/>
            </a:lvl4pPr>
            <a:lvl5pPr marL="1027430" indent="0">
              <a:buNone/>
              <a:defRPr sz="1000"/>
            </a:lvl5pPr>
          </a:lstStyle>
          <a:p>
            <a:pPr lvl="0"/>
            <a:r>
              <a:rPr lang="en-US" altLang="zh-HK"/>
              <a:t>Click to edit Master text styles</a:t>
            </a:r>
          </a:p>
        </p:txBody>
      </p:sp>
      <p:sp>
        <p:nvSpPr>
          <p:cNvPr id="10" name="Text Placeholder 9"/>
          <p:cNvSpPr>
            <a:spLocks noGrp="1"/>
          </p:cNvSpPr>
          <p:nvPr>
            <p:ph type="body" sz="quarter" idx="15"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
        <p:nvSpPr>
          <p:cNvPr id="12" name="Rectangle 11"/>
          <p:cNvSpPr/>
          <p:nvPr/>
        </p:nvSpPr>
        <p:spPr>
          <a:xfrm rot="16200000">
            <a:off x="-840497" y="3616134"/>
            <a:ext cx="5504688" cy="9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
        <p:nvSpPr>
          <p:cNvPr id="9" name="Title 1"/>
          <p:cNvSpPr>
            <a:spLocks noGrp="1"/>
          </p:cNvSpPr>
          <p:nvPr>
            <p:ph type="title"/>
          </p:nvPr>
        </p:nvSpPr>
        <p:spPr>
          <a:xfrm>
            <a:off x="226431" y="157762"/>
            <a:ext cx="7566268" cy="263523"/>
          </a:xfrm>
        </p:spPr>
        <p:txBody>
          <a:bodyPr rIns="0"/>
          <a:lstStyle/>
          <a:p>
            <a:r>
              <a:rPr lang="zh-TW" altLang="en-US"/>
              <a:t>按一下以編輯母片標題樣式</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KM/1x1">
    <p:spTree>
      <p:nvGrpSpPr>
        <p:cNvPr id="1" name=""/>
        <p:cNvGrpSpPr/>
        <p:nvPr/>
      </p:nvGrpSpPr>
      <p:grpSpPr>
        <a:xfrm>
          <a:off x="0" y="0"/>
          <a:ext cx="0" cy="0"/>
          <a:chOff x="0" y="0"/>
          <a:chExt cx="0" cy="0"/>
        </a:xfrm>
      </p:grpSpPr>
      <p:sp>
        <p:nvSpPr>
          <p:cNvPr id="7" name="Content Placeholder 6"/>
          <p:cNvSpPr>
            <a:spLocks noGrp="1"/>
          </p:cNvSpPr>
          <p:nvPr>
            <p:ph sz="quarter" idx="13"/>
          </p:nvPr>
        </p:nvSpPr>
        <p:spPr>
          <a:xfrm>
            <a:off x="1995809" y="1196771"/>
            <a:ext cx="7729189" cy="5177042"/>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12" name="Text Placeholder 11"/>
          <p:cNvSpPr>
            <a:spLocks noGrp="1"/>
          </p:cNvSpPr>
          <p:nvPr>
            <p:ph type="body" sz="quarter" idx="14"/>
          </p:nvPr>
        </p:nvSpPr>
        <p:spPr>
          <a:xfrm>
            <a:off x="1995808" y="868365"/>
            <a:ext cx="7729189" cy="271463"/>
          </a:xfrm>
          <a:gradFill>
            <a:gsLst>
              <a:gs pos="93000">
                <a:schemeClr val="bg1">
                  <a:lumMod val="0"/>
                  <a:lumOff val="100000"/>
                  <a:alpha val="0"/>
                </a:schemeClr>
              </a:gs>
              <a:gs pos="100000">
                <a:schemeClr val="accent1"/>
              </a:gs>
            </a:gsLst>
            <a:lin ang="5400000" scaled="1"/>
          </a:gradFill>
        </p:spPr>
        <p:txBody>
          <a:bodyPr anchor="b" anchorCtr="0">
            <a:noAutofit/>
          </a:bodyPr>
          <a:lstStyle>
            <a:lvl1pPr marL="0" indent="0" algn="l">
              <a:buFont typeface="Arial" panose="020B0704020202020204" pitchFamily="34" charset="0"/>
              <a:buNone/>
              <a:defRPr sz="1200" b="1" i="0" baseline="0">
                <a:solidFill>
                  <a:schemeClr val="accent1"/>
                </a:solidFill>
                <a:latin typeface="+mj-lt"/>
                <a:ea typeface="+mj-ea"/>
              </a:defRPr>
            </a:lvl1pPr>
          </a:lstStyle>
          <a:p>
            <a:pPr lvl="0"/>
            <a:r>
              <a:rPr lang="en-US" altLang="zh-HK"/>
              <a:t>Click to edit Master text styles</a:t>
            </a:r>
          </a:p>
        </p:txBody>
      </p:sp>
      <p:sp>
        <p:nvSpPr>
          <p:cNvPr id="9" name="Text Placeholder 9"/>
          <p:cNvSpPr>
            <a:spLocks noGrp="1"/>
          </p:cNvSpPr>
          <p:nvPr>
            <p:ph type="body" sz="quarter" idx="16" hasCustomPrompt="1"/>
          </p:nvPr>
        </p:nvSpPr>
        <p:spPr>
          <a:xfrm>
            <a:off x="226433" y="400050"/>
            <a:ext cx="7563299" cy="325438"/>
          </a:xfrm>
        </p:spPr>
        <p:txBody>
          <a:bodyPr anchor="t" anchorCtr="0">
            <a:noAutofit/>
          </a:bodyPr>
          <a:lstStyle>
            <a:lvl1pPr marL="0" indent="0">
              <a:buNone/>
              <a:defRPr sz="1800" b="1" baseline="0">
                <a:solidFill>
                  <a:schemeClr val="tx2"/>
                </a:solidFill>
              </a:defRPr>
            </a:lvl1pPr>
          </a:lstStyle>
          <a:p>
            <a:pPr lvl="0"/>
            <a:r>
              <a:rPr lang="en-US" altLang="zh-HK"/>
              <a:t>[Sub title]</a:t>
            </a:r>
            <a:endParaRPr lang="zh-HK" altLang="en-US"/>
          </a:p>
        </p:txBody>
      </p:sp>
      <p:sp>
        <p:nvSpPr>
          <p:cNvPr id="11" name="Text Placeholder 3"/>
          <p:cNvSpPr>
            <a:spLocks noGrp="1"/>
          </p:cNvSpPr>
          <p:nvPr>
            <p:ph type="body" sz="quarter" idx="17"/>
          </p:nvPr>
        </p:nvSpPr>
        <p:spPr>
          <a:xfrm>
            <a:off x="234988" y="868362"/>
            <a:ext cx="1602044" cy="5514975"/>
          </a:xfrm>
        </p:spPr>
        <p:txBody>
          <a:bodyPr>
            <a:noAutofit/>
          </a:bodyPr>
          <a:lstStyle>
            <a:lvl1pPr marL="0" indent="0">
              <a:buNone/>
              <a:defRPr sz="1100">
                <a:solidFill>
                  <a:schemeClr val="tx2"/>
                </a:solidFill>
              </a:defRPr>
            </a:lvl1pPr>
            <a:lvl2pPr marL="342900" indent="0">
              <a:buNone/>
              <a:defRPr sz="1000"/>
            </a:lvl2pPr>
            <a:lvl3pPr marL="685800" indent="0">
              <a:buNone/>
              <a:defRPr sz="1000"/>
            </a:lvl3pPr>
            <a:lvl4pPr marL="685165" indent="0">
              <a:buNone/>
              <a:defRPr sz="1000"/>
            </a:lvl4pPr>
            <a:lvl5pPr marL="1027430" indent="0">
              <a:buNone/>
              <a:defRPr sz="1000"/>
            </a:lvl5pPr>
          </a:lstStyle>
          <a:p>
            <a:pPr lvl="0"/>
            <a:r>
              <a:rPr lang="en-US" altLang="zh-HK"/>
              <a:t>Click to edit Master text styles</a:t>
            </a:r>
          </a:p>
        </p:txBody>
      </p:sp>
      <p:sp>
        <p:nvSpPr>
          <p:cNvPr id="14" name="Rectangle 13"/>
          <p:cNvSpPr/>
          <p:nvPr/>
        </p:nvSpPr>
        <p:spPr>
          <a:xfrm rot="16200000">
            <a:off x="-840497" y="3616134"/>
            <a:ext cx="5504688" cy="91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1200"/>
          </a:p>
        </p:txBody>
      </p:sp>
      <p:sp>
        <p:nvSpPr>
          <p:cNvPr id="13" name="Title 1"/>
          <p:cNvSpPr>
            <a:spLocks noGrp="1"/>
          </p:cNvSpPr>
          <p:nvPr>
            <p:ph type="title"/>
          </p:nvPr>
        </p:nvSpPr>
        <p:spPr>
          <a:xfrm>
            <a:off x="226431" y="157762"/>
            <a:ext cx="7566268" cy="263523"/>
          </a:xfrm>
        </p:spPr>
        <p:txBody>
          <a:bodyPr rIns="0"/>
          <a:lstStyle/>
          <a:p>
            <a:r>
              <a:rPr lang="zh-TW" altLang="en-US"/>
              <a:t>按一下以編輯母片標題樣式</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226431" y="157762"/>
            <a:ext cx="7566268" cy="263523"/>
          </a:xfrm>
          <a:prstGeom prst="rect">
            <a:avLst/>
          </a:prstGeom>
        </p:spPr>
        <p:txBody>
          <a:bodyPr vert="horz" lIns="91440" tIns="0" rIns="91440" bIns="0" rtlCol="0" anchor="t" anchorCtr="0">
            <a:noAutofit/>
          </a:bodyPr>
          <a:lstStyle/>
          <a:p>
            <a:endParaRPr lang="zh-HK" altLang="en-US"/>
          </a:p>
        </p:txBody>
      </p:sp>
      <p:sp>
        <p:nvSpPr>
          <p:cNvPr id="3" name="文字版面配置區 2"/>
          <p:cNvSpPr>
            <a:spLocks noGrp="1"/>
          </p:cNvSpPr>
          <p:nvPr>
            <p:ph type="body" idx="1"/>
          </p:nvPr>
        </p:nvSpPr>
        <p:spPr>
          <a:xfrm>
            <a:off x="1995807" y="1392237"/>
            <a:ext cx="7739568" cy="4997451"/>
          </a:xfrm>
          <a:prstGeom prst="rect">
            <a:avLst/>
          </a:prstGeom>
        </p:spPr>
        <p:txBody>
          <a:bodyPr vert="horz" lIns="91440" tIns="45720" rIns="91440" bIns="45720" rtlCol="0">
            <a:no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HK" altLang="en-US"/>
          </a:p>
        </p:txBody>
      </p:sp>
      <p:pic>
        <p:nvPicPr>
          <p:cNvPr id="20" name="Picture 2" descr="C:\Users\chiannor\Pictures\Logo\CMS\Golden logo without background.jpg"/>
          <p:cNvPicPr>
            <a:picLocks noChangeAspect="1" noChangeArrowheads="1"/>
          </p:cNvPicPr>
          <p:nvPr userDrawn="1"/>
        </p:nvPicPr>
        <p:blipFill>
          <a:blip r:embed="rId24" cstate="print">
            <a:extLst>
              <a:ext uri="{28A0092B-C50C-407E-A947-70E740481C1C}">
                <a14:useLocalDpi xmlns:a14="http://schemas.microsoft.com/office/drawing/2010/main" val="0"/>
              </a:ext>
            </a:extLst>
          </a:blip>
          <a:stretch>
            <a:fillRect/>
          </a:stretch>
        </p:blipFill>
        <p:spPr bwMode="auto">
          <a:xfrm>
            <a:off x="7881934" y="170224"/>
            <a:ext cx="1862141" cy="232768"/>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p:cNvGrpSpPr/>
          <p:nvPr userDrawn="1"/>
        </p:nvGrpSpPr>
        <p:grpSpPr>
          <a:xfrm>
            <a:off x="231344" y="-747073"/>
            <a:ext cx="1066334" cy="646331"/>
            <a:chOff x="259919" y="-747073"/>
            <a:chExt cx="1066334" cy="646331"/>
          </a:xfrm>
        </p:grpSpPr>
        <p:sp>
          <p:nvSpPr>
            <p:cNvPr id="13" name="TextBox 12"/>
            <p:cNvSpPr txBox="1"/>
            <p:nvPr userDrawn="1"/>
          </p:nvSpPr>
          <p:spPr>
            <a:xfrm>
              <a:off x="481150" y="-747073"/>
              <a:ext cx="845103" cy="461665"/>
            </a:xfrm>
            <a:prstGeom prst="rect">
              <a:avLst/>
            </a:prstGeom>
            <a:noFill/>
          </p:spPr>
          <p:txBody>
            <a:bodyPr wrap="none" rtlCol="0">
              <a:spAutoFit/>
            </a:bodyPr>
            <a:lstStyle/>
            <a:p>
              <a:r>
                <a:rPr lang="en-US" sz="800" dirty="0">
                  <a:solidFill>
                    <a:srgbClr val="FF0000"/>
                  </a:solidFill>
                </a:rPr>
                <a:t>Page Content</a:t>
              </a:r>
            </a:p>
            <a:p>
              <a:r>
                <a:rPr lang="en-US" sz="800" dirty="0">
                  <a:solidFill>
                    <a:srgbClr val="FF0000"/>
                  </a:solidFill>
                </a:rPr>
                <a:t>Left Alignment</a:t>
              </a:r>
            </a:p>
            <a:p>
              <a:r>
                <a:rPr lang="en-US" altLang="zh-CN" sz="800" dirty="0">
                  <a:solidFill>
                    <a:srgbClr val="FF0000"/>
                  </a:solidFill>
                </a:rPr>
                <a:t>5.15</a:t>
              </a:r>
              <a:endParaRPr lang="en-US" sz="800" dirty="0">
                <a:solidFill>
                  <a:srgbClr val="FF0000"/>
                </a:solidFill>
              </a:endParaRPr>
            </a:p>
          </p:txBody>
        </p:sp>
        <p:cxnSp>
          <p:nvCxnSpPr>
            <p:cNvPr id="14" name="Straight Arrow Connector 13"/>
            <p:cNvCxnSpPr/>
            <p:nvPr userDrawn="1"/>
          </p:nvCxnSpPr>
          <p:spPr bwMode="auto">
            <a:xfrm>
              <a:off x="259919" y="-559365"/>
              <a:ext cx="0" cy="458623"/>
            </a:xfrm>
            <a:prstGeom prst="straightConnector1">
              <a:avLst/>
            </a:prstGeom>
            <a:noFill/>
            <a:ln w="9525" cap="flat" cmpd="sng" algn="ctr">
              <a:solidFill>
                <a:srgbClr val="FF0000"/>
              </a:solidFill>
              <a:prstDash val="solid"/>
              <a:round/>
              <a:headEnd type="none" w="med" len="med"/>
              <a:tailEnd type="triangle" w="med" len="med"/>
            </a:ln>
            <a:effectLst/>
          </p:spPr>
        </p:cxnSp>
      </p:grpSp>
      <p:grpSp>
        <p:nvGrpSpPr>
          <p:cNvPr id="15" name="Group 14"/>
          <p:cNvGrpSpPr/>
          <p:nvPr userDrawn="1"/>
        </p:nvGrpSpPr>
        <p:grpSpPr>
          <a:xfrm>
            <a:off x="8430570" y="-737929"/>
            <a:ext cx="1304805" cy="655633"/>
            <a:chOff x="8243880" y="-737929"/>
            <a:chExt cx="1304805" cy="655633"/>
          </a:xfrm>
        </p:grpSpPr>
        <p:cxnSp>
          <p:nvCxnSpPr>
            <p:cNvPr id="19" name="Straight Arrow Connector 18"/>
            <p:cNvCxnSpPr/>
            <p:nvPr userDrawn="1"/>
          </p:nvCxnSpPr>
          <p:spPr bwMode="auto">
            <a:xfrm>
              <a:off x="9548685" y="-540919"/>
              <a:ext cx="0" cy="458623"/>
            </a:xfrm>
            <a:prstGeom prst="straightConnector1">
              <a:avLst/>
            </a:prstGeom>
            <a:noFill/>
            <a:ln w="9525" cap="flat" cmpd="sng" algn="ctr">
              <a:solidFill>
                <a:srgbClr val="FF0000"/>
              </a:solidFill>
              <a:prstDash val="solid"/>
              <a:round/>
              <a:headEnd type="none" w="med" len="med"/>
              <a:tailEnd type="triangle" w="med" len="med"/>
            </a:ln>
            <a:effectLst/>
          </p:spPr>
        </p:cxnSp>
        <p:sp>
          <p:nvSpPr>
            <p:cNvPr id="21" name="TextBox 20"/>
            <p:cNvSpPr txBox="1"/>
            <p:nvPr userDrawn="1"/>
          </p:nvSpPr>
          <p:spPr>
            <a:xfrm>
              <a:off x="8243880" y="-737929"/>
              <a:ext cx="1261563" cy="461665"/>
            </a:xfrm>
            <a:prstGeom prst="rect">
              <a:avLst/>
            </a:prstGeom>
            <a:noFill/>
          </p:spPr>
          <p:txBody>
            <a:bodyPr wrap="square" rtlCol="0">
              <a:spAutoFit/>
            </a:bodyPr>
            <a:lstStyle/>
            <a:p>
              <a:pPr algn="r"/>
              <a:r>
                <a:rPr lang="en-US" sz="800" dirty="0">
                  <a:solidFill>
                    <a:srgbClr val="FF0000"/>
                  </a:solidFill>
                </a:rPr>
                <a:t>Page Content</a:t>
              </a:r>
            </a:p>
            <a:p>
              <a:pPr algn="r"/>
              <a:r>
                <a:rPr lang="en-US" sz="800" dirty="0">
                  <a:solidFill>
                    <a:srgbClr val="FF0000"/>
                  </a:solidFill>
                </a:rPr>
                <a:t>Right Alignment</a:t>
              </a:r>
            </a:p>
            <a:p>
              <a:pPr algn="r"/>
              <a:r>
                <a:rPr lang="en-US" altLang="zh-CN" sz="800" dirty="0">
                  <a:solidFill>
                    <a:srgbClr val="FF0000"/>
                  </a:solidFill>
                </a:rPr>
                <a:t>5.24</a:t>
              </a:r>
              <a:endParaRPr lang="en-US" sz="800" dirty="0">
                <a:solidFill>
                  <a:srgbClr val="FF0000"/>
                </a:solidFill>
              </a:endParaRPr>
            </a:p>
          </p:txBody>
        </p:sp>
      </p:grpSp>
      <p:grpSp>
        <p:nvGrpSpPr>
          <p:cNvPr id="22" name="组合 7"/>
          <p:cNvGrpSpPr/>
          <p:nvPr userDrawn="1"/>
        </p:nvGrpSpPr>
        <p:grpSpPr>
          <a:xfrm>
            <a:off x="-1626783" y="871943"/>
            <a:ext cx="1474338" cy="477740"/>
            <a:chOff x="-1626783" y="681443"/>
            <a:chExt cx="1474338" cy="477740"/>
          </a:xfrm>
        </p:grpSpPr>
        <p:cxnSp>
          <p:nvCxnSpPr>
            <p:cNvPr id="23" name="Straight Arrow Connector 22"/>
            <p:cNvCxnSpPr/>
            <p:nvPr userDrawn="1"/>
          </p:nvCxnSpPr>
          <p:spPr bwMode="auto">
            <a:xfrm>
              <a:off x="-1052833" y="681443"/>
              <a:ext cx="883770" cy="747"/>
            </a:xfrm>
            <a:prstGeom prst="straightConnector1">
              <a:avLst/>
            </a:prstGeom>
            <a:noFill/>
            <a:ln w="9525" cap="flat" cmpd="sng" algn="ctr">
              <a:solidFill>
                <a:srgbClr val="FF0000"/>
              </a:solidFill>
              <a:prstDash val="solid"/>
              <a:round/>
              <a:headEnd type="none" w="med" len="med"/>
              <a:tailEnd type="triangle" w="med" len="med"/>
            </a:ln>
            <a:effectLst/>
          </p:spPr>
        </p:cxnSp>
        <p:sp>
          <p:nvSpPr>
            <p:cNvPr id="24" name="TextBox 23"/>
            <p:cNvSpPr txBox="1"/>
            <p:nvPr userDrawn="1"/>
          </p:nvSpPr>
          <p:spPr>
            <a:xfrm>
              <a:off x="-1626783" y="697518"/>
              <a:ext cx="1474338" cy="461665"/>
            </a:xfrm>
            <a:prstGeom prst="rect">
              <a:avLst/>
            </a:prstGeom>
            <a:noFill/>
          </p:spPr>
          <p:txBody>
            <a:bodyPr wrap="square" rtlCol="0">
              <a:spAutoFit/>
            </a:bodyPr>
            <a:lstStyle/>
            <a:p>
              <a:pPr algn="r"/>
              <a:r>
                <a:rPr lang="en-US" sz="800">
                  <a:solidFill>
                    <a:srgbClr val="FF0000"/>
                  </a:solidFill>
                </a:rPr>
                <a:t>Content</a:t>
              </a:r>
            </a:p>
            <a:p>
              <a:pPr algn="r"/>
              <a:r>
                <a:rPr lang="en-US" sz="800">
                  <a:solidFill>
                    <a:srgbClr val="FF0000"/>
                  </a:solidFill>
                </a:rPr>
                <a:t>Top Alignment</a:t>
              </a:r>
            </a:p>
            <a:p>
              <a:pPr algn="r"/>
              <a:r>
                <a:rPr lang="en-US" altLang="zh-CN" sz="800">
                  <a:solidFill>
                    <a:srgbClr val="FF0000"/>
                  </a:solidFill>
                </a:rPr>
                <a:t>2.78</a:t>
              </a:r>
              <a:endParaRPr lang="en-US" sz="800">
                <a:solidFill>
                  <a:srgbClr val="FF0000"/>
                </a:solidFill>
              </a:endParaRPr>
            </a:p>
          </p:txBody>
        </p:sp>
      </p:grpSp>
      <p:grpSp>
        <p:nvGrpSpPr>
          <p:cNvPr id="25" name="Group 24"/>
          <p:cNvGrpSpPr/>
          <p:nvPr userDrawn="1"/>
        </p:nvGrpSpPr>
        <p:grpSpPr>
          <a:xfrm>
            <a:off x="-1580238" y="-135642"/>
            <a:ext cx="1427793" cy="551874"/>
            <a:chOff x="-1580238" y="-116592"/>
            <a:chExt cx="1427793" cy="551874"/>
          </a:xfrm>
        </p:grpSpPr>
        <p:sp>
          <p:nvSpPr>
            <p:cNvPr id="26" name="TextBox 25"/>
            <p:cNvSpPr txBox="1"/>
            <p:nvPr userDrawn="1"/>
          </p:nvSpPr>
          <p:spPr>
            <a:xfrm>
              <a:off x="-1580238" y="-116592"/>
              <a:ext cx="1427793" cy="461665"/>
            </a:xfrm>
            <a:prstGeom prst="rect">
              <a:avLst/>
            </a:prstGeom>
            <a:noFill/>
          </p:spPr>
          <p:txBody>
            <a:bodyPr wrap="square" rtlCol="0">
              <a:spAutoFit/>
            </a:bodyPr>
            <a:lstStyle/>
            <a:p>
              <a:pPr algn="r"/>
              <a:r>
                <a:rPr lang="en-US" sz="800" dirty="0">
                  <a:solidFill>
                    <a:srgbClr val="FF0000"/>
                  </a:solidFill>
                </a:rPr>
                <a:t>Page Titles</a:t>
              </a:r>
            </a:p>
            <a:p>
              <a:pPr algn="r"/>
              <a:r>
                <a:rPr lang="en-US" sz="800" dirty="0">
                  <a:solidFill>
                    <a:srgbClr val="FF0000"/>
                  </a:solidFill>
                </a:rPr>
                <a:t>Bottom Alignment</a:t>
              </a:r>
            </a:p>
            <a:p>
              <a:pPr algn="r"/>
              <a:r>
                <a:rPr lang="en-US" sz="800" dirty="0">
                  <a:solidFill>
                    <a:srgbClr val="FF0000"/>
                  </a:solidFill>
                </a:rPr>
                <a:t>3.28</a:t>
              </a:r>
            </a:p>
          </p:txBody>
        </p:sp>
        <p:cxnSp>
          <p:nvCxnSpPr>
            <p:cNvPr id="30" name="Straight Arrow Connector 29"/>
            <p:cNvCxnSpPr/>
            <p:nvPr userDrawn="1"/>
          </p:nvCxnSpPr>
          <p:spPr bwMode="auto">
            <a:xfrm>
              <a:off x="-1039667" y="434535"/>
              <a:ext cx="883770" cy="747"/>
            </a:xfrm>
            <a:prstGeom prst="straightConnector1">
              <a:avLst/>
            </a:prstGeom>
            <a:noFill/>
            <a:ln w="9525" cap="flat" cmpd="sng" algn="ctr">
              <a:solidFill>
                <a:srgbClr val="FF0000"/>
              </a:solidFill>
              <a:prstDash val="solid"/>
              <a:round/>
              <a:headEnd type="none" w="med" len="med"/>
              <a:tailEnd type="triangle" w="med" len="med"/>
            </a:ln>
            <a:effectLst/>
          </p:spPr>
        </p:cxnSp>
      </p:grpSp>
      <p:grpSp>
        <p:nvGrpSpPr>
          <p:cNvPr id="31" name="Group 30"/>
          <p:cNvGrpSpPr/>
          <p:nvPr userDrawn="1"/>
        </p:nvGrpSpPr>
        <p:grpSpPr>
          <a:xfrm>
            <a:off x="-1626783" y="5875916"/>
            <a:ext cx="1491401" cy="508204"/>
            <a:chOff x="-1626783" y="5658938"/>
            <a:chExt cx="1491401" cy="508204"/>
          </a:xfrm>
        </p:grpSpPr>
        <p:sp>
          <p:nvSpPr>
            <p:cNvPr id="32" name="TextBox 31"/>
            <p:cNvSpPr txBox="1"/>
            <p:nvPr userDrawn="1"/>
          </p:nvSpPr>
          <p:spPr>
            <a:xfrm>
              <a:off x="-1626783" y="5658938"/>
              <a:ext cx="1474338" cy="461665"/>
            </a:xfrm>
            <a:prstGeom prst="rect">
              <a:avLst/>
            </a:prstGeom>
            <a:noFill/>
          </p:spPr>
          <p:txBody>
            <a:bodyPr wrap="square" rtlCol="0">
              <a:spAutoFit/>
            </a:bodyPr>
            <a:lstStyle/>
            <a:p>
              <a:pPr algn="r"/>
              <a:r>
                <a:rPr lang="en-US" sz="800">
                  <a:solidFill>
                    <a:srgbClr val="FF0000"/>
                  </a:solidFill>
                </a:rPr>
                <a:t>Content</a:t>
              </a:r>
            </a:p>
            <a:p>
              <a:pPr algn="r"/>
              <a:r>
                <a:rPr lang="en-US" sz="800">
                  <a:solidFill>
                    <a:srgbClr val="FF0000"/>
                  </a:solidFill>
                </a:rPr>
                <a:t>Bottom Alignment</a:t>
              </a:r>
            </a:p>
            <a:p>
              <a:pPr algn="r"/>
              <a:r>
                <a:rPr lang="en-US" sz="800">
                  <a:solidFill>
                    <a:srgbClr val="FF0000"/>
                  </a:solidFill>
                </a:rPr>
                <a:t>3.24</a:t>
              </a:r>
            </a:p>
          </p:txBody>
        </p:sp>
        <p:cxnSp>
          <p:nvCxnSpPr>
            <p:cNvPr id="33" name="Straight Arrow Connector 32"/>
            <p:cNvCxnSpPr/>
            <p:nvPr userDrawn="1"/>
          </p:nvCxnSpPr>
          <p:spPr bwMode="auto">
            <a:xfrm>
              <a:off x="-1019152" y="6166395"/>
              <a:ext cx="883770" cy="747"/>
            </a:xfrm>
            <a:prstGeom prst="straightConnector1">
              <a:avLst/>
            </a:prstGeom>
            <a:noFill/>
            <a:ln w="9525" cap="flat" cmpd="sng" algn="ctr">
              <a:solidFill>
                <a:srgbClr val="FF0000"/>
              </a:solidFill>
              <a:prstDash val="solid"/>
              <a:round/>
              <a:headEnd type="none" w="med" len="med"/>
              <a:tailEnd type="triangle" w="med" len="med"/>
            </a:ln>
            <a:effectLst/>
          </p:spPr>
        </p:cxnSp>
      </p:grpSp>
      <p:grpSp>
        <p:nvGrpSpPr>
          <p:cNvPr id="34" name="Group 33"/>
          <p:cNvGrpSpPr/>
          <p:nvPr userDrawn="1"/>
        </p:nvGrpSpPr>
        <p:grpSpPr>
          <a:xfrm>
            <a:off x="-1019152" y="6614466"/>
            <a:ext cx="883770" cy="500786"/>
            <a:chOff x="-1019152" y="6295684"/>
            <a:chExt cx="883770" cy="500786"/>
          </a:xfrm>
        </p:grpSpPr>
        <p:sp>
          <p:nvSpPr>
            <p:cNvPr id="35" name="TextBox 34"/>
            <p:cNvSpPr txBox="1"/>
            <p:nvPr userDrawn="1"/>
          </p:nvSpPr>
          <p:spPr>
            <a:xfrm>
              <a:off x="-1002357" y="6334805"/>
              <a:ext cx="849912" cy="461665"/>
            </a:xfrm>
            <a:prstGeom prst="rect">
              <a:avLst/>
            </a:prstGeom>
            <a:noFill/>
          </p:spPr>
          <p:txBody>
            <a:bodyPr wrap="none" rtlCol="0">
              <a:spAutoFit/>
            </a:bodyPr>
            <a:lstStyle/>
            <a:p>
              <a:pPr algn="r"/>
              <a:r>
                <a:rPr lang="en-US" sz="800">
                  <a:solidFill>
                    <a:srgbClr val="FF0000"/>
                  </a:solidFill>
                </a:rPr>
                <a:t>Footnotes</a:t>
              </a:r>
            </a:p>
            <a:p>
              <a:pPr algn="r"/>
              <a:r>
                <a:rPr lang="en-US" sz="800">
                  <a:solidFill>
                    <a:srgbClr val="FF0000"/>
                  </a:solidFill>
                </a:rPr>
                <a:t>Top Alignment</a:t>
              </a:r>
            </a:p>
            <a:p>
              <a:pPr algn="r"/>
              <a:r>
                <a:rPr lang="en-US" sz="800">
                  <a:solidFill>
                    <a:srgbClr val="FF0000"/>
                  </a:solidFill>
                </a:rPr>
                <a:t>3.49</a:t>
              </a:r>
            </a:p>
          </p:txBody>
        </p:sp>
        <p:cxnSp>
          <p:nvCxnSpPr>
            <p:cNvPr id="36" name="Straight Arrow Connector 35"/>
            <p:cNvCxnSpPr/>
            <p:nvPr userDrawn="1"/>
          </p:nvCxnSpPr>
          <p:spPr bwMode="auto">
            <a:xfrm>
              <a:off x="-1019152" y="6295684"/>
              <a:ext cx="883770" cy="747"/>
            </a:xfrm>
            <a:prstGeom prst="straightConnector1">
              <a:avLst/>
            </a:prstGeom>
            <a:noFill/>
            <a:ln w="9525" cap="flat" cmpd="sng" algn="ctr">
              <a:solidFill>
                <a:srgbClr val="FF0000"/>
              </a:solidFill>
              <a:prstDash val="solid"/>
              <a:round/>
              <a:headEnd type="none" w="med" len="med"/>
              <a:tailEnd type="triangle" w="med" len="med"/>
            </a:ln>
            <a:effectLst/>
          </p:spPr>
        </p:cxnSp>
      </p:grpSp>
      <p:grpSp>
        <p:nvGrpSpPr>
          <p:cNvPr id="43" name="Group 42"/>
          <p:cNvGrpSpPr/>
          <p:nvPr userDrawn="1"/>
        </p:nvGrpSpPr>
        <p:grpSpPr>
          <a:xfrm>
            <a:off x="441111" y="7154069"/>
            <a:ext cx="695325" cy="565150"/>
            <a:chOff x="441111" y="7841796"/>
            <a:chExt cx="695325" cy="565150"/>
          </a:xfrm>
        </p:grpSpPr>
        <p:sp>
          <p:nvSpPr>
            <p:cNvPr id="44" name="Rectangle 4"/>
            <p:cNvSpPr>
              <a:spLocks noChangeArrowheads="1"/>
            </p:cNvSpPr>
            <p:nvPr userDrawn="1"/>
          </p:nvSpPr>
          <p:spPr bwMode="auto">
            <a:xfrm>
              <a:off x="614942" y="7841796"/>
              <a:ext cx="521494" cy="565150"/>
            </a:xfrm>
            <a:prstGeom prst="rect">
              <a:avLst/>
            </a:prstGeom>
            <a:solidFill>
              <a:schemeClr val="accent1"/>
            </a:solidFill>
            <a:ln w="12700">
              <a:noFill/>
              <a:miter lim="800000"/>
            </a:ln>
            <a:effectLst/>
          </p:spPr>
          <p:txBody>
            <a:bodyPr wrap="none" lIns="0" tIns="0" rIns="0" bIns="0" anchor="ctr" anchorCtr="1"/>
            <a:lstStyle/>
            <a:p>
              <a:pPr marL="0" indent="0" algn="l" fontAlgn="auto">
                <a:spcBef>
                  <a:spcPts val="0"/>
                </a:spcBef>
                <a:spcAft>
                  <a:spcPts val="0"/>
                </a:spcAft>
                <a:defRPr/>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192</a:t>
              </a:r>
            </a:p>
            <a:p>
              <a:pPr marL="0" indent="0" algn="l" fontAlgn="auto">
                <a:spcBef>
                  <a:spcPts val="0"/>
                </a:spcBef>
                <a:spcAft>
                  <a:spcPts val="0"/>
                </a:spcAft>
                <a:defRPr/>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0</a:t>
              </a:r>
            </a:p>
            <a:p>
              <a:pPr marL="0" indent="0" algn="l" fontAlgn="auto">
                <a:spcBef>
                  <a:spcPts val="0"/>
                </a:spcBef>
                <a:spcAft>
                  <a:spcPts val="0"/>
                </a:spcAft>
                <a:defRPr/>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0</a:t>
              </a:r>
            </a:p>
          </p:txBody>
        </p:sp>
        <p:sp>
          <p:nvSpPr>
            <p:cNvPr id="45" name="Rectangle 4"/>
            <p:cNvSpPr>
              <a:spLocks noChangeArrowheads="1"/>
            </p:cNvSpPr>
            <p:nvPr userDrawn="1"/>
          </p:nvSpPr>
          <p:spPr bwMode="auto">
            <a:xfrm>
              <a:off x="441111" y="7841796"/>
              <a:ext cx="306602" cy="565150"/>
            </a:xfrm>
            <a:prstGeom prst="rect">
              <a:avLst/>
            </a:prstGeom>
            <a:solidFill>
              <a:schemeClr val="accent1"/>
            </a:solidFill>
            <a:ln w="12700">
              <a:noFill/>
              <a:miter lim="800000"/>
            </a:ln>
            <a:effectLst/>
          </p:spPr>
          <p:txBody>
            <a:bodyPr wrap="none" lIns="0" tIns="0" rIns="0" bIns="0" anchor="ctr" anchorCtr="1"/>
            <a:lstStyle/>
            <a:p>
              <a:pPr algn="r" fontAlgn="auto">
                <a:spcBef>
                  <a:spcPts val="0"/>
                </a:spcBef>
                <a:spcAft>
                  <a:spcPts val="0"/>
                </a:spcAft>
                <a:defRPr/>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R:</a:t>
              </a:r>
            </a:p>
            <a:p>
              <a:pPr algn="r" fontAlgn="auto">
                <a:spcBef>
                  <a:spcPts val="0"/>
                </a:spcBef>
                <a:spcAft>
                  <a:spcPts val="0"/>
                </a:spcAft>
                <a:defRPr/>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G:</a:t>
              </a:r>
            </a:p>
            <a:p>
              <a:pPr algn="r" fontAlgn="auto">
                <a:spcBef>
                  <a:spcPts val="0"/>
                </a:spcBef>
                <a:spcAft>
                  <a:spcPts val="0"/>
                </a:spcAft>
                <a:defRPr/>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B:</a:t>
              </a:r>
            </a:p>
          </p:txBody>
        </p:sp>
      </p:grpSp>
      <p:grpSp>
        <p:nvGrpSpPr>
          <p:cNvPr id="46" name="Group 45"/>
          <p:cNvGrpSpPr/>
          <p:nvPr userDrawn="1"/>
        </p:nvGrpSpPr>
        <p:grpSpPr>
          <a:xfrm>
            <a:off x="1315212" y="7154069"/>
            <a:ext cx="695325" cy="565150"/>
            <a:chOff x="441111" y="7841796"/>
            <a:chExt cx="695325" cy="565150"/>
          </a:xfrm>
        </p:grpSpPr>
        <p:sp>
          <p:nvSpPr>
            <p:cNvPr id="47" name="Rectangle 4"/>
            <p:cNvSpPr>
              <a:spLocks noChangeArrowheads="1"/>
            </p:cNvSpPr>
            <p:nvPr userDrawn="1"/>
          </p:nvSpPr>
          <p:spPr bwMode="auto">
            <a:xfrm>
              <a:off x="614942" y="7841796"/>
              <a:ext cx="521494" cy="565150"/>
            </a:xfrm>
            <a:prstGeom prst="rect">
              <a:avLst/>
            </a:prstGeom>
            <a:solidFill>
              <a:schemeClr val="accent2"/>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218</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184</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102</a:t>
              </a:r>
            </a:p>
          </p:txBody>
        </p:sp>
        <p:sp>
          <p:nvSpPr>
            <p:cNvPr id="48" name="Rectangle 4"/>
            <p:cNvSpPr>
              <a:spLocks noChangeArrowheads="1"/>
            </p:cNvSpPr>
            <p:nvPr userDrawn="1"/>
          </p:nvSpPr>
          <p:spPr bwMode="auto">
            <a:xfrm>
              <a:off x="441111" y="7841796"/>
              <a:ext cx="306602" cy="565150"/>
            </a:xfrm>
            <a:prstGeom prst="rect">
              <a:avLst/>
            </a:prstGeom>
            <a:solidFill>
              <a:schemeClr val="accent2"/>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R:</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G:</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B:</a:t>
              </a:r>
            </a:p>
          </p:txBody>
        </p:sp>
      </p:grpSp>
      <p:grpSp>
        <p:nvGrpSpPr>
          <p:cNvPr id="49" name="Group 48"/>
          <p:cNvGrpSpPr/>
          <p:nvPr userDrawn="1"/>
        </p:nvGrpSpPr>
        <p:grpSpPr>
          <a:xfrm>
            <a:off x="2189313" y="7154069"/>
            <a:ext cx="695325" cy="565150"/>
            <a:chOff x="441111" y="7841796"/>
            <a:chExt cx="695325" cy="565150"/>
          </a:xfrm>
        </p:grpSpPr>
        <p:sp>
          <p:nvSpPr>
            <p:cNvPr id="50" name="Rectangle 4"/>
            <p:cNvSpPr>
              <a:spLocks noChangeArrowheads="1"/>
            </p:cNvSpPr>
            <p:nvPr userDrawn="1"/>
          </p:nvSpPr>
          <p:spPr bwMode="auto">
            <a:xfrm>
              <a:off x="614942" y="7841796"/>
              <a:ext cx="521494" cy="565150"/>
            </a:xfrm>
            <a:prstGeom prst="rect">
              <a:avLst/>
            </a:prstGeom>
            <a:solidFill>
              <a:schemeClr val="accent3"/>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5</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61</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110</a:t>
              </a:r>
            </a:p>
          </p:txBody>
        </p:sp>
        <p:sp>
          <p:nvSpPr>
            <p:cNvPr id="51" name="Rectangle 4"/>
            <p:cNvSpPr>
              <a:spLocks noChangeArrowheads="1"/>
            </p:cNvSpPr>
            <p:nvPr userDrawn="1"/>
          </p:nvSpPr>
          <p:spPr bwMode="auto">
            <a:xfrm>
              <a:off x="441111" y="7841796"/>
              <a:ext cx="306602" cy="565150"/>
            </a:xfrm>
            <a:prstGeom prst="rect">
              <a:avLst/>
            </a:prstGeom>
            <a:solidFill>
              <a:schemeClr val="accent3"/>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R:</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G:</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B:</a:t>
              </a:r>
            </a:p>
          </p:txBody>
        </p:sp>
      </p:grpSp>
      <p:grpSp>
        <p:nvGrpSpPr>
          <p:cNvPr id="52" name="Group 51"/>
          <p:cNvGrpSpPr/>
          <p:nvPr userDrawn="1"/>
        </p:nvGrpSpPr>
        <p:grpSpPr>
          <a:xfrm>
            <a:off x="3063414" y="7154069"/>
            <a:ext cx="695325" cy="565150"/>
            <a:chOff x="441111" y="7841796"/>
            <a:chExt cx="695325" cy="565150"/>
          </a:xfrm>
        </p:grpSpPr>
        <p:sp>
          <p:nvSpPr>
            <p:cNvPr id="53" name="Rectangle 4"/>
            <p:cNvSpPr>
              <a:spLocks noChangeArrowheads="1"/>
            </p:cNvSpPr>
            <p:nvPr userDrawn="1"/>
          </p:nvSpPr>
          <p:spPr bwMode="auto">
            <a:xfrm>
              <a:off x="614942" y="7841796"/>
              <a:ext cx="521494" cy="565150"/>
            </a:xfrm>
            <a:prstGeom prst="rect">
              <a:avLst/>
            </a:prstGeom>
            <a:solidFill>
              <a:schemeClr val="accent4"/>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242</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242</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242</a:t>
              </a:r>
            </a:p>
          </p:txBody>
        </p:sp>
        <p:sp>
          <p:nvSpPr>
            <p:cNvPr id="54" name="Rectangle 4"/>
            <p:cNvSpPr>
              <a:spLocks noChangeArrowheads="1"/>
            </p:cNvSpPr>
            <p:nvPr userDrawn="1"/>
          </p:nvSpPr>
          <p:spPr bwMode="auto">
            <a:xfrm>
              <a:off x="441111" y="7841796"/>
              <a:ext cx="306602" cy="565150"/>
            </a:xfrm>
            <a:prstGeom prst="rect">
              <a:avLst/>
            </a:prstGeom>
            <a:solidFill>
              <a:schemeClr val="accent4"/>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R:</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G:</a:t>
              </a:r>
            </a:p>
            <a:p>
              <a:pPr lvl="0" fontAlgn="auto">
                <a:spcBef>
                  <a:spcPts val="0"/>
                </a:spcBef>
                <a:spcAft>
                  <a:spcPts val="0"/>
                </a:spcAft>
              </a:pPr>
              <a:r>
                <a:rPr kumimoji="0" lang="pt-BR" altLang="zh-CN" sz="1100" b="1">
                  <a:solidFill>
                    <a:schemeClr val="tx1"/>
                  </a:solidFill>
                  <a:latin typeface="Arial" panose="020B0704020202020204" pitchFamily="34" charset="0"/>
                  <a:ea typeface="DFKai-SB" panose="03000509000000000000" pitchFamily="65" charset="-120"/>
                  <a:cs typeface="Arial" panose="020B0704020202020204" pitchFamily="34" charset="0"/>
                </a:rPr>
                <a:t>B:</a:t>
              </a:r>
            </a:p>
          </p:txBody>
        </p:sp>
      </p:grpSp>
      <p:grpSp>
        <p:nvGrpSpPr>
          <p:cNvPr id="55" name="Group 54"/>
          <p:cNvGrpSpPr/>
          <p:nvPr userDrawn="1"/>
        </p:nvGrpSpPr>
        <p:grpSpPr>
          <a:xfrm>
            <a:off x="3937515" y="7154069"/>
            <a:ext cx="695325" cy="565150"/>
            <a:chOff x="441111" y="7841796"/>
            <a:chExt cx="695325" cy="565150"/>
          </a:xfrm>
        </p:grpSpPr>
        <p:sp>
          <p:nvSpPr>
            <p:cNvPr id="56" name="Rectangle 4"/>
            <p:cNvSpPr>
              <a:spLocks noChangeArrowheads="1"/>
            </p:cNvSpPr>
            <p:nvPr userDrawn="1"/>
          </p:nvSpPr>
          <p:spPr bwMode="auto">
            <a:xfrm>
              <a:off x="614942" y="7841796"/>
              <a:ext cx="521494" cy="565150"/>
            </a:xfrm>
            <a:prstGeom prst="rect">
              <a:avLst/>
            </a:prstGeom>
            <a:solidFill>
              <a:schemeClr val="accent5"/>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40</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103</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160</a:t>
              </a:r>
            </a:p>
          </p:txBody>
        </p:sp>
        <p:sp>
          <p:nvSpPr>
            <p:cNvPr id="57" name="Rectangle 4"/>
            <p:cNvSpPr>
              <a:spLocks noChangeArrowheads="1"/>
            </p:cNvSpPr>
            <p:nvPr userDrawn="1"/>
          </p:nvSpPr>
          <p:spPr bwMode="auto">
            <a:xfrm>
              <a:off x="441111" y="7841796"/>
              <a:ext cx="306602" cy="565150"/>
            </a:xfrm>
            <a:prstGeom prst="rect">
              <a:avLst/>
            </a:prstGeom>
            <a:solidFill>
              <a:schemeClr val="accent5"/>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R:</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G:</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B:</a:t>
              </a:r>
            </a:p>
          </p:txBody>
        </p:sp>
      </p:grpSp>
      <p:grpSp>
        <p:nvGrpSpPr>
          <p:cNvPr id="58" name="Group 57"/>
          <p:cNvGrpSpPr/>
          <p:nvPr userDrawn="1"/>
        </p:nvGrpSpPr>
        <p:grpSpPr>
          <a:xfrm>
            <a:off x="4811616" y="7154069"/>
            <a:ext cx="695325" cy="565150"/>
            <a:chOff x="441111" y="7841796"/>
            <a:chExt cx="695325" cy="565150"/>
          </a:xfrm>
        </p:grpSpPr>
        <p:sp>
          <p:nvSpPr>
            <p:cNvPr id="59" name="Rectangle 4"/>
            <p:cNvSpPr>
              <a:spLocks noChangeArrowheads="1"/>
            </p:cNvSpPr>
            <p:nvPr userDrawn="1"/>
          </p:nvSpPr>
          <p:spPr bwMode="auto">
            <a:xfrm>
              <a:off x="614942" y="7841796"/>
              <a:ext cx="521494" cy="565150"/>
            </a:xfrm>
            <a:prstGeom prst="rect">
              <a:avLst/>
            </a:prstGeom>
            <a:solidFill>
              <a:schemeClr val="accent6"/>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63</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63</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63</a:t>
              </a:r>
            </a:p>
          </p:txBody>
        </p:sp>
        <p:sp>
          <p:nvSpPr>
            <p:cNvPr id="60" name="Rectangle 4"/>
            <p:cNvSpPr>
              <a:spLocks noChangeArrowheads="1"/>
            </p:cNvSpPr>
            <p:nvPr userDrawn="1"/>
          </p:nvSpPr>
          <p:spPr bwMode="auto">
            <a:xfrm>
              <a:off x="441111" y="7841796"/>
              <a:ext cx="306602" cy="565150"/>
            </a:xfrm>
            <a:prstGeom prst="rect">
              <a:avLst/>
            </a:prstGeom>
            <a:solidFill>
              <a:schemeClr val="accent6"/>
            </a:solidFill>
            <a:ln w="12700">
              <a:noFill/>
              <a:miter lim="800000"/>
            </a:ln>
            <a:effectLst/>
          </p:spPr>
          <p:txBody>
            <a:bodyPr wrap="none" anchor="ctr" anchorCtr="1"/>
            <a:lstStyle/>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R:</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G:</a:t>
              </a:r>
            </a:p>
            <a:p>
              <a:pPr lvl="0" fontAlgn="auto">
                <a:spcBef>
                  <a:spcPts val="0"/>
                </a:spcBef>
                <a:spcAft>
                  <a:spcPts val="0"/>
                </a:spcAft>
              </a:pPr>
              <a:r>
                <a:rPr kumimoji="0" lang="pt-BR" altLang="zh-CN" sz="1100" b="1">
                  <a:solidFill>
                    <a:schemeClr val="bg1"/>
                  </a:solidFill>
                  <a:latin typeface="Arial" panose="020B0704020202020204" pitchFamily="34" charset="0"/>
                  <a:ea typeface="DFKai-SB" panose="03000509000000000000" pitchFamily="65" charset="-120"/>
                  <a:cs typeface="Arial" panose="020B0704020202020204" pitchFamily="34" charset="0"/>
                </a:rPr>
                <a:t>B:</a:t>
              </a:r>
            </a:p>
          </p:txBody>
        </p:sp>
      </p:grpSp>
      <p:sp>
        <p:nvSpPr>
          <p:cNvPr id="5" name="TextBox 4"/>
          <p:cNvSpPr txBox="1"/>
          <p:nvPr userDrawn="1"/>
        </p:nvSpPr>
        <p:spPr>
          <a:xfrm>
            <a:off x="8869532" y="6425045"/>
            <a:ext cx="1036468" cy="432955"/>
          </a:xfrm>
          <a:prstGeom prst="rect">
            <a:avLst/>
          </a:prstGeom>
          <a:noFill/>
        </p:spPr>
        <p:txBody>
          <a:bodyPr wrap="square" rIns="182880" bIns="91440" rtlCol="0" anchor="b" anchorCtr="0">
            <a:noAutofit/>
          </a:bodyPr>
          <a:lstStyle/>
          <a:p>
            <a:pPr algn="r"/>
            <a:fld id="{8C3C605C-B7B3-4492-9B4F-3B61836400A8}" type="slidenum">
              <a:rPr lang="en-US" sz="1000" smtClean="0">
                <a:solidFill>
                  <a:schemeClr val="bg1">
                    <a:lumMod val="50000"/>
                  </a:schemeClr>
                </a:solidFill>
              </a:rPr>
              <a:t>‹#›</a:t>
            </a:fld>
            <a:endParaRPr lang="en-US" sz="1000" dirty="0">
              <a:solidFill>
                <a:schemeClr val="bg1">
                  <a:lumMod val="50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lvl1pPr algn="l" defTabSz="685800" rtl="0" eaLnBrk="1" latinLnBrk="0" hangingPunct="1">
        <a:lnSpc>
          <a:spcPct val="90000"/>
        </a:lnSpc>
        <a:spcBef>
          <a:spcPct val="0"/>
        </a:spcBef>
        <a:buNone/>
        <a:defRPr sz="2000" b="1" kern="1200" baseline="0">
          <a:solidFill>
            <a:schemeClr val="accent1"/>
          </a:solidFill>
          <a:latin typeface="Arial" panose="020B0704020202020204" pitchFamily="34" charset="0"/>
          <a:ea typeface="+mj-ea"/>
          <a:cs typeface="Arial" panose="020B0704020202020204" pitchFamily="34" charset="0"/>
        </a:defRPr>
      </a:lvl1pPr>
    </p:titleStyle>
    <p:bodyStyle>
      <a:lvl1pPr marL="182880" indent="-182880" algn="l" defTabSz="685800" rtl="0" eaLnBrk="1" latinLnBrk="0" hangingPunct="1">
        <a:lnSpc>
          <a:spcPct val="100000"/>
        </a:lnSpc>
        <a:spcBef>
          <a:spcPts val="0"/>
        </a:spcBef>
        <a:buClr>
          <a:schemeClr val="accent1"/>
        </a:buClr>
        <a:buSzPct val="80000"/>
        <a:buFont typeface="Wingdings" panose="05000000000000000000" pitchFamily="2" charset="2"/>
        <a:buChar char="l"/>
        <a:defRPr sz="1100" kern="1200" baseline="0">
          <a:solidFill>
            <a:schemeClr val="tx1"/>
          </a:solidFill>
          <a:latin typeface="+mj-lt"/>
          <a:ea typeface="+mj-ea"/>
          <a:cs typeface="Arial" panose="020B0704020202020204" pitchFamily="34" charset="0"/>
        </a:defRPr>
      </a:lvl1pPr>
      <a:lvl2pPr marL="365760" indent="-182880" algn="l" defTabSz="685800" rtl="0" eaLnBrk="1" latinLnBrk="0" hangingPunct="1">
        <a:lnSpc>
          <a:spcPct val="90000"/>
        </a:lnSpc>
        <a:spcBef>
          <a:spcPts val="375"/>
        </a:spcBef>
        <a:buClr>
          <a:schemeClr val="accent1"/>
        </a:buClr>
        <a:buFont typeface="Arial" panose="020B0704020202020204" pitchFamily="34" charset="0"/>
        <a:buChar char="–"/>
        <a:defRPr sz="1100" kern="1200" baseline="0">
          <a:solidFill>
            <a:schemeClr val="tx1"/>
          </a:solidFill>
          <a:latin typeface="+mj-lt"/>
          <a:ea typeface="+mj-ea"/>
          <a:cs typeface="Arial" panose="020B0704020202020204" pitchFamily="34" charset="0"/>
        </a:defRPr>
      </a:lvl2pPr>
      <a:lvl3pPr marL="365760" indent="-182880" algn="l" defTabSz="685800" rtl="0" eaLnBrk="1" latinLnBrk="0" hangingPunct="1">
        <a:lnSpc>
          <a:spcPct val="90000"/>
        </a:lnSpc>
        <a:spcBef>
          <a:spcPts val="375"/>
        </a:spcBef>
        <a:buClr>
          <a:srgbClr val="015F32"/>
        </a:buClr>
        <a:buFont typeface="Wingdings" panose="05000000000000000000" pitchFamily="2" charset="2"/>
        <a:buChar char="ü"/>
        <a:defRPr sz="1100" kern="1200" baseline="0">
          <a:solidFill>
            <a:schemeClr val="tx1"/>
          </a:solidFill>
          <a:latin typeface="+mj-lt"/>
          <a:ea typeface="+mj-ea"/>
          <a:cs typeface="Arial" panose="020B0704020202020204" pitchFamily="34" charset="0"/>
        </a:defRPr>
      </a:lvl3pPr>
      <a:lvl4pPr marL="365760" indent="-182880" algn="l" defTabSz="685800" rtl="0" eaLnBrk="1" latinLnBrk="0" hangingPunct="1">
        <a:lnSpc>
          <a:spcPct val="90000"/>
        </a:lnSpc>
        <a:spcBef>
          <a:spcPts val="375"/>
        </a:spcBef>
        <a:buClr>
          <a:srgbClr val="FF0000"/>
        </a:buClr>
        <a:buFont typeface="Wingdings" panose="05000000000000000000" pitchFamily="2" charset="2"/>
        <a:buChar char="û"/>
        <a:defRPr sz="1100" kern="1200" baseline="0">
          <a:solidFill>
            <a:schemeClr val="tx1"/>
          </a:solidFill>
          <a:latin typeface="+mj-lt"/>
          <a:ea typeface="+mj-ea"/>
          <a:cs typeface="Arial" panose="020B0704020202020204" pitchFamily="34" charset="0"/>
        </a:defRPr>
      </a:lvl4pPr>
      <a:lvl5pPr marL="548640" indent="-182880" algn="l" defTabSz="685800" rtl="0" eaLnBrk="1" latinLnBrk="0" hangingPunct="1">
        <a:lnSpc>
          <a:spcPct val="90000"/>
        </a:lnSpc>
        <a:spcBef>
          <a:spcPts val="375"/>
        </a:spcBef>
        <a:buClr>
          <a:srgbClr val="C00000"/>
        </a:buClr>
        <a:buFont typeface="Arial" panose="020B0704020202020204" pitchFamily="34" charset="0"/>
        <a:buChar char="–"/>
        <a:defRPr sz="1100" kern="1200" baseline="0">
          <a:solidFill>
            <a:schemeClr val="tx1"/>
          </a:solidFill>
          <a:latin typeface="+mj-lt"/>
          <a:ea typeface="+mj-ea"/>
          <a:cs typeface="Arial" panose="020B0704020202020204" pitchFamily="34" charset="0"/>
        </a:defRPr>
      </a:lvl5pPr>
      <a:lvl6pPr marL="18859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704020202020204" pitchFamily="34" charset="0"/>
        <a:buChar char="•"/>
        <a:defRPr sz="1350" kern="1200">
          <a:solidFill>
            <a:schemeClr val="tx1"/>
          </a:solidFill>
          <a:latin typeface="+mn-lt"/>
          <a:ea typeface="+mn-ea"/>
          <a:cs typeface="+mn-cs"/>
        </a:defRPr>
      </a:lvl9pPr>
    </p:bodyStyle>
    <p:other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1462956296"/>
              </p:ext>
            </p:extLst>
          </p:nvPr>
        </p:nvGraphicFramePr>
        <p:xfrm>
          <a:off x="182244" y="417831"/>
          <a:ext cx="9613397" cy="6199937"/>
        </p:xfrm>
        <a:graphic>
          <a:graphicData uri="http://schemas.openxmlformats.org/drawingml/2006/table">
            <a:tbl>
              <a:tblPr/>
              <a:tblGrid>
                <a:gridCol w="252800">
                  <a:extLst>
                    <a:ext uri="{9D8B030D-6E8A-4147-A177-3AD203B41FA5}">
                      <a16:colId xmlns:a16="http://schemas.microsoft.com/office/drawing/2014/main" val="20000"/>
                    </a:ext>
                  </a:extLst>
                </a:gridCol>
                <a:gridCol w="730454">
                  <a:extLst>
                    <a:ext uri="{9D8B030D-6E8A-4147-A177-3AD203B41FA5}">
                      <a16:colId xmlns:a16="http://schemas.microsoft.com/office/drawing/2014/main" val="20001"/>
                    </a:ext>
                  </a:extLst>
                </a:gridCol>
                <a:gridCol w="534183">
                  <a:extLst>
                    <a:ext uri="{9D8B030D-6E8A-4147-A177-3AD203B41FA5}">
                      <a16:colId xmlns:a16="http://schemas.microsoft.com/office/drawing/2014/main" val="20002"/>
                    </a:ext>
                  </a:extLst>
                </a:gridCol>
                <a:gridCol w="533548">
                  <a:extLst>
                    <a:ext uri="{9D8B030D-6E8A-4147-A177-3AD203B41FA5}">
                      <a16:colId xmlns:a16="http://schemas.microsoft.com/office/drawing/2014/main" val="20003"/>
                    </a:ext>
                  </a:extLst>
                </a:gridCol>
                <a:gridCol w="533548">
                  <a:extLst>
                    <a:ext uri="{9D8B030D-6E8A-4147-A177-3AD203B41FA5}">
                      <a16:colId xmlns:a16="http://schemas.microsoft.com/office/drawing/2014/main" val="20004"/>
                    </a:ext>
                  </a:extLst>
                </a:gridCol>
                <a:gridCol w="533548">
                  <a:extLst>
                    <a:ext uri="{9D8B030D-6E8A-4147-A177-3AD203B41FA5}">
                      <a16:colId xmlns:a16="http://schemas.microsoft.com/office/drawing/2014/main" val="20005"/>
                    </a:ext>
                  </a:extLst>
                </a:gridCol>
                <a:gridCol w="1077259">
                  <a:extLst>
                    <a:ext uri="{9D8B030D-6E8A-4147-A177-3AD203B41FA5}">
                      <a16:colId xmlns:a16="http://schemas.microsoft.com/office/drawing/2014/main" val="20006"/>
                    </a:ext>
                  </a:extLst>
                </a:gridCol>
                <a:gridCol w="700600">
                  <a:extLst>
                    <a:ext uri="{9D8B030D-6E8A-4147-A177-3AD203B41FA5}">
                      <a16:colId xmlns:a16="http://schemas.microsoft.com/office/drawing/2014/main" val="20007"/>
                    </a:ext>
                  </a:extLst>
                </a:gridCol>
                <a:gridCol w="658678">
                  <a:extLst>
                    <a:ext uri="{9D8B030D-6E8A-4147-A177-3AD203B41FA5}">
                      <a16:colId xmlns:a16="http://schemas.microsoft.com/office/drawing/2014/main" val="20008"/>
                    </a:ext>
                  </a:extLst>
                </a:gridCol>
                <a:gridCol w="601512">
                  <a:extLst>
                    <a:ext uri="{9D8B030D-6E8A-4147-A177-3AD203B41FA5}">
                      <a16:colId xmlns:a16="http://schemas.microsoft.com/office/drawing/2014/main" val="20009"/>
                    </a:ext>
                  </a:extLst>
                </a:gridCol>
                <a:gridCol w="649151">
                  <a:extLst>
                    <a:ext uri="{9D8B030D-6E8A-4147-A177-3AD203B41FA5}">
                      <a16:colId xmlns:a16="http://schemas.microsoft.com/office/drawing/2014/main" val="20010"/>
                    </a:ext>
                  </a:extLst>
                </a:gridCol>
                <a:gridCol w="648515">
                  <a:extLst>
                    <a:ext uri="{9D8B030D-6E8A-4147-A177-3AD203B41FA5}">
                      <a16:colId xmlns:a16="http://schemas.microsoft.com/office/drawing/2014/main" val="20011"/>
                    </a:ext>
                  </a:extLst>
                </a:gridCol>
                <a:gridCol w="699965">
                  <a:extLst>
                    <a:ext uri="{9D8B030D-6E8A-4147-A177-3AD203B41FA5}">
                      <a16:colId xmlns:a16="http://schemas.microsoft.com/office/drawing/2014/main" val="20012"/>
                    </a:ext>
                  </a:extLst>
                </a:gridCol>
                <a:gridCol w="485910">
                  <a:extLst>
                    <a:ext uri="{9D8B030D-6E8A-4147-A177-3AD203B41FA5}">
                      <a16:colId xmlns:a16="http://schemas.microsoft.com/office/drawing/2014/main" val="20013"/>
                    </a:ext>
                  </a:extLst>
                </a:gridCol>
                <a:gridCol w="487180">
                  <a:extLst>
                    <a:ext uri="{9D8B030D-6E8A-4147-A177-3AD203B41FA5}">
                      <a16:colId xmlns:a16="http://schemas.microsoft.com/office/drawing/2014/main" val="20014"/>
                    </a:ext>
                  </a:extLst>
                </a:gridCol>
                <a:gridCol w="486546">
                  <a:extLst>
                    <a:ext uri="{9D8B030D-6E8A-4147-A177-3AD203B41FA5}">
                      <a16:colId xmlns:a16="http://schemas.microsoft.com/office/drawing/2014/main" val="20015"/>
                    </a:ext>
                  </a:extLst>
                </a:gridCol>
              </a:tblGrid>
              <a:tr h="46077">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HK"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公司名称</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股票代号</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上市日期</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行业</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发行规模</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（亿港元）</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超额分配</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2</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公开发售比例</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3</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香港公开发售</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认购倍数</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国际配售</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认购倍数</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4</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基础发行比例</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基石占比</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5</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H</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股相对</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折价率（</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6</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3">
                  <a:txBody>
                    <a:bodyPr/>
                    <a:lstStyle/>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后市表现</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marL="6139" marR="6139" marT="6139" marB="0" anchor="ctr">
                    <a:lnL w="12700" cap="flat" cmpd="sng" algn="ctr">
                      <a:solidFill>
                        <a:schemeClr val="bg1">
                          <a:lumMod val="85000"/>
                        </a:schemeClr>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tc hMerge="1">
                  <a:txBody>
                    <a:bodyPr/>
                    <a:lstStyle/>
                    <a:p>
                      <a:endParaRPr lang="en-US"/>
                    </a:p>
                  </a:txBody>
                  <a:tcPr marL="6139" marR="6139" marT="6139"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8980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首日</a:t>
                      </a:r>
                      <a:endPar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 </a:t>
                      </a:r>
                      <a:r>
                        <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kern="1200"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首月</a:t>
                      </a:r>
                      <a:endParaRPr lang="en-US" altLang="zh-CN" sz="750" b="1" i="0" u="sng" strike="noStrike" kern="1200"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 </a:t>
                      </a:r>
                      <a:r>
                        <a:rPr lang="en-US" altLang="zh-CN" sz="750" b="1" i="0" u="sng" strike="noStrike" kern="1200" baseline="0" noProof="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至今</a:t>
                      </a:r>
                      <a:endPar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 </a:t>
                      </a:r>
                      <a:r>
                        <a:rPr kumimoji="0" lang="en-US" altLang="zh-CN"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noProof="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kumimoji="0" lang="en-US" altLang="zh-CN"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楷体" charset="0"/>
                          <a:cs typeface="Arial" panose="020B0604020202020204" pitchFamily="34" charset="0"/>
                        </a:rPr>
                        <a:t>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丹诺医药</a:t>
                      </a:r>
                      <a:r>
                        <a:rPr lang="en-US" altLang="zh-TW" sz="730" b="0" i="0" u="none" strike="noStrike" dirty="0">
                          <a:solidFill>
                            <a:srgbClr val="000000"/>
                          </a:solidFill>
                          <a:effectLst/>
                          <a:latin typeface="Arial" panose="020B0604020202020204" pitchFamily="34" charset="0"/>
                          <a:cs typeface="Arial" panose="020B0604020202020204" pitchFamily="34" charset="0"/>
                        </a:rPr>
                        <a:t>-</a:t>
                      </a:r>
                      <a:r>
                        <a:rPr lang="en-US" sz="730" b="0" i="0" u="none" strike="noStrike" dirty="0">
                          <a:solidFill>
                            <a:srgbClr val="000000"/>
                          </a:solidFill>
                          <a:effectLst/>
                          <a:latin typeface="Arial" panose="020B0604020202020204" pitchFamily="34" charset="0"/>
                          <a:cs typeface="Arial" panose="020B0604020202020204" pitchFamily="34" charset="0"/>
                        </a:rPr>
                        <a:t>B</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6872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TW" sz="730" b="0" i="0" u="none" strike="noStrike" dirty="0">
                          <a:solidFill>
                            <a:srgbClr val="000000"/>
                          </a:solidFill>
                          <a:effectLst/>
                          <a:latin typeface="Arial" panose="020B0604020202020204" pitchFamily="34" charset="0"/>
                          <a:cs typeface="Arial" panose="020B0604020202020204" pitchFamily="34" charset="0"/>
                        </a:rPr>
                        <a:t>5</a:t>
                      </a:r>
                      <a:r>
                        <a:rPr lang="zh-TW" altLang="en-US" sz="730" b="0" i="0" u="none" strike="noStrike" dirty="0">
                          <a:solidFill>
                            <a:srgbClr val="000000"/>
                          </a:solidFill>
                          <a:effectLst/>
                          <a:latin typeface="Arial" panose="020B0604020202020204" pitchFamily="34" charset="0"/>
                          <a:cs typeface="Arial" panose="020B0604020202020204" pitchFamily="34" charset="0"/>
                        </a:rPr>
                        <a:t>月</a:t>
                      </a:r>
                      <a:r>
                        <a:rPr lang="en-US" altLang="zh-TW" sz="730" b="0" i="0" u="none" strike="noStrike" dirty="0">
                          <a:solidFill>
                            <a:srgbClr val="000000"/>
                          </a:solidFill>
                          <a:effectLst/>
                          <a:latin typeface="Arial" panose="020B0604020202020204" pitchFamily="34" charset="0"/>
                          <a:cs typeface="Arial" panose="020B0604020202020204" pitchFamily="34" charset="0"/>
                        </a:rPr>
                        <a:t>22</a:t>
                      </a:r>
                      <a:r>
                        <a:rPr lang="zh-TW" altLang="en-US" sz="730" b="0" i="0" u="none" strike="noStrike" dirty="0">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医疗健康</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6.7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DAB866"/>
                          </a:solidFill>
                          <a:effectLst/>
                          <a:latin typeface="Arial" panose="020B0604020202020204" pitchFamily="34" charset="0"/>
                          <a:cs typeface="Arial" panose="020B0604020202020204" pitchFamily="34" charset="0"/>
                        </a:rPr>
                        <a:t>未设超额分配权</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9,015.1x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9.24x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16.92%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37.20%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178.7%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err="1">
                          <a:solidFill>
                            <a:srgbClr val="A6A6A6"/>
                          </a:solidFill>
                          <a:effectLst/>
                          <a:latin typeface="Arial" panose="020B0604020202020204" pitchFamily="34" charset="0"/>
                          <a:cs typeface="Arial" panose="020B0604020202020204" pitchFamily="34" charset="0"/>
                        </a:rPr>
                        <a:t>n.a.</a:t>
                      </a:r>
                      <a:endParaRPr lang="en-US" sz="730" b="0" i="0" u="none" strike="noStrike" dirty="0">
                        <a:solidFill>
                          <a:srgbClr val="A6A6A6"/>
                        </a:solidFill>
                        <a:effectLst/>
                        <a:latin typeface="Arial" panose="020B0604020202020204" pitchFamily="34" charset="0"/>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178.7%</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02"/>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楷体" charset="0"/>
                          <a:cs typeface="Arial" panose="020B0604020202020204" pitchFamily="34" charset="0"/>
                        </a:rPr>
                        <a:t>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拓璞数控</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7688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TW" sz="730" b="0" i="0" u="none" strike="noStrike">
                          <a:solidFill>
                            <a:srgbClr val="000000"/>
                          </a:solidFill>
                          <a:effectLst/>
                          <a:latin typeface="Arial" panose="020B0604020202020204" pitchFamily="34" charset="0"/>
                          <a:cs typeface="Arial" panose="020B0604020202020204" pitchFamily="34" charset="0"/>
                        </a:rPr>
                        <a:t>5</a:t>
                      </a:r>
                      <a:r>
                        <a:rPr lang="zh-TW" altLang="en-US" sz="730" b="0" i="0" u="none" strike="noStrike">
                          <a:solidFill>
                            <a:srgbClr val="000000"/>
                          </a:solidFill>
                          <a:effectLst/>
                          <a:latin typeface="Arial" panose="020B0604020202020204" pitchFamily="34" charset="0"/>
                          <a:cs typeface="Arial" panose="020B0604020202020204" pitchFamily="34" charset="0"/>
                        </a:rPr>
                        <a:t>月</a:t>
                      </a:r>
                      <a:r>
                        <a:rPr lang="en-US" altLang="zh-TW" sz="730" b="0" i="0" u="none" strike="noStrike">
                          <a:solidFill>
                            <a:srgbClr val="000000"/>
                          </a:solidFill>
                          <a:effectLst/>
                          <a:latin typeface="Arial" panose="020B0604020202020204" pitchFamily="34" charset="0"/>
                          <a:cs typeface="Arial" panose="020B0604020202020204" pitchFamily="34" charset="0"/>
                        </a:rPr>
                        <a:t>20</a:t>
                      </a:r>
                      <a:r>
                        <a:rPr lang="zh-TW" altLang="en-US" sz="730" b="0" i="0" u="none" strike="noStrike">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17.2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TW" altLang="en-US" sz="730" b="0" i="0" u="none" strike="noStrike">
                          <a:solidFill>
                            <a:srgbClr val="FF0000"/>
                          </a:solidFill>
                          <a:effectLst/>
                          <a:latin typeface="Arial" panose="020B0604020202020204" pitchFamily="34" charset="0"/>
                          <a:cs typeface="Arial" panose="020B06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TW" altLang="en-US" sz="730" b="0" i="0" u="none" strike="noStrike">
                          <a:solidFill>
                            <a:srgbClr val="000000"/>
                          </a:solidFill>
                          <a:effectLst/>
                          <a:latin typeface="Arial" panose="020B0604020202020204" pitchFamily="34" charset="0"/>
                          <a:cs typeface="Arial" panose="020B0604020202020204" pitchFamily="34" charset="0"/>
                        </a:rPr>
                        <a:t>固定</a:t>
                      </a:r>
                      <a:r>
                        <a:rPr lang="en-US" altLang="zh-TW" sz="730" b="0" i="0" u="none" strike="noStrike">
                          <a:solidFill>
                            <a:srgbClr val="000000"/>
                          </a:solidFill>
                          <a:effectLst/>
                          <a:latin typeface="Arial" panose="020B0604020202020204" pitchFamily="34"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3,764.6x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30.46x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15.96%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50.00%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cs typeface="Arial" panose="020B0604020202020204" pitchFamily="34" charset="0"/>
                        </a:rPr>
                        <a:t>80.0%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A6A6A6"/>
                          </a:solidFill>
                          <a:effectLst/>
                          <a:latin typeface="Arial" panose="020B0604020202020204" pitchFamily="34" charset="0"/>
                          <a:cs typeface="Arial" panose="020B0604020202020204" pitchFamily="34" charset="0"/>
                        </a:rPr>
                        <a:t>n.a.</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cs typeface="Arial" panose="020B0604020202020204" pitchFamily="34" charset="0"/>
                        </a:rPr>
                        <a:t>47.7%</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楷体" charset="0"/>
                          <a:cs typeface="Arial" panose="020B0604020202020204" pitchFamily="34" charset="0"/>
                        </a:rPr>
                        <a:t>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a:solidFill>
                            <a:srgbClr val="000000"/>
                          </a:solidFill>
                          <a:effectLst/>
                          <a:latin typeface="Arial" panose="020B0604020202020204" pitchFamily="34" charset="0"/>
                          <a:cs typeface="Arial" panose="020B0604020202020204" pitchFamily="34" charset="0"/>
                        </a:rPr>
                        <a:t>驭势科技</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1511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TW" sz="730" b="0" i="0" u="none" strike="noStrike">
                          <a:solidFill>
                            <a:srgbClr val="000000"/>
                          </a:solidFill>
                          <a:effectLst/>
                          <a:latin typeface="Arial" panose="020B0604020202020204" pitchFamily="34" charset="0"/>
                          <a:cs typeface="Arial" panose="020B0604020202020204" pitchFamily="34" charset="0"/>
                        </a:rPr>
                        <a:t>5</a:t>
                      </a:r>
                      <a:r>
                        <a:rPr lang="zh-TW" altLang="en-US" sz="730" b="0" i="0" u="none" strike="noStrike">
                          <a:solidFill>
                            <a:srgbClr val="000000"/>
                          </a:solidFill>
                          <a:effectLst/>
                          <a:latin typeface="Arial" panose="020B0604020202020204" pitchFamily="34" charset="0"/>
                          <a:cs typeface="Arial" panose="020B0604020202020204" pitchFamily="34" charset="0"/>
                        </a:rPr>
                        <a:t>月</a:t>
                      </a:r>
                      <a:r>
                        <a:rPr lang="en-US" altLang="zh-TW" sz="730" b="0" i="0" u="none" strike="noStrike">
                          <a:solidFill>
                            <a:srgbClr val="000000"/>
                          </a:solidFill>
                          <a:effectLst/>
                          <a:latin typeface="Arial" panose="020B0604020202020204" pitchFamily="34" charset="0"/>
                          <a:cs typeface="Arial" panose="020B0604020202020204" pitchFamily="34" charset="0"/>
                        </a:rPr>
                        <a:t>20</a:t>
                      </a:r>
                      <a:r>
                        <a:rPr lang="zh-TW" altLang="en-US" sz="730" b="0" i="0" u="none" strike="noStrike">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8.7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a:solidFill>
                            <a:srgbClr val="DAB866"/>
                          </a:solidFill>
                          <a:effectLst/>
                          <a:latin typeface="Arial" panose="020B0604020202020204" pitchFamily="34" charset="0"/>
                          <a:cs typeface="Arial" panose="020B0604020202020204" pitchFamily="34" charset="0"/>
                        </a:rPr>
                        <a:t>未设超额分配权</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a:solidFill>
                            <a:srgbClr val="000000"/>
                          </a:solidFill>
                          <a:effectLst/>
                          <a:latin typeface="Arial" panose="020B0604020202020204" pitchFamily="34" charset="0"/>
                          <a:cs typeface="Arial" panose="020B0604020202020204" pitchFamily="34" charset="0"/>
                        </a:rPr>
                        <a:t>回拨至</a:t>
                      </a:r>
                      <a:r>
                        <a:rPr lang="en-US" altLang="zh-TW" sz="730" b="0" i="0" u="none" strike="noStrike">
                          <a:solidFill>
                            <a:srgbClr val="000000"/>
                          </a:solidFill>
                          <a:effectLst/>
                          <a:latin typeface="Arial" panose="020B0604020202020204" pitchFamily="34" charset="0"/>
                          <a:cs typeface="Arial" panose="020B06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6,777.3x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5.66x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8.90%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29.96%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B050"/>
                          </a:solidFill>
                          <a:effectLst/>
                          <a:latin typeface="Arial" panose="020B0604020202020204" pitchFamily="34" charset="0"/>
                          <a:cs typeface="Arial" panose="020B0604020202020204" pitchFamily="34" charset="0"/>
                        </a:rPr>
                        <a:t>-4.6%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A6A6A6"/>
                          </a:solidFill>
                          <a:effectLst/>
                          <a:latin typeface="Arial" panose="020B0604020202020204" pitchFamily="34" charset="0"/>
                          <a:cs typeface="Arial" panose="020B0604020202020204" pitchFamily="34" charset="0"/>
                        </a:rPr>
                        <a:t>n.a.</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a:solidFill>
                            <a:srgbClr val="00B050"/>
                          </a:solidFill>
                          <a:effectLst/>
                          <a:latin typeface="Arial" panose="020B0604020202020204" pitchFamily="34" charset="0"/>
                          <a:cs typeface="Arial" panose="020B0604020202020204" pitchFamily="34" charset="0"/>
                        </a:rPr>
                        <a:t>-2.2%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04"/>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翼菲科技</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6871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cs typeface="Arial" panose="020B0604020202020204" pitchFamily="34" charset="0"/>
                        </a:rPr>
                        <a:t>5</a:t>
                      </a:r>
                      <a:r>
                        <a:rPr lang="zh-TW" altLang="en-US" sz="730" b="0" i="0" u="none" strike="noStrike" dirty="0">
                          <a:solidFill>
                            <a:srgbClr val="000000"/>
                          </a:solidFill>
                          <a:effectLst/>
                          <a:latin typeface="Arial" panose="020B0604020202020204" pitchFamily="34" charset="0"/>
                          <a:cs typeface="Arial" panose="020B0604020202020204" pitchFamily="34" charset="0"/>
                        </a:rPr>
                        <a:t>月</a:t>
                      </a:r>
                      <a:r>
                        <a:rPr lang="en-US" altLang="zh-TW" sz="730" b="0" i="0" u="none" strike="noStrike" dirty="0">
                          <a:solidFill>
                            <a:srgbClr val="000000"/>
                          </a:solidFill>
                          <a:effectLst/>
                          <a:latin typeface="Arial" panose="020B0604020202020204" pitchFamily="34" charset="0"/>
                          <a:cs typeface="Arial" panose="020B0604020202020204" pitchFamily="34" charset="0"/>
                        </a:rPr>
                        <a:t>18</a:t>
                      </a:r>
                      <a:r>
                        <a:rPr lang="zh-TW" altLang="en-US" sz="730" b="0" i="0" u="none" strike="noStrike" dirty="0">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7.5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DAB866"/>
                          </a:solidFill>
                          <a:effectLst/>
                          <a:latin typeface="Arial" panose="020B0604020202020204" pitchFamily="34" charset="0"/>
                          <a:cs typeface="Arial" panose="020B0604020202020204" pitchFamily="34" charset="0"/>
                        </a:rPr>
                        <a:t>未设超额分配权</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回拨至</a:t>
                      </a:r>
                      <a:r>
                        <a:rPr lang="en-US" altLang="zh-TW" sz="730" b="0" i="0" u="none" strike="noStrike" dirty="0">
                          <a:solidFill>
                            <a:srgbClr val="000000"/>
                          </a:solidFill>
                          <a:effectLst/>
                          <a:latin typeface="Arial" panose="020B0604020202020204" pitchFamily="34" charset="0"/>
                          <a:cs typeface="Arial" panose="020B06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14,855.4x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9.77x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10.04%</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76.2%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err="1">
                          <a:solidFill>
                            <a:srgbClr val="A6A6A6"/>
                          </a:solidFill>
                          <a:effectLst/>
                          <a:latin typeface="Arial" panose="020B0604020202020204" pitchFamily="34" charset="0"/>
                          <a:cs typeface="Arial" panose="020B0604020202020204" pitchFamily="34" charset="0"/>
                        </a:rPr>
                        <a:t>n.a.</a:t>
                      </a:r>
                      <a:endParaRPr lang="en-US" sz="730" b="0" i="0" u="none" strike="noStrike" dirty="0">
                        <a:solidFill>
                          <a:srgbClr val="A6A6A6"/>
                        </a:solidFill>
                        <a:effectLst/>
                        <a:latin typeface="Arial" panose="020B0604020202020204" pitchFamily="34" charset="0"/>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FF0000"/>
                          </a:solidFill>
                          <a:effectLst/>
                          <a:latin typeface="Arial" panose="020B0604020202020204" pitchFamily="34" charset="0"/>
                          <a:cs typeface="Arial" panose="020B0604020202020204" pitchFamily="34" charset="0"/>
                        </a:rPr>
                        <a:t>5.6%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zh-HK" altLang="en-US" sz="730" b="0" i="0" dirty="0">
                          <a:solidFill>
                            <a:srgbClr val="000000"/>
                          </a:solidFill>
                          <a:latin typeface="Arial" panose="020B0604020202020204" pitchFamily="34" charset="0"/>
                          <a:ea typeface="楷体" charset="0"/>
                          <a:cs typeface="Arial" panose="020B0604020202020204" pitchFamily="34" charset="0"/>
                        </a:rPr>
                        <a:t>剂泰科技</a:t>
                      </a:r>
                      <a:r>
                        <a:rPr lang="en-US" altLang="zh-HK" sz="730" b="0" i="0" dirty="0">
                          <a:solidFill>
                            <a:srgbClr val="000000"/>
                          </a:solidFill>
                          <a:latin typeface="Arial" panose="020B0604020202020204" pitchFamily="34" charset="0"/>
                          <a:ea typeface="楷体" charset="0"/>
                          <a:cs typeface="Arial" panose="020B0604020202020204" pitchFamily="34" charset="0"/>
                        </a:rPr>
                        <a:t>-P</a:t>
                      </a:r>
                      <a:endParaRPr lang="zh-HK" altLang="en-US" sz="730" b="0" i="0" dirty="0">
                        <a:solidFill>
                          <a:srgbClr val="000000"/>
                        </a:solidFill>
                        <a:latin typeface="Arial" panose="020B0604020202020204" pitchFamily="34" charset="0"/>
                        <a:ea typeface="楷体" charset="0"/>
                        <a:cs typeface="Arial" panose="020B0604020202020204" pitchFamily="34" charset="0"/>
                      </a:endParaRP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7666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5</a:t>
                      </a:r>
                      <a:r>
                        <a:rPr lang="zh-HK" altLang="en-US" sz="730" b="0" i="0" dirty="0">
                          <a:solidFill>
                            <a:srgbClr val="000000"/>
                          </a:solidFill>
                          <a:latin typeface="Arial" panose="020B0604020202020204" pitchFamily="34" charset="0"/>
                          <a:ea typeface="楷体" charset="0"/>
                          <a:cs typeface="Arial" panose="020B0604020202020204" pitchFamily="34" charset="0"/>
                        </a:rPr>
                        <a:t>月</a:t>
                      </a:r>
                      <a:r>
                        <a:rPr lang="en-US" altLang="zh-HK" sz="730" b="0" i="0" dirty="0">
                          <a:solidFill>
                            <a:srgbClr val="000000"/>
                          </a:solidFill>
                          <a:latin typeface="Arial" panose="020B0604020202020204" pitchFamily="34" charset="0"/>
                          <a:ea typeface="楷体" charset="0"/>
                          <a:cs typeface="Arial" panose="020B0604020202020204" pitchFamily="34" charset="0"/>
                        </a:rPr>
                        <a:t>13</a:t>
                      </a:r>
                      <a:r>
                        <a:rPr lang="zh-HK" altLang="en-US" sz="730" b="0" i="0" dirty="0">
                          <a:solidFill>
                            <a:srgbClr val="000000"/>
                          </a:solidFill>
                          <a:latin typeface="Arial" panose="020B0604020202020204" pitchFamily="34" charset="0"/>
                          <a:ea typeface="楷体" charset="0"/>
                          <a:cs typeface="Arial" panose="020B0604020202020204" pitchFamily="34" charset="0"/>
                        </a:rPr>
                        <a:t>日</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TMT</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21.1</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zh-HK" altLang="en-US" sz="730" b="0" i="0" dirty="0">
                          <a:solidFill>
                            <a:srgbClr val="FF0000"/>
                          </a:solidFill>
                          <a:latin typeface="Arial" panose="020B0604020202020204" pitchFamily="34" charset="0"/>
                          <a:ea typeface="楷体" charset="0"/>
                          <a:cs typeface="Arial" panose="020B0604020202020204" pitchFamily="34" charset="0"/>
                        </a:rPr>
                        <a:t>满超额分配</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zh-TW" altLang="en-US" sz="730" b="0" i="0" dirty="0">
                          <a:solidFill>
                            <a:srgbClr val="000000"/>
                          </a:solidFill>
                          <a:effectLst/>
                          <a:latin typeface="Arial" panose="020B0604020202020204" pitchFamily="34" charset="0"/>
                          <a:ea typeface="楷体" charset="0"/>
                          <a:cs typeface="Arial" panose="020B0604020202020204" pitchFamily="34" charset="0"/>
                        </a:rPr>
                        <a:t>回拨至20%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6,911.0x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33.86x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17.5%</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54.9%</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FF0000"/>
                          </a:solidFill>
                          <a:latin typeface="Arial" panose="020B0604020202020204" pitchFamily="34" charset="0"/>
                          <a:ea typeface="楷体" charset="0"/>
                          <a:cs typeface="Arial" panose="020B0604020202020204" pitchFamily="34" charset="0"/>
                        </a:rPr>
                        <a:t>126.7%</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err="1">
                          <a:solidFill>
                            <a:srgbClr val="A6A6A6"/>
                          </a:solidFill>
                          <a:effectLst/>
                          <a:latin typeface="Arial" panose="020B0604020202020204" pitchFamily="34" charset="0"/>
                          <a:ea typeface="楷体" charset="0"/>
                          <a:cs typeface="Arial" panose="020B0604020202020204" pitchFamily="34" charset="0"/>
                        </a:rPr>
                        <a:t>n.a.</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60.8%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06"/>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zh-HK" altLang="en-US" sz="730" b="0" i="0" dirty="0">
                          <a:solidFill>
                            <a:srgbClr val="000000"/>
                          </a:solidFill>
                          <a:latin typeface="Arial" panose="020B0604020202020204" pitchFamily="34" charset="0"/>
                          <a:ea typeface="楷体" charset="0"/>
                          <a:cs typeface="Arial" panose="020B0604020202020204" pitchFamily="34" charset="0"/>
                        </a:rPr>
                        <a:t>英派药业</a:t>
                      </a:r>
                      <a:r>
                        <a:rPr lang="en-US" altLang="zh-HK" sz="730" b="0" i="0" dirty="0">
                          <a:solidFill>
                            <a:srgbClr val="000000"/>
                          </a:solidFill>
                          <a:latin typeface="Arial" panose="020B0604020202020204" pitchFamily="34" charset="0"/>
                          <a:ea typeface="楷体" charset="0"/>
                          <a:cs typeface="Arial" panose="020B0604020202020204" pitchFamily="34" charset="0"/>
                        </a:rPr>
                        <a:t>-B</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7630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5</a:t>
                      </a:r>
                      <a:r>
                        <a:rPr lang="zh-HK" altLang="en-US" sz="730" b="0" i="0" dirty="0">
                          <a:solidFill>
                            <a:srgbClr val="000000"/>
                          </a:solidFill>
                          <a:latin typeface="Arial" panose="020B0604020202020204" pitchFamily="34" charset="0"/>
                          <a:ea typeface="楷体" charset="0"/>
                          <a:cs typeface="Arial" panose="020B0604020202020204" pitchFamily="34" charset="0"/>
                        </a:rPr>
                        <a:t>月</a:t>
                      </a:r>
                      <a:r>
                        <a:rPr lang="en-US" altLang="zh-HK" sz="730" b="0" i="0" dirty="0">
                          <a:solidFill>
                            <a:srgbClr val="000000"/>
                          </a:solidFill>
                          <a:latin typeface="Arial" panose="020B0604020202020204" pitchFamily="34" charset="0"/>
                          <a:ea typeface="楷体" charset="0"/>
                          <a:cs typeface="Arial" panose="020B0604020202020204" pitchFamily="34" charset="0"/>
                        </a:rPr>
                        <a:t>13</a:t>
                      </a:r>
                      <a:r>
                        <a:rPr lang="zh-HK" altLang="en-US" sz="730" b="0" i="0" dirty="0">
                          <a:solidFill>
                            <a:srgbClr val="000000"/>
                          </a:solidFill>
                          <a:latin typeface="Arial" panose="020B0604020202020204" pitchFamily="34" charset="0"/>
                          <a:ea typeface="楷体" charset="0"/>
                          <a:cs typeface="Arial" panose="020B0604020202020204" pitchFamily="34" charset="0"/>
                        </a:rPr>
                        <a:t>日</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zh-HK" altLang="en-US" sz="730" b="0" i="0" dirty="0">
                          <a:solidFill>
                            <a:srgbClr val="000000"/>
                          </a:solidFill>
                          <a:latin typeface="Arial" panose="020B0604020202020204" pitchFamily="34" charset="0"/>
                          <a:ea typeface="楷体" charset="0"/>
                          <a:cs typeface="Arial" panose="020B0604020202020204" pitchFamily="34" charset="0"/>
                        </a:rPr>
                        <a:t>医疗健康</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8.4</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zh-HK" altLang="en-US" sz="730" b="0" i="0" dirty="0">
                          <a:solidFill>
                            <a:srgbClr val="FF0000"/>
                          </a:solidFill>
                          <a:latin typeface="Arial" panose="020B0604020202020204" pitchFamily="34" charset="0"/>
                          <a:ea typeface="楷体" charset="0"/>
                          <a:cs typeface="Arial" panose="020B0604020202020204" pitchFamily="34" charset="0"/>
                        </a:rPr>
                        <a:t>满超额分配</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zh-TW" altLang="en-US" sz="730" b="0" i="0" dirty="0">
                          <a:solidFill>
                            <a:srgbClr val="000000"/>
                          </a:solidFill>
                          <a:effectLst/>
                          <a:latin typeface="Arial" panose="020B0604020202020204" pitchFamily="34" charset="0"/>
                          <a:ea typeface="楷体" charset="0"/>
                          <a:cs typeface="Arial" panose="020B0604020202020204" pitchFamily="34" charset="0"/>
                        </a:rPr>
                        <a:t>固定10%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2,282.4x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24.58x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15.2%</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33.2%</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楷体" charset="0"/>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r>
                        <a:rPr lang="en-US" altLang="zh-HK" sz="730" b="0" i="0">
                          <a:solidFill>
                            <a:srgbClr val="FF0000"/>
                          </a:solidFill>
                          <a:latin typeface="Arial" panose="020B0604020202020204" pitchFamily="34" charset="0"/>
                          <a:ea typeface="楷体" charset="0"/>
                          <a:cs typeface="Arial" panose="020B0604020202020204" pitchFamily="34" charset="0"/>
                        </a:rPr>
                        <a:t>108.3%</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err="1">
                          <a:solidFill>
                            <a:srgbClr val="A6A6A6"/>
                          </a:solidFill>
                          <a:effectLst/>
                          <a:latin typeface="Arial" panose="020B0604020202020204" pitchFamily="34" charset="0"/>
                          <a:ea typeface="楷体" charset="0"/>
                          <a:cs typeface="Arial" panose="020B0604020202020204" pitchFamily="34" charset="0"/>
                        </a:rPr>
                        <a:t>n.a.</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87.6%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zh-HK" altLang="en-US" sz="730" b="0" i="0">
                          <a:solidFill>
                            <a:srgbClr val="000000"/>
                          </a:solidFill>
                          <a:latin typeface="Arial" panose="020B0604020202020204" pitchFamily="34" charset="0"/>
                          <a:ea typeface="楷体" charset="0"/>
                          <a:cs typeface="Arial" panose="020B0604020202020204" pitchFamily="34" charset="0"/>
                        </a:rPr>
                        <a:t>乐动机器人</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1236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5</a:t>
                      </a:r>
                      <a:r>
                        <a:rPr lang="zh-HK" altLang="en-US" sz="730" b="0" i="0" dirty="0">
                          <a:solidFill>
                            <a:srgbClr val="000000"/>
                          </a:solidFill>
                          <a:latin typeface="Arial" panose="020B0604020202020204" pitchFamily="34" charset="0"/>
                          <a:ea typeface="楷体" charset="0"/>
                          <a:cs typeface="Arial" panose="020B0604020202020204" pitchFamily="34" charset="0"/>
                        </a:rPr>
                        <a:t>月</a:t>
                      </a:r>
                      <a:r>
                        <a:rPr lang="en-US" altLang="zh-HK" sz="730" b="0" i="0" dirty="0">
                          <a:solidFill>
                            <a:srgbClr val="000000"/>
                          </a:solidFill>
                          <a:latin typeface="Arial" panose="020B0604020202020204" pitchFamily="34" charset="0"/>
                          <a:ea typeface="楷体" charset="0"/>
                          <a:cs typeface="Arial" panose="020B0604020202020204" pitchFamily="34" charset="0"/>
                        </a:rPr>
                        <a:t>11</a:t>
                      </a:r>
                      <a:r>
                        <a:rPr lang="zh-HK" altLang="en-US" sz="730" b="0" i="0" dirty="0">
                          <a:solidFill>
                            <a:srgbClr val="000000"/>
                          </a:solidFill>
                          <a:latin typeface="Arial" panose="020B0604020202020204" pitchFamily="34" charset="0"/>
                          <a:ea typeface="楷体" charset="0"/>
                          <a:cs typeface="Arial" panose="020B0604020202020204" pitchFamily="34" charset="0"/>
                        </a:rPr>
                        <a:t>日</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TMT</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8.8</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zh-HK" altLang="en-US" sz="730" b="0" i="0">
                          <a:solidFill>
                            <a:srgbClr val="00B050"/>
                          </a:solidFill>
                          <a:latin typeface="Arial" panose="020B0604020202020204" pitchFamily="34" charset="0"/>
                          <a:ea typeface="楷体" charset="0"/>
                          <a:cs typeface="Arial" panose="020B0604020202020204" pitchFamily="34" charset="0"/>
                        </a:rPr>
                        <a:t>无超额分配</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zh-TW" altLang="en-US" sz="730" b="0" i="0" dirty="0">
                          <a:solidFill>
                            <a:srgbClr val="000000"/>
                          </a:solidFill>
                          <a:effectLst/>
                          <a:latin typeface="Arial" panose="020B0604020202020204" pitchFamily="34" charset="0"/>
                          <a:ea typeface="楷体" charset="0"/>
                          <a:cs typeface="Arial" panose="020B0604020202020204" pitchFamily="34" charset="0"/>
                        </a:rPr>
                        <a:t>固定10%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6,707.7x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9.54x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10.0%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31.5%</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楷体" charset="0"/>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楷体" charset="0"/>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FF0000"/>
                          </a:solidFill>
                          <a:latin typeface="Arial" panose="020B0604020202020204" pitchFamily="34" charset="0"/>
                          <a:ea typeface="楷体" charset="0"/>
                          <a:cs typeface="Arial" panose="020B0604020202020204" pitchFamily="34" charset="0"/>
                        </a:rPr>
                        <a:t>127.6%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r>
                        <a:rPr lang="en-US" altLang="zh-HK" sz="730" b="0" i="0">
                          <a:solidFill>
                            <a:srgbClr val="A6A6A6"/>
                          </a:solidFill>
                          <a:latin typeface="Arial" panose="020B0604020202020204" pitchFamily="34" charset="0"/>
                          <a:ea typeface="楷体" charset="0"/>
                          <a:cs typeface="Arial" panose="020B0604020202020204" pitchFamily="34" charset="0"/>
                        </a:rPr>
                        <a:t>n.a.</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59.0%</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08"/>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可孚医疗</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1187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cs typeface="Arial" panose="020B0604020202020204" pitchFamily="34" charset="0"/>
                        </a:rPr>
                        <a:t>5</a:t>
                      </a:r>
                      <a:r>
                        <a:rPr lang="zh-TW" altLang="en-US" sz="730" b="0" i="0" u="none" strike="noStrike" dirty="0">
                          <a:solidFill>
                            <a:srgbClr val="000000"/>
                          </a:solidFill>
                          <a:effectLst/>
                          <a:latin typeface="Arial" panose="020B0604020202020204" pitchFamily="34" charset="0"/>
                          <a:cs typeface="Arial" panose="020B0604020202020204" pitchFamily="34" charset="0"/>
                        </a:rPr>
                        <a:t>月</a:t>
                      </a:r>
                      <a:r>
                        <a:rPr lang="en-US" altLang="zh-TW" sz="730" b="0" i="0" u="none" strike="noStrike" dirty="0">
                          <a:solidFill>
                            <a:srgbClr val="000000"/>
                          </a:solidFill>
                          <a:effectLst/>
                          <a:latin typeface="Arial" panose="020B0604020202020204" pitchFamily="34" charset="0"/>
                          <a:cs typeface="Arial" panose="020B0604020202020204" pitchFamily="34" charset="0"/>
                        </a:rPr>
                        <a:t>6</a:t>
                      </a:r>
                      <a:r>
                        <a:rPr lang="zh-TW" altLang="en-US" sz="730" b="0" i="0" u="none" strike="noStrike" dirty="0">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医疗健康</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10.6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DAB866"/>
                          </a:solidFill>
                          <a:effectLst/>
                          <a:latin typeface="Arial" panose="020B0604020202020204" pitchFamily="34" charset="0"/>
                          <a:cs typeface="Arial" panose="020B0604020202020204" pitchFamily="34" charset="0"/>
                        </a:rPr>
                        <a:t>未设超额分配权</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399.1x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3.40x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11.5%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35.8%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-35.0%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-1.1%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err="1">
                          <a:solidFill>
                            <a:srgbClr val="A6A6A6"/>
                          </a:solidFill>
                          <a:effectLst/>
                          <a:latin typeface="Arial" panose="020B0604020202020204" pitchFamily="34" charset="0"/>
                          <a:cs typeface="Arial" panose="020B0604020202020204" pitchFamily="34" charset="0"/>
                        </a:rPr>
                        <a:t>n.a.</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-19.3%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a:solidFill>
                            <a:srgbClr val="000000"/>
                          </a:solidFill>
                          <a:effectLst/>
                          <a:latin typeface="Arial" panose="020B0604020202020204" pitchFamily="34" charset="0"/>
                          <a:cs typeface="Arial" panose="020B0604020202020204" pitchFamily="34" charset="0"/>
                        </a:rPr>
                        <a:t>天星医疗</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1609</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TW" sz="730" b="0" i="0" u="none" strike="noStrike" dirty="0">
                          <a:solidFill>
                            <a:srgbClr val="000000"/>
                          </a:solidFill>
                          <a:effectLst/>
                          <a:latin typeface="Arial" panose="020B0604020202020204" pitchFamily="34" charset="0"/>
                          <a:cs typeface="Arial" panose="020B0604020202020204" pitchFamily="34" charset="0"/>
                        </a:rPr>
                        <a:t>5</a:t>
                      </a:r>
                      <a:r>
                        <a:rPr lang="zh-TW" altLang="en-US" sz="730" b="0" i="0" u="none" strike="noStrike" dirty="0">
                          <a:solidFill>
                            <a:srgbClr val="000000"/>
                          </a:solidFill>
                          <a:effectLst/>
                          <a:latin typeface="Arial" panose="020B0604020202020204" pitchFamily="34" charset="0"/>
                          <a:cs typeface="Arial" panose="020B0604020202020204" pitchFamily="34" charset="0"/>
                        </a:rPr>
                        <a:t>月</a:t>
                      </a:r>
                      <a:r>
                        <a:rPr lang="en-US" altLang="zh-TW" sz="730" b="0" i="0" u="none" strike="noStrike" dirty="0">
                          <a:solidFill>
                            <a:srgbClr val="000000"/>
                          </a:solidFill>
                          <a:effectLst/>
                          <a:latin typeface="Arial" panose="020B0604020202020204" pitchFamily="34" charset="0"/>
                          <a:cs typeface="Arial" panose="020B0604020202020204" pitchFamily="34" charset="0"/>
                        </a:rPr>
                        <a:t>5</a:t>
                      </a:r>
                      <a:r>
                        <a:rPr lang="zh-TW" altLang="en-US" sz="730" b="0" i="0" u="none" strike="noStrike" dirty="0">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医疗健康</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8.3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00B050"/>
                          </a:solidFill>
                          <a:effectLst/>
                          <a:latin typeface="Arial" panose="020B0604020202020204" pitchFamily="34" charset="0"/>
                          <a:cs typeface="Arial" panose="020B0604020202020204" pitchFamily="34" charset="0"/>
                        </a:rPr>
                        <a:t>无超额分配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7,823.1x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10.41x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15.4%</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34.7%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118.3%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err="1">
                          <a:solidFill>
                            <a:srgbClr val="A6A6A6"/>
                          </a:solidFill>
                          <a:effectLst/>
                          <a:latin typeface="Arial" panose="020B0604020202020204" pitchFamily="34" charset="0"/>
                          <a:cs typeface="Arial" panose="020B0604020202020204" pitchFamily="34" charset="0"/>
                        </a:rPr>
                        <a:t>n.a.</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106.1%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10"/>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err="1">
                          <a:solidFill>
                            <a:srgbClr val="000000"/>
                          </a:solidFill>
                          <a:effectLst/>
                          <a:latin typeface="Arial" panose="020B0604020202020204" pitchFamily="34" charset="0"/>
                          <a:ea typeface="楷体" charset="0"/>
                          <a:cs typeface="Arial" panose="020B0604020202020204" pitchFamily="34" charset="0"/>
                        </a:rPr>
                        <a:t>商米科技</a:t>
                      </a:r>
                      <a:r>
                        <a:rPr lang="en-US" altLang="zh-CN" sz="730" b="0" i="0" dirty="0">
                          <a:solidFill>
                            <a:srgbClr val="000000"/>
                          </a:solidFill>
                          <a:effectLst/>
                          <a:latin typeface="Arial" panose="020B0604020202020204" pitchFamily="34" charset="0"/>
                          <a:ea typeface="楷体" charset="0"/>
                          <a:cs typeface="Arial" panose="020B0604020202020204" pitchFamily="34" charset="0"/>
                        </a:rPr>
                        <a:t>-W</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6810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4月29日</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TMT</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10.6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zh-HK" altLang="en-US" sz="730" b="0" i="0" dirty="0">
                          <a:solidFill>
                            <a:srgbClr val="00B050"/>
                          </a:solidFill>
                          <a:latin typeface="Arial" panose="020B0604020202020204" pitchFamily="34" charset="0"/>
                          <a:ea typeface="楷体" charset="0"/>
                          <a:cs typeface="Arial" panose="020B0604020202020204" pitchFamily="34" charset="0"/>
                        </a:rPr>
                        <a:t>无超额分配</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楷体"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ea typeface="楷体"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2,003.2x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7.91x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10.6%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27.0%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altLang="en-US" sz="730" b="0" i="0" u="none" strike="noStrike" dirty="0">
                          <a:solidFill>
                            <a:srgbClr val="000000"/>
                          </a:solidFill>
                          <a:effectLst/>
                          <a:latin typeface="Arial" panose="020B0604020202020204" pitchFamily="34" charset="0"/>
                          <a:ea typeface="楷体" charset="0"/>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FF0000"/>
                          </a:solidFill>
                          <a:latin typeface="Arial" panose="020B0604020202020204" pitchFamily="34" charset="0"/>
                          <a:ea typeface="楷体" charset="0"/>
                          <a:cs typeface="Arial" panose="020B0604020202020204" pitchFamily="34" charset="0"/>
                        </a:rPr>
                        <a:t>241.1%</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A6A6A6"/>
                          </a:solidFill>
                          <a:latin typeface="Arial" panose="020B0604020202020204" pitchFamily="34" charset="0"/>
                          <a:ea typeface="楷体" charset="0"/>
                          <a:cs typeface="Arial" panose="020B0604020202020204" pitchFamily="34" charset="0"/>
                        </a:rPr>
                        <a:t>n.a.</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189.6%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TW" sz="730" b="0" i="0" dirty="0" err="1">
                          <a:solidFill>
                            <a:srgbClr val="000000"/>
                          </a:solidFill>
                          <a:effectLst/>
                          <a:latin typeface="Arial" panose="020B0604020202020204" pitchFamily="34" charset="0"/>
                          <a:ea typeface="楷体" charset="0"/>
                          <a:cs typeface="Arial" panose="020B0604020202020204" pitchFamily="34" charset="0"/>
                        </a:rPr>
                        <a:t>迈威生物</a:t>
                      </a:r>
                      <a:r>
                        <a:rPr lang="en-US" altLang="zh-CN" sz="730" b="0" i="0" dirty="0">
                          <a:solidFill>
                            <a:srgbClr val="000000"/>
                          </a:solidFill>
                          <a:effectLst/>
                          <a:latin typeface="Arial" panose="020B0604020202020204" pitchFamily="34" charset="0"/>
                          <a:ea typeface="楷体" charset="0"/>
                          <a:cs typeface="Arial" panose="020B0604020202020204" pitchFamily="34" charset="0"/>
                        </a:rPr>
                        <a:t>-B</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2493</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4月28日</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医疗健康</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13.0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zh-HK" altLang="en-US" sz="730" b="0" i="0" dirty="0">
                          <a:solidFill>
                            <a:srgbClr val="00B050"/>
                          </a:solidFill>
                          <a:latin typeface="Arial" panose="020B0604020202020204" pitchFamily="34" charset="0"/>
                          <a:ea typeface="楷体" charset="0"/>
                          <a:cs typeface="Arial" panose="020B0604020202020204" pitchFamily="34" charset="0"/>
                        </a:rPr>
                        <a:t>无超额分配</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楷体"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ea typeface="楷体"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481.7x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3.46x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10.6%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31.9%</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ClrTx/>
                        <a:buSzTx/>
                        <a:buFontTx/>
                      </a:pPr>
                      <a:r>
                        <a:rPr lang="en-US" sz="730" b="0" i="0" dirty="0">
                          <a:solidFill>
                            <a:srgbClr val="000000"/>
                          </a:solidFill>
                          <a:effectLst/>
                          <a:latin typeface="Arial" panose="020B0604020202020204" pitchFamily="34" charset="0"/>
                          <a:cs typeface="Arial" panose="020B0604020202020204" pitchFamily="34" charset="0"/>
                        </a:rPr>
                        <a:t>-34.</a:t>
                      </a:r>
                      <a:r>
                        <a:rPr lang="en-US" altLang="zh-CN" sz="730" b="0" i="0" dirty="0">
                          <a:solidFill>
                            <a:srgbClr val="000000"/>
                          </a:solidFill>
                          <a:effectLst/>
                          <a:latin typeface="Arial" panose="020B0604020202020204" pitchFamily="34" charset="0"/>
                          <a:cs typeface="Arial" panose="020B0604020202020204" pitchFamily="34" charset="0"/>
                        </a:rPr>
                        <a:t>9</a:t>
                      </a:r>
                      <a:r>
                        <a:rPr lang="en-US" sz="730" b="0" i="0" dirty="0">
                          <a:solidFill>
                            <a:srgbClr val="000000"/>
                          </a:solidFill>
                          <a:effectLst/>
                          <a:latin typeface="Arial" panose="020B0604020202020204" pitchFamily="34" charset="0"/>
                          <a:cs typeface="Arial" panose="020B0604020202020204" pitchFamily="34" charset="0"/>
                        </a:rPr>
                        <a:t>%</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FF0000"/>
                          </a:solidFill>
                          <a:latin typeface="Arial" panose="020B0604020202020204" pitchFamily="34" charset="0"/>
                          <a:ea typeface="楷体" charset="0"/>
                          <a:cs typeface="Arial" panose="020B0604020202020204" pitchFamily="34" charset="0"/>
                        </a:rPr>
                        <a:t>0.6%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a:solidFill>
                            <a:srgbClr val="A6A6A6"/>
                          </a:solidFill>
                          <a:latin typeface="Arial" panose="020B0604020202020204" pitchFamily="34" charset="0"/>
                          <a:ea typeface="楷体" charset="0"/>
                          <a:cs typeface="Arial" panose="020B0604020202020204" pitchFamily="34" charset="0"/>
                        </a:rPr>
                        <a:t>n.a.</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-11.6%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err="1">
                          <a:solidFill>
                            <a:srgbClr val="000000"/>
                          </a:solidFill>
                          <a:effectLst/>
                          <a:latin typeface="Arial" panose="020B0604020202020204" pitchFamily="34" charset="0"/>
                          <a:ea typeface="楷体" charset="0"/>
                          <a:cs typeface="Arial" panose="020B0604020202020204" pitchFamily="34" charset="0"/>
                        </a:rPr>
                        <a:t>曦智科技</a:t>
                      </a:r>
                      <a:r>
                        <a:rPr lang="en-US" altLang="zh-CN" sz="730" b="0" i="0" dirty="0">
                          <a:solidFill>
                            <a:srgbClr val="000000"/>
                          </a:solidFill>
                          <a:effectLst/>
                          <a:latin typeface="Arial" panose="020B0604020202020204" pitchFamily="34" charset="0"/>
                          <a:ea typeface="楷体" charset="0"/>
                          <a:cs typeface="Arial" panose="020B0604020202020204" pitchFamily="34" charset="0"/>
                        </a:rPr>
                        <a:t>-P</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1879</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TW" sz="730" b="0" i="0" dirty="0">
                          <a:solidFill>
                            <a:srgbClr val="000000"/>
                          </a:solidFill>
                          <a:effectLst/>
                          <a:latin typeface="Arial" panose="020B0604020202020204" pitchFamily="34" charset="0"/>
                          <a:ea typeface="楷体" charset="0"/>
                          <a:cs typeface="Arial" panose="020B0604020202020204" pitchFamily="34" charset="0"/>
                        </a:rPr>
                        <a:t>4月28日</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ea typeface="楷体" charset="0"/>
                          <a:cs typeface="Arial" panose="020B06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25.3</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zh-HK" altLang="en-US" sz="730" b="0" i="0">
                          <a:solidFill>
                            <a:srgbClr val="FF0000"/>
                          </a:solidFill>
                          <a:latin typeface="Arial" panose="020B0604020202020204" pitchFamily="34" charset="0"/>
                          <a:ea typeface="楷体" charset="0"/>
                          <a:cs typeface="Arial" panose="020B0604020202020204" pitchFamily="34" charset="0"/>
                        </a:rPr>
                        <a:t>满超额分配</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回拨至</a:t>
                      </a:r>
                      <a:r>
                        <a:rPr lang="en-US" altLang="zh-TW" sz="730" b="0" i="0" u="none" strike="noStrike" dirty="0">
                          <a:solidFill>
                            <a:srgbClr val="000000"/>
                          </a:solidFill>
                          <a:effectLst/>
                          <a:latin typeface="Arial" panose="020B0604020202020204" pitchFamily="34" charset="0"/>
                          <a:cs typeface="Arial" panose="020B06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5,784.7x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a:solidFill>
                            <a:srgbClr val="000000"/>
                          </a:solidFill>
                          <a:latin typeface="Arial" panose="020B0604020202020204" pitchFamily="34" charset="0"/>
                          <a:ea typeface="楷体" charset="0"/>
                          <a:cs typeface="Arial" panose="020B0604020202020204" pitchFamily="34" charset="0"/>
                        </a:rPr>
                        <a:t>53.83x</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15.0%</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dirty="0">
                          <a:solidFill>
                            <a:srgbClr val="000000"/>
                          </a:solidFill>
                          <a:latin typeface="Arial" panose="020B0604020202020204" pitchFamily="34" charset="0"/>
                          <a:ea typeface="楷体" charset="0"/>
                          <a:cs typeface="Arial" panose="020B0604020202020204" pitchFamily="34" charset="0"/>
                        </a:rPr>
                        <a:t>65.1%</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altLang="zh-CN" sz="730" b="0" noProof="0" dirty="0">
                          <a:ln>
                            <a:noFill/>
                          </a:ln>
                          <a:solidFill>
                            <a:srgbClr val="000000"/>
                          </a:solidFill>
                          <a:effectLst/>
                          <a:uLnTx/>
                          <a:uFillTx/>
                          <a:latin typeface="Arial" panose="020B0604020202020204" pitchFamily="34" charset="0"/>
                          <a:ea typeface="楷体" charset="0"/>
                          <a:cs typeface="Arial" panose="020B0604020202020204" pitchFamily="34" charset="0"/>
                          <a:sym typeface="+mn-ea"/>
                        </a:rPr>
                        <a:t>-</a:t>
                      </a:r>
                      <a:endParaRPr lang="en-US" altLang="zh-CN" sz="730" b="0" i="0" u="none" strike="noStrike" noProof="0" dirty="0">
                        <a:ln>
                          <a:noFill/>
                        </a:ln>
                        <a:solidFill>
                          <a:srgbClr val="000000"/>
                        </a:solidFill>
                        <a:effectLst/>
                        <a:uLnTx/>
                        <a:uFillTx/>
                        <a:latin typeface="Arial" panose="020B0604020202020204" pitchFamily="34" charset="0"/>
                        <a:ea typeface="楷体" charset="0"/>
                        <a:cs typeface="Arial" panose="020B0604020202020204" pitchFamily="34" charset="0"/>
                        <a:sym typeface="+mn-ea"/>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dirty="0">
                          <a:solidFill>
                            <a:srgbClr val="FF0000"/>
                          </a:solidFill>
                          <a:latin typeface="Arial" panose="020B0604020202020204" pitchFamily="34" charset="0"/>
                          <a:ea typeface="楷体" charset="0"/>
                          <a:cs typeface="Arial" panose="020B0604020202020204" pitchFamily="34" charset="0"/>
                        </a:rPr>
                        <a:t>383.6%</a:t>
                      </a: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r>
                        <a:rPr lang="en-US" altLang="zh-HK" sz="730" b="0" i="0" dirty="0" err="1">
                          <a:solidFill>
                            <a:srgbClr val="A6A6A6"/>
                          </a:solidFill>
                          <a:latin typeface="Arial" panose="020B0604020202020204" pitchFamily="34" charset="0"/>
                          <a:ea typeface="楷体" charset="0"/>
                          <a:cs typeface="Arial" panose="020B0604020202020204" pitchFamily="34" charset="0"/>
                        </a:rPr>
                        <a:t>n.a.</a:t>
                      </a:r>
                      <a:endParaRPr lang="en-US" altLang="zh-HK" sz="730" b="0" i="0" dirty="0">
                        <a:solidFill>
                          <a:srgbClr val="A6A6A6"/>
                        </a:solidFill>
                        <a:latin typeface="Arial" panose="020B0604020202020204" pitchFamily="34" charset="0"/>
                        <a:ea typeface="楷体" charset="0"/>
                        <a:cs typeface="Arial" panose="020B0604020202020204" pitchFamily="34" charset="0"/>
                      </a:endParaRPr>
                    </a:p>
                  </a:txBody>
                  <a:tcPr marL="13017" marR="13017" marT="13017"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213.9%</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rgbClr val="F2F2F2"/>
                    </a:solidFill>
                  </a:tcPr>
                </a:tc>
                <a:extLst>
                  <a:ext uri="{0D108BD9-81ED-4DB2-BD59-A6C34878D82A}">
                    <a16:rowId xmlns:a16="http://schemas.microsoft.com/office/drawing/2014/main" val="10013"/>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华勤技术</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3296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cs typeface="Arial" panose="020B0604020202020204" pitchFamily="34" charset="0"/>
                        </a:rPr>
                        <a:t>4</a:t>
                      </a:r>
                      <a:r>
                        <a:rPr lang="zh-TW" altLang="en-US" sz="730" b="0" i="0" u="none" strike="noStrike" dirty="0">
                          <a:solidFill>
                            <a:srgbClr val="000000"/>
                          </a:solidFill>
                          <a:effectLst/>
                          <a:latin typeface="Arial" panose="020B0604020202020204" pitchFamily="34" charset="0"/>
                          <a:cs typeface="Arial" panose="020B0604020202020204" pitchFamily="34" charset="0"/>
                        </a:rPr>
                        <a:t>月</a:t>
                      </a:r>
                      <a:r>
                        <a:rPr lang="en-US" altLang="zh-TW" sz="730" b="0" i="0" u="none" strike="noStrike" dirty="0">
                          <a:solidFill>
                            <a:srgbClr val="000000"/>
                          </a:solidFill>
                          <a:effectLst/>
                          <a:latin typeface="Arial" panose="020B0604020202020204" pitchFamily="34" charset="0"/>
                          <a:cs typeface="Arial" panose="020B0604020202020204" pitchFamily="34" charset="0"/>
                        </a:rPr>
                        <a:t>23</a:t>
                      </a:r>
                      <a:r>
                        <a:rPr lang="zh-TW" altLang="en-US" sz="730" b="0" i="0" u="none" strike="noStrike" dirty="0">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45.5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FF0000"/>
                          </a:solidFill>
                          <a:effectLst/>
                          <a:latin typeface="Arial" panose="020B0604020202020204" pitchFamily="34" charset="0"/>
                          <a:cs typeface="Arial" panose="020B06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531.3x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13.34x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5.5%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50.0%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-32.0%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13.3%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r>
                        <a:rPr lang="en-US" altLang="zh-HK" sz="730" b="0" i="0" dirty="0" err="1">
                          <a:solidFill>
                            <a:srgbClr val="A6A6A6"/>
                          </a:solidFill>
                          <a:latin typeface="Arial" panose="020B0604020202020204" pitchFamily="34" charset="0"/>
                          <a:ea typeface="楷体" charset="0"/>
                          <a:cs typeface="Arial" panose="020B0604020202020204" pitchFamily="34" charset="0"/>
                        </a:rPr>
                        <a:t>n.a.</a:t>
                      </a:r>
                      <a:endParaRPr lang="en-US" altLang="zh-HK" sz="730" b="0" i="0" dirty="0">
                        <a:solidFill>
                          <a:srgbClr val="A6A6A6"/>
                        </a:solidFill>
                        <a:latin typeface="Arial" panose="020B0604020202020204" pitchFamily="34" charset="0"/>
                        <a:ea typeface="楷体" charset="0"/>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6.1%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胜宏科技</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2476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cs typeface="Arial" panose="020B0604020202020204" pitchFamily="34" charset="0"/>
                        </a:rPr>
                        <a:t>4</a:t>
                      </a:r>
                      <a:r>
                        <a:rPr lang="zh-TW" altLang="en-US" sz="730" b="0" i="0" u="none" strike="noStrike" dirty="0">
                          <a:solidFill>
                            <a:srgbClr val="000000"/>
                          </a:solidFill>
                          <a:effectLst/>
                          <a:latin typeface="Arial" panose="020B0604020202020204" pitchFamily="34" charset="0"/>
                          <a:cs typeface="Arial" panose="020B0604020202020204" pitchFamily="34" charset="0"/>
                        </a:rPr>
                        <a:t>月</a:t>
                      </a:r>
                      <a:r>
                        <a:rPr lang="en-US" altLang="zh-TW" sz="730" b="0" i="0" u="none" strike="noStrike" dirty="0">
                          <a:solidFill>
                            <a:srgbClr val="000000"/>
                          </a:solidFill>
                          <a:effectLst/>
                          <a:latin typeface="Arial" panose="020B0604020202020204" pitchFamily="34" charset="0"/>
                          <a:cs typeface="Arial" panose="020B0604020202020204" pitchFamily="34" charset="0"/>
                        </a:rPr>
                        <a:t>21</a:t>
                      </a:r>
                      <a:r>
                        <a:rPr lang="zh-TW" altLang="en-US" sz="730" b="0" i="0" u="none" strike="noStrike" dirty="0">
                          <a:solidFill>
                            <a:srgbClr val="000000"/>
                          </a:solidFill>
                          <a:effectLst/>
                          <a:latin typeface="Arial" panose="020B0604020202020204" pitchFamily="34" charset="0"/>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231.4</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FF0000"/>
                          </a:solidFill>
                          <a:effectLst/>
                          <a:latin typeface="Arial" panose="020B0604020202020204" pitchFamily="34" charset="0"/>
                          <a:cs typeface="Arial" panose="020B06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431.2x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18.50x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11.2%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38.8%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-39.2%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50.1%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65.0%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92.3%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extLst>
                  <a:ext uri="{0D108BD9-81ED-4DB2-BD59-A6C34878D82A}">
                    <a16:rowId xmlns:a16="http://schemas.microsoft.com/office/drawing/2014/main" val="10015"/>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长光辰芯</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3277</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TW"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17</a:t>
                      </a: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26.0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zh-TW"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1,138.2x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22.69x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15.0%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50.0%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75.5%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104.7%</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170.8%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45224">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TW"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群核科技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TW"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zh-TW"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TW"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17</a:t>
                      </a:r>
                      <a:r>
                        <a:rPr lang="zh-TW"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12.2</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TW" alt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TW"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TW"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1,590.6x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14.46x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9.5%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37.1%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144.1%</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159.8%</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147.4%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7"/>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思格新能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6656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TW"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TW"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16</a:t>
                      </a: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新能源</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44.0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TW"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TW"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1,102.1x</a:t>
                      </a:r>
                      <a:endPar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31.20x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103.4%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60.1%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60.4%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铜师傅</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664</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zh-CN" altLang="en-US" sz="730" b="0" i="0" u="none" strike="noStrike" kern="1200">
                          <a:solidFill>
                            <a:srgbClr val="000000"/>
                          </a:solidFill>
                          <a:effectLst/>
                          <a:latin typeface="Arial" panose="020B0604020202020204" pitchFamily="34" charset="0"/>
                          <a:ea typeface="KaiTi" panose="02010609060101010101" pitchFamily="49" charset="-122"/>
                          <a:cs typeface="Arial" panose="020B06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3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4.4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无超额分配</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59.</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a:t>
                      </a: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1.56x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11.5%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B050"/>
                          </a:solidFill>
                          <a:effectLst/>
                          <a:latin typeface="Arial" panose="020B0604020202020204" pitchFamily="34" charset="0"/>
                          <a:ea typeface="KaiTi" panose="02010609060101010101" pitchFamily="49" charset="-122"/>
                          <a:cs typeface="Arial" panose="020B0604020202020204" pitchFamily="34" charset="0"/>
                        </a:rPr>
                        <a:t>-49.2%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dirty="0">
                          <a:solidFill>
                            <a:srgbClr val="00B050"/>
                          </a:solidFill>
                          <a:effectLst/>
                          <a:latin typeface="Arial" panose="020B0604020202020204" pitchFamily="34" charset="0"/>
                          <a:ea typeface="KaiTi" panose="02010609060101010101" pitchFamily="49" charset="-122"/>
                          <a:cs typeface="Arial" panose="020B0604020202020204" pitchFamily="34" charset="0"/>
                        </a:rPr>
                        <a:t>-62.5%</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-69.5%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9"/>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傅里叶</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3625</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31</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GB" sz="730" b="0" i="0" u="none" strike="noStrike" kern="120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30" b="0" i="0" u="none" strike="noStrike" kern="1200">
                          <a:solidFill>
                            <a:srgbClr val="000000"/>
                          </a:solidFill>
                          <a:effectLst/>
                          <a:latin typeface="Arial" panose="020B0604020202020204" pitchFamily="34" charset="0"/>
                          <a:ea typeface="KaiTi" panose="02010609060101010101" pitchFamily="49" charset="-122"/>
                          <a:cs typeface="Arial" panose="020B0604020202020204" pitchFamily="34" charset="0"/>
                        </a:rPr>
                        <a:t>4.8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无超额分配</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3,118.4x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2.93x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cs typeface="Arial" panose="020B0604020202020204" pitchFamily="34" charset="0"/>
                        </a:rPr>
                        <a:t>-</a:t>
                      </a:r>
                      <a:endParaRPr lang="en-US" sz="73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100.0%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ClrTx/>
                        <a:buSzTx/>
                        <a:buFontTx/>
                      </a:pPr>
                      <a:r>
                        <a:rPr lang="en-US" sz="730" b="0" i="0">
                          <a:solidFill>
                            <a:srgbClr val="FF0000"/>
                          </a:solidFill>
                          <a:effectLst/>
                          <a:latin typeface="Arial" panose="020B0604020202020204" pitchFamily="34" charset="0"/>
                          <a:ea typeface="KaiTi" panose="02010609060101010101" pitchFamily="49" charset="-122"/>
                          <a:cs typeface="Arial" panose="020B0604020202020204" pitchFamily="34" charset="0"/>
                        </a:rPr>
                        <a:t>214.8%</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190.5%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极视角</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6636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30</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GB" sz="730" b="0" i="0" u="none" strike="noStrike" kern="120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3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30" b="0" i="0" u="none" strike="noStrike" kern="1200" cap="none" spc="0" normalizeH="0" baseline="0" noProof="0" dirty="0">
                          <a:ln>
                            <a:noFill/>
                          </a:ln>
                          <a:solidFill>
                            <a:srgbClr val="DAB866"/>
                          </a:solidFill>
                          <a:effectLst/>
                          <a:uLnTx/>
                          <a:uFillTx/>
                          <a:latin typeface="Arial" panose="020B0604020202020204" pitchFamily="34" charset="0"/>
                          <a:ea typeface="KaiTi" panose="02010609060101010101" pitchFamily="49" charset="-122"/>
                          <a:cs typeface="Arial" panose="020B0604020202020204" pitchFamily="34" charset="0"/>
                        </a:rPr>
                        <a:t>未设超额分配权</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4,591.</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3.41x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11.1%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9.5%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150.0%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a:solidFill>
                            <a:srgbClr val="FF0000"/>
                          </a:solidFill>
                          <a:effectLst/>
                          <a:latin typeface="Arial" panose="020B0604020202020204" pitchFamily="34" charset="0"/>
                          <a:ea typeface="KaiTi" panose="02010609060101010101" pitchFamily="49" charset="-122"/>
                          <a:cs typeface="Arial" panose="020B0604020202020204" pitchFamily="34" charset="0"/>
                        </a:rPr>
                        <a:t>153.8%</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149.9%</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1"/>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德适生物</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a:t>
                      </a: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B</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2526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30</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zh-CN" altLang="en-US" sz="730" b="0" i="0" u="none" strike="noStrike" kern="1200">
                          <a:solidFill>
                            <a:srgbClr val="000000"/>
                          </a:solidFill>
                          <a:effectLst/>
                          <a:latin typeface="Arial" panose="020B0604020202020204" pitchFamily="34" charset="0"/>
                          <a:ea typeface="KaiTi" panose="02010609060101010101" pitchFamily="49" charset="-122"/>
                          <a:cs typeface="Arial" panose="020B06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3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7.9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30" b="0" i="0" u="none" strike="noStrike" kern="1200" cap="none" spc="0" normalizeH="0" baseline="0" noProof="0">
                          <a:ln>
                            <a:noFill/>
                          </a:ln>
                          <a:solidFill>
                            <a:srgbClr val="DAB866"/>
                          </a:solidFill>
                          <a:effectLst/>
                          <a:uLnTx/>
                          <a:uFillTx/>
                          <a:latin typeface="Arial" panose="020B0604020202020204" pitchFamily="34" charset="0"/>
                          <a:ea typeface="KaiTi" panose="02010609060101010101" pitchFamily="49" charset="-122"/>
                          <a:cs typeface="Arial" panose="020B0604020202020204" pitchFamily="34" charset="0"/>
                        </a:rPr>
                        <a:t>未设超额分配权</a:t>
                      </a:r>
                      <a:endParaRPr kumimoji="0" lang="zh-CN" altLang="en-US" sz="730" b="0" i="0" u="none" strike="noStrike" kern="1200" cap="none" spc="0" normalizeH="0" baseline="0" noProof="0" dirty="0">
                        <a:ln>
                          <a:noFill/>
                        </a:ln>
                        <a:solidFill>
                          <a:srgbClr val="DAB866"/>
                        </a:solidFill>
                        <a:effectLst/>
                        <a:uLnTx/>
                        <a:uFillTx/>
                        <a:latin typeface="Arial" panose="020B0604020202020204" pitchFamily="34" charset="0"/>
                        <a:ea typeface="KaiTi" panose="02010609060101010101" pitchFamily="49" charset="-122"/>
                        <a:cs typeface="Arial" panose="020B0604020202020204" pitchFamily="34" charset="0"/>
                      </a:endParaRP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1,073.</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3.45x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9.0%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111.7%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a:solidFill>
                            <a:srgbClr val="FF0000"/>
                          </a:solidFill>
                          <a:effectLst/>
                          <a:latin typeface="Arial" panose="020B0604020202020204" pitchFamily="34" charset="0"/>
                          <a:ea typeface="KaiTi" panose="02010609060101010101" pitchFamily="49" charset="-122"/>
                          <a:cs typeface="Arial" panose="020B0604020202020204" pitchFamily="34" charset="0"/>
                        </a:rPr>
                        <a:t>190.9%</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253.5%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2"/>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瀚天天成</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2726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30</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GB" sz="730" b="0" i="0" u="none" strike="noStrike" kern="120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3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16.4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30" b="0" i="0" u="none" strike="noStrike" kern="1200" cap="none" spc="0" normalizeH="0" baseline="0" noProof="0">
                          <a:ln>
                            <a:noFill/>
                          </a:ln>
                          <a:solidFill>
                            <a:srgbClr val="DAB866"/>
                          </a:solidFill>
                          <a:effectLst/>
                          <a:uLnTx/>
                          <a:uFillTx/>
                          <a:latin typeface="Arial" panose="020B0604020202020204" pitchFamily="34" charset="0"/>
                          <a:ea typeface="KaiTi" panose="02010609060101010101" pitchFamily="49" charset="-122"/>
                          <a:cs typeface="Arial" panose="020B0604020202020204" pitchFamily="34" charset="0"/>
                        </a:rPr>
                        <a:t>未设超额分配权</a:t>
                      </a:r>
                      <a:endParaRPr kumimoji="0" lang="zh-CN" altLang="en-US" sz="730" b="0" i="0" u="none" strike="noStrike" kern="1200" cap="none" spc="0" normalizeH="0" baseline="0" noProof="0" dirty="0">
                        <a:ln>
                          <a:noFill/>
                        </a:ln>
                        <a:solidFill>
                          <a:srgbClr val="DAB866"/>
                        </a:solidFill>
                        <a:effectLst/>
                        <a:uLnTx/>
                        <a:uFillTx/>
                        <a:latin typeface="Arial" panose="020B0604020202020204" pitchFamily="34" charset="0"/>
                        <a:ea typeface="KaiTi" panose="02010609060101010101" pitchFamily="49" charset="-122"/>
                        <a:cs typeface="Arial" panose="020B0604020202020204" pitchFamily="34" charset="0"/>
                      </a:endParaRP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50.7x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rtl="0" fontAlgn="ct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1.95x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35.1%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a:solidFill>
                            <a:srgbClr val="FF0000"/>
                          </a:solidFill>
                          <a:effectLst/>
                          <a:latin typeface="Arial" panose="020B0604020202020204" pitchFamily="34" charset="0"/>
                          <a:ea typeface="KaiTi" panose="02010609060101010101" pitchFamily="49" charset="-122"/>
                          <a:cs typeface="Arial" panose="020B0604020202020204" pitchFamily="34" charset="0"/>
                        </a:rPr>
                        <a:t>35.9%</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37.8%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3"/>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华沿机器人</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1021</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30</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GB" sz="73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30" b="0" i="0" u="none" strike="noStrike" kern="1200" dirty="0">
                          <a:solidFill>
                            <a:srgbClr val="000000"/>
                          </a:solidFill>
                          <a:effectLst/>
                          <a:latin typeface="Arial" panose="020B0604020202020204" pitchFamily="34" charset="0"/>
                          <a:ea typeface="KaiTi" panose="02010609060101010101" pitchFamily="49" charset="-122"/>
                          <a:cs typeface="Arial" panose="020B0604020202020204" pitchFamily="34" charset="0"/>
                        </a:rPr>
                        <a:t>15.8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30" b="0" i="0" u="none" strike="noStrike" kern="1200" cap="none" spc="0" normalizeH="0" baseline="0" noProof="0" dirty="0">
                          <a:ln>
                            <a:noFill/>
                          </a:ln>
                          <a:solidFill>
                            <a:srgbClr val="DAB866"/>
                          </a:solidFill>
                          <a:effectLst/>
                          <a:uLnTx/>
                          <a:uFillTx/>
                          <a:latin typeface="Arial" panose="020B0604020202020204" pitchFamily="34" charset="0"/>
                          <a:ea typeface="KaiTi" panose="02010609060101010101" pitchFamily="49" charset="-122"/>
                          <a:cs typeface="Arial" panose="020B0604020202020204" pitchFamily="34" charset="0"/>
                        </a:rPr>
                        <a:t>未设超额分配权</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5,059.</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rtl="0"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16.65x</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17.1%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44.8%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8.2%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a:solidFill>
                            <a:srgbClr val="FF0000"/>
                          </a:solidFill>
                          <a:effectLst/>
                          <a:latin typeface="Arial" panose="020B0604020202020204" pitchFamily="34" charset="0"/>
                          <a:ea typeface="KaiTi" panose="02010609060101010101" pitchFamily="49" charset="-122"/>
                          <a:cs typeface="Arial" panose="020B0604020202020204" pitchFamily="34" charset="0"/>
                        </a:rPr>
                        <a:t>15.4%</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26.7%</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4"/>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泽景股份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2632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24</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制造</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7.2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68.9x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13.2%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B050"/>
                          </a:solidFill>
                          <a:effectLst/>
                          <a:latin typeface="Arial" panose="020B0604020202020204" pitchFamily="34" charset="0"/>
                          <a:ea typeface="KaiTi" panose="02010609060101010101" pitchFamily="49" charset="-122"/>
                          <a:cs typeface="Arial" panose="020B0604020202020204" pitchFamily="34" charset="0"/>
                        </a:rPr>
                        <a:t>-36.9%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94.2%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177.4%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5"/>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凯乐士科技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2729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24</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2,153.3x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3.37x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8.6%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cs typeface="Arial" panose="020B0604020202020204" pitchFamily="34" charset="0"/>
                        </a:rPr>
                        <a:t>-</a:t>
                      </a:r>
                      <a:endParaRPr lang="en-US" sz="73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endPar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84.3%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a:solidFill>
                            <a:srgbClr val="FF0000"/>
                          </a:solidFill>
                          <a:effectLst/>
                          <a:latin typeface="Arial" panose="020B0604020202020204" pitchFamily="34" charset="0"/>
                          <a:cs typeface="Arial" panose="020B0604020202020204" pitchFamily="34" charset="0"/>
                        </a:rPr>
                        <a:t>128.1%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94.4%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10026"/>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飞速创新</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3355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23</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16.6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1,579.7x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10.92x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42.3%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30" b="0" i="0" u="none" strike="noStrike" kern="1200" cap="none" spc="0" normalizeH="0" baseline="0" noProof="0" dirty="0">
                          <a:ln>
                            <a:noFill/>
                          </a:ln>
                          <a:solidFill>
                            <a:srgbClr val="000000"/>
                          </a:solidFill>
                          <a:effectLst/>
                          <a:uLnTx/>
                          <a:uFillTx/>
                          <a:latin typeface="Arial" panose="020B0604020202020204" pitchFamily="34" charset="0"/>
                          <a:ea typeface="STKaiti" panose="02010600040101010101"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2.3%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7"/>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国民技术</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2701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131.8x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2.51x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14.0%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-59.3%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4.2%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19.4%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31.1%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8"/>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广合科技</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1989</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3月20日</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zh-CN" altLang="en-US" sz="730" b="0" i="0"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endPar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33.1</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dirty="0">
                          <a:solidFill>
                            <a:srgbClr val="DAB866"/>
                          </a:solidFill>
                          <a:effectLst/>
                          <a:latin typeface="Arial" panose="020B0604020202020204" pitchFamily="34" charset="0"/>
                          <a:ea typeface="KaiTi" panose="02010609060101010101" pitchFamily="49" charset="-122"/>
                          <a:cs typeface="Arial" panose="020B0604020202020204" pitchFamily="34" charset="0"/>
                          <a:sym typeface="+mn-ea"/>
                        </a:rPr>
                        <a:t>未设超额分配权</a:t>
                      </a:r>
                      <a:endPar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sym typeface="+mn-ea"/>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buNone/>
                      </a:pPr>
                      <a:r>
                        <a:rPr lang="zh-CN" altLang="en-US" sz="730" b="0" dirty="0">
                          <a:solidFill>
                            <a:srgbClr val="000000"/>
                          </a:solidFill>
                          <a:effectLst/>
                          <a:latin typeface="Arial" panose="020B0604020202020204" pitchFamily="34" charset="0"/>
                          <a:ea typeface="KaiTi" panose="02010609060101010101" pitchFamily="49" charset="-122"/>
                          <a:cs typeface="Arial" panose="020B0604020202020204" pitchFamily="34" charset="0"/>
                          <a:sym typeface="+mn-ea"/>
                        </a:rPr>
                        <a:t>固定10%</a:t>
                      </a:r>
                      <a:endPar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sym typeface="+mn-ea"/>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1,070.7x</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dirty="0">
                          <a:solidFill>
                            <a:srgbClr val="000000"/>
                          </a:solidFill>
                          <a:effectLst/>
                          <a:latin typeface="Arial" panose="020B0604020202020204" pitchFamily="34" charset="0"/>
                          <a:ea typeface="KaiTi" panose="02010609060101010101" pitchFamily="49" charset="-122"/>
                          <a:cs typeface="Arial" panose="020B0604020202020204" pitchFamily="34" charset="0"/>
                        </a:rPr>
                        <a:t>14.64x</a:t>
                      </a:r>
                    </a:p>
                  </a:txBody>
                  <a:tcPr marL="13017" marR="13017" marT="13017"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9.7%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44.9%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-47.2%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33.6%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109.4%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165.2%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9"/>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美格智能</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3268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3月10日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zh-CN" altLang="en-US" sz="730" dirty="0">
                          <a:solidFill>
                            <a:srgbClr val="DAB866"/>
                          </a:solidFill>
                          <a:effectLst/>
                          <a:latin typeface="Arial" panose="020B0604020202020204" pitchFamily="34" charset="0"/>
                          <a:ea typeface="KaiTi" panose="02010609060101010101" pitchFamily="49" charset="-122"/>
                          <a:cs typeface="Arial" panose="020B0604020202020204" pitchFamily="34" charset="0"/>
                          <a:sym typeface="+mn-ea"/>
                        </a:rPr>
                        <a:t>未设超额分配权</a:t>
                      </a:r>
                      <a:endPar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sym typeface="+mn-ea"/>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174.1x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4.50x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13.3%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45.4%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-44.6%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-23.2%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-8.2%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0"/>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兆威机电</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2692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3月9日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1,536.8x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13.40x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34.2%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2.4%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-8.8%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8.0%</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1"/>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优乐赛共享</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2649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3月9日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物流</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zh-CN" altLang="en-US" sz="730" b="0" i="0" u="none" strike="noStrike">
                          <a:solidFill>
                            <a:srgbClr val="00B050"/>
                          </a:solidFill>
                          <a:effectLst/>
                          <a:latin typeface="Arial" panose="020B0604020202020204" pitchFamily="34" charset="0"/>
                          <a:ea typeface="KaiTi" panose="02010609060101010101" pitchFamily="49" charset="-122"/>
                          <a:cs typeface="Arial" panose="020B06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5,297.2x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4.20x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cs typeface="Arial" panose="020B0604020202020204" pitchFamily="34" charset="0"/>
                        </a:rPr>
                        <a:t>-</a:t>
                      </a:r>
                      <a:endParaRPr lang="en-US" sz="73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B050"/>
                          </a:solidFill>
                          <a:effectLst/>
                          <a:latin typeface="Arial" panose="020B0604020202020204" pitchFamily="34" charset="0"/>
                          <a:ea typeface="KaiTi" panose="02010609060101010101" pitchFamily="49" charset="-122"/>
                          <a:cs typeface="Arial" panose="020B0604020202020204" pitchFamily="34" charset="0"/>
                        </a:rPr>
                        <a:t>-43.6%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-64.5%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-64.5%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2"/>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埃斯顿</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3月9日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19.7x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ClrTx/>
                        <a:buSzTx/>
                        <a:buFontTx/>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3.34x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35.2%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-16.0%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-18.2%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8.0%</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3"/>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沃尔核材</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9981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28.1</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569.6x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8.19x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34.5%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-35.7%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-9.2%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-28.1%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4"/>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海致科技</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2706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13</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7.6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5,065.1x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8.39x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7.0%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15.4%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242.2%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210.6%</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132.4%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35"/>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先导智能</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470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11</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49.3</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79.5x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10.47x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6.4%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-28.2%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noProof="0" dirty="0">
                          <a:ln>
                            <a:noFill/>
                          </a:ln>
                          <a:solidFill>
                            <a:schemeClr val="bg1">
                              <a:lumMod val="65000"/>
                            </a:schemeClr>
                          </a:solidFill>
                          <a:effectLst/>
                          <a:uLnTx/>
                          <a:uFillTx/>
                          <a:latin typeface="Arial" panose="020B0604020202020204" pitchFamily="34" charset="0"/>
                          <a:ea typeface="KaiTi" panose="02010609060101010101" pitchFamily="49" charset="-122"/>
                          <a:cs typeface="Arial" panose="020B0604020202020204" pitchFamily="34" charset="0"/>
                        </a:rPr>
                        <a:t>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-5.2%</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14.6%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6"/>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乐欣户外</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2720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消费</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3,654.2x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2.94x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37.6%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102.3%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98.9%</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97.1%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37"/>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爱芯元智</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600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29.6</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104.8x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6.80x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17.9%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48.8%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ClrTx/>
                        <a:buSzTx/>
                        <a:buFontTx/>
                        <a:buNone/>
                      </a:pPr>
                      <a:r>
                        <a:rPr lang="en-US" sz="730" b="0" i="0" u="none" strike="noStrike" noProof="0" dirty="0" err="1">
                          <a:ln>
                            <a:noFill/>
                          </a:ln>
                          <a:solidFill>
                            <a:schemeClr val="bg1">
                              <a:lumMod val="65000"/>
                            </a:schemeClr>
                          </a:solidFill>
                          <a:effectLst/>
                          <a:uLnTx/>
                          <a:uFillTx/>
                          <a:latin typeface="Arial" panose="020B0604020202020204" pitchFamily="34" charset="0"/>
                          <a:ea typeface="KaiTi" panose="02010609060101010101" pitchFamily="49" charset="-122"/>
                          <a:cs typeface="Arial" panose="020B0604020202020204" pitchFamily="34" charset="0"/>
                        </a:rPr>
                        <a:t>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-3.4%</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-26.5%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38"/>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澜起科技</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6809</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81.0</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err="1">
                          <a:solidFill>
                            <a:srgbClr val="000000"/>
                          </a:solidFill>
                          <a:effectLst/>
                          <a:latin typeface="Arial" panose="020B0604020202020204" pitchFamily="34" charset="0"/>
                          <a:ea typeface="KaiTi" panose="02010609060101010101" pitchFamily="49" charset="-122"/>
                          <a:cs typeface="Arial" panose="020B0604020202020204" pitchFamily="34" charset="0"/>
                        </a:rPr>
                        <a:t>707.3x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err="1">
                          <a:solidFill>
                            <a:srgbClr val="000000"/>
                          </a:solidFill>
                          <a:effectLst/>
                          <a:latin typeface="Arial" panose="020B0604020202020204" pitchFamily="34" charset="0"/>
                          <a:ea typeface="KaiTi" panose="02010609060101010101" pitchFamily="49" charset="-122"/>
                          <a:cs typeface="Arial" panose="020B0604020202020204" pitchFamily="34" charset="0"/>
                        </a:rPr>
                        <a:t>37.67x</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6.2%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-43.9%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63.7%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341.4%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39"/>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卓正医疗</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2677</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医疗健康</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2.9</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2,730.7x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err="1">
                          <a:solidFill>
                            <a:srgbClr val="000000"/>
                          </a:solidFill>
                          <a:effectLst/>
                          <a:latin typeface="Arial" panose="020B0604020202020204" pitchFamily="34" charset="0"/>
                          <a:ea typeface="KaiTi" panose="02010609060101010101" pitchFamily="49" charset="-122"/>
                          <a:cs typeface="Arial" panose="020B0604020202020204" pitchFamily="34" charset="0"/>
                        </a:rPr>
                        <a:t>5.79x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7.4%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31.6%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13.4%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0.3%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-59.7%</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0"/>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牧原股份</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2714</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b">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消费</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106.8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8.62x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-22.4%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3.9%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14.7%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-9.6%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41"/>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大族数控</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3200</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48.3</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446.4x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21.07x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50.0%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-45.6%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14.8%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25.3%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96.2%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2"/>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国恩科技</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2768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b">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化工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2,251.9x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10.03x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11.6%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31.7%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59.3%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43"/>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东鹏饮料</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9980</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b">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消费</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101.4</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57.5x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15.60x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49.2%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a:solidFill>
                            <a:srgbClr val="00B050"/>
                          </a:solidFill>
                          <a:effectLst/>
                          <a:latin typeface="Arial" panose="020B0604020202020204" pitchFamily="34" charset="0"/>
                          <a:ea typeface="KaiTi" panose="02010609060101010101" pitchFamily="49" charset="-122"/>
                          <a:cs typeface="Arial" panose="020B0604020202020204" pitchFamily="34" charset="0"/>
                        </a:rPr>
                        <a:t>-7.7%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-39.4%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4"/>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鸣鸣很忙</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1768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28</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1,899.5</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err="1">
                          <a:solidFill>
                            <a:srgbClr val="000000"/>
                          </a:solidFill>
                          <a:effectLst/>
                          <a:latin typeface="Arial" panose="020B0604020202020204" pitchFamily="34" charset="0"/>
                          <a:ea typeface="KaiTi" panose="02010609060101010101" pitchFamily="49" charset="-122"/>
                          <a:cs typeface="Arial" panose="020B0604020202020204" pitchFamily="34" charset="0"/>
                        </a:rPr>
                        <a:t>44.44x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7.5%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41.4%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69.1%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79.3%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71.2%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45"/>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龙旗科技</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9611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22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15.2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1,149.8x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9.02x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9.4%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27.2%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 -45.</a:t>
                      </a:r>
                      <a:r>
                        <a:rPr lang="en-US" altLang="zh-CN" sz="730" b="0" i="0" u="none" strike="noStrike" dirty="0">
                          <a:solidFill>
                            <a:srgbClr val="000000"/>
                          </a:solidFill>
                          <a:effectLst/>
                          <a:latin typeface="Arial" panose="020B0604020202020204" pitchFamily="34" charset="0"/>
                          <a:cs typeface="Arial" panose="020B0604020202020204" pitchFamily="34" charset="0"/>
                        </a:rPr>
                        <a:t>9</a:t>
                      </a: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-15.4%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6"/>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红星冷链</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1641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物流</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DAB866"/>
                          </a:solidFill>
                          <a:effectLst/>
                          <a:latin typeface="Arial" panose="020B0604020202020204" pitchFamily="34" charset="0"/>
                          <a:ea typeface="KaiTi" panose="02010609060101010101" pitchFamily="49" charset="-122"/>
                          <a:cs typeface="Arial" panose="020B06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err="1">
                          <a:solidFill>
                            <a:srgbClr val="000000"/>
                          </a:solidFill>
                          <a:effectLst/>
                          <a:latin typeface="Arial" panose="020B0604020202020204" pitchFamily="34" charset="0"/>
                          <a:ea typeface="KaiTi" panose="02010609060101010101" pitchFamily="49" charset="-122"/>
                          <a:cs typeface="Arial" panose="020B0604020202020204" pitchFamily="34" charset="0"/>
                        </a:rPr>
                        <a:t>2,309.3x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1.65x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23.7%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7.7%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0.3%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B050"/>
                          </a:solidFill>
                          <a:effectLst/>
                          <a:latin typeface="Arial" panose="020B0604020202020204" pitchFamily="34" charset="0"/>
                          <a:ea typeface="KaiTi" panose="02010609060101010101" pitchFamily="49" charset="-122"/>
                          <a:cs typeface="Arial" panose="020B0604020202020204" pitchFamily="34" charset="0"/>
                        </a:rPr>
                        <a:t>-32.8%</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-49.8%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47"/>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兆易创新</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3986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13</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46.8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542.2x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18.52x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49.8%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-42.0%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37.5%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128.4%</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FF0000"/>
                          </a:solidFill>
                          <a:effectLst/>
                          <a:latin typeface="Arial" panose="020B0604020202020204" pitchFamily="34" charset="0"/>
                          <a:cs typeface="Arial" panose="020B0604020202020204" pitchFamily="34" charset="0"/>
                        </a:rPr>
                        <a:t>380.2%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48"/>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豪威集团</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501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12</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9.3x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err="1">
                          <a:solidFill>
                            <a:srgbClr val="000000"/>
                          </a:solidFill>
                          <a:effectLst/>
                          <a:latin typeface="Arial" panose="020B0604020202020204" pitchFamily="34" charset="0"/>
                          <a:ea typeface="KaiTi" panose="02010609060101010101" pitchFamily="49" charset="-122"/>
                          <a:cs typeface="Arial" panose="020B0604020202020204" pitchFamily="34" charset="0"/>
                        </a:rPr>
                        <a:t>9.73x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 -26.6%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16.2%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a:solidFill>
                            <a:srgbClr val="00B050"/>
                          </a:solidFill>
                          <a:effectLst/>
                          <a:latin typeface="Arial" panose="020B0604020202020204" pitchFamily="34" charset="0"/>
                          <a:ea typeface="KaiTi" panose="02010609060101010101" pitchFamily="49" charset="-122"/>
                          <a:cs typeface="Arial" panose="020B0604020202020204" pitchFamily="34" charset="0"/>
                        </a:rPr>
                        <a:t>-4.2%</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-6.6%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49"/>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49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瑞博生物</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 – B</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6938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18.3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101.1x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16.70x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19.1%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41.6%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18.3%</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-2.5%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50"/>
                  </a:ext>
                </a:extLst>
              </a:tr>
              <a:tr h="45224">
                <a:tc>
                  <a:txBody>
                    <a:bodyPr/>
                    <a:lstStyle/>
                    <a:p>
                      <a:pPr algn="ctr" fontAlgn="ctr">
                        <a:buNone/>
                      </a:pPr>
                      <a:r>
                        <a:rPr 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50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金浔资源</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3636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月</a:t>
                      </a: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9</a:t>
                      </a:r>
                      <a:r>
                        <a:rPr lang="zh-CN" altLang="en-US"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矿业</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dirty="0">
                          <a:solidFill>
                            <a:srgbClr val="000000"/>
                          </a:solidFill>
                          <a:effectLst/>
                          <a:latin typeface="Arial" panose="020B0604020202020204" pitchFamily="34" charset="0"/>
                          <a:ea typeface="KaiTi" panose="02010609060101010101" pitchFamily="49" charset="-122"/>
                          <a:cs typeface="Arial" panose="020B0604020202020204" pitchFamily="34" charset="0"/>
                        </a:rPr>
                        <a:t>11.0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固定</a:t>
                      </a:r>
                      <a:r>
                        <a:rPr lang="en-US" altLang="zh-CN"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143.5x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ea typeface="KaiTi" panose="02010609060101010101" pitchFamily="49" charset="-122"/>
                          <a:cs typeface="Arial" panose="020B0604020202020204" pitchFamily="34" charset="0"/>
                        </a:rPr>
                        <a:t>12.78x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42.5%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000000"/>
                          </a:solidFill>
                          <a:effectLst/>
                          <a:latin typeface="Arial" panose="020B0604020202020204" pitchFamily="34" charset="0"/>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26.0%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30" b="0" i="0" u="none" strike="noStrike">
                          <a:solidFill>
                            <a:srgbClr val="FF0000"/>
                          </a:solidFill>
                          <a:effectLst/>
                          <a:latin typeface="Arial" panose="020B0604020202020204" pitchFamily="34" charset="0"/>
                          <a:ea typeface="KaiTi" panose="02010609060101010101" pitchFamily="49" charset="-122"/>
                          <a:cs typeface="Arial" panose="020B0604020202020204" pitchFamily="34" charset="0"/>
                        </a:rPr>
                        <a:t>25.5%</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30" b="0" i="0" u="none" strike="noStrike" dirty="0">
                          <a:solidFill>
                            <a:srgbClr val="00B050"/>
                          </a:solidFill>
                          <a:effectLst/>
                          <a:latin typeface="Arial" panose="020B0604020202020204" pitchFamily="34" charset="0"/>
                          <a:cs typeface="Arial" panose="020B0604020202020204" pitchFamily="34" charset="0"/>
                        </a:rPr>
                        <a:t>-27.3%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51"/>
                  </a:ext>
                </a:extLst>
              </a:tr>
            </a:tbl>
          </a:graphicData>
        </a:graphic>
      </p:graphicFrame>
      <p:sp>
        <p:nvSpPr>
          <p:cNvPr id="4" name="Title 2"/>
          <p:cNvSpPr txBox="1"/>
          <p:nvPr/>
        </p:nvSpPr>
        <p:spPr>
          <a:xfrm>
            <a:off x="220712" y="129599"/>
            <a:ext cx="7563843" cy="263439"/>
          </a:xfrm>
          <a:prstGeom prst="rect">
            <a:avLst/>
          </a:prstGeom>
        </p:spPr>
        <p:txBody>
          <a:bodyPr/>
          <a:lstStyle>
            <a:lvl1pPr algn="l" defTabSz="685800" rtl="0" eaLnBrk="1" latinLnBrk="0" hangingPunct="1">
              <a:lnSpc>
                <a:spcPct val="90000"/>
              </a:lnSpc>
              <a:spcBef>
                <a:spcPct val="0"/>
              </a:spcBef>
              <a:buNone/>
              <a:defRPr sz="2000" b="1" kern="1200" baseline="0">
                <a:solidFill>
                  <a:schemeClr val="accent1"/>
                </a:solidFill>
                <a:latin typeface="Arial" panose="020B0704020202020204" pitchFamily="34" charset="0"/>
                <a:ea typeface="+mj-ea"/>
                <a:cs typeface="Arial" panose="020B0704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过去</a:t>
            </a:r>
            <a:r>
              <a:rPr kumimoji="0" lang="en-US" altLang="zh-CN"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12</a:t>
            </a:r>
            <a:r>
              <a:rPr kumimoji="0" lang="zh-CN"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个月</a:t>
            </a:r>
            <a:r>
              <a:rPr kumimoji="0" lang="zh-TW"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香港</a:t>
            </a:r>
            <a:r>
              <a:rPr kumimoji="0" lang="en-US" altLang="zh-TW"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IPO</a:t>
            </a:r>
            <a:r>
              <a:rPr kumimoji="0" lang="zh-CN"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发行及</a:t>
            </a:r>
            <a:r>
              <a:rPr kumimoji="0" lang="zh-TW"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认购情况</a:t>
            </a:r>
            <a:r>
              <a:rPr kumimoji="0" lang="en-US" altLang="zh-TW" sz="1800" b="1" i="0" u="none" strike="noStrike" kern="1200" cap="none" spc="0" normalizeH="0" baseline="3000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1</a:t>
            </a:r>
          </a:p>
        </p:txBody>
      </p:sp>
      <p:sp>
        <p:nvSpPr>
          <p:cNvPr id="3" name="object 27"/>
          <p:cNvSpPr txBox="1"/>
          <p:nvPr/>
        </p:nvSpPr>
        <p:spPr>
          <a:xfrm>
            <a:off x="253445" y="6638616"/>
            <a:ext cx="3234804" cy="194945"/>
          </a:xfrm>
          <a:prstGeom prst="rect">
            <a:avLst/>
          </a:prstGeom>
        </p:spPr>
        <p:txBody>
          <a:bodyPr vert="horz" wrap="square" lIns="0" tIns="10808" rIns="0" bIns="0" rtlCol="0">
            <a:spAutoFit/>
          </a:bodyPr>
          <a:lstStyle/>
          <a:p>
            <a:pPr marL="10795" marR="0" lvl="0" indent="0" algn="l" defTabSz="914400" rtl="0" eaLnBrk="1" fontAlgn="auto" latinLnBrk="0" hangingPunct="1">
              <a:lnSpc>
                <a:spcPct val="100000"/>
              </a:lnSpc>
              <a:spcBef>
                <a:spcPts val="85"/>
              </a:spcBef>
              <a:spcAft>
                <a:spcPts val="0"/>
              </a:spcAft>
              <a:buClrTx/>
              <a:buSzTx/>
              <a:buFontTx/>
              <a:buNone/>
              <a:defRPr/>
            </a:pP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数据来源：彭博、</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Dealogic,</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记录过去</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12</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个月在香港主板上市的</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，按上市日期排序，股价表现截至</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2026</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年</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5月</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22</a:t>
            </a:r>
            <a:r>
              <a:rPr kumimoji="0" lang="en-US" altLang="zh-CN" sz="600" b="0" i="1" u="none" strike="noStrike" kern="1200" cap="none" spc="-5" normalizeH="0" baseline="0" noProof="0" dirty="0" err="1">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日</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  </a:t>
            </a:r>
            <a:endPar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endParaRPr>
          </a:p>
        </p:txBody>
      </p:sp>
      <p:sp>
        <p:nvSpPr>
          <p:cNvPr id="5" name="文本框 4"/>
          <p:cNvSpPr txBox="1"/>
          <p:nvPr/>
        </p:nvSpPr>
        <p:spPr>
          <a:xfrm>
            <a:off x="3455516" y="6595738"/>
            <a:ext cx="6197039" cy="276999"/>
          </a:xfrm>
          <a:prstGeom prst="rect">
            <a:avLst/>
          </a:prstGeom>
          <a:noFill/>
        </p:spPr>
        <p:txBody>
          <a:bodyPr wrap="square">
            <a:spAutoFit/>
          </a:bodyPr>
          <a:lstStyle/>
          <a:p>
            <a:pPr marL="10795" lvl="0">
              <a:spcBef>
                <a:spcPts val="85"/>
              </a:spcBef>
              <a:defRPr/>
            </a:pP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1.</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仅统计主板上市公司，不包括以介绍形式上市、</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GEM</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转主板，以及</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SPAC</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公司 ；注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2. </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无超额分配指发行人已授权超额分配权，而实际中并未超额发售；</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3.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假设发售量调整权和超额配股权未获行使；注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4.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为准确反映各项目国际配售认购情况，保留两位小数；注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5.</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假设超额配股权未获行使；  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6.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仅针对</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A+H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上市公司，为</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股</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定价日相较于</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A</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股折价率</a:t>
            </a:r>
            <a:endPar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endParaRPr>
          </a:p>
        </p:txBody>
      </p:sp>
      <p:cxnSp>
        <p:nvCxnSpPr>
          <p:cNvPr id="6" name="直接连接符 5"/>
          <p:cNvCxnSpPr/>
          <p:nvPr/>
        </p:nvCxnSpPr>
        <p:spPr>
          <a:xfrm>
            <a:off x="-552450" y="7541732"/>
            <a:ext cx="1011682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7078980" y="7692390"/>
            <a:ext cx="3302000" cy="368300"/>
          </a:xfrm>
          <a:prstGeom prst="rect">
            <a:avLst/>
          </a:prstGeom>
          <a:noFill/>
        </p:spPr>
        <p:txBody>
          <a:bodyPr wrap="square" rtlCol="0">
            <a:spAutoFit/>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3861990631"/>
              </p:ext>
            </p:extLst>
          </p:nvPr>
        </p:nvGraphicFramePr>
        <p:xfrm>
          <a:off x="208915" y="416560"/>
          <a:ext cx="9559925" cy="6182360"/>
        </p:xfrm>
        <a:graphic>
          <a:graphicData uri="http://schemas.openxmlformats.org/drawingml/2006/table">
            <a:tbl>
              <a:tblPr/>
              <a:tblGrid>
                <a:gridCol w="251460">
                  <a:extLst>
                    <a:ext uri="{9D8B030D-6E8A-4147-A177-3AD203B41FA5}">
                      <a16:colId xmlns:a16="http://schemas.microsoft.com/office/drawing/2014/main" val="20000"/>
                    </a:ext>
                  </a:extLst>
                </a:gridCol>
                <a:gridCol w="725805">
                  <a:extLst>
                    <a:ext uri="{9D8B030D-6E8A-4147-A177-3AD203B41FA5}">
                      <a16:colId xmlns:a16="http://schemas.microsoft.com/office/drawing/2014/main" val="20001"/>
                    </a:ext>
                  </a:extLst>
                </a:gridCol>
                <a:gridCol w="530860">
                  <a:extLst>
                    <a:ext uri="{9D8B030D-6E8A-4147-A177-3AD203B41FA5}">
                      <a16:colId xmlns:a16="http://schemas.microsoft.com/office/drawing/2014/main" val="20002"/>
                    </a:ext>
                  </a:extLst>
                </a:gridCol>
                <a:gridCol w="530860">
                  <a:extLst>
                    <a:ext uri="{9D8B030D-6E8A-4147-A177-3AD203B41FA5}">
                      <a16:colId xmlns:a16="http://schemas.microsoft.com/office/drawing/2014/main" val="20003"/>
                    </a:ext>
                  </a:extLst>
                </a:gridCol>
                <a:gridCol w="530860">
                  <a:extLst>
                    <a:ext uri="{9D8B030D-6E8A-4147-A177-3AD203B41FA5}">
                      <a16:colId xmlns:a16="http://schemas.microsoft.com/office/drawing/2014/main" val="20004"/>
                    </a:ext>
                  </a:extLst>
                </a:gridCol>
                <a:gridCol w="531495">
                  <a:extLst>
                    <a:ext uri="{9D8B030D-6E8A-4147-A177-3AD203B41FA5}">
                      <a16:colId xmlns:a16="http://schemas.microsoft.com/office/drawing/2014/main" val="20005"/>
                    </a:ext>
                  </a:extLst>
                </a:gridCol>
                <a:gridCol w="1069975">
                  <a:extLst>
                    <a:ext uri="{9D8B030D-6E8A-4147-A177-3AD203B41FA5}">
                      <a16:colId xmlns:a16="http://schemas.microsoft.com/office/drawing/2014/main" val="20006"/>
                    </a:ext>
                  </a:extLst>
                </a:gridCol>
                <a:gridCol w="698500">
                  <a:extLst>
                    <a:ext uri="{9D8B030D-6E8A-4147-A177-3AD203B41FA5}">
                      <a16:colId xmlns:a16="http://schemas.microsoft.com/office/drawing/2014/main" val="20007"/>
                    </a:ext>
                  </a:extLst>
                </a:gridCol>
                <a:gridCol w="654050">
                  <a:extLst>
                    <a:ext uri="{9D8B030D-6E8A-4147-A177-3AD203B41FA5}">
                      <a16:colId xmlns:a16="http://schemas.microsoft.com/office/drawing/2014/main" val="20008"/>
                    </a:ext>
                  </a:extLst>
                </a:gridCol>
                <a:gridCol w="597535">
                  <a:extLst>
                    <a:ext uri="{9D8B030D-6E8A-4147-A177-3AD203B41FA5}">
                      <a16:colId xmlns:a16="http://schemas.microsoft.com/office/drawing/2014/main" val="20009"/>
                    </a:ext>
                  </a:extLst>
                </a:gridCol>
                <a:gridCol w="647065">
                  <a:extLst>
                    <a:ext uri="{9D8B030D-6E8A-4147-A177-3AD203B41FA5}">
                      <a16:colId xmlns:a16="http://schemas.microsoft.com/office/drawing/2014/main" val="20010"/>
                    </a:ext>
                  </a:extLst>
                </a:gridCol>
                <a:gridCol w="643890">
                  <a:extLst>
                    <a:ext uri="{9D8B030D-6E8A-4147-A177-3AD203B41FA5}">
                      <a16:colId xmlns:a16="http://schemas.microsoft.com/office/drawing/2014/main" val="20011"/>
                    </a:ext>
                  </a:extLst>
                </a:gridCol>
                <a:gridCol w="695960">
                  <a:extLst>
                    <a:ext uri="{9D8B030D-6E8A-4147-A177-3AD203B41FA5}">
                      <a16:colId xmlns:a16="http://schemas.microsoft.com/office/drawing/2014/main" val="20012"/>
                    </a:ext>
                  </a:extLst>
                </a:gridCol>
                <a:gridCol w="483870">
                  <a:extLst>
                    <a:ext uri="{9D8B030D-6E8A-4147-A177-3AD203B41FA5}">
                      <a16:colId xmlns:a16="http://schemas.microsoft.com/office/drawing/2014/main" val="20013"/>
                    </a:ext>
                  </a:extLst>
                </a:gridCol>
                <a:gridCol w="483870">
                  <a:extLst>
                    <a:ext uri="{9D8B030D-6E8A-4147-A177-3AD203B41FA5}">
                      <a16:colId xmlns:a16="http://schemas.microsoft.com/office/drawing/2014/main" val="20014"/>
                    </a:ext>
                  </a:extLst>
                </a:gridCol>
                <a:gridCol w="483870">
                  <a:extLst>
                    <a:ext uri="{9D8B030D-6E8A-4147-A177-3AD203B41FA5}">
                      <a16:colId xmlns:a16="http://schemas.microsoft.com/office/drawing/2014/main" val="20015"/>
                    </a:ext>
                  </a:extLst>
                </a:gridCol>
              </a:tblGrid>
              <a:tr h="122555">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HK"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公司名称</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股票代号</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上市日期</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行业</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发行规模</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（亿港元）</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超额分配</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2</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公开发售比例</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3</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香港公开发售</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认购倍数</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国际配售</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认购倍数</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4</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基础发行比例</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基石占比</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5</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H</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股相对</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折价率（</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6</a:t>
                      </a:r>
                    </a:p>
                  </a:txBody>
                  <a:tcPr marL="4783" marR="4783" marT="478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3">
                  <a:txBody>
                    <a:bodyPr/>
                    <a:lstStyle/>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后市表现</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marL="6139" marR="6139" marT="6139" marB="0" anchor="ctr">
                    <a:lnL w="12700" cap="flat" cmpd="sng" algn="ctr">
                      <a:solidFill>
                        <a:schemeClr val="bg1">
                          <a:lumMod val="85000"/>
                        </a:schemeClr>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tc hMerge="1">
                  <a:txBody>
                    <a:bodyPr/>
                    <a:lstStyle/>
                    <a:p>
                      <a:endParaRPr lang="en-US"/>
                    </a:p>
                  </a:txBody>
                  <a:tcPr marL="6139" marR="6139" marT="6139"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381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首日</a:t>
                      </a:r>
                      <a:endPar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 </a:t>
                      </a:r>
                      <a:r>
                        <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kern="1200"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首月</a:t>
                      </a:r>
                      <a:endParaRPr lang="en-US" altLang="zh-CN" sz="750" b="1" i="0" u="sng" strike="noStrike" kern="1200"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 </a:t>
                      </a:r>
                      <a:r>
                        <a:rPr lang="en-US" altLang="zh-CN" sz="750" b="1" i="0" u="sng" strike="noStrike" kern="1200" baseline="0" noProof="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至今</a:t>
                      </a:r>
                      <a:endPar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 </a:t>
                      </a:r>
                      <a:r>
                        <a:rPr kumimoji="0" lang="en-US" altLang="zh-CN"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noProof="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kumimoji="0" lang="en-US" altLang="zh-CN"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110">
                <a:tc>
                  <a:txBody>
                    <a:bodyPr/>
                    <a:lstStyle/>
                    <a:p>
                      <a:pPr algn="ctr" fontAlgn="ctr">
                        <a:buNone/>
                      </a:pPr>
                      <a:r>
                        <a:rPr lang="en-US" sz="700" b="0" i="0" u="none" strike="noStrike" dirty="0">
                          <a:solidFill>
                            <a:srgbClr val="000000"/>
                          </a:solidFill>
                          <a:effectLst/>
                          <a:latin typeface="+mn-lt"/>
                        </a:rPr>
                        <a:t>51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MiniMax</a:t>
                      </a: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 – WP</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9</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48.2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回拨至</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1,837.2x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36.76x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000000"/>
                          </a:solidFill>
                          <a:effectLst/>
                          <a:latin typeface="Arial" panose="020B0704020202020204" pitchFamily="34" charset="0"/>
                          <a:cs typeface="Arial" panose="020B0704020202020204" pitchFamily="34" charset="0"/>
                        </a:rPr>
                        <a:t>10.7%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000000"/>
                          </a:solidFill>
                          <a:effectLst/>
                          <a:latin typeface="Arial" panose="020B0704020202020204" pitchFamily="34" charset="0"/>
                          <a:cs typeface="Arial" panose="020B0704020202020204" pitchFamily="34" charset="0"/>
                        </a:rPr>
                        <a:t>56.5%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109.1%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212.1%</a:t>
                      </a:r>
                    </a:p>
                  </a:txBody>
                  <a:tcPr marL="6350" marR="6350" marT="635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365.8%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796806843"/>
                  </a:ext>
                </a:extLst>
              </a:tr>
              <a:tr h="118110">
                <a:tc>
                  <a:txBody>
                    <a:bodyPr/>
                    <a:lstStyle/>
                    <a:p>
                      <a:pPr algn="ctr" fontAlgn="ctr">
                        <a:buNone/>
                      </a:pPr>
                      <a:r>
                        <a:rPr lang="en-US" sz="700" b="0" i="0" u="none" strike="noStrike">
                          <a:solidFill>
                            <a:srgbClr val="000000"/>
                          </a:solidFill>
                          <a:effectLst/>
                          <a:latin typeface="+mn-lt"/>
                        </a:rPr>
                        <a:t>52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智譜</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2513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8</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43.5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回拨至</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1,159.5x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15.28x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000000"/>
                          </a:solidFill>
                          <a:effectLst/>
                          <a:latin typeface="Arial" panose="020B0704020202020204" pitchFamily="34" charset="0"/>
                          <a:cs typeface="Arial" panose="020B0704020202020204" pitchFamily="34" charset="0"/>
                        </a:rPr>
                        <a:t>8.5%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000000"/>
                          </a:solidFill>
                          <a:effectLst/>
                          <a:latin typeface="Arial" panose="020B0704020202020204" pitchFamily="34" charset="0"/>
                          <a:cs typeface="Arial" panose="020B0704020202020204" pitchFamily="34" charset="0"/>
                        </a:rPr>
                        <a:t>68.6%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36.5%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138.2%</a:t>
                      </a:r>
                    </a:p>
                  </a:txBody>
                  <a:tcPr marL="6350" marR="6350" marT="635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1003.3%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63567356"/>
                  </a:ext>
                </a:extLst>
              </a:tr>
              <a:tr h="118110">
                <a:tc>
                  <a:txBody>
                    <a:bodyPr/>
                    <a:lstStyle/>
                    <a:p>
                      <a:pPr algn="ctr" fontAlgn="ctr">
                        <a:buNone/>
                      </a:pPr>
                      <a:r>
                        <a:rPr lang="en-US" sz="700" b="0" i="0" u="none" strike="noStrike">
                          <a:solidFill>
                            <a:srgbClr val="000000"/>
                          </a:solidFill>
                          <a:effectLst/>
                          <a:latin typeface="+mn-lt"/>
                        </a:rPr>
                        <a:t>53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天数智芯</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9903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8</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36.8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670" b="0" i="0" u="none" strike="noStrike" dirty="0">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414.2x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10.68x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000000"/>
                          </a:solidFill>
                          <a:effectLst/>
                          <a:latin typeface="Arial" panose="020B0704020202020204" pitchFamily="34" charset="0"/>
                          <a:cs typeface="Arial" panose="020B0704020202020204" pitchFamily="34" charset="0"/>
                        </a:rPr>
                        <a:t>10.0%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000000"/>
                          </a:solidFill>
                          <a:effectLst/>
                          <a:latin typeface="Arial" panose="020B0704020202020204" pitchFamily="34" charset="0"/>
                          <a:cs typeface="Arial" panose="020B0704020202020204" pitchFamily="34" charset="0"/>
                        </a:rPr>
                        <a:t>43.0%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67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8.4%</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14.2%</a:t>
                      </a:r>
                    </a:p>
                  </a:txBody>
                  <a:tcPr marL="6350" marR="6350" marT="635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604020202020204" pitchFamily="34" charset="0"/>
                          <a:cs typeface="Arial" panose="020B0604020202020204" pitchFamily="34" charset="0"/>
                        </a:rPr>
                        <a:t>236.8%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227277"/>
                  </a:ext>
                </a:extLst>
              </a:tr>
              <a:tr h="118110">
                <a:tc>
                  <a:txBody>
                    <a:bodyPr/>
                    <a:lstStyle/>
                    <a:p>
                      <a:pPr algn="ctr" fontAlgn="ctr">
                        <a:buNone/>
                      </a:pPr>
                      <a:r>
                        <a:rPr lang="en-US" sz="700" b="0" i="0" u="none" strike="noStrike">
                          <a:solidFill>
                            <a:srgbClr val="000000"/>
                          </a:solidFill>
                          <a:effectLst/>
                          <a:latin typeface="+mn-lt"/>
                        </a:rPr>
                        <a:t>54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精锋医疗</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 – B</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2675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8</a:t>
                      </a: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1,091.9x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25.18x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a:solidFill>
                            <a:srgbClr val="000000"/>
                          </a:solidFill>
                          <a:effectLst/>
                          <a:latin typeface="Arial" panose="020B0704020202020204" pitchFamily="34" charset="0"/>
                          <a:cs typeface="Arial" panose="020B0704020202020204" pitchFamily="34" charset="0"/>
                        </a:rPr>
                        <a:t>7.2%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a:solidFill>
                            <a:srgbClr val="000000"/>
                          </a:solidFill>
                          <a:effectLst/>
                          <a:latin typeface="Arial" panose="020B0704020202020204" pitchFamily="34" charset="0"/>
                          <a:cs typeface="Arial" panose="020B0704020202020204" pitchFamily="34" charset="0"/>
                        </a:rPr>
                        <a:t>48.7%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67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30.9%</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67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37.7%</a:t>
                      </a:r>
                    </a:p>
                  </a:txBody>
                  <a:tcPr marL="6350" marR="6350" marT="635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FF0000"/>
                          </a:solidFill>
                          <a:effectLst/>
                          <a:latin typeface="Arial" panose="020B0604020202020204" pitchFamily="34" charset="0"/>
                          <a:cs typeface="Arial" panose="020B0604020202020204" pitchFamily="34" charset="0"/>
                        </a:rPr>
                        <a:t>23.3%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89332856"/>
                  </a:ext>
                </a:extLst>
              </a:tr>
              <a:tr h="118110">
                <a:tc>
                  <a:txBody>
                    <a:bodyPr/>
                    <a:lstStyle/>
                    <a:p>
                      <a:pPr algn="ctr" fontAlgn="ctr">
                        <a:buNone/>
                      </a:pPr>
                      <a:r>
                        <a:rPr lang="en-US" sz="700" b="0" i="0" u="none" strike="noStrike">
                          <a:solidFill>
                            <a:srgbClr val="000000"/>
                          </a:solidFill>
                          <a:effectLst/>
                          <a:latin typeface="+mn-lt"/>
                        </a:rPr>
                        <a:t>55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壁仞科技</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6082</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55.8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回拨至</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2,347.5x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25.95x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10.5%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51.9%</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75.8%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00" b="0" i="0" u="none" strike="noStrike" kern="1200" noProof="0" dirty="0">
                          <a:solidFill>
                            <a:srgbClr val="FF0000"/>
                          </a:solidFill>
                          <a:effectLst/>
                          <a:latin typeface="Arial" panose="020B0704020202020204" pitchFamily="34" charset="0"/>
                          <a:ea typeface="KaiTi" panose="02010609060101010101" pitchFamily="49" charset="-122"/>
                          <a:cs typeface="Arial" panose="020B0704020202020204" pitchFamily="34" charset="0"/>
                        </a:rPr>
                        <a:t>67.3%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604020202020204" pitchFamily="34" charset="0"/>
                          <a:cs typeface="Arial" panose="020B0604020202020204" pitchFamily="34" charset="0"/>
                        </a:rPr>
                        <a:t>149.4%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02"/>
                  </a:ext>
                </a:extLst>
              </a:tr>
              <a:tr h="118745">
                <a:tc>
                  <a:txBody>
                    <a:bodyPr/>
                    <a:lstStyle/>
                    <a:p>
                      <a:pPr algn="ctr" fontAlgn="ctr">
                        <a:buNone/>
                      </a:pPr>
                      <a:r>
                        <a:rPr lang="en-US" sz="700" b="0" i="0" u="none" strike="noStrike">
                          <a:solidFill>
                            <a:srgbClr val="000000"/>
                          </a:solidFill>
                          <a:effectLst/>
                          <a:latin typeface="+mn-lt"/>
                        </a:rPr>
                        <a:t>56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美联股份</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2671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工业</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146.3x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1.48x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20.4%</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29.5%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7.6%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-38.0%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B050"/>
                          </a:solidFill>
                          <a:effectLst/>
                          <a:latin typeface="Arial" panose="020B0604020202020204" pitchFamily="34" charset="0"/>
                          <a:cs typeface="Arial" panose="020B0604020202020204" pitchFamily="34" charset="0"/>
                        </a:rPr>
                        <a:t>-42.0%</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118110">
                <a:tc>
                  <a:txBody>
                    <a:bodyPr/>
                    <a:lstStyle/>
                    <a:p>
                      <a:pPr algn="ctr" fontAlgn="ctr">
                        <a:buNone/>
                      </a:pPr>
                      <a:r>
                        <a:rPr lang="en-US" sz="700" b="0" i="0" u="none" strike="noStrike">
                          <a:solidFill>
                            <a:srgbClr val="000000"/>
                          </a:solidFill>
                          <a:effectLst/>
                          <a:latin typeface="+mn-lt"/>
                        </a:rPr>
                        <a:t>57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迅策</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3317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30</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7.2x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3.10x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7.0%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28.5%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10.5%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604020202020204" pitchFamily="34" charset="0"/>
                          <a:cs typeface="Arial" panose="020B0604020202020204" pitchFamily="34" charset="0"/>
                        </a:rPr>
                        <a:t>402.9%</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noFill/>
                  </a:tcPr>
                </a:tc>
                <a:extLst>
                  <a:ext uri="{0D108BD9-81ED-4DB2-BD59-A6C34878D82A}">
                    <a16:rowId xmlns:a16="http://schemas.microsoft.com/office/drawing/2014/main" val="10004"/>
                  </a:ext>
                </a:extLst>
              </a:tr>
              <a:tr h="119380">
                <a:tc>
                  <a:txBody>
                    <a:bodyPr/>
                    <a:lstStyle/>
                    <a:p>
                      <a:pPr algn="ctr" fontAlgn="ctr">
                        <a:buNone/>
                      </a:pPr>
                      <a:r>
                        <a:rPr lang="en-US" sz="700" b="0" i="0" u="none" strike="noStrike">
                          <a:solidFill>
                            <a:srgbClr val="000000"/>
                          </a:solidFill>
                          <a:effectLst/>
                          <a:latin typeface="+mn-lt"/>
                        </a:rPr>
                        <a:t>58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英矽智能</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3696</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30</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22.8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1,427.4x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26.27x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000000"/>
                          </a:solidFill>
                          <a:effectLst/>
                          <a:latin typeface="+mn-lt"/>
                        </a:rPr>
                        <a:t>17.0%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000000"/>
                          </a:solidFill>
                          <a:effectLst/>
                          <a:latin typeface="+mn-lt"/>
                        </a:rPr>
                        <a:t>39.3%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000000"/>
                          </a:solidFill>
                          <a:effectLst/>
                          <a:latin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24.7%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161.5%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FF0000"/>
                          </a:solidFill>
                          <a:effectLst/>
                          <a:latin typeface="Arial" panose="020B0604020202020204" pitchFamily="34" charset="0"/>
                          <a:cs typeface="Arial" panose="020B0604020202020204" pitchFamily="34" charset="0"/>
                        </a:rPr>
                        <a:t>109.6%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18110">
                <a:tc>
                  <a:txBody>
                    <a:bodyPr/>
                    <a:lstStyle/>
                    <a:p>
                      <a:pPr algn="ctr" fontAlgn="ctr">
                        <a:buNone/>
                      </a:pPr>
                      <a:r>
                        <a:rPr lang="en-US" sz="700" b="0" i="0" u="none" strike="noStrike">
                          <a:solidFill>
                            <a:srgbClr val="000000"/>
                          </a:solidFill>
                          <a:effectLst/>
                          <a:latin typeface="+mn-lt"/>
                        </a:rPr>
                        <a:t>59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五一视界</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6651</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30</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7.3</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回拨至</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256.0x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2.60x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mn-lt"/>
                        </a:rPr>
                        <a:t>5.9%</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mn-lt"/>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29.9%</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196.7%</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223.1%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06"/>
                  </a:ext>
                </a:extLst>
              </a:tr>
              <a:tr h="118110">
                <a:tc>
                  <a:txBody>
                    <a:bodyPr/>
                    <a:lstStyle/>
                    <a:p>
                      <a:pPr algn="ctr" fontAlgn="ctr">
                        <a:buNone/>
                      </a:pPr>
                      <a:r>
                        <a:rPr lang="en-US" sz="700" b="0" i="0" u="none" strike="noStrike">
                          <a:solidFill>
                            <a:srgbClr val="000000"/>
                          </a:solidFill>
                          <a:effectLst/>
                          <a:latin typeface="+mn-lt"/>
                        </a:rPr>
                        <a:t>60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林清轩</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2657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1,235.8x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19.79x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mn-lt"/>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a:solidFill>
                            <a:srgbClr val="000000"/>
                          </a:solidFill>
                          <a:effectLst/>
                          <a:latin typeface="+mn-lt"/>
                        </a:rPr>
                        <a:t>44.4%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7.6%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a:solidFill>
                            <a:srgbClr val="00B050"/>
                          </a:solidFill>
                          <a:effectLst/>
                          <a:latin typeface="Arial" panose="020B0604020202020204" pitchFamily="34" charset="0"/>
                          <a:cs typeface="Arial" panose="020B0604020202020204" pitchFamily="34" charset="0"/>
                        </a:rPr>
                        <a:t>-41.8%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118110">
                <a:tc>
                  <a:txBody>
                    <a:bodyPr/>
                    <a:lstStyle/>
                    <a:p>
                      <a:pPr algn="ctr" fontAlgn="ctr">
                        <a:buNone/>
                      </a:pPr>
                      <a:r>
                        <a:rPr lang="en-US" sz="700" b="0" i="0" u="none" strike="noStrike">
                          <a:solidFill>
                            <a:srgbClr val="000000"/>
                          </a:solidFill>
                          <a:effectLst/>
                          <a:latin typeface="+mn-lt"/>
                        </a:rPr>
                        <a:t>61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卧安机器人</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6600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16.4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254.5x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8.90x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mn-lt"/>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mn-lt"/>
                        </a:rPr>
                        <a:t>42.7%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00" b="0" i="0" u="none" strike="noStrike" dirty="0">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0.1%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112.7%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FF0000"/>
                          </a:solidFill>
                          <a:effectLst/>
                          <a:latin typeface="Arial" panose="020B0604020202020204" pitchFamily="34" charset="0"/>
                          <a:cs typeface="Arial" panose="020B0604020202020204" pitchFamily="34" charset="0"/>
                        </a:rPr>
                        <a:t>45.5%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08"/>
                  </a:ext>
                </a:extLst>
              </a:tr>
              <a:tr h="118745">
                <a:tc>
                  <a:txBody>
                    <a:bodyPr/>
                    <a:lstStyle/>
                    <a:p>
                      <a:pPr algn="ctr" fontAlgn="ctr">
                        <a:buNone/>
                      </a:pPr>
                      <a:r>
                        <a:rPr lang="en-US" sz="700" b="0" i="0" u="none" strike="noStrike">
                          <a:solidFill>
                            <a:srgbClr val="000000"/>
                          </a:solidFill>
                          <a:effectLst/>
                          <a:latin typeface="+mn-lt"/>
                        </a:rPr>
                        <a:t>62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轻松健康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2661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23</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1,421.5x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2.90x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mn-lt"/>
                        </a:rPr>
                        <a:t>12.9%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mn-lt"/>
                        </a:rPr>
                        <a:t>18.1%</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158.8%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344.4%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6.6%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118745">
                <a:tc>
                  <a:txBody>
                    <a:bodyPr/>
                    <a:lstStyle/>
                    <a:p>
                      <a:pPr algn="ctr" fontAlgn="ctr">
                        <a:buNone/>
                      </a:pPr>
                      <a:r>
                        <a:rPr lang="en-US" sz="700" b="0" i="0" u="none" strike="noStrike">
                          <a:solidFill>
                            <a:srgbClr val="000000"/>
                          </a:solidFill>
                          <a:effectLst/>
                          <a:latin typeface="+mn-lt"/>
                        </a:rPr>
                        <a:t>63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诺比侃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23</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188.7x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2.08x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mn-lt"/>
                          <a:ea typeface="KaiTi" panose="02010609060101010101" pitchFamily="49" charset="-122"/>
                          <a:cs typeface="Arial" panose="020B07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mn-lt"/>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363.8%</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381.0%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92.4%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0"/>
                  </a:ext>
                </a:extLst>
              </a:tr>
              <a:tr h="118745">
                <a:tc>
                  <a:txBody>
                    <a:bodyPr/>
                    <a:lstStyle/>
                    <a:p>
                      <a:pPr algn="ctr" fontAlgn="ctr">
                        <a:buNone/>
                      </a:pPr>
                      <a:r>
                        <a:rPr lang="en-US" sz="700" b="0" i="0" u="none" strike="noStrike">
                          <a:solidFill>
                            <a:srgbClr val="000000"/>
                          </a:solidFill>
                          <a:effectLst/>
                          <a:latin typeface="+mn-lt"/>
                        </a:rPr>
                        <a:t>64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翰思艾泰</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 – B</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3378</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23</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3,074.1x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5.78x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15.9%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-46.3%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-46.6%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-10.9%</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r h="118110">
                <a:tc>
                  <a:txBody>
                    <a:bodyPr/>
                    <a:lstStyle/>
                    <a:p>
                      <a:pPr algn="ctr" fontAlgn="ctr">
                        <a:buNone/>
                      </a:pPr>
                      <a:r>
                        <a:rPr lang="en-US" sz="700" b="0" i="0" u="none" strike="noStrike">
                          <a:solidFill>
                            <a:srgbClr val="000000"/>
                          </a:solidFill>
                          <a:effectLst/>
                          <a:latin typeface="+mn-lt"/>
                        </a:rPr>
                        <a:t>65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华芢生物</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 – B</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2396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792.0x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6.05x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-29.3%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-72.3%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-85.8%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12"/>
                  </a:ext>
                </a:extLst>
              </a:tr>
              <a:tr h="118110">
                <a:tc>
                  <a:txBody>
                    <a:bodyPr/>
                    <a:lstStyle/>
                    <a:p>
                      <a:pPr algn="ctr" fontAlgn="ctr">
                        <a:buNone/>
                      </a:pPr>
                      <a:r>
                        <a:rPr lang="en-US" sz="700" b="0" i="0" u="none" strike="noStrike">
                          <a:solidFill>
                            <a:srgbClr val="000000"/>
                          </a:solidFill>
                          <a:effectLst/>
                          <a:latin typeface="+mn-lt"/>
                        </a:rPr>
                        <a:t>66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印象大红袍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2695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消费</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3,397.5x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1.91x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-35.3%</a:t>
                      </a:r>
                    </a:p>
                  </a:txBody>
                  <a:tcPr marL="9525" marR="9525" marT="9525"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-35.3%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-40.8%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13"/>
                  </a:ext>
                </a:extLst>
              </a:tr>
              <a:tr h="140970">
                <a:tc>
                  <a:txBody>
                    <a:bodyPr/>
                    <a:lstStyle/>
                    <a:p>
                      <a:pPr algn="ctr" fontAlgn="ctr">
                        <a:buNone/>
                      </a:pPr>
                      <a:r>
                        <a:rPr lang="en-US" sz="700" b="0" i="0" u="none" strike="noStrike">
                          <a:solidFill>
                            <a:srgbClr val="000000"/>
                          </a:solidFill>
                          <a:effectLst/>
                          <a:latin typeface="+mn-lt"/>
                        </a:rPr>
                        <a:t>67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南华期货股份</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2691</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金融</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12.9</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重新分配至</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15%</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1.9x</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0.99x</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15.0%</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-42.7%</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-24.2%</a:t>
                      </a:r>
                    </a:p>
                  </a:txBody>
                  <a:tcPr marL="9525" marR="9525" marT="9525"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-11.4%</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-17.8%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14"/>
                  </a:ext>
                </a:extLst>
              </a:tr>
              <a:tr h="119380">
                <a:tc>
                  <a:txBody>
                    <a:bodyPr/>
                    <a:lstStyle/>
                    <a:p>
                      <a:pPr algn="ctr" fontAlgn="ctr">
                        <a:buNone/>
                      </a:pPr>
                      <a:r>
                        <a:rPr lang="en-US" sz="700" b="0" i="0" u="none" strike="noStrike">
                          <a:solidFill>
                            <a:srgbClr val="000000"/>
                          </a:solidFill>
                          <a:effectLst/>
                          <a:latin typeface="+mn-lt"/>
                        </a:rPr>
                        <a:t>68</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明基医院</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2581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21.5%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49.6%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-49.5%</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-56.3%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-66.4%</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15"/>
                  </a:ext>
                </a:extLst>
              </a:tr>
              <a:tr h="118745">
                <a:tc>
                  <a:txBody>
                    <a:bodyPr/>
                    <a:lstStyle/>
                    <a:p>
                      <a:pPr algn="ctr" fontAlgn="ctr">
                        <a:buNone/>
                      </a:pPr>
                      <a:r>
                        <a:rPr lang="en-US" sz="700" b="0" i="0" u="none" strike="noStrike">
                          <a:solidFill>
                            <a:srgbClr val="000000"/>
                          </a:solidFill>
                          <a:effectLst/>
                          <a:latin typeface="+mn-lt"/>
                        </a:rPr>
                        <a:t>69</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智汇矿业</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2546</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19</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矿业</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5.5</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5,248.2x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2.68x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25.0%</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40.8%</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90.7%</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123.5%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226.4%</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16"/>
                  </a:ext>
                </a:extLst>
              </a:tr>
              <a:tr h="118110">
                <a:tc>
                  <a:txBody>
                    <a:bodyPr/>
                    <a:lstStyle/>
                    <a:p>
                      <a:pPr algn="ctr" fontAlgn="ctr">
                        <a:buNone/>
                      </a:pPr>
                      <a:r>
                        <a:rPr lang="en-US" sz="700" b="0" i="0" u="none" strike="noStrike">
                          <a:solidFill>
                            <a:srgbClr val="000000"/>
                          </a:solidFill>
                          <a:effectLst/>
                          <a:latin typeface="+mn-lt"/>
                        </a:rPr>
                        <a:t>70</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希迪智驾</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3881</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19</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14.2</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2867A0"/>
                          </a:solidFill>
                          <a:effectLst/>
                          <a:latin typeface="Arial" panose="020B0704020202020204" pitchFamily="34" charset="0"/>
                          <a:ea typeface="KaiTi" panose="02010609060101010101" pitchFamily="49" charset="-122"/>
                          <a:cs typeface="Arial" panose="020B0704020202020204" pitchFamily="34" charset="0"/>
                        </a:rPr>
                        <a:t>部分超额分配（</a:t>
                      </a:r>
                      <a:r>
                        <a:rPr lang="en-US" altLang="zh-CN" sz="700" b="0" i="0" u="none" strike="noStrike">
                          <a:solidFill>
                            <a:srgbClr val="2867A0"/>
                          </a:solidFill>
                          <a:effectLst/>
                          <a:latin typeface="Arial" panose="020B0704020202020204" pitchFamily="34" charset="0"/>
                          <a:ea typeface="KaiTi" panose="02010609060101010101" pitchFamily="49" charset="-122"/>
                          <a:cs typeface="Arial" panose="020B0704020202020204" pitchFamily="34" charset="0"/>
                        </a:rPr>
                        <a:t>10.0%</a:t>
                      </a:r>
                      <a:r>
                        <a:rPr lang="zh-CN" altLang="en-US" sz="700" b="0" i="0" u="none" strike="noStrike">
                          <a:solidFill>
                            <a:srgbClr val="2867A0"/>
                          </a:solidFill>
                          <a:effectLst/>
                          <a:latin typeface="Arial" panose="020B0704020202020204" pitchFamily="34" charset="0"/>
                          <a:ea typeface="KaiTi" panose="02010609060101010101" pitchFamily="49" charset="-122"/>
                          <a:cs typeface="Arial" panose="020B0704020202020204" pitchFamily="34" charset="0"/>
                        </a:rPr>
                        <a:t>）</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22.6x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2.10x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12.4%</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38.4%</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-13.7%</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-0.8%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-8.7%</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17"/>
                  </a:ext>
                </a:extLst>
              </a:tr>
              <a:tr h="222885">
                <a:tc>
                  <a:txBody>
                    <a:bodyPr/>
                    <a:lstStyle/>
                    <a:p>
                      <a:pPr algn="ctr" fontAlgn="ctr">
                        <a:buNone/>
                      </a:pPr>
                      <a:r>
                        <a:rPr lang="en-US" sz="700" b="0" i="0" u="none" strike="noStrike">
                          <a:solidFill>
                            <a:srgbClr val="000000"/>
                          </a:solidFill>
                          <a:effectLst/>
                          <a:latin typeface="+mn-lt"/>
                        </a:rPr>
                        <a:t>71</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HashKey</a:t>
                      </a: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 Holdings</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3887</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17</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金融</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16.1</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393.7x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5.46x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8.7%</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36.3%</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-0.1%</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16.0%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-44.2%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18"/>
                  </a:ext>
                </a:extLst>
              </a:tr>
              <a:tr h="118745">
                <a:tc>
                  <a:txBody>
                    <a:bodyPr/>
                    <a:lstStyle/>
                    <a:p>
                      <a:pPr algn="ctr" fontAlgn="ctr">
                        <a:buNone/>
                      </a:pPr>
                      <a:r>
                        <a:rPr lang="en-US" sz="700" b="0" i="0" u="none" strike="noStrike">
                          <a:solidFill>
                            <a:srgbClr val="000000"/>
                          </a:solidFill>
                          <a:effectLst/>
                          <a:latin typeface="+mn-lt"/>
                        </a:rPr>
                        <a:t>72</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果下科技</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2655</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16</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新能源</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7.8</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1,890.7x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3.63x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7.6%</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9.5%</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117.9%</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198.3%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20.3%</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19"/>
                  </a:ext>
                </a:extLst>
              </a:tr>
              <a:tr h="118110">
                <a:tc>
                  <a:txBody>
                    <a:bodyPr/>
                    <a:lstStyle/>
                    <a:p>
                      <a:pPr algn="ctr" fontAlgn="ctr">
                        <a:buNone/>
                      </a:pPr>
                      <a:r>
                        <a:rPr lang="en-US" sz="700" b="0" i="0" u="none" strike="noStrike">
                          <a:solidFill>
                            <a:srgbClr val="000000"/>
                          </a:solidFill>
                          <a:effectLst/>
                          <a:latin typeface="+mn-lt"/>
                        </a:rPr>
                        <a:t>73</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京东工业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7618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工业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29.8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60.5x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7.88x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44.5%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algn="ctr" defTabSz="685800" rtl="0" eaLnBrk="1" fontAlgn="ctr" latinLnBrk="0" hangingPunct="1"/>
                      <a:r>
                        <a:rPr lang="en-US" altLang="zh-CN" sz="700" b="0" i="0" u="none" strike="noStrike" kern="1200" dirty="0">
                          <a:solidFill>
                            <a:schemeClr val="tx1">
                              <a:lumMod val="50000"/>
                              <a:lumOff val="50000"/>
                            </a:schemeClr>
                          </a:solidFill>
                          <a:effectLst/>
                          <a:latin typeface="Arial" panose="020B0704020202020204" pitchFamily="34" charset="0"/>
                          <a:ea typeface="KaiTi" panose="02010609060101010101" pitchFamily="49" charset="-122"/>
                          <a:cs typeface="Arial" panose="020B0704020202020204" pitchFamily="34" charset="0"/>
                        </a:rPr>
                        <a:t>0.0%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-1.1%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5.8%</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20"/>
                  </a:ext>
                </a:extLst>
              </a:tr>
              <a:tr h="118745">
                <a:tc>
                  <a:txBody>
                    <a:bodyPr/>
                    <a:lstStyle/>
                    <a:p>
                      <a:pPr algn="ctr" fontAlgn="ctr">
                        <a:buNone/>
                      </a:pPr>
                      <a:r>
                        <a:rPr lang="en-US" sz="700" b="0" i="0" u="none" strike="noStrike">
                          <a:solidFill>
                            <a:srgbClr val="000000"/>
                          </a:solidFill>
                          <a:effectLst/>
                          <a:latin typeface="+mn-lt"/>
                        </a:rPr>
                        <a:t>74</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宝济药业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 </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 </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B</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2659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3,526.3x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6.59x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11.6%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20.1%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138.8%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199.3%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-7.1%</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21"/>
                  </a:ext>
                </a:extLst>
              </a:tr>
              <a:tr h="118110">
                <a:tc>
                  <a:txBody>
                    <a:bodyPr/>
                    <a:lstStyle/>
                    <a:p>
                      <a:pPr algn="ctr" fontAlgn="ctr">
                        <a:buNone/>
                      </a:pPr>
                      <a:r>
                        <a:rPr lang="en-US" sz="700" b="0" i="0" u="none" strike="noStrike">
                          <a:solidFill>
                            <a:srgbClr val="000000"/>
                          </a:solidFill>
                          <a:effectLst/>
                          <a:latin typeface="+mn-lt"/>
                        </a:rPr>
                        <a:t>75</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卓越睿新</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2687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8</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教育</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4,813.4x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2.33x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87.3%</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136.7%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90.2%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2"/>
                  </a:ext>
                </a:extLst>
              </a:tr>
              <a:tr h="118110">
                <a:tc>
                  <a:txBody>
                    <a:bodyPr/>
                    <a:lstStyle/>
                    <a:p>
                      <a:pPr algn="ctr" fontAlgn="ctr">
                        <a:buNone/>
                      </a:pPr>
                      <a:r>
                        <a:rPr lang="en-US" sz="700" b="0" i="0" u="none" strike="noStrike">
                          <a:solidFill>
                            <a:srgbClr val="000000"/>
                          </a:solidFill>
                          <a:effectLst/>
                          <a:latin typeface="+mn-lt"/>
                        </a:rPr>
                        <a:t>76</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纳芯微</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2676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8</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22.1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2.65x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11.8%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49.2%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-29.4%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-4.3%</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24.7%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78.4%</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23"/>
                  </a:ext>
                </a:extLst>
              </a:tr>
              <a:tr h="118110">
                <a:tc>
                  <a:txBody>
                    <a:bodyPr/>
                    <a:lstStyle/>
                    <a:p>
                      <a:pPr algn="ctr" fontAlgn="ctr">
                        <a:buNone/>
                      </a:pPr>
                      <a:r>
                        <a:rPr lang="en-US" sz="700" b="0" i="0" u="none" strike="noStrike">
                          <a:solidFill>
                            <a:srgbClr val="000000"/>
                          </a:solidFill>
                          <a:effectLst/>
                          <a:latin typeface="+mn-lt"/>
                        </a:rPr>
                        <a:t>77</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天域半导体</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2658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5</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17.4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60.6x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2.47x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9.3%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-30.2%</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-17.4%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-5.2%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4"/>
                  </a:ext>
                </a:extLst>
              </a:tr>
              <a:tr h="119380">
                <a:tc>
                  <a:txBody>
                    <a:bodyPr/>
                    <a:lstStyle/>
                    <a:p>
                      <a:pPr algn="ctr" fontAlgn="ctr">
                        <a:buNone/>
                      </a:pPr>
                      <a:r>
                        <a:rPr lang="en-US" sz="700" b="0" i="0" u="none" strike="noStrike">
                          <a:solidFill>
                            <a:srgbClr val="000000"/>
                          </a:solidFill>
                          <a:effectLst/>
                          <a:latin typeface="+mn-lt"/>
                        </a:rPr>
                        <a:t>78</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遇见小面</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2408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5</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消费</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426.0x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4.99x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13.7%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-27.8%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-37.8%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-40.6%</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5"/>
                  </a:ext>
                </a:extLst>
              </a:tr>
              <a:tr h="118110">
                <a:tc>
                  <a:txBody>
                    <a:bodyPr/>
                    <a:lstStyle/>
                    <a:p>
                      <a:pPr algn="ctr" fontAlgn="ctr">
                        <a:buNone/>
                      </a:pPr>
                      <a:r>
                        <a:rPr lang="en-US" sz="700" b="0" i="0" u="none" strike="noStrike">
                          <a:solidFill>
                            <a:srgbClr val="000000"/>
                          </a:solidFill>
                          <a:effectLst/>
                          <a:latin typeface="+mn-lt"/>
                        </a:rPr>
                        <a:t>79</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乐摩科技</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消费 </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dirty="0">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7,324.3x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6.78x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36.3%</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-7.5%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-60.3%</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6"/>
                  </a:ext>
                </a:extLst>
              </a:tr>
              <a:tr h="118745">
                <a:tc>
                  <a:txBody>
                    <a:bodyPr/>
                    <a:lstStyle/>
                    <a:p>
                      <a:pPr algn="ctr" fontAlgn="ctr">
                        <a:buNone/>
                      </a:pPr>
                      <a:r>
                        <a:rPr lang="en-US" sz="700" b="0" i="0" u="none" strike="noStrike">
                          <a:solidFill>
                            <a:srgbClr val="000000"/>
                          </a:solidFill>
                          <a:effectLst/>
                          <a:latin typeface="+mn-lt"/>
                        </a:rPr>
                        <a:t>80</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金岩高新</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2693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3</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矿业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2867A0"/>
                          </a:solidFill>
                          <a:effectLst/>
                          <a:latin typeface="Arial" panose="020B0704020202020204" pitchFamily="34" charset="0"/>
                          <a:ea typeface="KaiTi" panose="02010609060101010101" pitchFamily="49" charset="-122"/>
                          <a:cs typeface="Arial" panose="020B0704020202020204" pitchFamily="34" charset="0"/>
                        </a:rPr>
                        <a:t>部分超额分配（</a:t>
                      </a:r>
                      <a:r>
                        <a:rPr lang="en-US" altLang="zh-CN" sz="700" b="0" i="0" u="none" strike="noStrike" dirty="0">
                          <a:solidFill>
                            <a:srgbClr val="2867A0"/>
                          </a:solidFill>
                          <a:effectLst/>
                          <a:latin typeface="Arial" panose="020B0704020202020204" pitchFamily="34" charset="0"/>
                          <a:ea typeface="KaiTi" panose="02010609060101010101" pitchFamily="49" charset="-122"/>
                          <a:cs typeface="Arial" panose="020B0704020202020204" pitchFamily="34" charset="0"/>
                        </a:rPr>
                        <a:t>6.1%</a:t>
                      </a:r>
                      <a:r>
                        <a:rPr lang="zh-CN" altLang="en-US" sz="700" b="0" i="0" u="none" strike="noStrike" dirty="0">
                          <a:solidFill>
                            <a:srgbClr val="2867A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6,876.2x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2.01x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43.0%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2.2%</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-37.9%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-47.9%</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7"/>
                  </a:ext>
                </a:extLst>
              </a:tr>
              <a:tr h="118110">
                <a:tc>
                  <a:txBody>
                    <a:bodyPr/>
                    <a:lstStyle/>
                    <a:p>
                      <a:pPr algn="ctr" fontAlgn="ctr">
                        <a:buNone/>
                      </a:pPr>
                      <a:r>
                        <a:rPr lang="en-US" sz="700" b="0" i="0" u="none" strike="noStrike">
                          <a:solidFill>
                            <a:srgbClr val="000000"/>
                          </a:solidFill>
                          <a:effectLst/>
                          <a:latin typeface="+mn-lt"/>
                        </a:rPr>
                        <a:t>81</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海伟股份</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9609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28</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材料</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5,426.3x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6.11x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22.3%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42.7%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-23.0%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-25.6%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-58.2%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28"/>
                  </a:ext>
                </a:extLst>
              </a:tr>
              <a:tr h="118110">
                <a:tc>
                  <a:txBody>
                    <a:bodyPr/>
                    <a:lstStyle/>
                    <a:p>
                      <a:pPr algn="ctr" fontAlgn="ctr">
                        <a:buNone/>
                      </a:pPr>
                      <a:r>
                        <a:rPr lang="en-US" sz="700" b="0" i="0" u="none" strike="noStrike">
                          <a:solidFill>
                            <a:srgbClr val="000000"/>
                          </a:solidFill>
                          <a:effectLst/>
                          <a:latin typeface="+mn-lt"/>
                        </a:rPr>
                        <a:t>82</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量化派</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2685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27</a:t>
                      </a: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消费</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dirty="0">
                          <a:solidFill>
                            <a:srgbClr val="2867A0"/>
                          </a:solidFill>
                          <a:effectLst/>
                          <a:latin typeface="Arial" panose="020B0704020202020204" pitchFamily="34" charset="0"/>
                          <a:ea typeface="KaiTi" panose="02010609060101010101" pitchFamily="49" charset="-122"/>
                          <a:cs typeface="Arial" panose="020B0704020202020204" pitchFamily="34" charset="0"/>
                        </a:rPr>
                        <a:t>部分超额分配（</a:t>
                      </a:r>
                      <a:r>
                        <a:rPr lang="en-US" altLang="zh-CN" sz="700" b="0" i="0" u="none" strike="noStrike" dirty="0">
                          <a:solidFill>
                            <a:srgbClr val="2867A0"/>
                          </a:solidFill>
                          <a:effectLst/>
                          <a:latin typeface="Arial" panose="020B0704020202020204" pitchFamily="34" charset="0"/>
                          <a:ea typeface="KaiTi" panose="02010609060101010101" pitchFamily="49" charset="-122"/>
                          <a:cs typeface="Arial" panose="020B0704020202020204" pitchFamily="34" charset="0"/>
                        </a:rPr>
                        <a:t>13.1%</a:t>
                      </a:r>
                      <a:r>
                        <a:rPr lang="zh-CN" altLang="en-US" sz="700" b="0" i="0" u="none" strike="noStrike" dirty="0">
                          <a:solidFill>
                            <a:srgbClr val="2867A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9,366.3x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15.07x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88.8%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169.4%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18.4%</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29"/>
                  </a:ext>
                </a:extLst>
              </a:tr>
              <a:tr h="118110">
                <a:tc>
                  <a:txBody>
                    <a:bodyPr/>
                    <a:lstStyle/>
                    <a:p>
                      <a:pPr algn="ctr" fontAlgn="ctr">
                        <a:buNone/>
                      </a:pPr>
                      <a:r>
                        <a:rPr lang="en-US" sz="700" b="0" i="0" u="none" strike="noStrike">
                          <a:solidFill>
                            <a:srgbClr val="000000"/>
                          </a:solidFill>
                          <a:effectLst/>
                          <a:latin typeface="+mn-lt"/>
                        </a:rPr>
                        <a:t>83</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创新实业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2788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24</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金属</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63.2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447.2x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19.85x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49.7%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32.8%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78.9%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98.0%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30"/>
                  </a:ext>
                </a:extLst>
              </a:tr>
              <a:tr h="118745">
                <a:tc>
                  <a:txBody>
                    <a:bodyPr/>
                    <a:lstStyle/>
                    <a:p>
                      <a:pPr algn="ctr" fontAlgn="ctr">
                        <a:buNone/>
                      </a:pPr>
                      <a:r>
                        <a:rPr lang="en-US" sz="700" b="0" i="0" u="none" strike="noStrike">
                          <a:solidFill>
                            <a:srgbClr val="000000"/>
                          </a:solidFill>
                          <a:effectLst/>
                          <a:latin typeface="+mn-lt"/>
                        </a:rPr>
                        <a:t>84</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中伟新材</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2579</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17</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endPar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化工</a:t>
                      </a:r>
                      <a:endPar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35.4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27.9x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4.08x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46.6%</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 -36.3%</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-0.1%</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-20.9%</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7.2%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31"/>
                  </a:ext>
                </a:extLst>
              </a:tr>
              <a:tr h="118110">
                <a:tc>
                  <a:txBody>
                    <a:bodyPr/>
                    <a:lstStyle/>
                    <a:p>
                      <a:pPr algn="ctr" fontAlgn="ctr">
                        <a:buNone/>
                      </a:pPr>
                      <a:r>
                        <a:rPr lang="en-US" sz="700" b="0" i="0" u="none" strike="noStrike">
                          <a:solidFill>
                            <a:srgbClr val="000000"/>
                          </a:solidFill>
                          <a:effectLst/>
                          <a:latin typeface="+mn-lt"/>
                        </a:rPr>
                        <a:t>85</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乐舒适</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2698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endPar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消费</a:t>
                      </a:r>
                      <a:endPar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23.8</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00" b="0" i="0" u="none" strike="noStrike" kern="120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endPar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1,813.8x</a:t>
                      </a:r>
                      <a:endPar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34.33x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15.0%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45.3%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26.0%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00" b="0" i="0" u="none" strike="noStrike" kern="1200" noProof="0" dirty="0">
                          <a:solidFill>
                            <a:srgbClr val="FF0000"/>
                          </a:solidFill>
                          <a:effectLst/>
                          <a:latin typeface="Arial" panose="020B0704020202020204" pitchFamily="34" charset="0"/>
                          <a:ea typeface="KaiTi" panose="02010609060101010101" pitchFamily="49" charset="-122"/>
                          <a:cs typeface="Arial" panose="020B0704020202020204" pitchFamily="34" charset="0"/>
                        </a:rPr>
                        <a:t>19.1%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0.9%</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2"/>
                  </a:ext>
                </a:extLst>
              </a:tr>
              <a:tr h="119380">
                <a:tc>
                  <a:txBody>
                    <a:bodyPr/>
                    <a:lstStyle/>
                    <a:p>
                      <a:pPr algn="ctr" fontAlgn="ctr">
                        <a:buNone/>
                      </a:pPr>
                      <a:r>
                        <a:rPr lang="en-US" sz="700" b="0" i="0" u="none" strike="noStrike">
                          <a:solidFill>
                            <a:srgbClr val="000000"/>
                          </a:solidFill>
                          <a:effectLst/>
                          <a:latin typeface="+mn-lt"/>
                        </a:rPr>
                        <a:t>86</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旺山旺水 </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 B</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2630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6</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endPar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endPar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5.9</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B050"/>
                          </a:solidFill>
                          <a:effectLst/>
                          <a:latin typeface="Arial" panose="020B0704020202020204" pitchFamily="34" charset="0"/>
                          <a:ea typeface="KaiTi" panose="02010609060101010101" pitchFamily="49" charset="-122"/>
                          <a:cs typeface="Arial" panose="020B0704020202020204" pitchFamily="34" charset="0"/>
                        </a:rPr>
                        <a:t>无超额分配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6,238.4x</a:t>
                      </a:r>
                      <a:endPar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16.87x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10.5%</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145.7%</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131.0%</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144.5%</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33"/>
                  </a:ext>
                </a:extLst>
              </a:tr>
              <a:tr h="118110">
                <a:tc>
                  <a:txBody>
                    <a:bodyPr/>
                    <a:lstStyle/>
                    <a:p>
                      <a:pPr algn="ctr" fontAlgn="ctr">
                        <a:buNone/>
                      </a:pPr>
                      <a:r>
                        <a:rPr lang="en-US" sz="700" b="0" i="0" u="none" strike="noStrike">
                          <a:solidFill>
                            <a:srgbClr val="000000"/>
                          </a:solidFill>
                          <a:effectLst/>
                          <a:latin typeface="+mn-lt"/>
                        </a:rPr>
                        <a:t>87</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小马智行 </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 W</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2026</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6</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67.1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endPar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15.9x</a:t>
                      </a:r>
                      <a:endPar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7.72x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11.3%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-9.3%</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-16.5%</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-48.2%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4"/>
                  </a:ext>
                </a:extLst>
              </a:tr>
              <a:tr h="118110">
                <a:tc>
                  <a:txBody>
                    <a:bodyPr/>
                    <a:lstStyle/>
                    <a:p>
                      <a:pPr algn="ctr" fontAlgn="ctr">
                        <a:buNone/>
                      </a:pPr>
                      <a:r>
                        <a:rPr lang="en-US" sz="700" b="0" i="0" u="none" strike="noStrike">
                          <a:solidFill>
                            <a:srgbClr val="000000"/>
                          </a:solidFill>
                          <a:effectLst/>
                          <a:latin typeface="+mn-lt"/>
                        </a:rPr>
                        <a:t>88</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文远知行 </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 W</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800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6</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endPar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回拨至</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73.4x</a:t>
                      </a:r>
                      <a:endPar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9.85x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8.6%</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-10.0%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-8.8%</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-27.0%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35"/>
                  </a:ext>
                </a:extLst>
              </a:tr>
              <a:tr h="118110">
                <a:tc>
                  <a:txBody>
                    <a:bodyPr/>
                    <a:lstStyle/>
                    <a:p>
                      <a:pPr algn="ctr" fontAlgn="ctr">
                        <a:buNone/>
                      </a:pPr>
                      <a:r>
                        <a:rPr lang="en-US" sz="700" b="0" i="0" u="none" strike="noStrike">
                          <a:solidFill>
                            <a:srgbClr val="000000"/>
                          </a:solidFill>
                          <a:effectLst/>
                          <a:latin typeface="+mn-lt"/>
                        </a:rPr>
                        <a:t>89</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均胜电子</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699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6</a:t>
                      </a: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34.1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147.7x</a:t>
                      </a:r>
                      <a:endPar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9.78x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24.4%</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-35.0%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-8.0%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-20.8%</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-17.3%</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6"/>
                  </a:ext>
                </a:extLst>
              </a:tr>
              <a:tr h="118745">
                <a:tc>
                  <a:txBody>
                    <a:bodyPr/>
                    <a:lstStyle/>
                    <a:p>
                      <a:pPr algn="ctr" fontAlgn="ctr">
                        <a:buNone/>
                      </a:pPr>
                      <a:r>
                        <a:rPr lang="en-US" sz="700" b="0" i="0" u="none" strike="noStrike">
                          <a:solidFill>
                            <a:srgbClr val="000000"/>
                          </a:solidFill>
                          <a:effectLst/>
                          <a:latin typeface="+mn-lt"/>
                        </a:rPr>
                        <a:t>90</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赛力斯</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9927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5</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汽车</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142.8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sz="700" b="0" i="0" u="none" strike="noStrike" kern="1200"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132.7x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8.61x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6.2%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45.0%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-21.3%</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r>
                        <a:rPr lang="en-US" altLang="zh-CN" sz="700" b="0" i="0" u="none" strike="noStrike" kern="1200" dirty="0">
                          <a:solidFill>
                            <a:schemeClr val="tx1">
                              <a:lumMod val="50000"/>
                              <a:lumOff val="50000"/>
                            </a:schemeClr>
                          </a:solidFill>
                          <a:effectLst/>
                          <a:latin typeface="Arial" panose="020B0704020202020204" pitchFamily="34" charset="0"/>
                          <a:ea typeface="KaiTi" panose="02010609060101010101" pitchFamily="49" charset="-122"/>
                          <a:cs typeface="Arial" panose="020B0704020202020204" pitchFamily="34" charset="0"/>
                        </a:rPr>
                        <a:t>0.0%</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-12.9%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-46.6%</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37"/>
                  </a:ext>
                </a:extLst>
              </a:tr>
              <a:tr h="128270">
                <a:tc>
                  <a:txBody>
                    <a:bodyPr/>
                    <a:lstStyle/>
                    <a:p>
                      <a:pPr algn="ctr" fontAlgn="ctr">
                        <a:buNone/>
                      </a:pPr>
                      <a:r>
                        <a:rPr lang="en-US" sz="700" b="0" i="0" u="none" strike="noStrike">
                          <a:solidFill>
                            <a:srgbClr val="000000"/>
                          </a:solidFill>
                          <a:effectLst/>
                          <a:latin typeface="+mn-lt"/>
                        </a:rPr>
                        <a:t>91</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明略科技 </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 W</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2718</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11</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3</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4,452.9x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13.93x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45.1%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106.1%</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49.6%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87.1%</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8"/>
                  </a:ext>
                </a:extLst>
              </a:tr>
              <a:tr h="119380">
                <a:tc>
                  <a:txBody>
                    <a:bodyPr/>
                    <a:lstStyle/>
                    <a:p>
                      <a:pPr algn="ctr" fontAlgn="ctr">
                        <a:buNone/>
                      </a:pPr>
                      <a:r>
                        <a:rPr lang="en-US" sz="700" b="0" i="0" u="none" strike="noStrike">
                          <a:solidFill>
                            <a:srgbClr val="000000"/>
                          </a:solidFill>
                          <a:effectLst/>
                          <a:latin typeface="+mn-lt"/>
                        </a:rPr>
                        <a:t>92</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滴普科技</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1384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28</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回拨至</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7,569.8x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16.61x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8.2%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150.6%</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168.2%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115.1%</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39"/>
                  </a:ext>
                </a:extLst>
              </a:tr>
              <a:tr h="118110">
                <a:tc>
                  <a:txBody>
                    <a:bodyPr/>
                    <a:lstStyle/>
                    <a:p>
                      <a:pPr algn="ctr" fontAlgn="ctr">
                        <a:buNone/>
                      </a:pPr>
                      <a:r>
                        <a:rPr lang="en-US" sz="700" b="0" i="0" u="none" strike="noStrike">
                          <a:solidFill>
                            <a:srgbClr val="000000"/>
                          </a:solidFill>
                          <a:effectLst/>
                          <a:latin typeface="+mn-lt"/>
                        </a:rPr>
                        <a:t>93</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三一重工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6031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28</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机械</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134.5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err="1">
                          <a:solidFill>
                            <a:srgbClr val="000000"/>
                          </a:solidFill>
                          <a:effectLst/>
                          <a:latin typeface="Arial" panose="020B0704020202020204" pitchFamily="34" charset="0"/>
                          <a:ea typeface="KaiTi" panose="02010609060101010101" pitchFamily="49" charset="-122"/>
                          <a:cs typeface="Arial" panose="020B0704020202020204" pitchFamily="34" charset="0"/>
                        </a:rPr>
                        <a:t>52.9x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13.96x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6.9%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-15.1%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2.8%</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rPr>
                        <a:t>-0.7%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-2.0%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40"/>
                  </a:ext>
                </a:extLst>
              </a:tr>
              <a:tr h="118110">
                <a:tc>
                  <a:txBody>
                    <a:bodyPr/>
                    <a:lstStyle/>
                    <a:p>
                      <a:pPr algn="ctr" fontAlgn="ctr">
                        <a:buNone/>
                      </a:pPr>
                      <a:r>
                        <a:rPr lang="en-US" sz="700" b="0" i="0" u="none" strike="noStrike" dirty="0">
                          <a:solidFill>
                            <a:srgbClr val="000000"/>
                          </a:solidFill>
                          <a:effectLst/>
                          <a:latin typeface="+mn-lt"/>
                        </a:rPr>
                        <a:t>94</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八马茶业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6980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28</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消费</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2,680.0x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13.58x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10.6%</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86.7%</a:t>
                      </a:r>
                    </a:p>
                  </a:txBody>
                  <a:tcPr marL="9525" marR="9525" marT="9525"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3.4%</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-53.0%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41"/>
                  </a:ext>
                </a:extLst>
              </a:tr>
              <a:tr h="118110">
                <a:tc>
                  <a:txBody>
                    <a:bodyPr/>
                    <a:lstStyle/>
                    <a:p>
                      <a:pPr algn="ctr" fontAlgn="ctr">
                        <a:buNone/>
                      </a:pPr>
                      <a:r>
                        <a:rPr lang="en-US" sz="700" b="0" i="0" u="none" strike="noStrike">
                          <a:solidFill>
                            <a:srgbClr val="000000"/>
                          </a:solidFill>
                          <a:effectLst/>
                          <a:latin typeface="+mn-lt"/>
                        </a:rPr>
                        <a:t>95</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剑桥科技</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6166</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28</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TMT</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46.2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338.7x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16.50x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20.0%</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48.9%</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-45.6%</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33.9%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20.5%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107.2%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42"/>
                  </a:ext>
                </a:extLst>
              </a:tr>
              <a:tr h="119380">
                <a:tc>
                  <a:txBody>
                    <a:bodyPr/>
                    <a:lstStyle/>
                    <a:p>
                      <a:pPr algn="ctr" fontAlgn="ctr">
                        <a:buNone/>
                      </a:pPr>
                      <a:r>
                        <a:rPr lang="en-US" sz="700" b="0" i="0" u="none" strike="noStrike">
                          <a:solidFill>
                            <a:srgbClr val="000000"/>
                          </a:solidFill>
                          <a:effectLst/>
                          <a:latin typeface="+mn-lt"/>
                        </a:rPr>
                        <a:t>96</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广和通</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638</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22</a:t>
                      </a:r>
                      <a:r>
                        <a:rPr lang="zh-CN" alt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29.0</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zh-CN" alt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551.0x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9.16x</a:t>
                      </a:r>
                      <a:endParaRPr lang="en-US"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15.0%</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0000"/>
                          </a:solidFill>
                          <a:effectLst/>
                          <a:latin typeface="Arial" panose="020B0704020202020204" pitchFamily="34" charset="0"/>
                          <a:ea typeface="KaiTi" panose="02010609060101010101" pitchFamily="49" charset="-122"/>
                          <a:cs typeface="Arial" panose="020B0704020202020204" pitchFamily="34" charset="0"/>
                        </a:rPr>
                        <a:t>43.0%</a:t>
                      </a:r>
                      <a:endParaRPr lang="en-US" altLang="zh-CN" sz="700" b="0" i="0" u="none" strike="noStrike"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-30.8%</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-11.7%</a:t>
                      </a:r>
                      <a:endPar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-27.9%</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-47.8%</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43"/>
                  </a:ext>
                </a:extLst>
              </a:tr>
              <a:tr h="118110">
                <a:tc>
                  <a:txBody>
                    <a:bodyPr/>
                    <a:lstStyle/>
                    <a:p>
                      <a:pPr algn="ctr" fontAlgn="ctr">
                        <a:buNone/>
                      </a:pPr>
                      <a:r>
                        <a:rPr lang="en-US" sz="700" b="0" i="0" u="none" strike="noStrike">
                          <a:solidFill>
                            <a:srgbClr val="000000"/>
                          </a:solidFill>
                          <a:effectLst/>
                          <a:latin typeface="+mn-lt"/>
                        </a:rPr>
                        <a:t>97</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聚水潭</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6687</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21</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TMT</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20.9</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zh-CN" altLang="en-US"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满超额分配</a:t>
                      </a:r>
                      <a:endParaRPr lang="zh-CN" altLang="en-US"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1,953.0x</a:t>
                      </a:r>
                      <a:endPar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22.89x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16.0%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48.5%</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a:solidFill>
                            <a:srgbClr val="FF0000"/>
                          </a:solidFill>
                          <a:effectLst/>
                          <a:latin typeface="Arial" panose="020B0704020202020204" pitchFamily="34" charset="0"/>
                          <a:ea typeface="KaiTi" panose="02010609060101010101" pitchFamily="49" charset="-122"/>
                          <a:cs typeface="Arial" panose="020B0704020202020204" pitchFamily="34" charset="0"/>
                        </a:rPr>
                        <a:t>23.9%</a:t>
                      </a:r>
                      <a:endPar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zh-CN" sz="700" b="0" i="0" u="none" strike="noStrike">
                          <a:solidFill>
                            <a:srgbClr val="00B050"/>
                          </a:solidFill>
                          <a:effectLst/>
                          <a:latin typeface="Arial" panose="020B0704020202020204" pitchFamily="34" charset="0"/>
                          <a:ea typeface="KaiTi" panose="02010609060101010101" pitchFamily="49" charset="-122"/>
                          <a:cs typeface="Arial" panose="020B0704020202020204" pitchFamily="34" charset="0"/>
                        </a:rPr>
                        <a:t>-17.8%</a:t>
                      </a:r>
                      <a:endParaRPr lang="en-US" altLang="zh-CN" sz="700" b="0" i="0" u="none" strike="noStrike" dirty="0">
                        <a:solidFill>
                          <a:srgbClr val="00B050"/>
                        </a:solidFill>
                        <a:effectLst/>
                        <a:latin typeface="Arial" panose="020B0704020202020204" pitchFamily="34" charset="0"/>
                        <a:ea typeface="KaiTi" panose="02010609060101010101" pitchFamily="49" charset="-122"/>
                        <a:cs typeface="Arial" panose="020B07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sz="700" b="0" i="0" u="none" strike="noStrike" dirty="0">
                          <a:solidFill>
                            <a:srgbClr val="00B050"/>
                          </a:solidFill>
                          <a:effectLst/>
                          <a:latin typeface="Arial" panose="020B0604020202020204" pitchFamily="34" charset="0"/>
                          <a:cs typeface="Arial" panose="020B0604020202020204" pitchFamily="34" charset="0"/>
                        </a:rPr>
                        <a:t>-47.0%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44"/>
                  </a:ext>
                </a:extLst>
              </a:tr>
              <a:tr h="118745">
                <a:tc>
                  <a:txBody>
                    <a:bodyPr/>
                    <a:lstStyle/>
                    <a:p>
                      <a:pPr algn="ctr" fontAlgn="ctr">
                        <a:buNone/>
                      </a:pPr>
                      <a:r>
                        <a:rPr lang="en-US" sz="700" b="0" i="0" u="none" strike="noStrike" dirty="0">
                          <a:solidFill>
                            <a:srgbClr val="000000"/>
                          </a:solidFill>
                          <a:effectLst/>
                          <a:latin typeface="+mn-lt"/>
                        </a:rPr>
                        <a:t>98</a:t>
                      </a:r>
                    </a:p>
                  </a:txBody>
                  <a:tcPr marL="0" marR="0" marT="0" marB="0" anchor="ctr">
                    <a:lnL w="6350" cap="flat" cmpd="sng" algn="ctr">
                      <a:solidFill>
                        <a:schemeClr val="bg2">
                          <a:lumMod val="90000"/>
                        </a:schemeClr>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海西新药</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2637</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10</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月</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20</a:t>
                      </a: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日</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医疗健康</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9.9</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00" b="0" i="0" u="none" strike="noStrike" dirty="0">
                          <a:solidFill>
                            <a:srgbClr val="DAB866"/>
                          </a:solidFill>
                          <a:effectLst/>
                          <a:latin typeface="Arial" panose="020B0704020202020204" pitchFamily="34" charset="0"/>
                          <a:ea typeface="KaiTi" panose="02010609060101010101" pitchFamily="49" charset="-122"/>
                          <a:cs typeface="Arial" panose="020B0704020202020204" pitchFamily="34" charset="0"/>
                        </a:rPr>
                        <a:t>未设超额分配权</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固定</a:t>
                      </a:r>
                      <a:r>
                        <a:rPr lang="en-US" altLang="zh-CN" sz="700" b="0" i="0" u="none" strike="noStrike" kern="1200">
                          <a:solidFill>
                            <a:srgbClr val="000000"/>
                          </a:solidFill>
                          <a:effectLst/>
                          <a:latin typeface="Arial" panose="020B0704020202020204" pitchFamily="34" charset="0"/>
                          <a:ea typeface="KaiTi" panose="02010609060101010101" pitchFamily="49" charset="-122"/>
                          <a:cs typeface="Arial" panose="020B0704020202020204" pitchFamily="34" charset="0"/>
                        </a:rPr>
                        <a:t>10%</a:t>
                      </a:r>
                      <a:endPar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endParaRP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3,165.1</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6.30</a:t>
                      </a: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x</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14.6%</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17.2%</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685800" rtl="0" eaLnBrk="1" fontAlgn="ctr" latinLnBrk="0" hangingPunct="1">
                        <a:buNone/>
                      </a:pPr>
                      <a:r>
                        <a:rPr lang="en-US" altLang="zh-CN" sz="700" b="0" i="0" u="none" strike="noStrike" kern="1200" dirty="0">
                          <a:solidFill>
                            <a:srgbClr val="000000"/>
                          </a:solidFill>
                          <a:effectLst/>
                          <a:latin typeface="Arial" panose="020B0704020202020204" pitchFamily="34" charset="0"/>
                          <a:ea typeface="KaiTi" panose="02010609060101010101" pitchFamily="49" charset="-122"/>
                          <a:cs typeface="Arial" panose="020B0704020202020204" pitchFamily="34" charset="0"/>
                        </a:rPr>
                        <a:t>-</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20.6%</a:t>
                      </a:r>
                    </a:p>
                  </a:txBody>
                  <a:tcPr marL="6350" marR="6350" marT="635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altLang="zh-CN" sz="700" b="0" i="0" u="none" strike="noStrike" dirty="0">
                          <a:solidFill>
                            <a:srgbClr val="FF0000"/>
                          </a:solidFill>
                          <a:effectLst/>
                          <a:latin typeface="Arial" panose="020B0704020202020204" pitchFamily="34" charset="0"/>
                          <a:ea typeface="KaiTi" panose="02010609060101010101" pitchFamily="49" charset="-122"/>
                          <a:cs typeface="Arial" panose="020B0704020202020204" pitchFamily="34" charset="0"/>
                        </a:rPr>
                        <a:t>50.5%</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buNone/>
                      </a:pPr>
                      <a:r>
                        <a:rPr lang="en-US" sz="700" b="0" i="0" u="none" strike="noStrike" dirty="0">
                          <a:solidFill>
                            <a:srgbClr val="FF0000"/>
                          </a:solidFill>
                          <a:effectLst/>
                          <a:latin typeface="Arial" panose="020B0604020202020204" pitchFamily="34" charset="0"/>
                          <a:cs typeface="Arial" panose="020B0604020202020204" pitchFamily="34" charset="0"/>
                        </a:rPr>
                        <a:t>180.3%</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45"/>
                  </a:ext>
                </a:extLst>
              </a:tr>
            </a:tbl>
          </a:graphicData>
        </a:graphic>
      </p:graphicFrame>
      <p:sp>
        <p:nvSpPr>
          <p:cNvPr id="4" name="Title 2"/>
          <p:cNvSpPr txBox="1"/>
          <p:nvPr/>
        </p:nvSpPr>
        <p:spPr>
          <a:xfrm>
            <a:off x="220712" y="129599"/>
            <a:ext cx="7563843" cy="263439"/>
          </a:xfrm>
          <a:prstGeom prst="rect">
            <a:avLst/>
          </a:prstGeom>
        </p:spPr>
        <p:txBody>
          <a:bodyPr/>
          <a:lstStyle>
            <a:lvl1pPr algn="l" defTabSz="685800" rtl="0" eaLnBrk="1" latinLnBrk="0" hangingPunct="1">
              <a:lnSpc>
                <a:spcPct val="90000"/>
              </a:lnSpc>
              <a:spcBef>
                <a:spcPct val="0"/>
              </a:spcBef>
              <a:buNone/>
              <a:defRPr sz="2000" b="1" kern="1200" baseline="0">
                <a:solidFill>
                  <a:schemeClr val="accent1"/>
                </a:solidFill>
                <a:latin typeface="Arial" panose="020B0704020202020204" pitchFamily="34" charset="0"/>
                <a:ea typeface="+mj-ea"/>
                <a:cs typeface="Arial" panose="020B0704020202020204" pitchFamily="34" charset="0"/>
              </a:defRPr>
            </a:lvl1pPr>
          </a:lstStyle>
          <a:p>
            <a:pPr lvl="0">
              <a:defRPr/>
            </a:pPr>
            <a:r>
              <a:rPr kumimoji="0" lang="zh-CN"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过去</a:t>
            </a:r>
            <a:r>
              <a:rPr kumimoji="0" lang="en-US" altLang="zh-CN"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12</a:t>
            </a:r>
            <a:r>
              <a:rPr kumimoji="0" lang="zh-CN"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个月</a:t>
            </a:r>
            <a:r>
              <a:rPr kumimoji="0" lang="zh-TW"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香港</a:t>
            </a:r>
            <a:r>
              <a:rPr kumimoji="0" lang="en-US" altLang="zh-TW"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IPO</a:t>
            </a:r>
            <a:r>
              <a:rPr kumimoji="0" lang="zh-CN"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发行及</a:t>
            </a:r>
            <a:r>
              <a:rPr kumimoji="0" lang="zh-TW" altLang="en-US" sz="1800" b="1" i="0" u="none" strike="noStrike" kern="1200" cap="none" spc="0" normalizeH="0" baseline="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认购情况</a:t>
            </a:r>
            <a:r>
              <a:rPr lang="zh-TW" altLang="en-US" sz="1800" dirty="0">
                <a:solidFill>
                  <a:srgbClr val="C00000"/>
                </a:solidFill>
                <a:latin typeface="Arial" panose="020B0704020202020204"/>
                <a:ea typeface="楷体" panose="02010609060101010101" pitchFamily="49" charset="-122"/>
              </a:rPr>
              <a:t>（续）</a:t>
            </a:r>
            <a:r>
              <a:rPr kumimoji="0" lang="en-US" altLang="zh-TW" sz="1800" b="1" i="0" u="none" strike="noStrike" kern="1200" cap="none" spc="0" normalizeH="0" baseline="30000" noProof="0" dirty="0">
                <a:ln>
                  <a:noFill/>
                </a:ln>
                <a:solidFill>
                  <a:srgbClr val="C00000"/>
                </a:solidFill>
                <a:effectLst/>
                <a:uLnTx/>
                <a:uFillTx/>
                <a:latin typeface="Arial" panose="020B0704020202020204" pitchFamily="34" charset="0"/>
                <a:ea typeface="楷体" panose="02010609060101010101" pitchFamily="49" charset="-122"/>
                <a:cs typeface="Arial" panose="020B0704020202020204" pitchFamily="34" charset="0"/>
              </a:rPr>
              <a:t>1</a:t>
            </a:r>
          </a:p>
        </p:txBody>
      </p:sp>
      <p:sp>
        <p:nvSpPr>
          <p:cNvPr id="3" name="object 27"/>
          <p:cNvSpPr txBox="1"/>
          <p:nvPr/>
        </p:nvSpPr>
        <p:spPr>
          <a:xfrm>
            <a:off x="220712" y="6639134"/>
            <a:ext cx="3234804" cy="194945"/>
          </a:xfrm>
          <a:prstGeom prst="rect">
            <a:avLst/>
          </a:prstGeom>
        </p:spPr>
        <p:txBody>
          <a:bodyPr vert="horz" wrap="square" lIns="0" tIns="10808" rIns="0" bIns="0" rtlCol="0">
            <a:spAutoFit/>
          </a:bodyPr>
          <a:lstStyle/>
          <a:p>
            <a:pPr marL="10795" marR="0" lvl="0" indent="0" algn="l" defTabSz="914400" rtl="0" eaLnBrk="1" fontAlgn="auto" latinLnBrk="0" hangingPunct="1">
              <a:lnSpc>
                <a:spcPct val="100000"/>
              </a:lnSpc>
              <a:spcBef>
                <a:spcPts val="85"/>
              </a:spcBef>
              <a:spcAft>
                <a:spcPts val="0"/>
              </a:spcAft>
              <a:buClrTx/>
              <a:buSzTx/>
              <a:buFontTx/>
              <a:buNone/>
              <a:defRPr/>
            </a:pP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数据来源：彭博、</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Dealogic,</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记录过去</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12</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个月在香港主板上市的</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，按上市日期排序，股价表现截至</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2026</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年</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5月</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22</a:t>
            </a:r>
            <a:r>
              <a:rPr kumimoji="0" lang="en-US" altLang="zh-CN" sz="600" b="0" i="1" u="none" strike="noStrike" kern="1200" cap="none" spc="-5" normalizeH="0" baseline="0" noProof="0" dirty="0" err="1">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日</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  </a:t>
            </a:r>
            <a:endPar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endParaRPr>
          </a:p>
        </p:txBody>
      </p:sp>
      <p:sp>
        <p:nvSpPr>
          <p:cNvPr id="5" name="文本框 4"/>
          <p:cNvSpPr txBox="1"/>
          <p:nvPr/>
        </p:nvSpPr>
        <p:spPr>
          <a:xfrm>
            <a:off x="3455516" y="6593406"/>
            <a:ext cx="6197039" cy="276999"/>
          </a:xfrm>
          <a:prstGeom prst="rect">
            <a:avLst/>
          </a:prstGeom>
          <a:noFill/>
        </p:spPr>
        <p:txBody>
          <a:bodyPr wrap="square">
            <a:spAutoFit/>
          </a:bodyPr>
          <a:lstStyle/>
          <a:p>
            <a:pPr marL="10795" lvl="0">
              <a:spcBef>
                <a:spcPts val="85"/>
              </a:spcBef>
              <a:defRPr/>
            </a:pP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1.</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仅统计主板上市公司，不包括以介绍形式上市、</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GEM</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转主板，以及</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SPAC</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公司 ；注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2. </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无超额分配指发行人已授权超额分配权，而实际中并未超额发售；</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3.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假设发售量调整权和超额配股权未获行使；注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4.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为准确反映各项目国际配售认购情况，保留两位小数；注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5.</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假设超额配股权未获行使；  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6.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仅针对</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A+H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上市公司，为</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股</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定价日相较于</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A</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股折价率</a:t>
            </a:r>
            <a:endPar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endParaRPr>
          </a:p>
        </p:txBody>
      </p:sp>
      <p:cxnSp>
        <p:nvCxnSpPr>
          <p:cNvPr id="6" name="直接连接符 5"/>
          <p:cNvCxnSpPr/>
          <p:nvPr/>
        </p:nvCxnSpPr>
        <p:spPr>
          <a:xfrm>
            <a:off x="-552450" y="7541732"/>
            <a:ext cx="10116821"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7078980" y="7692390"/>
            <a:ext cx="3302000" cy="368300"/>
          </a:xfrm>
          <a:prstGeom prst="rect">
            <a:avLst/>
          </a:prstGeom>
          <a:noFill/>
        </p:spPr>
        <p:txBody>
          <a:bodyPr wrap="square" rtlCol="0">
            <a:spAutoFit/>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1021055795"/>
              </p:ext>
            </p:extLst>
          </p:nvPr>
        </p:nvGraphicFramePr>
        <p:xfrm>
          <a:off x="220980" y="412750"/>
          <a:ext cx="9552305" cy="6194406"/>
        </p:xfrm>
        <a:graphic>
          <a:graphicData uri="http://schemas.openxmlformats.org/drawingml/2006/table">
            <a:tbl>
              <a:tblPr/>
              <a:tblGrid>
                <a:gridCol w="252095">
                  <a:extLst>
                    <a:ext uri="{9D8B030D-6E8A-4147-A177-3AD203B41FA5}">
                      <a16:colId xmlns:a16="http://schemas.microsoft.com/office/drawing/2014/main" val="20000"/>
                    </a:ext>
                  </a:extLst>
                </a:gridCol>
                <a:gridCol w="726440">
                  <a:extLst>
                    <a:ext uri="{9D8B030D-6E8A-4147-A177-3AD203B41FA5}">
                      <a16:colId xmlns:a16="http://schemas.microsoft.com/office/drawing/2014/main" val="20001"/>
                    </a:ext>
                  </a:extLst>
                </a:gridCol>
                <a:gridCol w="532130">
                  <a:extLst>
                    <a:ext uri="{9D8B030D-6E8A-4147-A177-3AD203B41FA5}">
                      <a16:colId xmlns:a16="http://schemas.microsoft.com/office/drawing/2014/main" val="20002"/>
                    </a:ext>
                  </a:extLst>
                </a:gridCol>
                <a:gridCol w="531495">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0225">
                  <a:extLst>
                    <a:ext uri="{9D8B030D-6E8A-4147-A177-3AD203B41FA5}">
                      <a16:colId xmlns:a16="http://schemas.microsoft.com/office/drawing/2014/main" val="20005"/>
                    </a:ext>
                  </a:extLst>
                </a:gridCol>
                <a:gridCol w="1099820">
                  <a:extLst>
                    <a:ext uri="{9D8B030D-6E8A-4147-A177-3AD203B41FA5}">
                      <a16:colId xmlns:a16="http://schemas.microsoft.com/office/drawing/2014/main" val="20006"/>
                    </a:ext>
                  </a:extLst>
                </a:gridCol>
                <a:gridCol w="691515">
                  <a:extLst>
                    <a:ext uri="{9D8B030D-6E8A-4147-A177-3AD203B41FA5}">
                      <a16:colId xmlns:a16="http://schemas.microsoft.com/office/drawing/2014/main" val="20007"/>
                    </a:ext>
                  </a:extLst>
                </a:gridCol>
                <a:gridCol w="641985">
                  <a:extLst>
                    <a:ext uri="{9D8B030D-6E8A-4147-A177-3AD203B41FA5}">
                      <a16:colId xmlns:a16="http://schemas.microsoft.com/office/drawing/2014/main" val="20008"/>
                    </a:ext>
                  </a:extLst>
                </a:gridCol>
                <a:gridCol w="592455">
                  <a:extLst>
                    <a:ext uri="{9D8B030D-6E8A-4147-A177-3AD203B41FA5}">
                      <a16:colId xmlns:a16="http://schemas.microsoft.com/office/drawing/2014/main" val="20009"/>
                    </a:ext>
                  </a:extLst>
                </a:gridCol>
                <a:gridCol w="642620">
                  <a:extLst>
                    <a:ext uri="{9D8B030D-6E8A-4147-A177-3AD203B41FA5}">
                      <a16:colId xmlns:a16="http://schemas.microsoft.com/office/drawing/2014/main" val="20010"/>
                    </a:ext>
                  </a:extLst>
                </a:gridCol>
                <a:gridCol w="641985">
                  <a:extLst>
                    <a:ext uri="{9D8B030D-6E8A-4147-A177-3AD203B41FA5}">
                      <a16:colId xmlns:a16="http://schemas.microsoft.com/office/drawing/2014/main" val="20011"/>
                    </a:ext>
                  </a:extLst>
                </a:gridCol>
                <a:gridCol w="694690">
                  <a:extLst>
                    <a:ext uri="{9D8B030D-6E8A-4147-A177-3AD203B41FA5}">
                      <a16:colId xmlns:a16="http://schemas.microsoft.com/office/drawing/2014/main" val="20012"/>
                    </a:ext>
                  </a:extLst>
                </a:gridCol>
                <a:gridCol w="471805">
                  <a:extLst>
                    <a:ext uri="{9D8B030D-6E8A-4147-A177-3AD203B41FA5}">
                      <a16:colId xmlns:a16="http://schemas.microsoft.com/office/drawing/2014/main" val="20013"/>
                    </a:ext>
                  </a:extLst>
                </a:gridCol>
                <a:gridCol w="484505">
                  <a:extLst>
                    <a:ext uri="{9D8B030D-6E8A-4147-A177-3AD203B41FA5}">
                      <a16:colId xmlns:a16="http://schemas.microsoft.com/office/drawing/2014/main" val="20014"/>
                    </a:ext>
                  </a:extLst>
                </a:gridCol>
                <a:gridCol w="485140">
                  <a:extLst>
                    <a:ext uri="{9D8B030D-6E8A-4147-A177-3AD203B41FA5}">
                      <a16:colId xmlns:a16="http://schemas.microsoft.com/office/drawing/2014/main" val="20015"/>
                    </a:ext>
                  </a:extLst>
                </a:gridCol>
              </a:tblGrid>
              <a:tr h="101234">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HK"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公司名称</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股票代号</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上市日期</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HK"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行业</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发行规模</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（亿港元）</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超额分配</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2</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公开发售比例</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3</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香港公开发售</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认购倍数</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algn="ctr" fontAlgn="ct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国际配售</a:t>
                      </a:r>
                      <a:b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br>
                      <a:r>
                        <a:rPr lang="zh-CN" altLang="en-US" sz="750" b="1" i="0" u="sng" strike="noStrike"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认购倍数</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4</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基础发行比例</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基石占比</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5</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a:txBody>
                    <a:bodyPr/>
                    <a:lstStyle/>
                    <a:p>
                      <a:pPr marL="0" algn="ctr" defTabSz="685800" rtl="0" eaLnBrk="1" fontAlgn="ctr" latinLnBrk="0" hangingPunct="1"/>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H</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股相对</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股</a:t>
                      </a:r>
                      <a:endPar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endParaRPr>
                    </a:p>
                    <a:p>
                      <a:pPr marL="0" algn="ctr" defTabSz="685800" rtl="0" eaLnBrk="1" fontAlgn="ctr" latinLnBrk="0" hangingPunct="1"/>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折价率（</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zh-CN" altLang="en-US"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30000" dirty="0">
                          <a:solidFill>
                            <a:srgbClr val="FFFFFF"/>
                          </a:solidFill>
                          <a:effectLst/>
                          <a:latin typeface="Arial" panose="020B0704020202020204" pitchFamily="34" charset="0"/>
                          <a:ea typeface="KaiTi" panose="02010609060101010101" pitchFamily="49" charset="-122"/>
                          <a:cs typeface="Arial" panose="020B0704020202020204" pitchFamily="34" charset="0"/>
                        </a:rPr>
                        <a:t>6</a:t>
                      </a:r>
                    </a:p>
                  </a:txBody>
                  <a:tcPr marL="4783" marR="4783" marT="4783"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3">
                  <a:txBody>
                    <a:bodyPr/>
                    <a:lstStyle/>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后市表现</a:t>
                      </a:r>
                    </a:p>
                  </a:txBody>
                  <a:tcPr marL="6138" marR="6138" marT="6138" marB="0" anchor="ctr">
                    <a:lnL>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marL="6139" marR="6139" marT="6139" marB="0" anchor="ctr">
                    <a:lnL w="12700" cap="flat" cmpd="sng" algn="ctr">
                      <a:solidFill>
                        <a:schemeClr val="bg1">
                          <a:lumMod val="85000"/>
                        </a:schemeClr>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tc hMerge="1">
                  <a:txBody>
                    <a:bodyPr/>
                    <a:lstStyle/>
                    <a:p>
                      <a:endParaRPr lang="en-US"/>
                    </a:p>
                  </a:txBody>
                  <a:tcPr marL="6139" marR="6139" marT="6139"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9767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首日</a:t>
                      </a:r>
                      <a:endPar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algn="ctr" fontAlgn="ct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 </a:t>
                      </a:r>
                      <a:r>
                        <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kern="1200"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首月</a:t>
                      </a:r>
                      <a:endParaRPr lang="en-US" altLang="zh-CN" sz="750" b="1" i="0" u="sng" strike="noStrike" kern="1200"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 </a:t>
                      </a:r>
                      <a:r>
                        <a:rPr lang="en-US" altLang="zh-CN" sz="750" b="1" i="0" u="sng" strike="noStrike" kern="1200" baseline="0" noProof="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a:noFill/>
                    </a:lnL>
                    <a:lnR>
                      <a:noFill/>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rPr>
                        <a:t>至今</a:t>
                      </a:r>
                      <a:endParaRPr lang="en-US" altLang="zh-CN" sz="750" b="1" i="0" u="sng" strike="noStrike" baseline="0" dirty="0">
                        <a:solidFill>
                          <a:schemeClr val="bg1"/>
                        </a:solidFill>
                        <a:effectLst/>
                        <a:latin typeface="Arial" panose="020B0704020202020204" pitchFamily="34" charset="0"/>
                        <a:ea typeface="KaiTi" panose="02010609060101010101" pitchFamily="49" charset="-122"/>
                        <a:cs typeface="Arial" panose="020B0704020202020204" pitchFamily="34" charset="0"/>
                      </a:endParaRPr>
                    </a:p>
                    <a:p>
                      <a:pPr marL="0" marR="0" lvl="0" indent="0" algn="ctr" defTabSz="685800" rtl="0" eaLnBrk="1" fontAlgn="ctr" latinLnBrk="0" hangingPunct="1">
                        <a:lnSpc>
                          <a:spcPct val="100000"/>
                        </a:lnSpc>
                        <a:spcBef>
                          <a:spcPts val="0"/>
                        </a:spcBef>
                        <a:spcAft>
                          <a:spcPts val="0"/>
                        </a:spcAft>
                        <a:buClrTx/>
                        <a:buSzTx/>
                        <a:buFontTx/>
                        <a:buNone/>
                        <a:defRPr/>
                      </a:pPr>
                      <a:r>
                        <a:rPr kumimoji="0" lang="zh-CN" altLang="en-US"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 </a:t>
                      </a:r>
                      <a:r>
                        <a:rPr kumimoji="0" lang="en-US" altLang="zh-CN"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a:t>
                      </a:r>
                      <a:r>
                        <a:rPr lang="en-US" altLang="zh-CN" sz="750" b="1" i="0" u="sng" strike="noStrike" kern="1200" baseline="0" noProof="0" dirty="0">
                          <a:solidFill>
                            <a:srgbClr val="FFFFFF"/>
                          </a:solidFill>
                          <a:effectLst/>
                          <a:latin typeface="Arial" panose="020B0704020202020204" pitchFamily="34" charset="0"/>
                          <a:ea typeface="KaiTi" panose="02010609060101010101" pitchFamily="49" charset="-122"/>
                          <a:cs typeface="Arial" panose="020B0704020202020204" pitchFamily="34" charset="0"/>
                        </a:rPr>
                        <a:t>%</a:t>
                      </a:r>
                      <a:r>
                        <a:rPr kumimoji="0" lang="en-US" altLang="zh-CN" sz="750" b="1" i="0" u="sng" strike="noStrike" kern="1200" cap="none" spc="0" normalizeH="0" baseline="0" noProof="0" dirty="0">
                          <a:ln>
                            <a:noFill/>
                          </a:ln>
                          <a:solidFill>
                            <a:prstClr val="white"/>
                          </a:solidFill>
                          <a:effectLst/>
                          <a:uLnTx/>
                          <a:uFillTx/>
                          <a:latin typeface="Arial" panose="020B0704020202020204" pitchFamily="34" charset="0"/>
                          <a:ea typeface="KaiTi" panose="02010609060101010101" pitchFamily="49" charset="-122"/>
                          <a:cs typeface="Arial" panose="020B0704020202020204" pitchFamily="34" charset="0"/>
                        </a:rPr>
                        <a:t>)</a:t>
                      </a:r>
                    </a:p>
                  </a:txBody>
                  <a:tcPr marL="6138" marR="6138" marT="6138" marB="0" anchor="ctr">
                    <a:lnL>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E8E6E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01767">
                <a:tc>
                  <a:txBody>
                    <a:bodyPr/>
                    <a:lstStyle/>
                    <a:p>
                      <a:pPr algn="ctr" fontAlgn="ctr">
                        <a:buNone/>
                      </a:pPr>
                      <a:r>
                        <a:rPr lang="en-US" sz="720" b="0" i="0" u="none" strike="noStrike" dirty="0">
                          <a:solidFill>
                            <a:srgbClr val="000000"/>
                          </a:solidFill>
                          <a:effectLst/>
                          <a:latin typeface="+mn-lt"/>
                          <a:cs typeface="Arial" panose="020B0604020202020204" pitchFamily="34" charset="0"/>
                        </a:rPr>
                        <a:t>99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云迹</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2670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TMT</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6.6</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回拨至</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5,657.2x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18.62x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26.0%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19.7%</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240.4%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extLst>
                  <a:ext uri="{0D108BD9-81ED-4DB2-BD59-A6C34878D82A}">
                    <a16:rowId xmlns:a16="http://schemas.microsoft.com/office/drawing/2014/main" val="3184099735"/>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100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轩竹生物 </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 </a:t>
                      </a:r>
                      <a:r>
                        <a:rPr lang="en-US" sz="720" b="0" i="0" u="none" strike="noStrike" dirty="0">
                          <a:solidFill>
                            <a:srgbClr val="000000"/>
                          </a:solidFill>
                          <a:effectLst/>
                          <a:latin typeface="+mn-lt"/>
                          <a:ea typeface="KaiTi" panose="02010609060101010101" pitchFamily="49" charset="-122"/>
                          <a:cs typeface="Arial" panose="020B0604020202020204" pitchFamily="34" charset="0"/>
                        </a:rPr>
                        <a:t>B</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2575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医疗健康</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7.8</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4,908.3x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10.15x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13.0%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9.8%</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126.7%</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451.3%</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54.3%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noFill/>
                  </a:tcPr>
                </a:tc>
                <a:extLst>
                  <a:ext uri="{0D108BD9-81ED-4DB2-BD59-A6C34878D82A}">
                    <a16:rowId xmlns:a16="http://schemas.microsoft.com/office/drawing/2014/main" val="1923135779"/>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101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挚达科技</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2650</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新能源</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4.0</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a:solidFill>
                            <a:srgbClr val="00B050"/>
                          </a:solidFill>
                          <a:effectLst/>
                          <a:latin typeface="+mn-lt"/>
                          <a:ea typeface="KaiTi" panose="02010609060101010101" pitchFamily="49" charset="-122"/>
                          <a:cs typeface="Arial" panose="020B0604020202020204" pitchFamily="34" charset="0"/>
                        </a:rPr>
                        <a:t>无超额分配</a:t>
                      </a:r>
                      <a:endParaRPr lang="zh-CN" altLang="en-US" sz="720" b="0" i="0" u="none" strike="noStrike" dirty="0">
                        <a:solidFill>
                          <a:srgbClr val="00B05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720" b="0" i="0" u="none" strike="noStrike" kern="1200" dirty="0" err="1">
                          <a:solidFill>
                            <a:srgbClr val="000000"/>
                          </a:solidFill>
                          <a:effectLst/>
                          <a:latin typeface="+mn-lt"/>
                          <a:ea typeface="KaiTi" panose="02010609060101010101" pitchFamily="49" charset="-122"/>
                          <a:cs typeface="Arial" panose="020B0604020202020204" pitchFamily="34" charset="0"/>
                        </a:rPr>
                        <a:t>5,440.8x</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720" b="0" i="0" u="none" strike="noStrike" kern="1200" dirty="0" err="1">
                          <a:solidFill>
                            <a:srgbClr val="000000"/>
                          </a:solidFill>
                          <a:effectLst/>
                          <a:latin typeface="+mn-lt"/>
                          <a:ea typeface="KaiTi" panose="02010609060101010101" pitchFamily="49" charset="-122"/>
                          <a:cs typeface="Arial" panose="020B0604020202020204" pitchFamily="34" charset="0"/>
                        </a:rPr>
                        <a:t>2.37x</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10.0%</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FF0000"/>
                          </a:solidFill>
                          <a:effectLst/>
                          <a:latin typeface="+mn-lt"/>
                          <a:ea typeface="KaiTi" panose="02010609060101010101" pitchFamily="49" charset="-122"/>
                          <a:cs typeface="Arial" panose="020B0604020202020204" pitchFamily="34" charset="0"/>
                        </a:rPr>
                        <a:t>192.1%</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172.0%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37.4%</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102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长风药业</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2652</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8</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医疗健康</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6.1</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DAB866"/>
                          </a:solidFill>
                          <a:effectLst/>
                          <a:latin typeface="+mn-lt"/>
                          <a:ea typeface="KaiTi" panose="02010609060101010101" pitchFamily="49" charset="-122"/>
                          <a:cs typeface="Arial" panose="020B0604020202020204" pitchFamily="34" charset="0"/>
                        </a:rPr>
                        <a:t>未设超额分配权</a:t>
                      </a:r>
                      <a:endParaRPr lang="zh-CN" altLang="en-US" sz="720" b="0" i="0" u="none" strike="noStrike" dirty="0">
                        <a:solidFill>
                          <a:srgbClr val="DAB866"/>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720" b="0" i="0" u="none" strike="noStrike" kern="1200">
                          <a:solidFill>
                            <a:srgbClr val="000000"/>
                          </a:solidFill>
                          <a:effectLst/>
                          <a:latin typeface="+mn-lt"/>
                          <a:ea typeface="KaiTi" panose="02010609060101010101" pitchFamily="49" charset="-122"/>
                          <a:cs typeface="Arial" panose="020B0604020202020204" pitchFamily="34" charset="0"/>
                        </a:rPr>
                        <a:t>6,697.8x</a:t>
                      </a:r>
                      <a:endParaRPr 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720" b="0" i="0" u="none" strike="noStrike" kern="1200" dirty="0" err="1">
                          <a:solidFill>
                            <a:srgbClr val="000000"/>
                          </a:solidFill>
                          <a:effectLst/>
                          <a:latin typeface="+mn-lt"/>
                          <a:ea typeface="KaiTi" panose="02010609060101010101" pitchFamily="49" charset="-122"/>
                          <a:cs typeface="Arial" panose="020B0604020202020204" pitchFamily="34" charset="0"/>
                        </a:rPr>
                        <a:t>12.74x</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10.0%</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altLang="zh-CN" sz="720" b="0" i="0" u="none" strike="noStrike" kern="1200" dirty="0">
                          <a:solidFill>
                            <a:srgbClr val="FF0000"/>
                          </a:solidFill>
                          <a:effectLst/>
                          <a:latin typeface="+mn-lt"/>
                          <a:ea typeface="KaiTi" panose="02010609060101010101" pitchFamily="49" charset="-122"/>
                          <a:cs typeface="Arial" panose="020B0604020202020204" pitchFamily="34" charset="0"/>
                        </a:rPr>
                        <a:t>161.0%</a:t>
                      </a:r>
                    </a:p>
                  </a:txBody>
                  <a:tcPr marL="6350" marR="6350" marT="635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89.8%</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32.7%</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103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博泰车联</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2889</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10.7</a:t>
                      </a:r>
                    </a:p>
                  </a:txBody>
                  <a:tcPr marL="5443" marR="5443" marT="5443"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B050"/>
                          </a:solidFill>
                          <a:effectLst/>
                          <a:latin typeface="+mn-lt"/>
                          <a:ea typeface="KaiTi" panose="02010609060101010101" pitchFamily="49" charset="-122"/>
                          <a:cs typeface="Arial" panose="020B0604020202020204" pitchFamily="34" charset="0"/>
                        </a:rPr>
                        <a:t>无超额分配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529.8x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3.72x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7.0%</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43.6%</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53.6%</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76.7%</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69.2%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104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西普尼</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2583</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消费</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3.1</a:t>
                      </a:r>
                    </a:p>
                  </a:txBody>
                  <a:tcPr marL="5443" marR="5443" marT="5443"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2,505.9x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3.90x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18.0%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258.1%</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440.5%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169.8%</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105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紫金黄金国际</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2259</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黄金</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287.3</a:t>
                      </a:r>
                    </a:p>
                  </a:txBody>
                  <a:tcPr marL="5443" marR="5443" marT="5443"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240.7x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20.38x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12.6%</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49.9%</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68.5%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85.5%</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94.2%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106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奇瑞汽车</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9973</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汽车</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104.2</a:t>
                      </a:r>
                    </a:p>
                  </a:txBody>
                  <a:tcPr marL="5443" marR="5443" marT="5443"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308.2x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11.61x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5.2%</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50.0%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3.8%</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kern="1200" dirty="0">
                          <a:solidFill>
                            <a:srgbClr val="FF0000"/>
                          </a:solidFill>
                          <a:effectLst/>
                          <a:latin typeface="+mn-lt"/>
                          <a:ea typeface="KaiTi" panose="02010609060101010101" pitchFamily="49" charset="-122"/>
                          <a:cs typeface="Arial" panose="020B0604020202020204" pitchFamily="34" charset="0"/>
                        </a:rPr>
                        <a:t>7.6%</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-8.6%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E9E6E6"/>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107</a:t>
                      </a:r>
                    </a:p>
                  </a:txBody>
                  <a:tcPr marL="0" marR="0" marT="0" marB="0" anchor="ctr">
                    <a:lnL w="12700" cap="flat" cmpd="sng" algn="ctr">
                      <a:solidFill>
                        <a:srgbClr val="E9E6E6"/>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不同集团</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6090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23</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消费</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7.8</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5443" marR="5443" marT="5443"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720" b="0" i="0" u="none" strike="noStrike">
                          <a:solidFill>
                            <a:srgbClr val="00B050"/>
                          </a:solidFill>
                          <a:effectLst/>
                          <a:latin typeface="+mn-lt"/>
                          <a:ea typeface="KaiTi" panose="02010609060101010101" pitchFamily="49" charset="-122"/>
                          <a:cs typeface="Arial" panose="020B0604020202020204" pitchFamily="34" charset="0"/>
                        </a:rPr>
                        <a:t>无超额分配</a:t>
                      </a:r>
                      <a:endParaRPr lang="zh-CN" altLang="en-US" sz="720" b="0" i="0" u="none" strike="noStrike" dirty="0">
                        <a:solidFill>
                          <a:srgbClr val="00B05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3,317.5x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7.37x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12.1%</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15.0%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44.0%</a:t>
                      </a:r>
                      <a:endParaRPr lang="en-US" altLang="zh-CN"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zh-CN" sz="720" b="0" i="0" u="none" strike="noStrike" kern="1200">
                          <a:solidFill>
                            <a:srgbClr val="FF0000"/>
                          </a:solidFill>
                          <a:effectLst/>
                          <a:latin typeface="+mn-lt"/>
                          <a:ea typeface="KaiTi" panose="02010609060101010101" pitchFamily="49" charset="-122"/>
                          <a:cs typeface="Arial" panose="020B0604020202020204" pitchFamily="34" charset="0"/>
                        </a:rPr>
                        <a:t>35.4%</a:t>
                      </a:r>
                      <a:endParaRPr lang="en-US" altLang="zh-CN" sz="720" b="0" i="0" u="none" strike="noStrike" kern="1200"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-49.5%</a:t>
                      </a:r>
                    </a:p>
                  </a:txBody>
                  <a:tcPr marL="0" marR="0" marT="0" marB="0" anchor="ctr">
                    <a:lnL>
                      <a:noFill/>
                    </a:lnL>
                    <a:lnR w="12700" cap="flat" cmpd="sng" algn="ctr">
                      <a:solidFill>
                        <a:srgbClr val="E9E6E6"/>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rgbClr val="E9E6E6"/>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108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劲方医药 </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 </a:t>
                      </a:r>
                      <a:r>
                        <a:rPr lang="en-US" sz="720" b="0" i="0" u="none" strike="noStrike" dirty="0">
                          <a:solidFill>
                            <a:srgbClr val="000000"/>
                          </a:solidFill>
                          <a:effectLst/>
                          <a:latin typeface="+mn-lt"/>
                          <a:ea typeface="KaiTi" panose="02010609060101010101" pitchFamily="49" charset="-122"/>
                          <a:cs typeface="Arial" panose="020B0604020202020204" pitchFamily="34" charset="0"/>
                        </a:rPr>
                        <a:t>B</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2595</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18.2</a:t>
                      </a:r>
                    </a:p>
                  </a:txBody>
                  <a:tcPr marL="5443" marR="5443" marT="5443"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2,662.8x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39.05x</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25.0%</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42.8%</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106.5%</a:t>
                      </a:r>
                      <a:endParaRPr lang="en-US" altLang="zh-CN"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kern="1200">
                          <a:solidFill>
                            <a:srgbClr val="FF0000"/>
                          </a:solidFill>
                          <a:effectLst/>
                          <a:latin typeface="+mn-lt"/>
                          <a:ea typeface="KaiTi" panose="02010609060101010101" pitchFamily="49" charset="-122"/>
                          <a:cs typeface="Arial" panose="020B0604020202020204" pitchFamily="34" charset="0"/>
                        </a:rPr>
                        <a:t>56.0%</a:t>
                      </a:r>
                      <a:endParaRPr lang="en-US" altLang="zh-CN" sz="720" b="0" i="0" u="none" strike="noStrike" kern="1200"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64.3%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9E6E6"/>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109</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健康</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160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2656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17</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4.0</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B050"/>
                          </a:solidFill>
                          <a:effectLst/>
                          <a:latin typeface="+mn-lt"/>
                          <a:ea typeface="KaiTi" panose="02010609060101010101" pitchFamily="49" charset="-122"/>
                          <a:cs typeface="Arial" panose="020B06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751.8x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1.92x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10.0%</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137.3%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226.5%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37.1%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110</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禾赛 </a:t>
                      </a: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 </a:t>
                      </a:r>
                      <a:r>
                        <a:rPr lang="en-US" sz="720" b="0" i="0" u="none" strike="noStrike">
                          <a:solidFill>
                            <a:srgbClr val="000000"/>
                          </a:solidFill>
                          <a:effectLst/>
                          <a:latin typeface="+mn-lt"/>
                          <a:ea typeface="KaiTi" panose="02010609060101010101" pitchFamily="49" charset="-122"/>
                          <a:cs typeface="Arial" panose="020B0604020202020204" pitchFamily="34" charset="0"/>
                        </a:rPr>
                        <a:t>W</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2525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TMT</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47.8</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168.7x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14.09x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14.4%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27.7%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10.0%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00B050"/>
                          </a:solidFill>
                          <a:effectLst/>
                          <a:latin typeface="+mn-lt"/>
                          <a:ea typeface="KaiTi" panose="02010609060101010101" pitchFamily="49" charset="-122"/>
                          <a:cs typeface="Arial" panose="020B0604020202020204" pitchFamily="34" charset="0"/>
                        </a:rPr>
                        <a:t>-14.7%</a:t>
                      </a:r>
                      <a:endParaRPr lang="en-US" altLang="zh-CN" sz="720" b="0" i="0" u="none" strike="noStrike" dirty="0">
                        <a:solidFill>
                          <a:srgbClr val="00B05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-21.6%</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111</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大行科工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2543</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消费</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3.9</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914400" rtl="0" eaLnBrk="1" fontAlgn="ctr" latinLnBrk="0" hangingPunct="1">
                        <a:buNone/>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GB" sz="720" b="0" i="0" u="none" strike="noStrike">
                          <a:solidFill>
                            <a:srgbClr val="000000"/>
                          </a:solidFill>
                          <a:effectLst/>
                          <a:latin typeface="+mn-lt"/>
                          <a:ea typeface="KaiTi" panose="02010609060101010101" pitchFamily="49" charset="-122"/>
                          <a:cs typeface="Arial" panose="020B0604020202020204" pitchFamily="34" charset="0"/>
                        </a:rPr>
                        <a:t>7,558.4x</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GB" sz="720" b="0" i="0" u="none" strike="noStrike">
                          <a:solidFill>
                            <a:srgbClr val="000000"/>
                          </a:solidFill>
                          <a:effectLst/>
                          <a:latin typeface="+mn-lt"/>
                          <a:ea typeface="KaiTi" panose="02010609060101010101" pitchFamily="49" charset="-122"/>
                          <a:cs typeface="Arial" panose="020B0604020202020204" pitchFamily="34" charset="0"/>
                        </a:rPr>
                        <a:t>21.65x</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25.4%</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14.9%</a:t>
                      </a:r>
                      <a:endParaRPr lang="en-US" altLang="zh-CN"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2.7%</a:t>
                      </a:r>
                    </a:p>
                  </a:txBody>
                  <a:tcPr marL="6350" marR="6350" marT="635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-34.1%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112</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奥克斯电气</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2580</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家庭电器</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41.5</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回拨至</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35%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en-US" sz="720" b="0" i="0" u="none" strike="noStrike" kern="1200" dirty="0" err="1">
                          <a:solidFill>
                            <a:srgbClr val="000000"/>
                          </a:solidFill>
                          <a:effectLst/>
                          <a:latin typeface="+mn-lt"/>
                          <a:ea typeface="KaiTi" panose="02010609060101010101" pitchFamily="49" charset="-122"/>
                          <a:cs typeface="Arial" panose="020B0604020202020204" pitchFamily="34" charset="0"/>
                        </a:rPr>
                        <a:t>557.2x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8.30x</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15.0%</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23.5%</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-5.4%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-20.5%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-40.7%</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103898">
                <a:tc>
                  <a:txBody>
                    <a:bodyPr/>
                    <a:lstStyle/>
                    <a:p>
                      <a:pPr algn="ctr" fontAlgn="ctr">
                        <a:buNone/>
                      </a:pPr>
                      <a:r>
                        <a:rPr lang="en-US" sz="720" b="0" i="0" u="none" strike="noStrike">
                          <a:solidFill>
                            <a:srgbClr val="000000"/>
                          </a:solidFill>
                          <a:effectLst/>
                          <a:latin typeface="+mn-lt"/>
                          <a:cs typeface="Arial" panose="020B0604020202020204" pitchFamily="34" charset="0"/>
                        </a:rPr>
                        <a:t>113</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佳鑫国际资源</a:t>
                      </a: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3858</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8</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28</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金属</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13.8</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5443" marR="5443" marT="5443"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720" b="0" i="0" u="none" strike="noStrike" kern="1200" dirty="0" err="1">
                          <a:solidFill>
                            <a:srgbClr val="000000"/>
                          </a:solidFill>
                          <a:effectLst/>
                          <a:latin typeface="+mn-lt"/>
                          <a:ea typeface="KaiTi" panose="02010609060101010101" pitchFamily="49" charset="-122"/>
                          <a:cs typeface="Arial" panose="020B0604020202020204" pitchFamily="34" charset="0"/>
                        </a:rPr>
                        <a:t>2,041.6x</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21.11x</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27.7%</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50.0%</a:t>
                      </a:r>
                    </a:p>
                  </a:txBody>
                  <a:tcPr marL="7620" marR="7620" marT="762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177.8%</a:t>
                      </a: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146.3%</a:t>
                      </a:r>
                      <a:endParaRPr lang="en-US" altLang="zh-CN"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600.5%</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E8E6E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4"/>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114</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双登股份</a:t>
                      </a:r>
                    </a:p>
                  </a:txBody>
                  <a:tcPr marL="7620" marR="7620" marT="762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6960</a:t>
                      </a:r>
                    </a:p>
                  </a:txBody>
                  <a:tcPr marL="7620" marR="7620" marT="762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8</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储能电池</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9.8</a:t>
                      </a:r>
                    </a:p>
                  </a:txBody>
                  <a:tcPr marL="5443" marR="5443" marT="5443"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3,876.3x</a:t>
                      </a:r>
                    </a:p>
                  </a:txBody>
                  <a:tcPr marL="7620" marR="7620" marT="762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18.75x</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15.8%</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28.1%</a:t>
                      </a:r>
                    </a:p>
                  </a:txBody>
                  <a:tcPr marL="7620" marR="7620" marT="762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31.3%</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19.9%</a:t>
                      </a:r>
                    </a:p>
                  </a:txBody>
                  <a:tcPr marL="0" marR="0" marT="0" marB="0" anchor="ctr">
                    <a:lnL>
                      <a:noFill/>
                    </a:lnL>
                    <a:lnR>
                      <a:noFill/>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3.2%</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E8E6E6"/>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115</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天岳先进</a:t>
                      </a: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2631</a:t>
                      </a: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8</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20</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TMT</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23.5</a:t>
                      </a:r>
                    </a:p>
                  </a:txBody>
                  <a:tcPr marL="5443" marR="5443" marT="5443"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回拨至</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35%</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marL="0" algn="ctr" defTabSz="685800" rtl="0" eaLnBrk="1" fontAlgn="ctr" latinLnBrk="0" hangingPunct="1">
                        <a:buNone/>
                      </a:pP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2,809.</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a:t>
                      </a: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x</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9.04x</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11.3%</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36.2%</a:t>
                      </a:r>
                    </a:p>
                  </a:txBody>
                  <a:tcPr marL="7620" marR="7620" marT="762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-39.6%</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6.4%</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45.6%</a:t>
                      </a:r>
                    </a:p>
                  </a:txBody>
                  <a:tcPr marL="0" marR="0" marT="0" marB="0" anchor="ctr">
                    <a:lnL>
                      <a:noFill/>
                    </a:lnL>
                    <a:lnR>
                      <a:noFill/>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156.3%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6"/>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116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银诺医药 </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 </a:t>
                      </a:r>
                      <a:r>
                        <a:rPr lang="en-US" sz="720" b="0" i="0" u="none" strike="noStrike" dirty="0">
                          <a:solidFill>
                            <a:srgbClr val="000000"/>
                          </a:solidFill>
                          <a:effectLst/>
                          <a:latin typeface="+mn-lt"/>
                          <a:ea typeface="KaiTi" panose="02010609060101010101" pitchFamily="49" charset="-122"/>
                          <a:cs typeface="Arial" panose="020B0604020202020204" pitchFamily="34" charset="0"/>
                        </a:rPr>
                        <a:t>B</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2591</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8</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6.8</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B050"/>
                          </a:solidFill>
                          <a:effectLst/>
                          <a:latin typeface="+mn-lt"/>
                          <a:ea typeface="KaiTi" panose="02010609060101010101" pitchFamily="49" charset="-122"/>
                          <a:cs typeface="Arial" panose="020B0604020202020204" pitchFamily="34" charset="0"/>
                        </a:rPr>
                        <a:t>无超额分配</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固定</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5,341.7x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10.67x</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11.5%</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206.5%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137.4%</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-35.0%</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117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中慧生物 </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 </a:t>
                      </a: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B</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2627</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8</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11</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医疗健康</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4.3</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dirty="0">
                          <a:solidFill>
                            <a:srgbClr val="DAB866"/>
                          </a:solidFill>
                          <a:effectLst/>
                          <a:latin typeface="+mn-lt"/>
                          <a:ea typeface="KaiTi" panose="02010609060101010101" pitchFamily="49" charset="-122"/>
                          <a:cs typeface="Arial" panose="020B0604020202020204" pitchFamily="34" charset="0"/>
                        </a:rPr>
                        <a:t>未设超额分配权</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4,007.6x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0.99x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8.5%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23.4%</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158.0%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kumimoji="0" lang="en-US" altLang="zh-CN" sz="720" b="0" i="0" u="none" strike="noStrike" kern="1200" cap="none" spc="0" normalizeH="0" baseline="0" noProof="0" dirty="0">
                          <a:ln>
                            <a:noFill/>
                          </a:ln>
                          <a:solidFill>
                            <a:srgbClr val="FF0000"/>
                          </a:solidFill>
                          <a:effectLst/>
                          <a:uLnTx/>
                          <a:uFillTx/>
                          <a:latin typeface="+mn-lt"/>
                          <a:ea typeface="KaiTi" panose="02010609060101010101" pitchFamily="49" charset="-122"/>
                          <a:cs typeface="Arial" panose="020B0604020202020204" pitchFamily="34" charset="0"/>
                        </a:rPr>
                        <a:t>265.0%</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127.3%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18"/>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118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维立志博</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 – B</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9887</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25</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14.8</a:t>
                      </a:r>
                    </a:p>
                  </a:txBody>
                  <a:tcPr marL="5443" marR="5443" marT="5443"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3,494.8x</a:t>
                      </a:r>
                    </a:p>
                  </a:txBody>
                  <a:tcPr marL="7620" marR="7620" marT="762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40.78x</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21.3%</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42.0%</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91.7%</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94.3%</a:t>
                      </a:r>
                    </a:p>
                  </a:txBody>
                  <a:tcPr marL="0" marR="0" marT="0" marB="0" anchor="ctr">
                    <a:lnL>
                      <a:noFill/>
                    </a:lnL>
                    <a:lnR>
                      <a:noFill/>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83.3%</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19"/>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119</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峰岹科技</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1304</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GB" sz="720" b="0" i="0" u="none" strike="noStrike">
                          <a:solidFill>
                            <a:srgbClr val="000000"/>
                          </a:solidFill>
                          <a:effectLst/>
                          <a:latin typeface="+mn-lt"/>
                          <a:ea typeface="KaiTi" panose="02010609060101010101" pitchFamily="49" charset="-122"/>
                          <a:cs typeface="Arial" panose="020B0604020202020204" pitchFamily="34" charset="0"/>
                        </a:rPr>
                        <a:t>TMT</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26.0</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138.3x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7620" marR="7620" marT="762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8.61x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18.9%</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56.2%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rtl="0"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-38.9%</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16.0%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26.4%</a:t>
                      </a:r>
                      <a:endParaRPr 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43.2%</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20"/>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120</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蓝思科技</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6613</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GB" sz="720" b="0" i="0" u="none" strike="noStrike">
                          <a:solidFill>
                            <a:srgbClr val="000000"/>
                          </a:solidFill>
                          <a:effectLst/>
                          <a:latin typeface="+mn-lt"/>
                          <a:ea typeface="KaiTi" panose="02010609060101010101" pitchFamily="49" charset="-122"/>
                          <a:cs typeface="Arial" panose="020B0604020202020204" pitchFamily="34" charset="0"/>
                        </a:rPr>
                        <a:t>TMT</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54.8</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462.8x</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7620" marR="7620" marT="762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16.68x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5.7%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31.5%</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rtl="0"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-27.6%</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9.1%</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13.4%</a:t>
                      </a:r>
                      <a:endParaRPr 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19.9%</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21"/>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121</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讯众通信</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2597</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GB" sz="720" b="0" i="0" u="none" strike="noStrike">
                          <a:solidFill>
                            <a:srgbClr val="000000"/>
                          </a:solidFill>
                          <a:effectLst/>
                          <a:latin typeface="+mn-lt"/>
                          <a:ea typeface="KaiTi" panose="02010609060101010101" pitchFamily="49" charset="-122"/>
                          <a:cs typeface="Arial" panose="020B0604020202020204" pitchFamily="34" charset="0"/>
                        </a:rPr>
                        <a:t>TMT</a:t>
                      </a:r>
                      <a:endParaRPr lang="en-GB"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4.1</a:t>
                      </a:r>
                    </a:p>
                  </a:txBody>
                  <a:tcPr marL="5443" marR="5443" marT="5443"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a:solidFill>
                            <a:srgbClr val="00B050"/>
                          </a:solidFill>
                          <a:effectLst/>
                          <a:latin typeface="+mn-lt"/>
                          <a:ea typeface="KaiTi" panose="02010609060101010101" pitchFamily="49" charset="-122"/>
                          <a:cs typeface="Arial" panose="020B0604020202020204" pitchFamily="34" charset="0"/>
                        </a:rPr>
                        <a:t>无超额分配</a:t>
                      </a:r>
                      <a:endParaRPr lang="zh-CN" altLang="en-US" sz="720" b="0" i="0" u="none" strike="noStrike" dirty="0">
                        <a:solidFill>
                          <a:srgbClr val="00B05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12.8x</a:t>
                      </a:r>
                    </a:p>
                  </a:txBody>
                  <a:tcPr marL="7620" marR="7620" marT="762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1.01x</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35.0%</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0.2%</a:t>
                      </a: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0.7%</a:t>
                      </a:r>
                      <a:endParaRPr 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224.0%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22"/>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122</a:t>
                      </a:r>
                    </a:p>
                  </a:txBody>
                  <a:tcPr marL="0" marR="0" marT="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大众口腔</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2651</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医疗健康</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2.2</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720" b="0" i="0" u="none" strike="noStrike">
                          <a:solidFill>
                            <a:srgbClr val="00B050"/>
                          </a:solidFill>
                          <a:effectLst/>
                          <a:latin typeface="+mn-lt"/>
                          <a:ea typeface="KaiTi" panose="02010609060101010101" pitchFamily="49" charset="-122"/>
                          <a:cs typeface="Arial" panose="020B0604020202020204" pitchFamily="34" charset="0"/>
                        </a:rPr>
                        <a:t>无超额分配</a:t>
                      </a:r>
                      <a:endParaRPr lang="zh-CN" altLang="en-US" sz="720" b="0" i="0" u="none" strike="noStrike" dirty="0">
                        <a:solidFill>
                          <a:srgbClr val="00B05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108.3x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0.96x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22.0%</a:t>
                      </a:r>
                      <a:endParaRPr lang="en-US" altLang="zh-CN" sz="720" b="0" i="0" u="none" strike="noStrike" dirty="0">
                        <a:solidFill>
                          <a:schemeClr val="tx1"/>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3.5%</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B050"/>
                          </a:solidFill>
                          <a:effectLst/>
                          <a:latin typeface="+mn-lt"/>
                          <a:ea typeface="KaiTi" panose="02010609060101010101" pitchFamily="49" charset="-122"/>
                          <a:cs typeface="Arial" panose="020B0604020202020204" pitchFamily="34" charset="0"/>
                        </a:rPr>
                        <a:t>-28.6%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-36.9%</a:t>
                      </a:r>
                    </a:p>
                  </a:txBody>
                  <a:tcPr marL="0" marR="0" marT="0"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3"/>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123</a:t>
                      </a:r>
                    </a:p>
                  </a:txBody>
                  <a:tcPr marL="0" marR="0" marT="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极智嘉</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2590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9</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机械</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29.9</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133.6x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30.17x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13.3%</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30.4%</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5.4%</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10.7%</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5.7%</a:t>
                      </a:r>
                    </a:p>
                  </a:txBody>
                  <a:tcPr marL="0" marR="0" marT="0"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0024"/>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124</a:t>
                      </a:r>
                    </a:p>
                  </a:txBody>
                  <a:tcPr marL="0" marR="0" marT="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富卫集团</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1828</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保险</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36.6</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2.3x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2.32x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7.6%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56.2%</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a:t>
                      </a: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1.1%</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0.3%</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-21.1%</a:t>
                      </a:r>
                    </a:p>
                  </a:txBody>
                  <a:tcPr marL="0" marR="0" marT="0"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5"/>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125</a:t>
                      </a:r>
                    </a:p>
                  </a:txBody>
                  <a:tcPr marL="0" marR="0" marT="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安井食品</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2648</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4</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零售</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24.0</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44.2x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5.85x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12.0%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29.4%</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sz="720" b="0" i="0" u="none" strike="noStrike" kern="1200">
                          <a:solidFill>
                            <a:srgbClr val="000000"/>
                          </a:solidFill>
                          <a:effectLst/>
                          <a:latin typeface="+mn-lt"/>
                          <a:ea typeface="KaiTi" panose="02010609060101010101" pitchFamily="49" charset="-122"/>
                          <a:cs typeface="Arial" panose="020B0604020202020204" pitchFamily="34" charset="0"/>
                        </a:rPr>
                        <a:t>-31.8%</a:t>
                      </a:r>
                      <a:endParaRPr 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rgbClr val="00B050"/>
                          </a:solidFill>
                          <a:effectLst/>
                          <a:latin typeface="+mn-lt"/>
                          <a:ea typeface="KaiTi" panose="02010609060101010101" pitchFamily="49" charset="-122"/>
                          <a:cs typeface="Arial" panose="020B0604020202020204" pitchFamily="34" charset="0"/>
                        </a:rPr>
                        <a:t>-5.0%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808080"/>
                          </a:solidFill>
                          <a:effectLst/>
                          <a:latin typeface="+mn-lt"/>
                          <a:ea typeface="KaiTi" panose="02010609060101010101" pitchFamily="49" charset="-122"/>
                          <a:cs typeface="Arial" panose="020B0604020202020204" pitchFamily="34" charset="0"/>
                        </a:rPr>
                        <a:t>0.0%</a:t>
                      </a:r>
                      <a:endParaRPr lang="en-US" sz="720" b="0" i="0" u="none" strike="noStrike" dirty="0">
                        <a:solidFill>
                          <a:srgbClr val="80808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40.4%</a:t>
                      </a:r>
                    </a:p>
                  </a:txBody>
                  <a:tcPr marL="0" marR="0" marT="0"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6"/>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126</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拨康视云 </a:t>
                      </a: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 </a:t>
                      </a:r>
                      <a:r>
                        <a:rPr lang="en-US" sz="720" b="0" i="0" u="none" strike="noStrike">
                          <a:solidFill>
                            <a:srgbClr val="000000"/>
                          </a:solidFill>
                          <a:effectLst/>
                          <a:latin typeface="+mn-lt"/>
                          <a:ea typeface="KaiTi" panose="02010609060101010101" pitchFamily="49" charset="-122"/>
                          <a:cs typeface="Arial" panose="020B0604020202020204" pitchFamily="34" charset="0"/>
                        </a:rPr>
                        <a:t>B</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2592</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7</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医疗健康</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6.1</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78.8x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0.89x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7.2%</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29.3%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-38.6%</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-49.5%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-86.9%</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7"/>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127</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泰德医药</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3880</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5.1</a:t>
                      </a:r>
                    </a:p>
                  </a:txBody>
                  <a:tcPr marL="5443" marR="5443" marT="544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301.2x</a:t>
                      </a:r>
                    </a:p>
                  </a:txBody>
                  <a:tcPr marL="7620" marR="7620" marT="762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2.43x</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11.9%</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15.3%</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0.7%</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15.5%</a:t>
                      </a:r>
                    </a:p>
                  </a:txBody>
                  <a:tcPr marL="0" marR="0" marT="0" marB="0"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-27.1%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2F2F2"/>
                    </a:solidFill>
                  </a:tcPr>
                </a:tc>
                <a:extLst>
                  <a:ext uri="{0D108BD9-81ED-4DB2-BD59-A6C34878D82A}">
                    <a16:rowId xmlns:a16="http://schemas.microsoft.com/office/drawing/2014/main" val="10028"/>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128</a:t>
                      </a:r>
                    </a:p>
                  </a:txBody>
                  <a:tcPr marL="0" marR="0" marT="0" marB="0" anchor="ctr">
                    <a:lnL w="6350" cap="flat" cmpd="sng" algn="ctr">
                      <a:solidFill>
                        <a:srgbClr val="C9C9C9"/>
                      </a:solid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云知声</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9678</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TMT</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3.7</a:t>
                      </a:r>
                    </a:p>
                  </a:txBody>
                  <a:tcPr marL="5443" marR="5443" marT="544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91.7x</a:t>
                      </a:r>
                    </a:p>
                  </a:txBody>
                  <a:tcPr marL="7620" marR="7620" marT="762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1.70x</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2.5%</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29.7%</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r>
                        <a:rPr lang="en-US" sz="720" b="0" i="0" u="none" strike="noStrike" kern="1200">
                          <a:solidFill>
                            <a:srgbClr val="000000"/>
                          </a:solidFill>
                          <a:effectLst/>
                          <a:latin typeface="+mn-lt"/>
                          <a:ea typeface="KaiTi" panose="02010609060101010101" pitchFamily="49" charset="-122"/>
                          <a:cs typeface="Arial" panose="020B0604020202020204" pitchFamily="34" charset="0"/>
                        </a:rPr>
                        <a:t>-</a:t>
                      </a:r>
                      <a:endParaRPr 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44.6%</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184.9%</a:t>
                      </a:r>
                    </a:p>
                  </a:txBody>
                  <a:tcPr marL="0" marR="0" marT="0" marB="0" anchor="ctr">
                    <a:lnL>
                      <a:noFill/>
                    </a:lnL>
                    <a:lnR>
                      <a:noFill/>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26.1%</a:t>
                      </a:r>
                    </a:p>
                  </a:txBody>
                  <a:tcPr marL="0" marR="0" marT="0" marB="0" anchor="ctr">
                    <a:lnL>
                      <a:noFill/>
                    </a:lnL>
                    <a:lnR w="6350" cap="flat" cmpd="sng" algn="ctr">
                      <a:solidFill>
                        <a:schemeClr val="bg2">
                          <a:lumMod val="90000"/>
                        </a:schemeClr>
                      </a:solidFill>
                      <a:prstDash val="solid"/>
                      <a:round/>
                      <a:headEnd type="none" w="med" len="med"/>
                      <a:tailEnd type="none" w="med" len="med"/>
                    </a:lnR>
                    <a:lnT w="12700" cap="flat" cmpd="sng" algn="ctr">
                      <a:solidFill>
                        <a:schemeClr val="bg2"/>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29"/>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129</a:t>
                      </a:r>
                    </a:p>
                  </a:txBody>
                  <a:tcPr marL="0" marR="0" marT="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IFBH</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6603</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日</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零售</a:t>
                      </a:r>
                      <a:endParaRPr lang="zh-CN" alt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13.3</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endParaRPr lang="zh-CN" altLang="en-US" sz="720" b="0" i="0" u="none" strike="noStrike" dirty="0">
                        <a:solidFill>
                          <a:srgbClr val="FF0000"/>
                        </a:solidFill>
                        <a:effectLst/>
                        <a:latin typeface="+mn-lt"/>
                        <a:ea typeface="KaiTi" panose="02010609060101010101" pitchFamily="49" charset="-122"/>
                        <a:cs typeface="Arial" panose="020B0604020202020204" pitchFamily="34" charset="0"/>
                      </a:endParaRP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a:solidFill>
                            <a:srgbClr val="000000"/>
                          </a:solidFill>
                          <a:effectLst/>
                          <a:latin typeface="+mn-lt"/>
                          <a:ea typeface="KaiTi" panose="02010609060101010101" pitchFamily="49" charset="-122"/>
                          <a:cs typeface="Arial" panose="020B0604020202020204" pitchFamily="34" charset="0"/>
                        </a:rPr>
                        <a:t>不适用</a:t>
                      </a:r>
                      <a:endPar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2,682.4x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22.93x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18.0%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26.7%</a:t>
                      </a:r>
                      <a:endParaRPr lang="en-US"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US" sz="720" b="0" i="0" u="none" strike="noStrike" kern="1200">
                          <a:solidFill>
                            <a:srgbClr val="000000"/>
                          </a:solidFill>
                          <a:effectLst/>
                          <a:latin typeface="+mn-lt"/>
                          <a:ea typeface="KaiTi" panose="02010609060101010101" pitchFamily="49" charset="-122"/>
                          <a:cs typeface="Arial" panose="020B0604020202020204" pitchFamily="34" charset="0"/>
                        </a:rPr>
                        <a:t>-</a:t>
                      </a:r>
                      <a:endParaRPr lang="en-US" sz="720" b="0" i="0" u="none" strike="noStrike" kern="1200"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42.1%</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33.6%</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-67.6%</a:t>
                      </a:r>
                    </a:p>
                  </a:txBody>
                  <a:tcPr marL="0" marR="0" marT="0"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30"/>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130</a:t>
                      </a:r>
                    </a:p>
                  </a:txBody>
                  <a:tcPr marL="0" marR="0" marT="0" marB="0" anchor="ctr">
                    <a:lnL w="6350" cap="flat" cmpd="sng" algn="ctr">
                      <a:solidFill>
                        <a:srgbClr val="C9C9C9"/>
                      </a:solidFill>
                      <a:prstDash val="solid"/>
                      <a:round/>
                      <a:headEnd type="none" w="med" len="med"/>
                      <a:tailEnd type="none" w="med" len="med"/>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周六福珠宝</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6168</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消费</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14.9</a:t>
                      </a:r>
                    </a:p>
                  </a:txBody>
                  <a:tcPr marL="5443" marR="5443" marT="544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711.1x</a:t>
                      </a:r>
                    </a:p>
                  </a:txBody>
                  <a:tcPr marL="7620" marR="7620" marT="762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13.55x</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14.1%</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51.0%</a:t>
                      </a:r>
                    </a:p>
                  </a:txBody>
                  <a:tcPr marL="4763" marR="4763" marT="4763"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25.0%</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61.3%</a:t>
                      </a:r>
                    </a:p>
                  </a:txBody>
                  <a:tcPr marL="0" marR="0" marT="0" marB="0" anchor="ctr">
                    <a:lnL>
                      <a:noFill/>
                    </a:lnL>
                    <a:lnR>
                      <a:noFill/>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-29.1%</a:t>
                      </a:r>
                    </a:p>
                  </a:txBody>
                  <a:tcPr marL="0" marR="0" marT="0" marB="0" anchor="ctr">
                    <a:lnL>
                      <a:noFill/>
                    </a:lnL>
                    <a:lnR w="6350" cap="flat" cmpd="sng" algn="ctr">
                      <a:solidFill>
                        <a:schemeClr val="bg2">
                          <a:lumMod val="9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chemeClr val="bg1"/>
                    </a:solidFill>
                  </a:tcPr>
                </a:tc>
                <a:extLst>
                  <a:ext uri="{0D108BD9-81ED-4DB2-BD59-A6C34878D82A}">
                    <a16:rowId xmlns:a16="http://schemas.microsoft.com/office/drawing/2014/main" val="10031"/>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131</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颖通控股</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6883</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零售</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9.6</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35.8x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3.50x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rgbClr val="00B050"/>
                          </a:solidFill>
                          <a:effectLst/>
                          <a:latin typeface="+mn-lt"/>
                          <a:ea typeface="KaiTi" panose="02010609060101010101" pitchFamily="49" charset="-122"/>
                          <a:cs typeface="Arial" panose="020B0604020202020204" pitchFamily="34" charset="0"/>
                        </a:rPr>
                        <a:t>-16.7%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B050"/>
                          </a:solidFill>
                          <a:effectLst/>
                          <a:latin typeface="+mn-lt"/>
                          <a:ea typeface="KaiTi" panose="02010609060101010101" pitchFamily="49" charset="-122"/>
                          <a:cs typeface="Arial" panose="020B0604020202020204" pitchFamily="34" charset="0"/>
                        </a:rPr>
                        <a:t>-29.5%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-29.5%</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32"/>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132</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圣贝拉</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2508</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医疗健康</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8.0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193.0x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15.59x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19.6%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51.8%</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33.7%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9.0%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-39.5%</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33"/>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133</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曹操出行</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a:solidFill>
                            <a:srgbClr val="000000"/>
                          </a:solidFill>
                          <a:effectLst/>
                          <a:latin typeface="+mn-lt"/>
                          <a:ea typeface="KaiTi" panose="02010609060101010101" pitchFamily="49" charset="-122"/>
                          <a:cs typeface="Arial" panose="020B0604020202020204" pitchFamily="34" charset="0"/>
                        </a:rPr>
                        <a:t>2643</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TMT</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18.5</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buNone/>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21.0x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2.78x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8.1%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51.3%</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-14.2%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-3.6%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-31.8%</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34"/>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134</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香江电器</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2619</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a:solidFill>
                            <a:srgbClr val="000000"/>
                          </a:solidFill>
                          <a:effectLst/>
                          <a:latin typeface="+mn-lt"/>
                          <a:ea typeface="KaiTi" panose="02010609060101010101" pitchFamily="49" charset="-122"/>
                          <a:cs typeface="Arial" panose="020B0604020202020204" pitchFamily="34" charset="0"/>
                        </a:rPr>
                        <a:t>消费</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a:solidFill>
                            <a:srgbClr val="00B050"/>
                          </a:solidFill>
                          <a:effectLst/>
                          <a:latin typeface="+mn-lt"/>
                          <a:ea typeface="KaiTi" panose="02010609060101010101" pitchFamily="49" charset="-122"/>
                          <a:cs typeface="Arial" panose="020B06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852.4x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1.08x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44.0%</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-11.9%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-16.1%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-46.5%</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35"/>
                  </a:ext>
                </a:extLst>
              </a:tr>
              <a:tr h="103898">
                <a:tc>
                  <a:txBody>
                    <a:bodyPr/>
                    <a:lstStyle/>
                    <a:p>
                      <a:pPr algn="ctr" fontAlgn="ctr">
                        <a:buNone/>
                      </a:pPr>
                      <a:r>
                        <a:rPr lang="en-US" sz="720" b="0" i="0" u="none" strike="noStrike">
                          <a:solidFill>
                            <a:srgbClr val="000000"/>
                          </a:solidFill>
                          <a:effectLst/>
                          <a:latin typeface="+mn-lt"/>
                          <a:cs typeface="Arial" panose="020B0604020202020204" pitchFamily="34" charset="0"/>
                        </a:rPr>
                        <a:t>135</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佰泽医疗</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2609</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23</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5.6</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25.9x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0.98x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10.1%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26.5%</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42.2%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57.1%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26.5%</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36"/>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136</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药捷</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安康 </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 </a:t>
                      </a: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B</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2617</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23</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B050"/>
                          </a:solidFill>
                          <a:effectLst/>
                          <a:latin typeface="+mn-lt"/>
                          <a:ea typeface="KaiTi" panose="02010609060101010101" pitchFamily="49" charset="-122"/>
                          <a:cs typeface="Arial" panose="020B06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0000"/>
                          </a:solidFill>
                          <a:effectLst/>
                          <a:latin typeface="+mn-lt"/>
                          <a:ea typeface="KaiTi" panose="02010609060101010101" pitchFamily="49" charset="-122"/>
                          <a:cs typeface="Arial" panose="020B0604020202020204" pitchFamily="34" charset="0"/>
                        </a:rPr>
                        <a:t>3,419.9x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0.97x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3.9%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dirty="0">
                          <a:solidFill>
                            <a:srgbClr val="000000"/>
                          </a:solidFill>
                          <a:effectLst/>
                          <a:latin typeface="+mn-lt"/>
                          <a:ea typeface="KaiTi" panose="02010609060101010101" pitchFamily="49" charset="-122"/>
                          <a:cs typeface="Arial" panose="020B0604020202020204" pitchFamily="34" charset="0"/>
                        </a:rPr>
                        <a:t>64.1%</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78.7%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138.8%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225.8%</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37"/>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137</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三花智控</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2050</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23</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制造</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107.4</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747.9x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23.57x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10.0%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47.2%</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rtl="0" fontAlgn="ctr"/>
                      <a:r>
                        <a:rPr lang="en-US" sz="720" b="0" i="0" u="none" strike="noStrike" kern="1200" dirty="0">
                          <a:solidFill>
                            <a:srgbClr val="000000"/>
                          </a:solidFill>
                          <a:effectLst/>
                          <a:latin typeface="+mn-lt"/>
                          <a:ea typeface="KaiTi" panose="02010609060101010101" pitchFamily="49" charset="-122"/>
                          <a:cs typeface="Arial" panose="020B0604020202020204" pitchFamily="34" charset="0"/>
                        </a:rPr>
                        <a:t>-21.0%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-0.1%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26.5%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60.6%</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38"/>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138</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海天味业</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3288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19</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消费</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105.7</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918.2x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dirty="0">
                          <a:solidFill>
                            <a:srgbClr val="000000"/>
                          </a:solidFill>
                          <a:effectLst/>
                          <a:latin typeface="+mn-lt"/>
                          <a:ea typeface="KaiTi" panose="02010609060101010101" pitchFamily="49" charset="-122"/>
                          <a:cs typeface="Arial" panose="020B0604020202020204" pitchFamily="34" charset="0"/>
                        </a:rPr>
                        <a:t>22.93x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4.8%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rtl="0"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-17.2%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0.6%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-1.7%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-14.9%</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39"/>
                  </a:ext>
                </a:extLst>
              </a:tr>
              <a:tr h="101767">
                <a:tc>
                  <a:txBody>
                    <a:bodyPr/>
                    <a:lstStyle/>
                    <a:p>
                      <a:pPr algn="ctr" fontAlgn="ctr">
                        <a:buNone/>
                      </a:pPr>
                      <a:r>
                        <a:rPr lang="en-US" sz="720" b="0" i="0" u="none" strike="noStrike">
                          <a:solidFill>
                            <a:srgbClr val="000000"/>
                          </a:solidFill>
                          <a:effectLst/>
                          <a:latin typeface="+mn-lt"/>
                          <a:cs typeface="Arial" panose="020B0604020202020204" pitchFamily="34" charset="0"/>
                        </a:rPr>
                        <a:t>139</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元光科技</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2605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TMT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2.4</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274.4x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2.49x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16.1%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-30.3%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-37.8%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-86.9%</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0"/>
                  </a:ext>
                </a:extLst>
              </a:tr>
              <a:tr h="103366">
                <a:tc>
                  <a:txBody>
                    <a:bodyPr/>
                    <a:lstStyle/>
                    <a:p>
                      <a:pPr algn="ctr" fontAlgn="ctr">
                        <a:buNone/>
                      </a:pPr>
                      <a:r>
                        <a:rPr lang="en-US" sz="720" b="0" i="0" u="none" strike="noStrike">
                          <a:solidFill>
                            <a:srgbClr val="000000"/>
                          </a:solidFill>
                          <a:effectLst/>
                          <a:latin typeface="+mn-lt"/>
                          <a:cs typeface="Arial" panose="020B0604020202020204" pitchFamily="34" charset="0"/>
                        </a:rPr>
                        <a:t>140</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容大合众</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9881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TMT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1.8</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B050"/>
                          </a:solidFill>
                          <a:effectLst/>
                          <a:latin typeface="+mn-lt"/>
                          <a:ea typeface="KaiTi" panose="02010609060101010101" pitchFamily="49" charset="-122"/>
                          <a:cs typeface="Arial" panose="020B06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276.0x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0.96x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19.4%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43.6%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42.0%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3.0%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77.0%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1"/>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141</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新琪安集团</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2573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6</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10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化学品</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a:solidFill>
                            <a:srgbClr val="00B050"/>
                          </a:solidFill>
                          <a:effectLst/>
                          <a:latin typeface="+mn-lt"/>
                          <a:ea typeface="KaiTi" panose="02010609060101010101" pitchFamily="49" charset="-122"/>
                          <a:cs typeface="Arial" panose="020B0604020202020204" pitchFamily="34" charset="0"/>
                        </a:rPr>
                        <a:t>无超额分配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149.4x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0.93x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11.0%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28.2%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-34.6%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-73.4%</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2"/>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142</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手回集团</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2621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5</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30</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保险</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2.0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a:solidFill>
                            <a:srgbClr val="2867A0"/>
                          </a:solidFill>
                          <a:effectLst/>
                          <a:latin typeface="+mn-lt"/>
                          <a:ea typeface="KaiTi" panose="02010609060101010101" pitchFamily="49" charset="-122"/>
                          <a:cs typeface="Arial" panose="020B0604020202020204" pitchFamily="34" charset="0"/>
                        </a:rPr>
                        <a:t>部分超额分配（</a:t>
                      </a:r>
                      <a:r>
                        <a:rPr lang="en-US" altLang="zh-CN" sz="720" b="0" i="0" u="none" strike="noStrike">
                          <a:solidFill>
                            <a:srgbClr val="2867A0"/>
                          </a:solidFill>
                          <a:effectLst/>
                          <a:latin typeface="+mn-lt"/>
                          <a:ea typeface="KaiTi" panose="02010609060101010101" pitchFamily="49" charset="-122"/>
                          <a:cs typeface="Arial" panose="020B0604020202020204" pitchFamily="34" charset="0"/>
                        </a:rPr>
                        <a:t>10.0%</a:t>
                      </a:r>
                      <a:r>
                        <a:rPr lang="zh-CN" altLang="en-US" sz="720" b="0" i="0" u="none" strike="noStrike">
                          <a:solidFill>
                            <a:srgbClr val="2867A0"/>
                          </a:solidFill>
                          <a:effectLst/>
                          <a:latin typeface="+mn-lt"/>
                          <a:ea typeface="KaiTi" panose="02010609060101010101" pitchFamily="49" charset="-122"/>
                          <a:cs typeface="Arial" panose="020B0604020202020204" pitchFamily="34" charset="0"/>
                        </a:rPr>
                        <a:t>）</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990.0x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1.13x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10.8%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24.9%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-18.2%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-39.5%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-58.8%</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3"/>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143</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派格生物 </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 B</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kern="1200">
                          <a:solidFill>
                            <a:srgbClr val="000000"/>
                          </a:solidFill>
                          <a:effectLst/>
                          <a:latin typeface="+mn-lt"/>
                          <a:ea typeface="KaiTi" panose="02010609060101010101" pitchFamily="49" charset="-122"/>
                          <a:cs typeface="Arial" panose="020B0604020202020204" pitchFamily="34" charset="0"/>
                        </a:rPr>
                        <a:t>2565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5</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27</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3.0</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743.8x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1.13x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49.7%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rtl="0"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00B050"/>
                          </a:solidFill>
                          <a:effectLst/>
                          <a:latin typeface="+mn-lt"/>
                          <a:ea typeface="KaiTi" panose="02010609060101010101" pitchFamily="49" charset="-122"/>
                          <a:cs typeface="Arial" panose="020B0604020202020204" pitchFamily="34" charset="0"/>
                        </a:rPr>
                        <a:t>-25.9%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ea typeface="KaiTi" panose="02010609060101010101" pitchFamily="49" charset="-122"/>
                          <a:cs typeface="Arial" panose="020B0604020202020204" pitchFamily="34" charset="0"/>
                        </a:rPr>
                        <a:t>-36.0%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-17.1%</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4"/>
                  </a:ext>
                </a:extLst>
              </a:tr>
              <a:tr h="102833">
                <a:tc>
                  <a:txBody>
                    <a:bodyPr/>
                    <a:lstStyle/>
                    <a:p>
                      <a:pPr algn="ctr" fontAlgn="ctr">
                        <a:buNone/>
                      </a:pPr>
                      <a:r>
                        <a:rPr lang="en-US" sz="720" b="0" i="0" u="none" strike="noStrike">
                          <a:solidFill>
                            <a:srgbClr val="000000"/>
                          </a:solidFill>
                          <a:effectLst/>
                          <a:latin typeface="+mn-lt"/>
                          <a:cs typeface="Arial" panose="020B0604020202020204" pitchFamily="34" charset="0"/>
                        </a:rPr>
                        <a:t>144</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吉宏科技</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2603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5</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27</a:t>
                      </a: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algn="ctr" defTabSz="685800" rtl="0" eaLnBrk="1" fontAlgn="ctr" latinLnBrk="0" hangingPunct="1"/>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印刷包装</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5.2</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49.4x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1.62x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29.8%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rtl="0"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-51.4%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39.1%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FF0000"/>
                          </a:solidFill>
                          <a:effectLst/>
                          <a:latin typeface="+mn-lt"/>
                          <a:ea typeface="KaiTi" panose="02010609060101010101" pitchFamily="49" charset="-122"/>
                          <a:cs typeface="Arial" panose="020B0604020202020204" pitchFamily="34" charset="0"/>
                        </a:rPr>
                        <a:t>53.9%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107.0%</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5"/>
                  </a:ext>
                </a:extLst>
              </a:tr>
              <a:tr h="102300">
                <a:tc>
                  <a:txBody>
                    <a:bodyPr/>
                    <a:lstStyle/>
                    <a:p>
                      <a:pPr algn="ctr" fontAlgn="ctr">
                        <a:buNone/>
                      </a:pPr>
                      <a:r>
                        <a:rPr lang="en-US" sz="720" b="0" i="0" u="none" strike="noStrike">
                          <a:solidFill>
                            <a:srgbClr val="000000"/>
                          </a:solidFill>
                          <a:effectLst/>
                          <a:latin typeface="+mn-lt"/>
                          <a:cs typeface="Arial" panose="020B0604020202020204" pitchFamily="34" charset="0"/>
                        </a:rPr>
                        <a:t>145</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GB" sz="720" b="0" i="0" u="none" strike="noStrike" dirty="0">
                          <a:solidFill>
                            <a:srgbClr val="000000"/>
                          </a:solidFill>
                          <a:effectLst/>
                          <a:latin typeface="+mn-lt"/>
                          <a:ea typeface="KaiTi" panose="02010609060101010101" pitchFamily="49" charset="-122"/>
                          <a:cs typeface="Arial" panose="020B0604020202020204" pitchFamily="34" charset="0"/>
                        </a:rPr>
                        <a:t>MIRXES </a:t>
                      </a:r>
                      <a:r>
                        <a:rPr lang="en-US" altLang="zh-CN" sz="720" b="0" i="0" u="none" strike="noStrike" kern="1200" dirty="0">
                          <a:solidFill>
                            <a:srgbClr val="000000"/>
                          </a:solidFill>
                          <a:effectLst/>
                          <a:latin typeface="+mn-lt"/>
                          <a:ea typeface="KaiTi" panose="02010609060101010101" pitchFamily="49" charset="-122"/>
                          <a:cs typeface="Arial" panose="020B0604020202020204" pitchFamily="34" charset="0"/>
                        </a:rPr>
                        <a:t>–</a:t>
                      </a:r>
                      <a:r>
                        <a:rPr lang="en-GB" sz="720" b="0" i="0" u="none" strike="noStrike" dirty="0">
                          <a:solidFill>
                            <a:srgbClr val="000000"/>
                          </a:solidFill>
                          <a:effectLst/>
                          <a:latin typeface="+mn-lt"/>
                          <a:ea typeface="KaiTi" panose="02010609060101010101" pitchFamily="49" charset="-122"/>
                          <a:cs typeface="Arial" panose="020B0604020202020204" pitchFamily="34" charset="0"/>
                        </a:rPr>
                        <a:t> B</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2629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23</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10.9</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zh-CN" altLang="en-US" sz="720" b="0" i="0" u="none" strike="noStrike" dirty="0">
                          <a:solidFill>
                            <a:srgbClr val="DAB866"/>
                          </a:solidFill>
                          <a:effectLst/>
                          <a:latin typeface="+mn-lt"/>
                          <a:ea typeface="KaiTi" panose="02010609060101010101" pitchFamily="49" charset="-122"/>
                          <a:cs typeface="Arial" panose="020B0604020202020204" pitchFamily="34" charset="0"/>
                        </a:rPr>
                        <a:t>未设超额分配权</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err="1">
                          <a:solidFill>
                            <a:srgbClr val="000000"/>
                          </a:solidFill>
                          <a:effectLst/>
                          <a:latin typeface="+mn-lt"/>
                          <a:ea typeface="KaiTi" panose="02010609060101010101" pitchFamily="49" charset="-122"/>
                          <a:cs typeface="Arial" panose="020B0604020202020204" pitchFamily="34" charset="0"/>
                        </a:rPr>
                        <a:t>25.5x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GB" sz="720" b="0" i="0" u="none" strike="noStrike" dirty="0" err="1">
                          <a:solidFill>
                            <a:srgbClr val="000000"/>
                          </a:solidFill>
                          <a:effectLst/>
                          <a:latin typeface="+mn-lt"/>
                          <a:ea typeface="KaiTi" panose="02010609060101010101" pitchFamily="49" charset="-122"/>
                          <a:cs typeface="Arial" panose="020B0604020202020204" pitchFamily="34" charset="0"/>
                        </a:rPr>
                        <a:t>0.98x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16.9%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41.4%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altLang="zh-CN" sz="720" b="0" i="0" u="none" strike="noStrike" dirty="0">
                          <a:solidFill>
                            <a:srgbClr val="FF0000"/>
                          </a:solidFill>
                          <a:effectLst/>
                          <a:latin typeface="+mn-lt"/>
                          <a:ea typeface="KaiTi" panose="02010609060101010101" pitchFamily="49" charset="-122"/>
                          <a:cs typeface="Arial" panose="020B0604020202020204" pitchFamily="34" charset="0"/>
                        </a:rPr>
                        <a:t>28.8%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44.4%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tc>
                  <a:txBody>
                    <a:bodyPr/>
                    <a:lstStyle/>
                    <a:p>
                      <a:pPr algn="ctr" fontAlgn="ctr">
                        <a:buNone/>
                      </a:pPr>
                      <a:r>
                        <a:rPr lang="en-US" sz="720" b="0" i="0" u="none" strike="noStrike" dirty="0">
                          <a:solidFill>
                            <a:srgbClr val="00B050"/>
                          </a:solidFill>
                          <a:effectLst/>
                          <a:latin typeface="+mn-lt"/>
                          <a:cs typeface="Arial" panose="020B0604020202020204" pitchFamily="34" charset="0"/>
                        </a:rPr>
                        <a:t>-46.7%</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2F2F2"/>
                    </a:solidFill>
                  </a:tcPr>
                </a:tc>
                <a:extLst>
                  <a:ext uri="{0D108BD9-81ED-4DB2-BD59-A6C34878D82A}">
                    <a16:rowId xmlns:a16="http://schemas.microsoft.com/office/drawing/2014/main" val="10046"/>
                  </a:ext>
                </a:extLst>
              </a:tr>
              <a:tr h="102833">
                <a:tc>
                  <a:txBody>
                    <a:bodyPr/>
                    <a:lstStyle/>
                    <a:p>
                      <a:pPr algn="ctr" fontAlgn="ctr">
                        <a:buNone/>
                      </a:pPr>
                      <a:r>
                        <a:rPr lang="en-US" sz="720" b="0" i="0" u="none" strike="noStrike" dirty="0">
                          <a:solidFill>
                            <a:srgbClr val="000000"/>
                          </a:solidFill>
                          <a:effectLst/>
                          <a:latin typeface="+mn-lt"/>
                          <a:cs typeface="Arial" panose="020B0604020202020204" pitchFamily="34" charset="0"/>
                        </a:rPr>
                        <a:t>146</a:t>
                      </a: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恒瑞医药</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1276</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5</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月</a:t>
                      </a: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23</a:t>
                      </a: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日</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000000"/>
                          </a:solidFill>
                          <a:effectLst/>
                          <a:latin typeface="+mn-lt"/>
                          <a:ea typeface="KaiTi" panose="02010609060101010101" pitchFamily="49" charset="-122"/>
                          <a:cs typeface="Arial" panose="020B0604020202020204" pitchFamily="34" charset="0"/>
                        </a:rPr>
                        <a:t>医疗健康</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chemeClr val="tx1"/>
                          </a:solidFill>
                          <a:effectLst/>
                          <a:latin typeface="+mn-lt"/>
                          <a:ea typeface="KaiTi" panose="02010609060101010101" pitchFamily="49" charset="-122"/>
                          <a:cs typeface="Arial" panose="020B0604020202020204" pitchFamily="34" charset="0"/>
                        </a:rPr>
                        <a:t>113.7</a:t>
                      </a:r>
                    </a:p>
                  </a:txBody>
                  <a:tcPr marL="5443" marR="5443" marT="544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CN" altLang="en-US" sz="720" b="0" i="0" u="none" strike="noStrike" dirty="0">
                          <a:solidFill>
                            <a:srgbClr val="FF0000"/>
                          </a:solidFill>
                          <a:effectLst/>
                          <a:latin typeface="+mn-lt"/>
                          <a:ea typeface="KaiTi" panose="02010609060101010101" pitchFamily="49" charset="-122"/>
                          <a:cs typeface="Arial" panose="020B0604020202020204" pitchFamily="34" charset="0"/>
                        </a:rPr>
                        <a:t>满超额分配</a:t>
                      </a:r>
                    </a:p>
                  </a:txBody>
                  <a:tcPr marL="4763" marR="4763" marT="476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defRPr/>
                      </a:pPr>
                      <a:r>
                        <a:rPr lang="zh-CN" altLang="en-US" sz="720" b="0" i="0" u="none" strike="noStrike" kern="1200" dirty="0">
                          <a:solidFill>
                            <a:srgbClr val="000000"/>
                          </a:solidFill>
                          <a:effectLst/>
                          <a:latin typeface="+mn-lt"/>
                          <a:ea typeface="KaiTi" panose="02010609060101010101" pitchFamily="49" charset="-122"/>
                          <a:cs typeface="Arial" panose="020B0604020202020204" pitchFamily="34" charset="0"/>
                        </a:rPr>
                        <a:t>不适用</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a:solidFill>
                            <a:srgbClr val="000000"/>
                          </a:solidFill>
                          <a:effectLst/>
                          <a:latin typeface="+mn-lt"/>
                          <a:ea typeface="KaiTi" panose="02010609060101010101" pitchFamily="49" charset="-122"/>
                          <a:cs typeface="Arial" panose="020B0604020202020204" pitchFamily="34" charset="0"/>
                        </a:rPr>
                        <a:t>454.9x</a:t>
                      </a:r>
                    </a:p>
                  </a:txBody>
                  <a:tcPr marL="7620" marR="7620" marT="762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GB" sz="720" b="0" i="0" u="none" strike="noStrike">
                          <a:solidFill>
                            <a:srgbClr val="000000"/>
                          </a:solidFill>
                          <a:effectLst/>
                          <a:latin typeface="+mn-lt"/>
                          <a:ea typeface="KaiTi" panose="02010609060101010101" pitchFamily="49" charset="-122"/>
                          <a:cs typeface="Arial" panose="020B0604020202020204" pitchFamily="34" charset="0"/>
                        </a:rPr>
                        <a:t>17.09x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dirty="0">
                          <a:solidFill>
                            <a:schemeClr val="tx1"/>
                          </a:solidFill>
                          <a:effectLst/>
                          <a:latin typeface="+mn-lt"/>
                          <a:ea typeface="KaiTi" panose="02010609060101010101" pitchFamily="49" charset="-122"/>
                          <a:cs typeface="Arial" panose="020B0604020202020204" pitchFamily="34" charset="0"/>
                        </a:rPr>
                        <a:t>3.4%</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41.8%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rtl="0" fontAlgn="ctr"/>
                      <a:r>
                        <a:rPr lang="en-US" altLang="zh-CN" sz="720" b="0" i="0" u="none" strike="noStrike" dirty="0">
                          <a:solidFill>
                            <a:srgbClr val="000000"/>
                          </a:solidFill>
                          <a:effectLst/>
                          <a:latin typeface="+mn-lt"/>
                          <a:ea typeface="KaiTi" panose="02010609060101010101" pitchFamily="49" charset="-122"/>
                          <a:cs typeface="Arial" panose="020B0604020202020204" pitchFamily="34" charset="0"/>
                        </a:rPr>
                        <a:t>-24.1%</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altLang="zh-CN" sz="720" b="0" i="0" u="none" strike="noStrike">
                          <a:solidFill>
                            <a:srgbClr val="FF0000"/>
                          </a:solidFill>
                          <a:effectLst/>
                          <a:latin typeface="+mn-lt"/>
                          <a:ea typeface="KaiTi" panose="02010609060101010101" pitchFamily="49" charset="-122"/>
                          <a:cs typeface="Arial" panose="020B0604020202020204" pitchFamily="34" charset="0"/>
                        </a:rPr>
                        <a:t>25.2%</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ea typeface="KaiTi" panose="02010609060101010101" pitchFamily="49" charset="-122"/>
                          <a:cs typeface="Arial" panose="020B0604020202020204" pitchFamily="34" charset="0"/>
                        </a:rPr>
                        <a:t>26.8%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0" i="0" u="none" strike="noStrike" dirty="0">
                          <a:solidFill>
                            <a:srgbClr val="FF0000"/>
                          </a:solidFill>
                          <a:effectLst/>
                          <a:latin typeface="+mn-lt"/>
                          <a:cs typeface="Arial" panose="020B0604020202020204" pitchFamily="34" charset="0"/>
                        </a:rPr>
                        <a:t>39.3%</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047"/>
                  </a:ext>
                </a:extLst>
              </a:tr>
              <a:tr h="93526">
                <a:tc>
                  <a:txBody>
                    <a:bodyPr/>
                    <a:lstStyle/>
                    <a:p>
                      <a:pPr algn="ctr" fontAlgn="ctr">
                        <a:buNone/>
                      </a:pP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1" i="0" u="none" strike="noStrike" baseline="0" dirty="0">
                        <a:solidFill>
                          <a:srgbClr val="000000"/>
                        </a:solidFill>
                        <a:effectLst/>
                        <a:latin typeface="+mn-lt"/>
                        <a:ea typeface="KaiTi" panose="02010609060101010101" pitchFamily="49" charset="-122"/>
                        <a:cs typeface="Arial" panose="020B06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1" i="0" u="none" strike="noStrike" baseline="0" dirty="0">
                        <a:solidFill>
                          <a:srgbClr val="000000"/>
                        </a:solidFill>
                        <a:effectLst/>
                        <a:latin typeface="+mn-lt"/>
                        <a:ea typeface="KaiTi" panose="02010609060101010101" pitchFamily="49" charset="-122"/>
                        <a:cs typeface="Arial" panose="020B06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HK" altLang="en-US" sz="720" b="1" i="0" u="none" strike="noStrike" baseline="0" dirty="0">
                          <a:solidFill>
                            <a:srgbClr val="000000"/>
                          </a:solidFill>
                          <a:effectLst/>
                          <a:latin typeface="+mn-lt"/>
                          <a:ea typeface="KaiTi" panose="02010609060101010101" pitchFamily="49" charset="-122"/>
                          <a:cs typeface="Arial" panose="020B0604020202020204" pitchFamily="34" charset="0"/>
                          <a:sym typeface="Arial" panose="020B0704020202020204" pitchFamily="34" charset="0"/>
                        </a:rPr>
                        <a:t>平均</a:t>
                      </a: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1" i="0" u="none" strike="noStrike" dirty="0">
                          <a:solidFill>
                            <a:srgbClr val="000000"/>
                          </a:solidFill>
                          <a:effectLst/>
                          <a:latin typeface="+mn-lt"/>
                          <a:cs typeface="Arial" panose="020B0604020202020204" pitchFamily="34" charset="0"/>
                        </a:rPr>
                        <a:t>1,950.6x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rgbClr val="000000"/>
                          </a:solidFill>
                          <a:effectLst/>
                          <a:latin typeface="+mn-lt"/>
                          <a:cs typeface="Arial" panose="020B0604020202020204" pitchFamily="34" charset="0"/>
                        </a:rPr>
                        <a:t>11.07x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chemeClr val="tx1"/>
                          </a:solidFill>
                          <a:effectLst/>
                          <a:latin typeface="+mn-lt"/>
                          <a:cs typeface="Arial" panose="020B0604020202020204" pitchFamily="34" charset="0"/>
                        </a:rPr>
                        <a:t>12.5%</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a:solidFill>
                            <a:schemeClr val="tx1"/>
                          </a:solidFill>
                          <a:effectLst/>
                          <a:latin typeface="+mn-lt"/>
                          <a:cs typeface="Arial" panose="020B0604020202020204" pitchFamily="34" charset="0"/>
                        </a:rPr>
                        <a:t>37.7%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chemeClr val="tx1"/>
                          </a:solidFill>
                          <a:effectLst/>
                          <a:latin typeface="+mn-lt"/>
                          <a:cs typeface="Arial" panose="020B0604020202020204" pitchFamily="34" charset="0"/>
                        </a:rPr>
                        <a:t>-34.0%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a:solidFill>
                            <a:srgbClr val="FF0000"/>
                          </a:solidFill>
                          <a:effectLst/>
                          <a:latin typeface="+mn-lt"/>
                          <a:cs typeface="Arial" panose="020B0604020202020204" pitchFamily="34" charset="0"/>
                        </a:rPr>
                        <a:t>45.3%</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a:solidFill>
                            <a:srgbClr val="FF0000"/>
                          </a:solidFill>
                          <a:effectLst/>
                          <a:latin typeface="+mn-lt"/>
                          <a:cs typeface="Arial" panose="020B0604020202020204" pitchFamily="34" charset="0"/>
                        </a:rPr>
                        <a:t>52.9%</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rgbClr val="FF0000"/>
                          </a:solidFill>
                          <a:effectLst/>
                          <a:latin typeface="+mn-lt"/>
                          <a:cs typeface="Arial" panose="020B0604020202020204" pitchFamily="34" charset="0"/>
                        </a:rPr>
                        <a:t>55.6%</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extLst>
                  <a:ext uri="{0D108BD9-81ED-4DB2-BD59-A6C34878D82A}">
                    <a16:rowId xmlns:a16="http://schemas.microsoft.com/office/drawing/2014/main" val="10048"/>
                  </a:ext>
                </a:extLst>
              </a:tr>
              <a:tr h="93526">
                <a:tc>
                  <a:txBody>
                    <a:bodyPr/>
                    <a:lstStyle/>
                    <a:p>
                      <a:pPr algn="ctr" fontAlgn="ctr">
                        <a:buNone/>
                      </a:pPr>
                      <a:endParaRPr lang="en-US" altLang="zh-CN" sz="720" b="0" i="0" u="none" strike="noStrike" dirty="0">
                        <a:solidFill>
                          <a:srgbClr val="000000"/>
                        </a:solidFill>
                        <a:effectLst/>
                        <a:latin typeface="+mn-lt"/>
                        <a:ea typeface="KaiTi" panose="02010609060101010101" pitchFamily="49" charset="-122"/>
                        <a:cs typeface="Arial" panose="020B0604020202020204" pitchFamily="34" charset="0"/>
                      </a:endParaRPr>
                    </a:p>
                  </a:txBody>
                  <a:tcPr marL="0" marR="0" marT="0" marB="0" anchor="ctr">
                    <a:lnL w="6350" cap="flat" cmpd="sng" algn="ctr">
                      <a:solidFill>
                        <a:srgbClr val="C9C9C9"/>
                      </a:solidFill>
                      <a:prstDash val="solid"/>
                      <a:round/>
                      <a:headEnd type="none" w="med" len="med"/>
                      <a:tailEnd type="none" w="med" len="med"/>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0" i="0" u="none" strike="noStrike" baseline="0" dirty="0">
                        <a:solidFill>
                          <a:srgbClr val="000000"/>
                        </a:solidFill>
                        <a:effectLst/>
                        <a:latin typeface="+mn-lt"/>
                        <a:ea typeface="KaiTi" panose="02010609060101010101" pitchFamily="49" charset="-122"/>
                        <a:cs typeface="Arial" panose="020B06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1" i="0" u="none" strike="noStrike" baseline="0" dirty="0">
                        <a:solidFill>
                          <a:srgbClr val="000000"/>
                        </a:solidFill>
                        <a:effectLst/>
                        <a:latin typeface="+mn-lt"/>
                        <a:ea typeface="KaiTi" panose="02010609060101010101" pitchFamily="49" charset="-122"/>
                        <a:cs typeface="Arial" panose="020B06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endParaRPr lang="zh-HK" altLang="en-US" sz="720" b="1" i="0" u="none" strike="noStrike" baseline="0" dirty="0">
                        <a:solidFill>
                          <a:srgbClr val="000000"/>
                        </a:solidFill>
                        <a:effectLst/>
                        <a:latin typeface="+mn-lt"/>
                        <a:ea typeface="KaiTi" panose="02010609060101010101" pitchFamily="49" charset="-122"/>
                        <a:cs typeface="Arial" panose="020B0604020202020204" pitchFamily="34" charset="0"/>
                        <a:sym typeface="Arial" panose="020B0704020202020204" pitchFamily="34" charset="0"/>
                      </a:endParaRP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r>
                        <a:rPr lang="zh-HK" altLang="en-US" sz="720" b="1" i="0" u="none" strike="noStrike" baseline="0" dirty="0">
                          <a:solidFill>
                            <a:srgbClr val="000000"/>
                          </a:solidFill>
                          <a:effectLst/>
                          <a:latin typeface="+mn-lt"/>
                          <a:ea typeface="KaiTi" panose="02010609060101010101" pitchFamily="49" charset="-122"/>
                          <a:cs typeface="Arial" panose="020B0604020202020204" pitchFamily="34" charset="0"/>
                          <a:sym typeface="Arial" panose="020B0704020202020204" pitchFamily="34" charset="0"/>
                        </a:rPr>
                        <a:t>中位数</a:t>
                      </a:r>
                    </a:p>
                  </a:txBody>
                  <a:tcPr marL="4783" marR="4783" marT="4783"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noFill/>
                  </a:tcPr>
                </a:tc>
                <a:tc>
                  <a:txBody>
                    <a:bodyPr/>
                    <a:lstStyle/>
                    <a:p>
                      <a:pPr algn="ctr" fontAlgn="ctr">
                        <a:buNone/>
                      </a:pPr>
                      <a:r>
                        <a:rPr lang="en-US" sz="720" b="1" i="0" u="none" strike="noStrike">
                          <a:solidFill>
                            <a:srgbClr val="000000"/>
                          </a:solidFill>
                          <a:effectLst/>
                          <a:latin typeface="+mn-lt"/>
                          <a:cs typeface="Arial" panose="020B0604020202020204" pitchFamily="34" charset="0"/>
                        </a:rPr>
                        <a:t>743.8x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rgbClr val="000000"/>
                          </a:solidFill>
                          <a:effectLst/>
                          <a:latin typeface="+mn-lt"/>
                          <a:cs typeface="Arial" panose="020B0604020202020204" pitchFamily="34" charset="0"/>
                        </a:rPr>
                        <a:t>8.61x</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chemeClr val="tx1"/>
                          </a:solidFill>
                          <a:effectLst/>
                          <a:latin typeface="+mn-lt"/>
                          <a:cs typeface="Arial" panose="020B0604020202020204" pitchFamily="34" charset="0"/>
                        </a:rPr>
                        <a:t>10.7%</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chemeClr val="tx1"/>
                          </a:solidFill>
                          <a:effectLst/>
                          <a:latin typeface="+mn-lt"/>
                          <a:cs typeface="Arial" panose="020B0604020202020204" pitchFamily="34" charset="0"/>
                        </a:rPr>
                        <a:t>42.0%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chemeClr val="tx1"/>
                          </a:solidFill>
                          <a:effectLst/>
                          <a:latin typeface="+mn-lt"/>
                          <a:cs typeface="Arial" panose="020B0604020202020204" pitchFamily="34" charset="0"/>
                        </a:rPr>
                        <a:t>-35.0%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a:solidFill>
                            <a:srgbClr val="FF0000"/>
                          </a:solidFill>
                          <a:effectLst/>
                          <a:latin typeface="+mn-lt"/>
                          <a:cs typeface="Arial" panose="020B0604020202020204" pitchFamily="34" charset="0"/>
                        </a:rPr>
                        <a:t>21.0%</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a:solidFill>
                            <a:srgbClr val="FF0000"/>
                          </a:solidFill>
                          <a:effectLst/>
                          <a:latin typeface="+mn-lt"/>
                          <a:cs typeface="Arial" panose="020B0604020202020204" pitchFamily="34" charset="0"/>
                        </a:rPr>
                        <a:t>18.8%</a:t>
                      </a:r>
                    </a:p>
                  </a:txBody>
                  <a:tcPr marL="0" marR="0" marT="0" marB="0" anchor="ctr">
                    <a:lnL>
                      <a:noFill/>
                    </a:lnL>
                    <a:lnR>
                      <a:noFill/>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tc>
                  <a:txBody>
                    <a:bodyPr/>
                    <a:lstStyle/>
                    <a:p>
                      <a:pPr algn="ctr" fontAlgn="ctr">
                        <a:buNone/>
                      </a:pPr>
                      <a:r>
                        <a:rPr lang="en-US" sz="720" b="1" i="0" u="none" strike="noStrike" dirty="0">
                          <a:solidFill>
                            <a:srgbClr val="FF0000"/>
                          </a:solidFill>
                          <a:effectLst/>
                          <a:latin typeface="+mn-lt"/>
                          <a:cs typeface="Arial" panose="020B0604020202020204" pitchFamily="34" charset="0"/>
                        </a:rPr>
                        <a:t>16.5%</a:t>
                      </a:r>
                    </a:p>
                  </a:txBody>
                  <a:tcPr marL="0" marR="0" marT="0" marB="0" anchor="ctr">
                    <a:lnL>
                      <a:noFill/>
                    </a:lnL>
                    <a:lnR w="6350" cap="flat" cmpd="sng" algn="ctr">
                      <a:solidFill>
                        <a:schemeClr val="bg2">
                          <a:lumMod val="90000"/>
                        </a:schemeClr>
                      </a:solidFill>
                      <a:prstDash val="solid"/>
                      <a:round/>
                      <a:headEnd type="none" w="med" len="med"/>
                      <a:tailEnd type="none" w="med" len="med"/>
                    </a:lnR>
                    <a:lnT w="6350" cap="flat" cmpd="sng" algn="ctr">
                      <a:solidFill>
                        <a:srgbClr val="C9C9C9"/>
                      </a:solidFill>
                      <a:prstDash val="solid"/>
                      <a:round/>
                      <a:headEnd type="none" w="med" len="med"/>
                      <a:tailEnd type="none" w="med" len="med"/>
                    </a:lnT>
                    <a:lnB w="6350" cap="flat" cmpd="sng" algn="ctr">
                      <a:solidFill>
                        <a:srgbClr val="C9C9C9"/>
                      </a:solidFill>
                      <a:prstDash val="solid"/>
                      <a:round/>
                      <a:headEnd type="none" w="med" len="med"/>
                      <a:tailEnd type="none" w="med" len="med"/>
                    </a:lnB>
                    <a:solidFill>
                      <a:srgbClr val="FCE4D6"/>
                    </a:solidFill>
                  </a:tcPr>
                </a:tc>
                <a:extLst>
                  <a:ext uri="{0D108BD9-81ED-4DB2-BD59-A6C34878D82A}">
                    <a16:rowId xmlns:a16="http://schemas.microsoft.com/office/drawing/2014/main" val="10049"/>
                  </a:ext>
                </a:extLst>
              </a:tr>
            </a:tbl>
          </a:graphicData>
        </a:graphic>
      </p:graphicFrame>
      <p:sp>
        <p:nvSpPr>
          <p:cNvPr id="4" name="Title 2"/>
          <p:cNvSpPr txBox="1"/>
          <p:nvPr/>
        </p:nvSpPr>
        <p:spPr>
          <a:xfrm>
            <a:off x="220712" y="129599"/>
            <a:ext cx="7563843" cy="263439"/>
          </a:xfrm>
          <a:prstGeom prst="rect">
            <a:avLst/>
          </a:prstGeom>
        </p:spPr>
        <p:txBody>
          <a:bodyPr/>
          <a:lstStyle>
            <a:lvl1pPr algn="l" defTabSz="685800" rtl="0" eaLnBrk="1" latinLnBrk="0" hangingPunct="1">
              <a:lnSpc>
                <a:spcPct val="90000"/>
              </a:lnSpc>
              <a:spcBef>
                <a:spcPct val="0"/>
              </a:spcBef>
              <a:buNone/>
              <a:defRPr sz="2000" b="1" kern="1200" baseline="0">
                <a:solidFill>
                  <a:schemeClr val="accent1"/>
                </a:solidFill>
                <a:latin typeface="Arial" panose="020B0704020202020204" pitchFamily="34" charset="0"/>
                <a:ea typeface="+mj-ea"/>
                <a:cs typeface="Arial" panose="020B0704020202020204" pitchFamily="34" charset="0"/>
              </a:defRPr>
            </a:lvl1p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过去</a:t>
            </a:r>
            <a:r>
              <a:rPr kumimoji="0" lang="en-US" altLang="zh-CN"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12</a:t>
            </a:r>
            <a:r>
              <a:rPr kumimoji="0" lang="zh-CN" altLang="en-US"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个月</a:t>
            </a:r>
            <a:r>
              <a:rPr kumimoji="0" lang="zh-TW" altLang="en-US"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香港</a:t>
            </a:r>
            <a:r>
              <a:rPr kumimoji="0" lang="en-US" altLang="zh-TW"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IPO</a:t>
            </a:r>
            <a:r>
              <a:rPr kumimoji="0" lang="zh-CN" altLang="en-US"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发行及</a:t>
            </a:r>
            <a:r>
              <a:rPr kumimoji="0" lang="zh-TW" altLang="en-US" sz="1800" b="1" i="0" u="none" strike="noStrike" kern="1200" cap="none" spc="0" normalizeH="0" baseline="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认购情况（续）</a:t>
            </a:r>
            <a:r>
              <a:rPr kumimoji="0" lang="en-US" altLang="zh-TW" sz="1800" b="1" i="0" u="none" strike="noStrike" kern="1200" cap="none" spc="0" normalizeH="0" baseline="30000" noProof="0" dirty="0">
                <a:ln>
                  <a:noFill/>
                </a:ln>
                <a:solidFill>
                  <a:srgbClr val="C00000"/>
                </a:solidFill>
                <a:effectLst/>
                <a:uLnTx/>
                <a:uFillTx/>
                <a:latin typeface="Arial" panose="020B0704020202020204"/>
                <a:ea typeface="楷体" panose="02010609060101010101" pitchFamily="49" charset="-122"/>
                <a:cs typeface="Arial" panose="020B0704020202020204" pitchFamily="34" charset="0"/>
              </a:rPr>
              <a:t>1</a:t>
            </a:r>
          </a:p>
        </p:txBody>
      </p:sp>
      <p:sp>
        <p:nvSpPr>
          <p:cNvPr id="3" name="object 27"/>
          <p:cNvSpPr txBox="1"/>
          <p:nvPr/>
        </p:nvSpPr>
        <p:spPr>
          <a:xfrm>
            <a:off x="220712" y="6620857"/>
            <a:ext cx="10371137" cy="313561"/>
          </a:xfrm>
          <a:prstGeom prst="rect">
            <a:avLst/>
          </a:prstGeom>
        </p:spPr>
        <p:txBody>
          <a:bodyPr vert="horz" wrap="square" lIns="0" tIns="10808" rIns="0" bIns="0" rtlCol="0">
            <a:spAutoFit/>
          </a:bodyPr>
          <a:lstStyle/>
          <a:p>
            <a:pPr marL="10795" lvl="0">
              <a:spcBef>
                <a:spcPts val="85"/>
              </a:spcBef>
              <a:defRPr/>
            </a:pP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数据来源：彭博、</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Dealogic,</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记录过去</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12</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个月在香港主板上市的</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，按上市日期排序，股价表现截至</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2026</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年</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5月</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22</a:t>
            </a:r>
            <a:r>
              <a:rPr kumimoji="0" lang="en-US" altLang="zh-CN" sz="600" b="0" i="1" u="none" strike="noStrike" kern="1200" cap="none" spc="-5" normalizeH="0" baseline="0" noProof="0" dirty="0" err="1">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日</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1.</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仅统计主板上市公司，不包括以介绍形式上市、</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GEM</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转主板，以及</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SPAC</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公司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2.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无超额分配指发行人已授权超额分配权，而实际中并未超额发售 </a:t>
            </a:r>
            <a:endPar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endParaRPr>
          </a:p>
          <a:p>
            <a:pPr marL="10795">
              <a:spcBef>
                <a:spcPts val="85"/>
              </a:spcBef>
              <a:defRPr/>
            </a:pP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3.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假设发售量调整权和超额配股权未获行使      注</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4.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为准确反映各项目国际配售认购情况，保留两位小数</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	</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5.</a:t>
            </a:r>
            <a:r>
              <a:rPr lang="zh-CN" altLang="en-US" sz="600" i="1" spc="-5" dirty="0">
                <a:solidFill>
                  <a:prstClr val="black"/>
                </a:solidFill>
                <a:latin typeface="Arial" panose="020B0704020202020204" pitchFamily="34" charset="0"/>
                <a:ea typeface="KaiTi" panose="02010609060101010101" pitchFamily="49" charset="-122"/>
                <a:cs typeface="Arial" panose="020B0704020202020204" pitchFamily="34" charset="0"/>
              </a:rPr>
              <a:t>假设超额配股权未获行使；</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     注</a:t>
            </a:r>
            <a:r>
              <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rPr>
              <a:t>6</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 </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仅针对</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A+H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上市公司，为</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H</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股</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IPO</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定价日相较于</a:t>
            </a:r>
            <a:r>
              <a:rPr kumimoji="0" lang="en-US" altLang="zh-CN"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A</a:t>
            </a:r>
            <a:r>
              <a:rPr kumimoji="0" lang="zh-CN" alt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rPr>
              <a:t>股折价率                            </a:t>
            </a:r>
            <a:r>
              <a:rPr lang="zh-CN" altLang="en-US" sz="600" i="1" spc="-5" dirty="0">
                <a:solidFill>
                  <a:srgbClr val="C00000"/>
                </a:solidFill>
                <a:latin typeface="Arial" panose="020B0704020202020204" pitchFamily="34" charset="0"/>
                <a:ea typeface="KaiTi" panose="02010609060101010101" pitchFamily="49" charset="-122"/>
                <a:cs typeface="Arial" panose="020B0704020202020204" pitchFamily="34" charset="0"/>
              </a:rPr>
              <a:t>红线分割部分为港交所新规实施后启动招股的项目</a:t>
            </a:r>
            <a:endParaRPr lang="en-US" altLang="zh-CN" sz="600" i="1" spc="-5" dirty="0">
              <a:solidFill>
                <a:prstClr val="black"/>
              </a:solidFill>
              <a:latin typeface="Arial" panose="020B0704020202020204" pitchFamily="34" charset="0"/>
              <a:ea typeface="KaiTi" panose="02010609060101010101" pitchFamily="49" charset="-122"/>
              <a:cs typeface="Arial" panose="020B0704020202020204" pitchFamily="34" charset="0"/>
            </a:endParaRPr>
          </a:p>
          <a:p>
            <a:pPr marL="10795" lvl="0">
              <a:spcBef>
                <a:spcPts val="85"/>
              </a:spcBef>
              <a:defRPr/>
            </a:pPr>
            <a:endParaRPr kumimoji="0" lang="en-US" sz="600" b="0" i="1" u="none" strike="noStrike" kern="1200" cap="none" spc="-5" normalizeH="0" baseline="0" noProof="0" dirty="0">
              <a:ln>
                <a:noFill/>
              </a:ln>
              <a:solidFill>
                <a:prstClr val="black"/>
              </a:solidFill>
              <a:effectLst/>
              <a:uLnTx/>
              <a:uFillTx/>
              <a:latin typeface="Arial" panose="020B0704020202020204" pitchFamily="34" charset="0"/>
              <a:ea typeface="KaiTi" panose="02010609060101010101" pitchFamily="49" charset="-122"/>
              <a:cs typeface="Arial" panose="020B07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ZiMTM0MmI0NzZmMmY0MGVmMDRhNjk3MjI5NWU1NDE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756*489"/>
  <p:tag name="TABLE_ENDDRAG_RECT" val="14*32*756*489"/>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63*487"/>
  <p:tag name="TABLE_ENDDRAG_RECT" val="16*32*763*487"/>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752*488"/>
  <p:tag name="TABLE_ENDDRAG_RECT" val="17*32*752*488"/>
</p:tagLst>
</file>

<file path=ppt/theme/theme1.xml><?xml version="1.0" encoding="utf-8"?>
<a:theme xmlns:a="http://schemas.openxmlformats.org/drawingml/2006/main" name="CMS_New template">
  <a:themeElements>
    <a:clrScheme name="CMS_Template 2020">
      <a:dk1>
        <a:sysClr val="windowText" lastClr="000000"/>
      </a:dk1>
      <a:lt1>
        <a:sysClr val="window" lastClr="FFFFFF"/>
      </a:lt1>
      <a:dk2>
        <a:srgbClr val="44546A"/>
      </a:dk2>
      <a:lt2>
        <a:srgbClr val="E7E6E6"/>
      </a:lt2>
      <a:accent1>
        <a:srgbClr val="C00000"/>
      </a:accent1>
      <a:accent2>
        <a:srgbClr val="DAB866"/>
      </a:accent2>
      <a:accent3>
        <a:srgbClr val="053D6E"/>
      </a:accent3>
      <a:accent4>
        <a:srgbClr val="F2F2F2"/>
      </a:accent4>
      <a:accent5>
        <a:srgbClr val="799EC4"/>
      </a:accent5>
      <a:accent6>
        <a:srgbClr val="3F3F3F"/>
      </a:accent6>
      <a:hlink>
        <a:srgbClr val="0563C1"/>
      </a:hlink>
      <a:folHlink>
        <a:srgbClr val="954F72"/>
      </a:folHlink>
    </a:clrScheme>
    <a:fontScheme name="CMS_2020">
      <a:majorFont>
        <a:latin typeface="Arial"/>
        <a:ea typeface="STKaiti"/>
        <a:cs typeface=""/>
      </a:majorFont>
      <a:minorFont>
        <a:latin typeface="Arial"/>
        <a:ea typeface="STKait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C00000"/>
            </a:gs>
            <a:gs pos="5000">
              <a:schemeClr val="accent1">
                <a:lumMod val="20000"/>
                <a:lumOff val="80000"/>
              </a:schemeClr>
            </a:gs>
            <a:gs pos="11000">
              <a:schemeClr val="accent1">
                <a:lumMod val="20000"/>
                <a:lumOff val="80000"/>
                <a:alpha val="46000"/>
              </a:schemeClr>
            </a:gs>
            <a:gs pos="100000">
              <a:schemeClr val="bg1"/>
            </a:gs>
          </a:gsLst>
          <a:lin ang="5400000" scaled="1"/>
        </a:gradFill>
        <a:ln>
          <a:noFill/>
        </a:ln>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200" b="0" i="0" u="none" strike="noStrike" kern="1200" cap="none" spc="0" normalizeH="0" baseline="0" noProof="0" dirty="0">
            <a:ln>
              <a:noFill/>
            </a:ln>
            <a:solidFill>
              <a:prstClr val="white"/>
            </a:solidFill>
            <a:effectLst/>
            <a:uLnTx/>
            <a:uFillTx/>
            <a:latin typeface="Arial" panose="020B0704020202020204"/>
            <a:ea typeface="华文楷体" panose="02010600040101010101" charset="-122"/>
            <a:cs typeface="+mn-cs"/>
          </a:defRPr>
        </a:defPPr>
      </a:lstStyle>
      <a:style>
        <a:lnRef idx="1">
          <a:schemeClr val="accent4"/>
        </a:lnRef>
        <a:fillRef idx="3">
          <a:schemeClr val="accent4"/>
        </a:fillRef>
        <a:effectRef idx="2">
          <a:schemeClr val="accent4"/>
        </a:effectRef>
        <a:fontRef idx="minor">
          <a:schemeClr val="lt1"/>
        </a:fontRef>
      </a:style>
    </a:spDef>
    <a:lnDef>
      <a:spPr>
        <a:ln w="12700">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xsi="http://www.w3.org/2001/XMLSchema-instance" xmlns:pc="http://schemas.microsoft.com/office/infopath/2007/PartnerControls" xmlns:p="http://schemas.microsoft.com/office/2006/metadata/properties">
  <documentManagement>
    <_activity xmlns="24699871-d011-4b83-aa7f-4b2d153104f6" xsi:nil="true"/>
  </documentManagement>
</p:properties>
</file>

<file path=customXml/item2.xml><?xml version="1.0" encoding="utf-8"?>
<BBSettings xmlns="http://schemas.bloomberg.com/settings/1.0">
  <Item name="DocumentId_Charts">{65C19E3F-B231-4B70-989E-A80F9C2658E4}</Item>
  <Item xmlns="" name="ShapesMap_Charts">{"{65C19E3F-B231-4B70-989E-A80F9C2658E4}":{"16768471":{},"16768472":{},"16768755":{},"16768757":{},"2146850031":{},"2146850032":{},"2146850350":{},"2146850351":{},"2146850352":{},"294":{}}}</Item>
</BBSetting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ma:contentTypeID="0x01010045156D5E642430439E7F5A465A820910" ma:contentTypeName="Document" ct:_="" ma:contentTypeDescription="Create a new document." ma:contentTypeVersion="6" ma:contentTypeScope="" ma:versionID="4e328b35ea85b0cb3e7c127e06c14fd1" ma:_="">
  <xsd:schema xmlns:xsd="http://www.w3.org/2001/XMLSchema" xmlns:xs="http://www.w3.org/2001/XMLSchema" xmlns:ns3="24699871-d011-4b83-aa7f-4b2d153104f6" xmlns:p="http://schemas.microsoft.com/office/2006/metadata/properties" ma:root="true" ns3:_="" ma:fieldsID="30ba784c32086961d38690c7bcbee70b" targetNamespace="http://schemas.microsoft.com/office/2006/metadata/properties">
    <xsd:import namespace="24699871-d011-4b83-aa7f-4b2d153104f6"/>
    <xsd:element name="properties">
      <xsd:complexType>
        <xsd:sequence>
          <xsd:element name="documentManagement">
            <xsd:complexType>
              <xsd:all>
                <xsd:element minOccurs="0" ref="ns3:MediaServiceDateTaken"/>
                <xsd:element minOccurs="0" ref="ns3:MediaServiceMetadata"/>
                <xsd:element minOccurs="0" ref="ns3:MediaServiceFastMetadata"/>
                <xsd:element minOccurs="0" ref="ns3:MediaServiceSearchProperties"/>
                <xsd:element minOccurs="0" ref="ns3:MediaServiceObjectDetectorVersions"/>
                <xsd:element minOccurs="0" ref="ns3:_activity"/>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elementFormDefault="qualified" targetNamespace="24699871-d011-4b83-aa7f-4b2d153104f6">
    <xsd:import namespace="http://schemas.microsoft.com/office/2006/documentManagement/types"/>
    <xsd:import namespace="http://schemas.microsoft.com/office/infopath/2007/PartnerControls"/>
    <xsd:element ma:internalName="MediaServiceDateTaken" nillable="true" name="MediaServiceDateTaken" ma:indexed="true" ma:readOnly="true" ma:index="8" ma:hidden="true" ma:displayName="MediaServiceDateTaken">
      <xsd:simpleType>
        <xsd:restriction base="dms:Text"/>
      </xsd:simpleType>
    </xsd:element>
    <xsd:element ma:internalName="MediaServiceMetadata" nillable="true" name="MediaServiceMetadata" ma:readOnly="true" ma:index="9" ma:hidden="true" ma:displayName="MediaServiceMetadata">
      <xsd:simpleType>
        <xsd:restriction base="dms:Note"/>
      </xsd:simpleType>
    </xsd:element>
    <xsd:element ma:internalName="MediaServiceFastMetadata" nillable="true" name="MediaServiceFastMetadata" ma:readOnly="true" ma:index="10" ma:hidden="true" ma:displayName="MediaServiceFastMetadata">
      <xsd:simpleType>
        <xsd:restriction base="dms:Note"/>
      </xsd:simpleType>
    </xsd:element>
    <xsd:element ma:internalName="MediaServiceSearchProperties" nillable="true" name="MediaServiceSearchProperties" ma:readOnly="true" ma:index="11" ma:hidden="true" ma:displayName="MediaServiceSearchProperties">
      <xsd:simpleType>
        <xsd:restriction base="dms:Note"/>
      </xsd:simpleType>
    </xsd:element>
    <xsd:element ma:internalName="MediaServiceObjectDetectorVersions" nillable="true" name="MediaServiceObjectDetectorVersions" ma:indexed="true" ma:readOnly="true" ma:index="12" ma:hidden="true" ma:displayName="MediaServiceObjectDetectorVersions">
      <xsd:simpleType>
        <xsd:restriction base="dms:Text"/>
      </xsd:simpleType>
    </xsd:element>
    <xsd:element ma:internalName="_activity" nillable="true" name="_activity" ma:index="13" ma:hidden="true" ma:displayName="_activity">
      <xsd:simpleType>
        <xsd:restriction base="dms:Note"/>
      </xsd:simpleType>
    </xsd:element>
  </xsd:schema>
  <xsd:schema xmlns:xsd="http://www.w3.org/2001/XMLSchema" xmlns="http://schemas.openxmlformats.org/package/2006/metadata/core-properties" xmlns:xsi="http://www.w3.org/2001/XMLSchema-instance" xmlns:odoc="http://schemas.microsoft.com/internal/obd" xmlns:dc="http://purl.org/dc/elements/1.1/" xmlns:dcterms="http://purl.org/dc/terms/" elementFormDefault="qualified" attributeFormDefault="unqualified" targetNamespace="http://schemas.openxmlformats.org/package/2006/metadata/core-properties"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maxOccurs="1" minOccurs="0" ref="dc:creator"/>
        <xsd:element maxOccurs="1" minOccurs="0" ref="dcterms:created"/>
        <xsd:element maxOccurs="1" minOccurs="0" ref="dc:identifier"/>
        <xsd:element maxOccurs="1" name="contentType" minOccurs="0" type="xsd:string" ma:index="0" ma:displayName="Content Type"/>
        <xsd:element maxOccurs="1" minOccurs="0" ma:index="4" ref="dc:title" ma:displayName="Title"/>
        <xsd:element maxOccurs="1" minOccurs="0" ref="dc:subject"/>
        <xsd:element maxOccurs="1" minOccurs="0" ref="dc:description"/>
        <xsd:element maxOccurs="1" name="keywords" minOccurs="0" type="xsd:string"/>
        <xsd:element maxOccurs="1" minOccurs="0" ref="dc:language"/>
        <xsd:element maxOccurs="1" name="category" minOccurs="0" type="xsd:string"/>
        <xsd:element maxOccurs="1" name="version" minOccurs="0" type="xsd:string"/>
        <xsd:element maxOccurs="1" name="revision" minOccurs="0" type="xsd:string">
          <xsd:annotation>
            <xsd:documentation>
                        This value indicates the number of saves or revisions. The application is responsible for updating this value after each revision.
                    </xsd:documentation>
          </xsd:annotation>
        </xsd:element>
        <xsd:element maxOccurs="1" name="lastModifiedBy" minOccurs="0" type="xsd:string"/>
        <xsd:element maxOccurs="1" minOccurs="0" ref="dcterms:modified"/>
        <xsd:element maxOccurs="1" name="contentStatus" minOccurs="0" type="xsd:string"/>
      </xsd:all>
    </xsd:complexType>
  </xsd:schema>
  <xs:schema xmlns:xs="http://www.w3.org/2001/XMLSchema" xmlns:pc="http://schemas.microsoft.com/office/infopath/2007/PartnerControls" elementFormDefault="qualified" attributeFormDefault="unqualified" targetNamespace="http://schemas.microsoft.com/office/infopath/2007/PartnerControls">
    <xs:element name="Person">
      <xs:complexType>
        <xs:sequence>
          <xs:element minOccurs="0" ref="pc:DisplayName"/>
          <xs:element minOccurs="0" ref="pc:AccountId"/>
          <xs:element minOccurs="0" ref="pc:AccountType"/>
        </xs:sequence>
      </xs:complexType>
    </xs:element>
    <xs:element name="DisplayName" type="xs:string"/>
    <xs:element name="AccountId" type="xs:string"/>
    <xs:element name="AccountType" type="xs:string"/>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9CA200-7F50-485A-9CA7-CD011BA99A3A}">
  <ds:schemaRefs/>
</ds:datastoreItem>
</file>

<file path=customXml/itemProps2.xml><?xml version="1.0" encoding="utf-8"?>
<ds:datastoreItem xmlns:ds="http://schemas.openxmlformats.org/officeDocument/2006/customXml" ds:itemID="{E5ACF375-8DAD-4FFD-AFF0-1945D2238A21}">
  <ds:schemaRefs/>
</ds:datastoreItem>
</file>

<file path=customXml/itemProps3.xml><?xml version="1.0" encoding="utf-8"?>
<ds:datastoreItem xmlns:ds="http://schemas.openxmlformats.org/officeDocument/2006/customXml" ds:itemID="{8345DCC7-CDC8-4430-AFA2-65AF89B65BD3}">
  <ds:schemaRefs/>
</ds:datastoreItem>
</file>

<file path=customXml/itemProps4.xml><?xml version="1.0" encoding="utf-8"?>
<ds:datastoreItem xmlns:ds="http://schemas.openxmlformats.org/officeDocument/2006/customXml" ds:itemID="{1F51A2D5-AB62-4576-8BAE-01A3977CCEAF}">
  <ds:schemaRefs/>
</ds:datastoreItem>
</file>

<file path=docProps/app.xml><?xml version="1.0" encoding="utf-8"?>
<Properties xmlns="http://schemas.openxmlformats.org/officeDocument/2006/extended-properties" xmlns:vt="http://schemas.openxmlformats.org/officeDocument/2006/docPropsVTypes">
  <TotalTime>4318</TotalTime>
  <Words>5407</Words>
  <Application>Microsoft Macintosh PowerPoint</Application>
  <PresentationFormat>A4 Paper (210x297 mm)</PresentationFormat>
  <Paragraphs>2435</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Wingdings</vt:lpstr>
      <vt:lpstr>CMS_New template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Chiann, Or Ting Chi</dc:creator>
  <cp:lastModifiedBy>Terry, Chan Cheuk Hang 陳卓恆</cp:lastModifiedBy>
  <cp:revision>1060</cp:revision>
  <cp:lastPrinted>2026-04-18T10:55:24Z</cp:lastPrinted>
  <dcterms:created xsi:type="dcterms:W3CDTF">2026-04-18T10:55:24Z</dcterms:created>
  <dcterms:modified xsi:type="dcterms:W3CDTF">2026-05-23T04:17:47Z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0x01010045156D5E642430439E7F5A465A820910</vt:lpwstr>
  </property>
  <property fmtid="{D5CDD505-2E9C-101B-9397-08002B2CF9AE}" pid="3" name="ICV">
    <vt:lpwstr>3E6403A679FE9191B662E369A04CE827_43</vt:lpwstr>
  </property>
  <property fmtid="{D5CDD505-2E9C-101B-9397-08002B2CF9AE}" pid="4" name="KSOProductBuildVer">
    <vt:lpwstr>2052-12.1.25205.25205</vt:lpwstr>
  </property>
</Properties>
</file>